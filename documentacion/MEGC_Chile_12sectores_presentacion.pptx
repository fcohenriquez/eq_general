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43" autoAdjust="0"/>
    <p:restoredTop sz="94610"/>
  </p:normalViewPr>
  <p:slideViewPr>
    <p:cSldViewPr snapToGrid="0" snapToObjects="1">
      <p:cViewPr>
        <p:scale>
          <a:sx n="116" d="100"/>
          <a:sy n="116" d="100"/>
        </p:scale>
        <p:origin x="102" y="-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E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Variación % en variables reales por shock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IVA (+1%)</c:v>
                </c:pt>
              </c:strCache>
            </c:strRef>
          </c:tx>
          <c:spPr>
            <a:solidFill>
              <a:srgbClr val="C2562E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PIB real</c:v>
                </c:pt>
                <c:pt idx="1">
                  <c:v>Consumo</c:v>
                </c:pt>
                <c:pt idx="2">
                  <c:v>Inversión</c:v>
                </c:pt>
                <c:pt idx="3">
                  <c:v>Exportaciones</c:v>
                </c:pt>
                <c:pt idx="4">
                  <c:v>Importaciones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-0.1176</c:v>
                </c:pt>
                <c:pt idx="1">
                  <c:v>-0.13850000000000001</c:v>
                </c:pt>
                <c:pt idx="2">
                  <c:v>-7.1300000000000002E-2</c:v>
                </c:pt>
                <c:pt idx="3">
                  <c:v>-0.14410000000000001</c:v>
                </c:pt>
                <c:pt idx="4">
                  <c:v>-9.3399999999999997E-2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739-4A94-B427-EB16D2DC60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PIT (+10%)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PIB real</c:v>
                </c:pt>
                <c:pt idx="1">
                  <c:v>Consumo</c:v>
                </c:pt>
                <c:pt idx="2">
                  <c:v>Inversión</c:v>
                </c:pt>
                <c:pt idx="3">
                  <c:v>Exportaciones</c:v>
                </c:pt>
                <c:pt idx="4">
                  <c:v>Importaciones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-0.38890000000000002</c:v>
                </c:pt>
                <c:pt idx="1">
                  <c:v>-0.52580000000000005</c:v>
                </c:pt>
                <c:pt idx="2">
                  <c:v>-0.1676</c:v>
                </c:pt>
                <c:pt idx="3">
                  <c:v>-0.2223</c:v>
                </c:pt>
                <c:pt idx="4">
                  <c:v>-0.12839999999999999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739-4A94-B427-EB16D2DC60EA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IDPC (−1%)</c:v>
                </c:pt>
              </c:strCache>
            </c:strRef>
          </c:tx>
          <c:spPr>
            <a:solidFill>
              <a:srgbClr val="2F7D58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PIB real</c:v>
                </c:pt>
                <c:pt idx="1">
                  <c:v>Consumo</c:v>
                </c:pt>
                <c:pt idx="2">
                  <c:v>Inversión</c:v>
                </c:pt>
                <c:pt idx="3">
                  <c:v>Exportaciones</c:v>
                </c:pt>
                <c:pt idx="4">
                  <c:v>Importaciones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0.1454</c:v>
                </c:pt>
                <c:pt idx="1">
                  <c:v>9.7500000000000003E-2</c:v>
                </c:pt>
                <c:pt idx="2">
                  <c:v>0.37919999999999998</c:v>
                </c:pt>
                <c:pt idx="3">
                  <c:v>5.4600000000000003E-2</c:v>
                </c:pt>
                <c:pt idx="4">
                  <c:v>7.6600000000000001E-2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739-4A94-B427-EB16D2DC6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5970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ESTUDIOS ECONÓMICOS Y TRIBUTARIOS · SII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2286000" cy="0"/>
          </a:xfrm>
          <a:prstGeom prst="line">
            <a:avLst/>
          </a:prstGeom>
          <a:noFill/>
          <a:ln w="254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Equilibrio General Computable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12 sectores para Chile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de políticas tributarias con una SAM 2023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Departamento de Estudios Económicos y Tributarios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de Impuestos Internos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técnico · Mayo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Motivación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6583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un MEGC para evaluar reformas tributarias?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8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reformas tributarias no operan en aislamiento: afectan precios, salarios, decisiones de inversión y la composición de la demanda agregada. Un modelo de equilibrio general computable permite cuantificar estos efectos de manera </a:t>
            </a:r>
            <a:r>
              <a:rPr lang="en-US" sz="13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integrada y consistente</a:t>
            </a: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haciendo explícitos los trade-offs entre actividad, empleo, recaudación y sector externo.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2148840" cy="22860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73152" cy="22860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68680" y="3840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Estático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43891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 estática entre el estado base y el escenario post-shock.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926080" y="3657600"/>
            <a:ext cx="2148840" cy="22860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2926080" y="3657600"/>
            <a:ext cx="73152" cy="22860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154680" y="3840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Determinístico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154680" y="43891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perturbaciones aleatorias; los resultados dependen exclusivamente de la especificación.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12080" y="3657600"/>
            <a:ext cx="2148840" cy="22860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5212080" y="3657600"/>
            <a:ext cx="73152" cy="22860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5440680" y="38404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Calibrado a Chile 2023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40680" y="438912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construida a partir de la matriz insumo-producto más reciente del Banco Central.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498080" y="1188720"/>
            <a:ext cx="4206240" cy="2286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7680960" y="1280160"/>
            <a:ext cx="3840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dirty="0">
                <a:solidFill>
                  <a:srgbClr val="D4A82A"/>
                </a:solidFill>
              </a:rPr>
              <a:t>“</a:t>
            </a:r>
            <a:endParaRPr lang="en-US" sz="3600" dirty="0"/>
          </a:p>
          <a:p>
            <a:pPr marL="0" indent="0" algn="l">
              <a:buNone/>
            </a:pPr>
            <a:r>
              <a:rPr lang="en-US" sz="1300" i="1" dirty="0">
                <a:solidFill>
                  <a:srgbClr val="FFFFFF"/>
                </a:solidFill>
              </a:rPr>
              <a:t>A diferencia de los análisis parciales, esta perspectiva integrada hace visible los trade-offs entre actividad, empleo, recaudación y sector externo.</a:t>
            </a:r>
            <a:endParaRPr lang="en-US" sz="36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36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ADCFC"/>
                </a:solidFill>
              </a:rPr>
              <a:t>— Sección 1, paper técnico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Alcance del modelo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Anticipar limitaciones mejora la lectura de los resultados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86400" cy="45720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3152" cy="4572000"/>
          </a:xfrm>
          <a:prstGeom prst="rect">
            <a:avLst/>
          </a:prstGeom>
          <a:solidFill>
            <a:srgbClr val="2F7D58"/>
          </a:solidFill>
          <a:ln w="12700">
            <a:solidFill>
              <a:srgbClr val="2F7D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F7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 responde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Efectos de equilibrio general ante reformas tributarias específicas.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Comparativas estáticas entre escenarios.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Recaudación neta por instrumento (PIT, IDPC, IVA, aranceles, etc.).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Descomposición sectorial agregada (12 sectores, 13 bienes).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entre actividad, empleo y balance comercial.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laboral con desempleo endógeno (3 tipos de trabajo).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309360" y="1554480"/>
            <a:ext cx="5486400" cy="45720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73152" cy="457200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492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25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responde (en esta versión)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492240" y="228600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Dinámica de transición: el modelo es estático.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Expectativas o comportamiento intertemporal.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Heterogeneidad de hogares; no hay análisis distributivo.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Informalidad laboral explícita.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monetaria (no hay dinero ni precios nominales).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Reformas combinadas: aquí solo shocks unitarios.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Marco teórico: tres tradiciones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literatura que enmarca este trabajo se organiza en tres dimensiones (Sección 1 del paper).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57600" cy="42976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3152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017520" y="45720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600" b="1" i="1" dirty="0">
                <a:solidFill>
                  <a:srgbClr val="CADCFC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9600" dirty="0"/>
          </a:p>
        </p:txBody>
      </p:sp>
      <p:sp>
        <p:nvSpPr>
          <p:cNvPr id="9" name="Text 7"/>
          <p:cNvSpPr/>
          <p:nvPr/>
        </p:nvSpPr>
        <p:spPr>
          <a:xfrm>
            <a:off x="868680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Fundamentos teóricos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8680" y="2331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Equilibrio general y aplicación empírica a política pública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68680" y="3154680"/>
            <a:ext cx="3200400" cy="0"/>
          </a:xfrm>
          <a:prstGeom prst="line">
            <a:avLst/>
          </a:prstGeom>
          <a:noFill/>
          <a:ln w="1905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868680" y="32918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&amp; Debreu (1954)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Shoven &amp; Whalley (1992)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Dixon &amp; Jorgenson (2013)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1554480"/>
            <a:ext cx="3657600" cy="42976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4434840" y="1554480"/>
            <a:ext cx="73152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812280" y="45720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600" b="1" i="1" dirty="0">
                <a:solidFill>
                  <a:srgbClr val="CADCFC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600" dirty="0"/>
          </a:p>
        </p:txBody>
      </p:sp>
      <p:sp>
        <p:nvSpPr>
          <p:cNvPr id="16" name="Text 14"/>
          <p:cNvSpPr/>
          <p:nvPr/>
        </p:nvSpPr>
        <p:spPr>
          <a:xfrm>
            <a:off x="4663440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Modelos calibrados con SAM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2331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Representación coherente de flujos hogares–firmas–gobierno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154680"/>
            <a:ext cx="3200400" cy="0"/>
          </a:xfrm>
          <a:prstGeom prst="line">
            <a:avLst/>
          </a:prstGeom>
          <a:noFill/>
          <a:ln w="1905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663440" y="32918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Pyatt &amp; Round (1985)</a:t>
            </a:r>
            <a:endParaRPr lang="en-US" sz="11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Dervis, de Melo &amp; Robinson (1982)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229600" y="1554480"/>
            <a:ext cx="3657600" cy="42976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8229600" y="1554480"/>
            <a:ext cx="73152" cy="42976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10607040" y="457200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r">
              <a:buNone/>
            </a:pPr>
            <a:r>
              <a:rPr lang="en-US" sz="9600" b="1" i="1" dirty="0">
                <a:solidFill>
                  <a:srgbClr val="CADCFC">
                    <a:alpha val="7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600" dirty="0"/>
          </a:p>
        </p:txBody>
      </p:sp>
      <p:sp>
        <p:nvSpPr>
          <p:cNvPr id="23" name="Text 21"/>
          <p:cNvSpPr/>
          <p:nvPr/>
        </p:nvSpPr>
        <p:spPr>
          <a:xfrm>
            <a:off x="8458200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Evaluación tributaria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58200" y="233172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Recaudación, bienestar y composición de la demanda agregada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458200" y="3154680"/>
            <a:ext cx="3200400" cy="0"/>
          </a:xfrm>
          <a:prstGeom prst="line">
            <a:avLst/>
          </a:prstGeom>
          <a:noFill/>
          <a:ln w="1905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8458200" y="329184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Ballard, Fullerton, Shoven &amp; Whalley (1985)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la SAM: metodología matricial de Venegas (2013), adaptada a Chile 2023.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conceptual: bloques del modelo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 representativo, 12 sectores, gobierno, firmas, sector externo y bloque ahorro–inversión.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66360" y="3657600"/>
            <a:ext cx="182880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166360" y="365760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(CET / Armington)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3657600"/>
            <a:ext cx="219456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182880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actividades productivas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828800" y="1828800"/>
            <a:ext cx="219456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182880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HOGARES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Utilidad CES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983480" y="1828800"/>
            <a:ext cx="219456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498348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FIRMAS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Dividendos / ahorro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38160" y="1828800"/>
            <a:ext cx="2194560" cy="109728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8138160" y="1828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Recaudación / gasto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3657600"/>
            <a:ext cx="219456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8138160" y="36576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SECTOR EXTERNO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Resto del mundo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983480" y="5257800"/>
            <a:ext cx="2194560" cy="640080"/>
          </a:xfrm>
          <a:prstGeom prst="rect">
            <a:avLst/>
          </a:prstGeom>
          <a:solidFill>
            <a:srgbClr val="D4A8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983480" y="5257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AHORRO–INVERSIÓN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926080" y="2926080"/>
            <a:ext cx="2560320" cy="73152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5486400" y="3657600"/>
            <a:ext cx="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4023360" y="4206240"/>
            <a:ext cx="114300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5166360" y="4023360"/>
            <a:ext cx="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4983480" y="2377440"/>
            <a:ext cx="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7178040" y="2377440"/>
            <a:ext cx="96012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6995160" y="4023360"/>
            <a:ext cx="114300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138160" y="4206240"/>
            <a:ext cx="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9235440" y="2926080"/>
            <a:ext cx="0" cy="73152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2926080" y="2926080"/>
            <a:ext cx="2423160" cy="233172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6080760" y="2926080"/>
            <a:ext cx="0" cy="233172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6080760" y="5257800"/>
            <a:ext cx="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640080" y="60807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tipos de trabajo (calificación baja, media y alta) y un tipo de capital.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con ahorro externo fijo y tipo de cambio real endógeno.</a:t>
            </a:r>
            <a:endParaRPr lang="en-US" sz="1000" dirty="0"/>
          </a:p>
          <a:p>
            <a:pPr marL="342900" indent="-342900" algn="l"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Calibración exacta del estado base con la SAM 2023.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Contabilidad Social (SAM) 2023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básica de la SAM utilizada para calibrar el modelo (Sección 2 del paper).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60604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1691640"/>
            <a:ext cx="73152" cy="128016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22960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82296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productivas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37560" y="1691640"/>
            <a:ext cx="260604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3337560" y="1691640"/>
            <a:ext cx="73152" cy="128016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3520440" y="18288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3520440" y="2514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 / productos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154680"/>
            <a:ext cx="260604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73152" cy="128016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22960" y="3291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17" name="Text 15"/>
          <p:cNvSpPr/>
          <p:nvPr/>
        </p:nvSpPr>
        <p:spPr>
          <a:xfrm>
            <a:off x="82296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trabajo (CASEN 2022)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3154680"/>
            <a:ext cx="2606040" cy="12801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3337560" y="3154680"/>
            <a:ext cx="73152" cy="128016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3520440" y="329184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5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21" name="Text 19"/>
          <p:cNvSpPr/>
          <p:nvPr/>
        </p:nvSpPr>
        <p:spPr>
          <a:xfrm>
            <a:off x="3520440" y="3977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capital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12 sectores productivos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17920" y="2103120"/>
            <a:ext cx="2834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Agropecuario, silvícola y pesca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Minería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Industria manufacturera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Electricidad, gas, agua y desechos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Construcción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Comercio, hoteles y restaurantes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052560" y="2103120"/>
            <a:ext cx="26517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Transporte, comunicaciones e información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Intermediación financiera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 Servicios inmobiliarios y vivienda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 Servicios empresariales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 Servicios personales</a:t>
            </a:r>
            <a:endParaRPr lang="en-US" sz="10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 Administración pública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61264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sectorial siguiendo al Banco Central de Chile. El bien “Otros bienes y servicios” no tiene un sector productor asociado (de ahí 13 bienes contra 12 sectores).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Construcción de la SAM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 y reglas de compilación matricial.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20116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640080" y="1508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PRODUCCIÓN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51760" y="1508760"/>
            <a:ext cx="905256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834640" y="15087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producción a precios básicos del Banco Central. Margen de comercio incorporado a la actividad de servicios.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23160"/>
            <a:ext cx="20116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40080" y="24231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INSUMOS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651760" y="2423160"/>
            <a:ext cx="905256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2834640" y="24231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de utilización intermedia total a precios de usuario. Coeficientes técnicos fijos en la calibración.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337560"/>
            <a:ext cx="20116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40080" y="33375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AGREGADO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651760" y="3337560"/>
            <a:ext cx="905256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2834640" y="33375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Cuadrante de valor agregado: trabajo, capital e impuestos a la producción. Trabajo clasificado en 3 niveles según CASEN 2022.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251960"/>
            <a:ext cx="20116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640080" y="42519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FINAL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651760" y="4251960"/>
            <a:ext cx="905256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2834640" y="42519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Cuadro de utilización final total: consumo de hogares y gobierno, exportaciones, inversión (S-I) y variación de existencias.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166360"/>
            <a:ext cx="20116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640080" y="5166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TRIBUTOS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651760" y="5166360"/>
            <a:ext cx="9052560" cy="77724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2834640" y="516636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IVA, aranceles e impuestos específicos desde el cuadro de oferta total.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matricial: Venegas, J. (2013). SAM 2008 para Chile. Banco Central de Chile, Estudios Económicos Estadísticos 95.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tributaria modelada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instrumentos diferenciados, según la clasificación chilena.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576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3152" cy="155448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IVA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 al valor agregado por producto; se aplica sobre la demanda doméstica compuesta.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554480"/>
            <a:ext cx="36576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434840" y="1554480"/>
            <a:ext cx="73152" cy="155448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66344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Aranceles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Derechos de importación; se aplican sobre el valor CIF en moneda doméstica.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6576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73152" cy="155448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458200" y="16916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458200" y="21031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 a la renta de personas; grava el ingreso bruto del hogar (trabajo + capital + transferencias).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46120"/>
            <a:ext cx="36576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640080" y="3246120"/>
            <a:ext cx="73152" cy="155448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86868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IDPC / FIT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68680" y="3794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Impuesto de primera categoría; grava la renta del capital corporativo a nivel institucional.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3246120"/>
            <a:ext cx="36576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4434840" y="3246120"/>
            <a:ext cx="73152" cy="155448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66344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Impuestos a la producción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663440" y="3794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Timbres, contribuciones de bienes raíces, permisos, patentes, juegos de azar.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3246120"/>
            <a:ext cx="3657600" cy="1554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229600" y="3246120"/>
            <a:ext cx="73152" cy="155448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8458200" y="33832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Impuestos específicos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458200" y="37947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Alcoholes, combustibles, tabaco, fuentes móviles — por unidad de bien o porcentaje de venta.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394960"/>
            <a:ext cx="11064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822960" y="539496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clave: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“impuestos a la producción” no son una cuña sobre factores; agrupan gravámenes sobre activos y permisos (BBRR, patentes, etc.).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del consumidor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 representativo con utilidad CES sobre 11 bienes consumibles (PCON).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5943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utilidad CES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 = [Σ α_p · (D_p)^((ω−1)/ω)]^(ω/(ω−1))</a:t>
            </a:r>
            <a:endParaRPr lang="en-US" sz="14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presupuestaria</a:t>
            </a:r>
            <a:endParaRPr lang="en-US" sz="14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= Σ p_p · D_p + SAV + CONTSOC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= BTINC − PITAX</a:t>
            </a:r>
            <a:endParaRPr lang="en-US" sz="1400" dirty="0"/>
          </a:p>
          <a:p>
            <a:pPr marL="0" indent="0" algn="l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BTINC incluye ingresos del trabajo (3 tipos), capital, transferencias de firmas/gobierno y prestaciones sociales.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0" y="1554480"/>
            <a:ext cx="4937760" cy="9144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6766560" y="1554480"/>
            <a:ext cx="73152" cy="9144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6949440" y="1645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ω = 1.5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949440" y="201168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Elasticidad de sustitución entre bienes de consumo.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766560" y="2606040"/>
            <a:ext cx="4937760" cy="9144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6766560" y="2606040"/>
            <a:ext cx="73152" cy="9144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94944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Minería y construcción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49440" y="30632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Fijadas en niveles residuales exógenos: no entran en la utilidad directa.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766560" y="3657600"/>
            <a:ext cx="4937760" cy="9144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6766560" y="3657600"/>
            <a:ext cx="73152" cy="9144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949440" y="37490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Precio relevante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49440" y="41148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p_p (precio del bien compuesto Armington).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766560" y="4709160"/>
            <a:ext cx="4937760" cy="9144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6766560" y="4709160"/>
            <a:ext cx="73152" cy="91440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949440" y="4800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F_ACT_ROW = 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51663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rentas factoriales del/al resto del mundo en la calibración.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de sectores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firmas representativas eligen producción, factores e insumos para maximizar beneficios.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86400" cy="22860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3152" cy="22860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Valor agregado: Cobb-Douglas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V_s = γ_s · (K_s)^β_K · Π_l (L_l,s)^β_L,l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68680" y="26060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Sustitución entre capital y los 3 tipos de trabajo. Calibración: los β se infieren de la SAM (participaciones del valor agregado).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486400" cy="22860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73152" cy="228600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Insumos intermedios: Leontief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37960" y="21488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X_p,s = io_p,s · V_s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606040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fijos proporcionales al nivel de actividad. No hay sustitución en el bloque intermedio: las proporciones se mantienen según la SAM.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069080"/>
            <a:ext cx="1115568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822960" y="416052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4A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Función de beneficio sectorial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45262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π_s = V_s · [Σ_p pz_p · make_share_p,s · (1 − tps_s − tes_s)] − K_s · p^k − Σ_l w^l · L_l,s − Σ_p io_p,s · V_s · p_p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074920"/>
            <a:ext cx="10789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Ceros estructurales: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sectores se agrupan en bloques (SECTORS_A, B, C) según los insumos que efectivamente utilizan, evitando calibrar demandas sobre flujos nulos en la SAM (p. ej., construcción como insumo en agro).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Productos y comercio exterior (1/2)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etapas en cada producto: transformación CET → agregación Armington.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394960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68680" y="1691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4A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1 · CET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Asignación producción → ventas domésticas / exportaciones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Z_p = a_t · [γ_e · EX_p^ρt + (1−γ_e) · DS_p^ρt]^(1/ρt)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29184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Z_p: oferta total del productor</a:t>
            </a:r>
            <a:endParaRPr lang="en-US" sz="11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DS_p: ventas domésticas</a:t>
            </a:r>
            <a:endParaRPr lang="en-US" sz="11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EX_p: exportaciones</a:t>
            </a:r>
            <a:endParaRPr lang="en-US" sz="11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σ_t = 1.5 (elasticidad de transformación)</a:t>
            </a:r>
            <a:endParaRPr lang="en-US" sz="11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Bienes no exportables: DS_p = Z_p, EX_p = 0 (construcción, adm. pública, otros)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554480"/>
            <a:ext cx="5440680" cy="475488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649224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D4A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Etapa 2 · Armington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492240" y="21945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Agregación doméstico + importado → bien compuesto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92240" y="27432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Q_p = a_q · [δ_m · M_p^ρq + (1−δ_m) · DD_p^ρq]^(1/ρq)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92240" y="3291840"/>
            <a:ext cx="5120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Q_p: bien compuesto (lo que ven hogares, gobierno, sectores)</a:t>
            </a:r>
            <a:endParaRPr lang="en-US" sz="11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DD_p = DS_p: parte doméstica del Armington = ventas internas del CET</a:t>
            </a:r>
            <a:endParaRPr lang="en-US" sz="11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M_p: importaciones</a:t>
            </a:r>
            <a:endParaRPr lang="en-US" sz="11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1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σ_q = 2.0 (elasticidad de Armington)</a:t>
            </a:r>
            <a:endParaRPr lang="en-US" sz="11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Parámetros δ_m, γ_e calibrados de las participaciones SAM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Productos y comercio exterior (2/2)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Identidades tributarias y vínculo con precios externos.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1064240" cy="22860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3152" cy="22860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Recaudación indirecta y vínculo de precios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19456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VAT_p = vat_p · p_p · TD_Dom_p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ARANCEL_p = tar_rate_p · pworldm_p · exr · M_p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pm_p = pworldm_p · exr · (1 + tar_rate_p)</a:t>
            </a:r>
            <a:endParaRPr lang="en-US" sz="13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pe_p = pworlde_p · exr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1106424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868680" y="425196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4A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Implicación importante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66344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tipo de cambio real (exr) es </a:t>
            </a:r>
            <a:r>
              <a:rPr lang="en-US" sz="12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endógeno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esta versión del modelo. Esto significa que los precios pm_p, pe_p, pd_p y p_p transmiten el ajuste necesario para compatibilizar el equilibrio comercial con un nivel </a:t>
            </a:r>
            <a:r>
              <a:rPr lang="en-US" sz="12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fijo de ahorro externo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  <a:p>
            <a:pPr marL="0" indent="0" algn="l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choques tributarios se absorben vía precios relativos (competitividad y términos de intercambio), no vía financiamiento externo. Esta elección de cierre es decisiva para la lectura de los resultados.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 de firmas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conceptual clave: las firmas son una institución financiera, no una unidad productiva.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166360" y="2468880"/>
            <a:ext cx="18288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5166360" y="2468880"/>
            <a:ext cx="1828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FIRMAS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INGF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468880"/>
            <a:ext cx="32918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 del capital corporativo (K_F · p^k)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2715768"/>
            <a:ext cx="105156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822960" y="3154680"/>
            <a:ext cx="329184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Contribuciones sociales asignadas (θ_cs · CONTSOC)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0" y="3401568"/>
            <a:ext cx="105156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8046720" y="1783080"/>
            <a:ext cx="365760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8046720" y="17830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Dividendos a hogares (TREMP)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95160" y="2029968"/>
            <a:ext cx="105156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8046720" y="2423160"/>
            <a:ext cx="365760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8046720" y="24231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IDPC / FIT (fit · K_F · p^k)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95160" y="2670048"/>
            <a:ext cx="105156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8046720" y="3063240"/>
            <a:ext cx="365760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8046720" y="30632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Prestaciones sociales (PRESTSOC_F)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995160" y="3310128"/>
            <a:ext cx="105156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8046720" y="3703320"/>
            <a:ext cx="3657600" cy="502920"/>
          </a:xfrm>
          <a:prstGeom prst="rect">
            <a:avLst/>
          </a:prstGeom>
          <a:solidFill>
            <a:srgbClr val="F5F7F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8046720" y="3703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Transferencias al gobierno (TR_F_G)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995160" y="3950208"/>
            <a:ext cx="105156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046720" y="4343400"/>
            <a:ext cx="3657600" cy="502920"/>
          </a:xfrm>
          <a:prstGeom prst="rect">
            <a:avLst/>
          </a:prstGeom>
          <a:solidFill>
            <a:srgbClr val="D4A82A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8046720" y="4343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Ahorro corporativo (SAV_F · residuo)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995160" y="4590288"/>
            <a:ext cx="1051560" cy="0"/>
          </a:xfrm>
          <a:prstGeom prst="line">
            <a:avLst/>
          </a:prstGeom>
          <a:noFill/>
          <a:ln w="19050">
            <a:solidFill>
              <a:srgbClr val="4A6FA5"/>
            </a:solidFill>
            <a:prstDash val="solid"/>
            <a:tailEnd type="triangle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640080" y="5166360"/>
            <a:ext cx="11064240" cy="114300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868680" y="5212080"/>
            <a:ext cx="10607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importante para política tributaria: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IDPC se modela sobre la renta del capital a nivel institucional, </a:t>
            </a: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como cuña sobre el costo de uso del capital en las decisiones productivas. Por tanto, sus efectos se transmiten principalmente vía ahorro empresarial e inversión, no por sustitución K-L directa.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 y bloque ahorro–inversión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gobierno opera como sistema contable; el cierre ahorro-inversión ya no es puramente neoclásico.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86400" cy="47548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3152" cy="47548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6868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Gobierno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contable de cierre macroeconómico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51460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Ingresos: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PIT, IDPC/FIT, IVA, impuestos a la producción, específicos, aranceles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Gastos: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público fijo en bienes (GG_p)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Transferencias y prestaciones sociales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Cierre:</a:t>
            </a:r>
            <a:endParaRPr lang="en-US" sz="1200" dirty="0"/>
          </a:p>
          <a:p>
            <a:pPr marL="342900" indent="-342900" algn="l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SAV_G como residuo: ahorro fiscal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09360" y="1554480"/>
            <a:ext cx="5486400" cy="47548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73152" cy="475488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6537960" y="169164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Ahorro–Inversión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21488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no neoclásico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37960" y="2514600"/>
            <a:ext cx="50292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pública: fija en su nivel base (inv_adj_G = 1).</a:t>
            </a:r>
            <a:endParaRPr lang="en-US" sz="1200" dirty="0"/>
          </a:p>
          <a:p>
            <a:pPr marL="342900" indent="-342900" algn="l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privada (hogares y firmas): variable, responde al ahorro con amortiguación.</a:t>
            </a:r>
            <a:endParaRPr lang="en-US" sz="1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C25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η = 0.5</a:t>
            </a:r>
            <a:endParaRPr lang="en-US" sz="1200" dirty="0"/>
          </a:p>
          <a:p>
            <a:pPr marL="0" indent="0" algn="l">
              <a:spcAft>
                <a:spcPts val="400"/>
              </a:spcAft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Parámetro de amortiguación. Con este valor, la inversión privada responde al ahorro con elasticidad menor que uno.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Cierre macroeconómico: el slide clave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esto, los resultados no se interpretan correctamente.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697480" cy="3840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868680" y="1737360"/>
            <a:ext cx="594360" cy="594360"/>
          </a:xfrm>
          <a:prstGeom prst="ellipse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6868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salarial Blanchflower–Oswald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24612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w_pot · (LD / LFORCE)^φ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φ = 0.1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Sustituye el supuesto de pleno empleo.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0" y="1554480"/>
            <a:ext cx="2697480" cy="3840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3703320" y="1737360"/>
            <a:ext cx="594360" cy="594360"/>
          </a:xfrm>
          <a:prstGeom prst="ellipse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70332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423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Desempleo endógeno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0" y="324612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= (LFORCE − LD) / LFORCE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8.7% para los 3 tipos de trabajo.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choques se absorben en empleo + salarios.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2697480" cy="3840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6537960" y="1737360"/>
            <a:ext cx="594360" cy="594360"/>
          </a:xfrm>
          <a:prstGeom prst="ellipse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53796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2423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Ahorro externo fijo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24612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SAVEXT = SAVEXT_target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cambio real endógeno.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vía precios relativos.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144000" y="1554480"/>
            <a:ext cx="2697480" cy="384048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9372600" y="1737360"/>
            <a:ext cx="594360" cy="594360"/>
          </a:xfrm>
          <a:prstGeom prst="ellipse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9372600" y="17373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326880" y="242316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Capital pleno empleo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326880" y="3246120"/>
            <a:ext cx="2331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K_s = K_TOT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p^k es el precio de escasez del factor.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Numerario nominal exógeno.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623560"/>
            <a:ext cx="111556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868680" y="562356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shocks tributarios no se absorben aumentando financiamiento externo; aparecen necesariamente en empleo, precios relativos y balance comercial.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Shock 1: Aumento del IVA (+1%)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029200" cy="50292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" cy="502920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de transmisión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Precio al consumidor (p_c)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Ingreso real → ↓ consumo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Absorción interna → ↓ importaciones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Producción → ↓ empleo / salarios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Presión externa → ajuste cambiario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Exportaciones (efecto secundario)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F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Recaudación IVA directa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280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agregados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37360"/>
          <a:ext cx="57607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−0.1176%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−0.1385%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−0.0713%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Exportaciones reales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−0.1441%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Importaciones reales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−0.0934%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Desempleo (media)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+0.45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Recaudación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+0.0019 pp PIB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0" y="5303520"/>
            <a:ext cx="57607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126480" y="5349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compresión moderada de absorción interna y ajuste externo vía precios relativos. La recaudación neta apenas sube porque la base se contrae.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Tablas 2-4 del paper técnico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Shock 2: Aumento del PIT (+10%)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029200" cy="50292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" cy="502920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de transmisión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Ingreso disponible hogares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Consumo + ↓ ahorro privado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Inversión privada (canal ahorro)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Producción → ↓ empleo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Importaciones y exportaciones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comercial se deteriora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2F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Recaudación PIT (canal directo dominante)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280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agregados</a:t>
            </a:r>
            <a:endParaRPr lang="en-US" sz="15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37360"/>
          <a:ext cx="57607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−0.3889%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−0.5258%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−0.1676%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Exportaciones reales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−0.2223%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Importaciones reales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−0.1284%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Desempleo (media)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+0.82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Recaudación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+0.0147 pp PIB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0" y="5303520"/>
            <a:ext cx="57607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126480" y="5349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compresión visible de la demanda interna y del empleo. Es el shock con mayor efecto contractivo sobre PIB, consumo y empleo entre los tres evaluados.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Tablas 7-11 del paper técnico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Shock 3: Disminución del IDPC (−1%)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029200" cy="502920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Shape 4"/>
          <p:cNvSpPr/>
          <p:nvPr/>
        </p:nvSpPr>
        <p:spPr>
          <a:xfrm>
            <a:off x="640080" y="1280160"/>
            <a:ext cx="73152" cy="5029200"/>
          </a:xfrm>
          <a:prstGeom prst="rect">
            <a:avLst/>
          </a:prstGeom>
          <a:solidFill>
            <a:srgbClr val="2F7D58"/>
          </a:solidFill>
          <a:ln w="12700">
            <a:solidFill>
              <a:srgbClr val="2F7D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868680" y="1417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 de transmisión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1920240"/>
            <a:ext cx="466344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Ingreso neto de firmas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A: ↑ dividendos → ↑ consumo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B: ↑ ahorro corporativo → ↑ inversión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Capital (K) y ↑ producción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Importaciones (presión externa)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comercial se deteriora</a:t>
            </a:r>
            <a:endParaRPr lang="en-US" sz="1200" dirty="0"/>
          </a:p>
          <a:p>
            <a:pPr marL="342900" indent="-342900" algn="l">
              <a:spcAft>
                <a:spcPts val="500"/>
              </a:spcAft>
              <a:buSzPct val="100000"/>
              <a:buChar char="•"/>
            </a:pPr>
            <a:r>
              <a:rPr lang="en-US" sz="1200" b="1" dirty="0">
                <a:solidFill>
                  <a:srgbClr val="C25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Recaudación neta total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0" y="12801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agregados</a:t>
            </a:r>
            <a:endParaRPr lang="en-US" sz="1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0" y="1737360"/>
          <a:ext cx="57607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Cambio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PIB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+0.1454%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Consumo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+0.0975%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Inversión 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+0.3792%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Exportaciones reales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+0.0546%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Importaciones reales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+0.0766%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Desempleo (media)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−0.32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Recaudación 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−0.1000 pp PIB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943600" y="5303520"/>
            <a:ext cx="576072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9"/>
          <p:cNvSpPr/>
          <p:nvPr/>
        </p:nvSpPr>
        <p:spPr>
          <a:xfrm>
            <a:off x="6126480" y="53492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expansión moderada de actividad e inversión, pero a costa de menor recaudación neta y deterioro del balance comercial.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Tablas 12-16 del paper técnico. Implementación: factor (1 − 0.615 · 0.01/0.27)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Comparativa de los tres shocks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Variación porcentual en variables reales (las direcciones revelan los trade-offs).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463040"/>
          <a:ext cx="77724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8595360" y="1463040"/>
            <a:ext cx="3108960" cy="39319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5"/>
          <p:cNvSpPr/>
          <p:nvPr/>
        </p:nvSpPr>
        <p:spPr>
          <a:xfrm>
            <a:off x="8595360" y="1463040"/>
            <a:ext cx="73152" cy="393192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6"/>
          <p:cNvSpPr/>
          <p:nvPr/>
        </p:nvSpPr>
        <p:spPr>
          <a:xfrm>
            <a:off x="8778240" y="15544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Empleo y fiscal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778240" y="1965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desempleo (pp)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778240" y="22402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C25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IVA:   +0.45</a:t>
            </a:r>
            <a:endParaRPr lang="en-US" sz="11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PIT:   +0.82</a:t>
            </a:r>
            <a:endParaRPr lang="en-US" sz="11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F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IDPC: −0.32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778240" y="3383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 recaudación (pp PIB)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778240" y="365760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C25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IVA:   +0.002</a:t>
            </a:r>
            <a:endParaRPr lang="en-US" sz="11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PIT:   +0.015</a:t>
            </a:r>
            <a:endParaRPr lang="en-US" sz="11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100" b="1" dirty="0">
                <a:solidFill>
                  <a:srgbClr val="2F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IDPC: −0.100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0080" y="5577840"/>
            <a:ext cx="1115568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2"/>
          <p:cNvSpPr/>
          <p:nvPr/>
        </p:nvSpPr>
        <p:spPr>
          <a:xfrm>
            <a:off x="868680" y="5577840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mecanismos distintos: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IVA opera por precios, el PIT por ingreso disponible, el IDPC por ahorro corporativo + dividendos. Sus efectos relativos en PIB y empleo lo reflejan.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Síntesis: trade-offs por instrumento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40080" y="1188720"/>
            <a:ext cx="3657600" cy="68580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IVA (+1%)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Recaudación con precio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3657600" cy="420624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82296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F7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Fortalezas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240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recaudación bruta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contractivo moderado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25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37033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se contrae: ganancia neta muy acotada (+0.002 pp PIB)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Consumo real (−0.14%)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22960" y="5212080"/>
            <a:ext cx="3291840" cy="0"/>
          </a:xfrm>
          <a:prstGeom prst="line">
            <a:avLst/>
          </a:prstGeom>
          <a:noFill/>
          <a:ln w="1905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82296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Compresión moderada y ajuste externo vía precios relativos.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434840" y="1188720"/>
            <a:ext cx="36576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61772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 (+10%)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1772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Recaudación con contracción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1874520"/>
            <a:ext cx="3657600" cy="420624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461772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F7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Fortalezas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17720" y="2240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rendimiento recaudatorio (+0.015 pp PIB)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amplia y predecible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1772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25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17720" y="37033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Contracción más fuerte: ΔPIB = −0.39%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Desempleo (+0.82 pp media)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 consumo y ahorro privado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17720" y="5212080"/>
            <a:ext cx="3291840" cy="0"/>
          </a:xfrm>
          <a:prstGeom prst="line">
            <a:avLst/>
          </a:prstGeom>
          <a:noFill/>
          <a:ln w="1905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61772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más recaudador, pero también el más contractivo.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229600" y="1188720"/>
            <a:ext cx="3657600" cy="685800"/>
          </a:xfrm>
          <a:prstGeom prst="rect">
            <a:avLst/>
          </a:prstGeom>
          <a:solidFill>
            <a:srgbClr val="2F7D58"/>
          </a:solidFill>
          <a:ln w="12700">
            <a:solidFill>
              <a:srgbClr val="2F7D5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84124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IDPC (−1%)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412480" y="15544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 con costo fiscal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0" y="1874520"/>
            <a:ext cx="3657600" cy="420624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8412480" y="1965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F7D5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Fortalezas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412480" y="224028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PIB (+0.15%) y ↑ inversión (+0.38%)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Desempleo (−0.32 pp)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34290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25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412480" y="370332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Recaudación neta (−0.10 pp PIB)</a:t>
            </a:r>
            <a:endParaRPr lang="en-US" sz="1000" dirty="0"/>
          </a:p>
          <a:p>
            <a:pPr marL="342900" indent="-342900" algn="l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Deteriora balance comercial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412480" y="5212080"/>
            <a:ext cx="3291840" cy="0"/>
          </a:xfrm>
          <a:prstGeom prst="line">
            <a:avLst/>
          </a:prstGeom>
          <a:noFill/>
          <a:ln w="1905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8412480" y="5349240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Estímulo moderado de corto plazo, con costo fiscal y presión externa.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Limitaciones de esta versión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el modelo no captura es tan importante como lo que sí captura.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657600" cy="15087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3152" cy="150876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ESTÁTICO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057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dinámica de transición ni acumulación de capital. Solo estática comparativa.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34840" y="1554480"/>
            <a:ext cx="3657600" cy="15087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434840" y="1554480"/>
            <a:ext cx="73152" cy="150876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61772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HOGAR ÚNICO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17720" y="2057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Hogar representativo: no permite análisis distributivo ni heterogeneidad por quintiles.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229600" y="1554480"/>
            <a:ext cx="3657600" cy="15087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229600" y="1554480"/>
            <a:ext cx="73152" cy="150876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412480" y="1691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IDPC INSTITUCIONAL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412480" y="205740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IDPC opera sobre el ahorro corporativo, no como cuña directa en el costo de uso del capital.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200400"/>
            <a:ext cx="3657600" cy="15087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640080" y="3200400"/>
            <a:ext cx="73152" cy="150876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82296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LABORAL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703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tipos de trabajo, pero sin informalidad explícita ni rigideces adicionales.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434840" y="3200400"/>
            <a:ext cx="3657600" cy="15087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4434840" y="3200400"/>
            <a:ext cx="73152" cy="150876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61772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ELASTICIDADES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617720" y="3703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sensibles a ω, σ_q, σ_t, ϕ, η. Conviene reportar rangos, no solo el valor central.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229600" y="3200400"/>
            <a:ext cx="3657600" cy="150876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8229600" y="3200400"/>
            <a:ext cx="73152" cy="150876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8412480" y="3337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256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POLÍTICA MONETARIA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412480" y="370332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dinero ni precios nominales: el modelo está calibrado en flujos reales.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5303520"/>
            <a:ext cx="1115568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868680" y="53492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4A8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 última: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análisis de sensibilidad ya está parcialmente implementado en sens_analysis.Rmd con LHS (N=128), OAT y PRCC, siguiendo Marino et al. (2008) y Harrison &amp; Vinod (1992).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57200" y="384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51560" y="365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Extensiones y próximos pasos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ruta a partir de las recomendaciones del paper (Sección 5).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548640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73152" cy="141732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6868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Sensibilidad paramétrica completa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54880" y="1691640"/>
            <a:ext cx="1188720" cy="32004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75488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progreso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05740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OAT + Tornado + LHS + PRCC ya implementados. Cuantifica robustez de signo y magnitud frente a elasticidades.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554480"/>
            <a:ext cx="548640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263640" y="1554480"/>
            <a:ext cx="73152" cy="141732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492240" y="16459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Hogares heterogéneos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378440" y="1691640"/>
            <a:ext cx="1188720" cy="320040"/>
          </a:xfrm>
          <a:prstGeom prst="rect">
            <a:avLst/>
          </a:prstGeom>
          <a:solidFill>
            <a:srgbClr val="C2562E"/>
          </a:solidFill>
          <a:ln w="12700">
            <a:solidFill>
              <a:srgbClr val="C2562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1037844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Prioritario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92240" y="205740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Desagregación por quintiles o deciles de ingreso para análisis distributivo de las reformas.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0080" y="3108960"/>
            <a:ext cx="548640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640080" y="3108960"/>
            <a:ext cx="73152" cy="141732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868680" y="3200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Mayor desagregación sectorial y de productos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54880" y="3246120"/>
            <a:ext cx="1188720" cy="3200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475488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plazo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868680" y="361188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Subdividir manufactura, energía y servicios para capturar mejor la heterogeneidad sectorial.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63640" y="3108960"/>
            <a:ext cx="548640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6263640" y="3108960"/>
            <a:ext cx="73152" cy="141732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6492240" y="3200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Estructura tributaria más detallada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378440" y="3246120"/>
            <a:ext cx="1188720" cy="320040"/>
          </a:xfrm>
          <a:prstGeom prst="rect">
            <a:avLst/>
          </a:prstGeom>
          <a:solidFill>
            <a:srgbClr val="4A6FA5"/>
          </a:solidFill>
          <a:ln w="12700">
            <a:solidFill>
              <a:srgbClr val="4A6FA5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10378440" y="3246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 plazo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92240" y="361188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Diferenciar tasas efectivas y reglas dentro de cada instrumento (IVA con exenciones, PIT progresivo, etc.).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4663440"/>
            <a:ext cx="548640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640080" y="466344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868680" y="4754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 laboral con informalidad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754880" y="4800600"/>
            <a:ext cx="11887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4754880" y="4800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8680" y="51663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segmentación formal-informal y rigideces adicionales (salario mínimo, costos de despido).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263640" y="4663440"/>
            <a:ext cx="5486400" cy="1417320"/>
          </a:xfrm>
          <a:prstGeom prst="rect">
            <a:avLst/>
          </a:prstGeom>
          <a:solidFill>
            <a:srgbClr val="F5F7FA"/>
          </a:solidFill>
          <a:ln w="9525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Shape 35"/>
          <p:cNvSpPr/>
          <p:nvPr/>
        </p:nvSpPr>
        <p:spPr>
          <a:xfrm>
            <a:off x="6263640" y="4663440"/>
            <a:ext cx="73152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6492240" y="47548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Versión dinámica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0378440" y="4800600"/>
            <a:ext cx="118872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0" name="Text 38"/>
          <p:cNvSpPr/>
          <p:nvPr/>
        </p:nvSpPr>
        <p:spPr>
          <a:xfrm>
            <a:off x="10378440" y="48006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Largo plazo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92240" y="51663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Pasar de comparativa estática a un MEGC dinámico con acumulación de capital.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MEGC 12 sectores · Chile 2023 · SII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D4A82A"/>
          </a:solidFill>
          <a:ln w="127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31520" y="5486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Referencias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286000" cy="0"/>
          </a:xfrm>
          <a:prstGeom prst="line">
            <a:avLst/>
          </a:prstGeom>
          <a:noFill/>
          <a:ln w="25400">
            <a:solidFill>
              <a:srgbClr val="D4A82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3152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4A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Citadas en el paper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Arrow, K. J., &amp; Debreu, G. (1954). Existence of an equilibrium for a competitive economy. Econometrica, 22(3), 265–290.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Ballard, C. L., Fullerton, D., Shoven, J. B., &amp; Whalley, J. (1985). A General Equilibrium Model for Tax Policy Evaluation. University of Chicago Press.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Dervis, K., de Melo, J., &amp; Robinson, S. (1982). General Equilibrium Models for Development Policy. Cambridge University Press.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Dixon, P. B., &amp; Jorgenson, D. W. (Eds.). (2013). Handbook of Computable General Equilibrium Modeling. Elsevier.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Pyatt, G., &amp; Round, J. I. (Eds.). (1985). Social Accounting Matrices: A Basis for Planning. World Bank.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Shoven, J. B., &amp; Whalley, J. (1992). Applying General Equilibrium. Cambridge University Press.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Venegas, J. (2013). SAM 2008 para Chile. Banco Central de Chile, Estudios Económicos Estadísticos 95.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D4A8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Complementarias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0" y="2011680"/>
            <a:ext cx="548640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Blanchflower, D. G., &amp; Oswald, A. J. (2005). The wage curve reloaded. NBER WP 11338.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Lofgren, H., Harris, R. L., &amp; Robinson, S. (2002). A Standard CGE Model in GAMS. IFPRI.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Hertel, T., Hummels, D., Ivanic, M., &amp; Keeney, R. (2007). How confident can we be of CGE-based assessments of free trade agreements? Economic Modelling, 24(4), 611–635.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Harrison, G. W., &amp; Vinod, H. D. (1992). The sensitivity analysis of applied general equilibrium models. Review of Economics and Statistics, 74(2), 357–362.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Marino, S., Hogue, I. B., Ray, C. J., &amp; Kirschner, D. E. (2008). A methodology for performing global uncertainty and sensitivity analysis in systems biology. Journal of Theoretical Biology, 254(1), 178–196.</a:t>
            </a:r>
            <a:endParaRPr lang="en-US" sz="1000" dirty="0"/>
          </a:p>
          <a:p>
            <a:pPr marL="342900" indent="-342900" algn="l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McKibbin, W. J., &amp; Wilcoxen, P. J. (1999). The theoretical and empirical structure of the G-Cubed model. Economic Modelling, 16(1), 123–148.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640080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 · Departamento de Estudios Económicos y Tributarios · SII ·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3752</Words>
  <Application>Microsoft Office PowerPoint</Application>
  <PresentationFormat>Panorámica</PresentationFormat>
  <Paragraphs>480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28" baseType="lpstr">
      <vt:lpstr>Arial</vt:lpstr>
      <vt:lpstr>Calibri</vt:lpstr>
      <vt:lpstr>Cambria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MEGC de 12 sectores para Chile</dc:title>
  <dc:subject>PptxGenJS Presentation</dc:subject>
  <dc:creator>Departamento de Estudios Económicos y Tributarios, SII</dc:creator>
  <cp:lastModifiedBy>Francisco Javier Henriquez Palacios</cp:lastModifiedBy>
  <cp:revision>2</cp:revision>
  <dcterms:created xsi:type="dcterms:W3CDTF">2026-05-27T16:46:57Z</dcterms:created>
  <dcterms:modified xsi:type="dcterms:W3CDTF">2026-05-27T16:53:19Z</dcterms:modified>
</cp:coreProperties>
</file>