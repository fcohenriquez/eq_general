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82" r:id="rId6"/>
    <p:sldId id="261" r:id="rId7"/>
    <p:sldId id="279" r:id="rId8"/>
    <p:sldId id="262" r:id="rId9"/>
    <p:sldId id="281" r:id="rId10"/>
    <p:sldId id="263" r:id="rId11"/>
    <p:sldId id="264" r:id="rId12"/>
    <p:sldId id="265" r:id="rId13"/>
    <p:sldId id="285" r:id="rId14"/>
    <p:sldId id="268" r:id="rId15"/>
    <p:sldId id="269" r:id="rId16"/>
    <p:sldId id="270" r:id="rId17"/>
    <p:sldId id="284" r:id="rId18"/>
    <p:sldId id="271" r:id="rId19"/>
    <p:sldId id="273" r:id="rId20"/>
    <p:sldId id="272" r:id="rId21"/>
    <p:sldId id="276" r:id="rId22"/>
    <p:sldId id="277" r:id="rId23"/>
    <p:sldId id="266" r:id="rId24"/>
    <p:sldId id="267" r:id="rId25"/>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3" autoAdjust="0"/>
    <p:restoredTop sz="94610"/>
  </p:normalViewPr>
  <p:slideViewPr>
    <p:cSldViewPr snapToGrid="0" snapToObjects="1">
      <p:cViewPr varScale="1">
        <p:scale>
          <a:sx n="104" d="100"/>
          <a:sy n="104" d="100"/>
        </p:scale>
        <p:origin x="5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970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EB8C-1EE0-E1D1-6414-DDD9E8D62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64030-718A-7F9E-F8FC-CF51AF882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A4FFB-478E-4134-195D-EE16D324DE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632C4-C69C-1EB7-83AF-E6C6474D645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7698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9729-162A-F7D4-414D-5D824099F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33378-3FEA-FF2F-5BA4-3ABCB637C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8E66E-452C-80FB-026E-5E6826866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69386D-410C-EFC2-DD80-BA4DCAE3E45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77406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DAC9C-F613-FFB7-D23D-268B1DD19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3222D-4682-1C04-1D2B-A866C30AB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D5A64-C95E-7E77-D3FA-5EA743294F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0A9888-6D5A-6B45-DA0A-CBF5AA9B84F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36291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s-CL" b="1" dirty="0"/>
                  <a:t>1. Elasticidad de sustitución constante (y parametrizable)</a:t>
                </a:r>
              </a:p>
              <a:p>
                <a:r>
                  <a:rPr lang="es-CL" dirty="0"/>
                  <a:t>La elasticidad de sustitución entre cualquier par de bienes es constante e igual a σ = 1/(1−ρ), donde ρ es el parámetro de sustitución. Esto permite calibrar directamente el grado de complementariedad o sustituibilidad a partir de datos empíricos, algo muy útil en modelos CGE.</a:t>
                </a:r>
              </a:p>
              <a:p>
                <a:r>
                  <a:rPr lang="es-CL" b="1" dirty="0"/>
                  <a:t>2. Generalidad: engloba casos límite importantes</a:t>
                </a:r>
              </a:p>
              <a:p>
                <a:r>
                  <a:rPr lang="es-CL" dirty="0"/>
                  <a:t>Variando σ (o ρ), la CES anida formas funcionales clásicas:</a:t>
                </a:r>
              </a:p>
              <a:p>
                <a:r>
                  <a:rPr lang="es-CL" dirty="0" err="1"/>
                  <a:t>σρForma</a:t>
                </a:r>
                <a:r>
                  <a:rPr lang="es-CL" dirty="0"/>
                  <a:t> resultante→ 0→ −∞</a:t>
                </a:r>
                <a:r>
                  <a:rPr lang="es-CL" dirty="0" err="1"/>
                  <a:t>Leontief</a:t>
                </a:r>
                <a:r>
                  <a:rPr lang="es-CL" dirty="0"/>
                  <a:t> (complementos perfectos)= 1→ 0Cobb-Douglas→ ∞→ 1Lineal (sustitutos perfectos)</a:t>
                </a:r>
              </a:p>
              <a:p>
                <a:r>
                  <a:rPr lang="es-CL" dirty="0"/>
                  <a:t>Esta anidación la convierte en una familia flexible que permite testear hipótesis sobre preferencias simplemente ajustando un parámetro.</a:t>
                </a:r>
              </a:p>
              <a:p>
                <a:r>
                  <a:rPr lang="es-CL" b="1" dirty="0"/>
                  <a:t>3. Homotecia</a:t>
                </a:r>
              </a:p>
              <a:p>
                <a:r>
                  <a:rPr lang="es-CL" dirty="0"/>
                  <a:t>La CES es homotética: las curvas de indiferencia son expansiones radiales unas de otras. Esto implica que las participaciones del gasto en cada bien no dependen del nivel de ingreso, solo de los precios relativos, lo que simplifica enormemente la demanda </a:t>
                </a:r>
                <a:r>
                  <a:rPr lang="es-CL" dirty="0" err="1"/>
                  <a:t>marshalliana</a:t>
                </a:r>
                <a:r>
                  <a:rPr lang="es-CL" dirty="0"/>
                  <a:t> y permite separar efectos precio de efectos ingreso de forma limpia.</a:t>
                </a:r>
              </a:p>
              <a:p>
                <a:r>
                  <a:rPr lang="es-CL" b="1" dirty="0"/>
                  <a:t>4. Regularidad (satisface los axiomas de preferencias)</a:t>
                </a:r>
              </a:p>
              <a:p>
                <a:r>
                  <a:rPr lang="es-CL" dirty="0"/>
                  <a:t>Bajo condiciones estándar (ρ &lt; 1, participaciones positivas), la CES es:</a:t>
                </a:r>
              </a:p>
              <a:p>
                <a:r>
                  <a:rPr lang="es-CL" b="1" dirty="0"/>
                  <a:t>Monótona creciente</a:t>
                </a:r>
                <a:r>
                  <a:rPr lang="es-CL" dirty="0"/>
                  <a:t> en todos los bienes</a:t>
                </a:r>
              </a:p>
              <a:p>
                <a:r>
                  <a:rPr lang="es-CL" b="1" dirty="0" err="1"/>
                  <a:t>Cuasi-cóncava</a:t>
                </a:r>
                <a:r>
                  <a:rPr lang="es-CL" dirty="0"/>
                  <a:t> → las curvas de indiferencia son convexas al origen</a:t>
                </a:r>
              </a:p>
              <a:p>
                <a:r>
                  <a:rPr lang="es-CL" b="1" dirty="0"/>
                  <a:t>Continua y diferenciable</a:t>
                </a:r>
                <a:r>
                  <a:rPr lang="es-CL" dirty="0"/>
                  <a:t> → permite aplicar cálculo para obtener demandas óptimas</a:t>
                </a:r>
              </a:p>
              <a:p>
                <a:r>
                  <a:rPr lang="es-CL" b="1" dirty="0"/>
                  <a:t>5. Demandas </a:t>
                </a:r>
                <a:r>
                  <a:rPr lang="es-CL" b="1" dirty="0" err="1"/>
                  <a:t>marshallianas</a:t>
                </a:r>
                <a:r>
                  <a:rPr lang="es-CL" b="1" dirty="0"/>
                  <a:t> cerradas y elegantes</a:t>
                </a:r>
              </a:p>
              <a:p>
                <a:r>
                  <a:rPr lang="es-CL" dirty="0"/>
                  <a:t>La maximización de utilidad CES sujeta a una restricción presupuestaria produce demandas de la forma:</a:t>
                </a:r>
              </a:p>
              <a:p>
                <a:pPr/>
                <a14:m>
                  <m:oMathPara xmlns:m="http://schemas.openxmlformats.org/officeDocument/2006/math">
                    <m:oMathParaPr>
                      <m:jc m:val="centerGroup"/>
                    </m:oMathParaPr>
                    <m:oMath xmlns:m="http://schemas.openxmlformats.org/officeDocument/2006/math">
                      <m:sSub>
                        <m:sSubPr>
                          <m:ctrlPr>
                            <a:rPr lang="es-CL" sz="1200" i="1" kern="1200">
                              <a:solidFill>
                                <a:schemeClr val="tx1"/>
                              </a:solidFill>
                              <a:latin typeface="Cambria Math" panose="02040503050406030204" pitchFamily="18" charset="0"/>
                              <a:ea typeface="+mn-ea"/>
                              <a:cs typeface="+mn-cs"/>
                            </a:rPr>
                          </m:ctrlPr>
                        </m:sSubPr>
                        <m:e>
                          <m:r>
                            <a:rPr lang="es-CL" sz="1200" i="1" kern="1200">
                              <a:solidFill>
                                <a:schemeClr val="tx1"/>
                              </a:solidFill>
                              <a:latin typeface="Cambria Math" panose="02040503050406030204" pitchFamily="18" charset="0"/>
                              <a:ea typeface="+mn-ea"/>
                              <a:cs typeface="+mn-cs"/>
                            </a:rPr>
                            <m:t>𝑥</m:t>
                          </m:r>
                        </m:e>
                        <m:sub>
                          <m:r>
                            <a:rPr lang="es-CL" sz="1200" i="1" kern="1200">
                              <a:solidFill>
                                <a:schemeClr val="tx1"/>
                              </a:solidFill>
                              <a:latin typeface="Cambria Math" panose="02040503050406030204" pitchFamily="18" charset="0"/>
                              <a:ea typeface="+mn-ea"/>
                              <a:cs typeface="+mn-cs"/>
                            </a:rPr>
                            <m:t>𝑖</m:t>
                          </m:r>
                        </m:sub>
                      </m:sSub>
                      <m:r>
                        <a:rPr lang="es-CL" sz="1200" i="0" kern="1200">
                          <a:solidFill>
                            <a:schemeClr val="tx1"/>
                          </a:solidFill>
                          <a:latin typeface="Cambria Math" panose="02040503050406030204" pitchFamily="18" charset="0"/>
                          <a:ea typeface="+mn-ea"/>
                          <a:cs typeface="+mn-cs"/>
                        </a:rPr>
                        <m:t>=</m:t>
                      </m:r>
                      <m:f>
                        <m:fPr>
                          <m:ctrlPr>
                            <a:rPr lang="es-CL" sz="1200" i="1" kern="1200">
                              <a:solidFill>
                                <a:schemeClr val="tx1"/>
                              </a:solidFill>
                              <a:latin typeface="Cambria Math" panose="02040503050406030204" pitchFamily="18" charset="0"/>
                              <a:ea typeface="+mn-ea"/>
                              <a:cs typeface="+mn-cs"/>
                            </a:rPr>
                          </m:ctrlPr>
                        </m:fPr>
                        <m:num>
                          <m:sSubSup>
                            <m:sSubSupPr>
                              <m:ctrlPr>
                                <a:rPr lang="es-CL" sz="1200" i="1" kern="1200">
                                  <a:solidFill>
                                    <a:schemeClr val="tx1"/>
                                  </a:solidFill>
                                  <a:latin typeface="Cambria Math" panose="02040503050406030204" pitchFamily="18" charset="0"/>
                                  <a:ea typeface="+mn-ea"/>
                                  <a:cs typeface="+mn-cs"/>
                                </a:rPr>
                              </m:ctrlPr>
                            </m:sSubSupPr>
                            <m:e>
                              <m:r>
                                <a:rPr lang="es-CL" sz="1200" i="1" kern="1200">
                                  <a:solidFill>
                                    <a:schemeClr val="tx1"/>
                                  </a:solidFill>
                                  <a:latin typeface="Cambria Math" panose="02040503050406030204" pitchFamily="18" charset="0"/>
                                  <a:ea typeface="+mn-ea"/>
                                  <a:cs typeface="+mn-cs"/>
                                </a:rPr>
                                <m:t>𝛼</m:t>
                              </m:r>
                            </m:e>
                            <m:sub>
                              <m:r>
                                <a:rPr lang="es-CL" sz="1200" i="1" kern="1200">
                                  <a:solidFill>
                                    <a:schemeClr val="tx1"/>
                                  </a:solidFill>
                                  <a:latin typeface="Cambria Math" panose="02040503050406030204" pitchFamily="18" charset="0"/>
                                  <a:ea typeface="+mn-ea"/>
                                  <a:cs typeface="+mn-cs"/>
                                </a:rPr>
                                <m:t>𝑖</m:t>
                              </m:r>
                            </m:sub>
                            <m:sup>
                              <m:r>
                                <a:rPr lang="es-CL" sz="1200" i="1" kern="1200">
                                  <a:solidFill>
                                    <a:schemeClr val="tx1"/>
                                  </a:solidFill>
                                  <a:latin typeface="Cambria Math" panose="02040503050406030204" pitchFamily="18" charset="0"/>
                                  <a:ea typeface="+mn-ea"/>
                                  <a:cs typeface="+mn-cs"/>
                                </a:rPr>
                                <m:t>𝜎</m:t>
                              </m:r>
                            </m:sup>
                          </m:sSubSup>
                          <m:r>
                            <m:rPr>
                              <m:nor/>
                            </m:rPr>
                            <a:rPr lang="es-CL" sz="1200" b="0" i="1" kern="1200">
                              <a:solidFill>
                                <a:schemeClr val="tx1"/>
                              </a:solidFill>
                              <a:latin typeface="+mn-lt"/>
                              <a:ea typeface="+mn-ea"/>
                              <a:cs typeface="+mn-cs"/>
                            </a:rPr>
                            <m:t> </m:t>
                          </m:r>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𝑝</m:t>
                              </m:r>
                            </m:e>
                            <m:sub>
                              <m:r>
                                <a:rPr lang="es-CL" sz="1200" b="0" i="1" kern="1200">
                                  <a:solidFill>
                                    <a:schemeClr val="tx1"/>
                                  </a:solidFill>
                                  <a:latin typeface="Cambria Math" panose="02040503050406030204" pitchFamily="18" charset="0"/>
                                  <a:ea typeface="+mn-ea"/>
                                  <a:cs typeface="+mn-cs"/>
                                </a:rPr>
                                <m:t>𝑖</m:t>
                              </m:r>
                            </m:sub>
                            <m:sup>
                              <m:r>
                                <a:rPr lang="es-CL" sz="1200" b="0" i="0" kern="1200">
                                  <a:solidFill>
                                    <a:schemeClr val="tx1"/>
                                  </a:solidFill>
                                  <a:latin typeface="Cambria Math" panose="02040503050406030204" pitchFamily="18" charset="0"/>
                                  <a:ea typeface="+mn-ea"/>
                                  <a:cs typeface="+mn-cs"/>
                                </a:rPr>
                                <m:t>−</m:t>
                              </m:r>
                              <m:r>
                                <a:rPr lang="es-CL" sz="1200" b="0" i="1" kern="1200">
                                  <a:solidFill>
                                    <a:schemeClr val="tx1"/>
                                  </a:solidFill>
                                  <a:latin typeface="Cambria Math" panose="02040503050406030204" pitchFamily="18" charset="0"/>
                                  <a:ea typeface="+mn-ea"/>
                                  <a:cs typeface="+mn-cs"/>
                                </a:rPr>
                                <m:t>𝜎</m:t>
                              </m:r>
                            </m:sup>
                          </m:sSubSup>
                        </m:num>
                        <m:den>
                          <m:nary>
                            <m:naryPr>
                              <m:chr m:val="∑"/>
                              <m:grow m:val="on"/>
                              <m:supHide m:val="on"/>
                              <m:ctrlPr>
                                <a:rPr lang="es-CL" sz="1200" b="0" i="1" kern="1200">
                                  <a:solidFill>
                                    <a:schemeClr val="tx1"/>
                                  </a:solidFill>
                                  <a:latin typeface="Cambria Math" panose="02040503050406030204" pitchFamily="18" charset="0"/>
                                  <a:ea typeface="+mn-ea"/>
                                  <a:cs typeface="+mn-cs"/>
                                </a:rPr>
                              </m:ctrlPr>
                            </m:naryPr>
                            <m:sub>
                              <m:r>
                                <a:rPr lang="es-CL" sz="1200" b="0" i="1" kern="1200">
                                  <a:solidFill>
                                    <a:schemeClr val="tx1"/>
                                  </a:solidFill>
                                  <a:latin typeface="Cambria Math" panose="02040503050406030204" pitchFamily="18" charset="0"/>
                                  <a:ea typeface="+mn-ea"/>
                                  <a:cs typeface="+mn-cs"/>
                                </a:rPr>
                                <m:t>𝑗</m:t>
                              </m:r>
                            </m:sub>
                            <m:sup/>
                            <m:e>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𝛼</m:t>
                                  </m:r>
                                </m:e>
                                <m:sub>
                                  <m:r>
                                    <a:rPr lang="es-CL" sz="1200" b="0" i="1" kern="1200">
                                      <a:solidFill>
                                        <a:schemeClr val="tx1"/>
                                      </a:solidFill>
                                      <a:latin typeface="Cambria Math" panose="02040503050406030204" pitchFamily="18" charset="0"/>
                                      <a:ea typeface="+mn-ea"/>
                                      <a:cs typeface="+mn-cs"/>
                                    </a:rPr>
                                    <m:t>𝑗</m:t>
                                  </m:r>
                                </m:sub>
                                <m:sup>
                                  <m:r>
                                    <a:rPr lang="es-CL" sz="1200" b="0" i="1" kern="1200">
                                      <a:solidFill>
                                        <a:schemeClr val="tx1"/>
                                      </a:solidFill>
                                      <a:latin typeface="Cambria Math" panose="02040503050406030204" pitchFamily="18" charset="0"/>
                                      <a:ea typeface="+mn-ea"/>
                                      <a:cs typeface="+mn-cs"/>
                                    </a:rPr>
                                    <m:t>𝜎</m:t>
                                  </m:r>
                                </m:sup>
                              </m:sSubSup>
                            </m:e>
                          </m:nary>
                          <m:r>
                            <m:rPr>
                              <m:nor/>
                            </m:rPr>
                            <a:rPr lang="es-CL" sz="1200" b="0" i="1" kern="1200">
                              <a:solidFill>
                                <a:schemeClr val="tx1"/>
                              </a:solidFill>
                              <a:latin typeface="+mn-lt"/>
                              <a:ea typeface="+mn-ea"/>
                              <a:cs typeface="+mn-cs"/>
                            </a:rPr>
                            <m:t> </m:t>
                          </m:r>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𝑝</m:t>
                              </m:r>
                            </m:e>
                            <m:sub>
                              <m:r>
                                <a:rPr lang="es-CL" sz="1200" b="0" i="1" kern="1200">
                                  <a:solidFill>
                                    <a:schemeClr val="tx1"/>
                                  </a:solidFill>
                                  <a:latin typeface="Cambria Math" panose="02040503050406030204" pitchFamily="18" charset="0"/>
                                  <a:ea typeface="+mn-ea"/>
                                  <a:cs typeface="+mn-cs"/>
                                </a:rPr>
                                <m:t>𝑗</m:t>
                              </m:r>
                            </m:sub>
                            <m:sup>
                              <m:r>
                                <a:rPr lang="es-CL" sz="1200" b="0" i="0" kern="1200">
                                  <a:solidFill>
                                    <a:schemeClr val="tx1"/>
                                  </a:solidFill>
                                  <a:latin typeface="Cambria Math" panose="02040503050406030204" pitchFamily="18" charset="0"/>
                                  <a:ea typeface="+mn-ea"/>
                                  <a:cs typeface="+mn-cs"/>
                                </a:rPr>
                                <m:t>1−</m:t>
                              </m:r>
                              <m:r>
                                <a:rPr lang="es-CL" sz="1200" b="0" i="1" kern="1200">
                                  <a:solidFill>
                                    <a:schemeClr val="tx1"/>
                                  </a:solidFill>
                                  <a:latin typeface="Cambria Math" panose="02040503050406030204" pitchFamily="18" charset="0"/>
                                  <a:ea typeface="+mn-ea"/>
                                  <a:cs typeface="+mn-cs"/>
                                </a:rPr>
                                <m:t>𝜎</m:t>
                              </m:r>
                            </m:sup>
                          </m:sSubSup>
                        </m:den>
                      </m:f>
                      <m:r>
                        <a:rPr lang="es-CL" sz="1200" b="0" i="0" kern="1200">
                          <a:solidFill>
                            <a:schemeClr val="tx1"/>
                          </a:solidFill>
                          <a:latin typeface="Cambria Math" panose="02040503050406030204" pitchFamily="18" charset="0"/>
                          <a:ea typeface="+mn-ea"/>
                          <a:cs typeface="+mn-cs"/>
                        </a:rPr>
                        <m:t>⋅</m:t>
                      </m:r>
                      <m:r>
                        <a:rPr lang="es-CL" sz="1200" b="0" i="1" kern="1200">
                          <a:solidFill>
                            <a:schemeClr val="tx1"/>
                          </a:solidFill>
                          <a:latin typeface="Cambria Math" panose="02040503050406030204" pitchFamily="18" charset="0"/>
                          <a:ea typeface="+mn-ea"/>
                          <a:cs typeface="+mn-cs"/>
                        </a:rPr>
                        <m:t>𝐼</m:t>
                      </m:r>
                    </m:oMath>
                  </m:oMathPara>
                </a14:m>
                <a:endParaRPr lang="es-CL" b="0" dirty="0"/>
              </a:p>
              <a:p>
                <a:r>
                  <a:rPr lang="es-CL" dirty="0"/>
                  <a:t>donde los shares de gasto dependen solo de precios relativos y parámetros de distribución α_i. Esto facilita la calibración con datos de cuentas nacionales o encuestas.</a:t>
                </a:r>
              </a:p>
              <a:p>
                <a:r>
                  <a:rPr lang="es-CL" b="1" dirty="0"/>
                  <a:t>6. Separabilidad (en versiones anidadas)</a:t>
                </a:r>
              </a:p>
              <a:p>
                <a:r>
                  <a:rPr lang="es-CL" dirty="0"/>
                  <a:t>La CES puede construirse de forma </a:t>
                </a:r>
                <a:r>
                  <a:rPr lang="es-CL" b="1" dirty="0"/>
                  <a:t>anidada</a:t>
                </a:r>
                <a:r>
                  <a:rPr lang="es-CL" dirty="0"/>
                  <a:t> (</a:t>
                </a:r>
                <a:r>
                  <a:rPr lang="es-CL" i="1" dirty="0" err="1"/>
                  <a:t>nested</a:t>
                </a:r>
                <a:r>
                  <a:rPr lang="es-CL" i="1" dirty="0"/>
                  <a:t> CES</a:t>
                </a:r>
                <a:r>
                  <a:rPr lang="es-CL" dirty="0"/>
                  <a:t>), permitiendo modelar distintas elasticidades de sustitución entre grupos de bienes (</a:t>
                </a:r>
                <a:r>
                  <a:rPr lang="es-CL" dirty="0" err="1"/>
                  <a:t>ej</a:t>
                </a:r>
                <a:r>
                  <a:rPr lang="es-CL" dirty="0"/>
                  <a:t>: bienes domésticos vs. importados con la Armington, o bienes de consumo vs. ocio). Esta estructura es el corazón de la mayoría de los modelos CGE modernos.</a:t>
                </a:r>
              </a:p>
              <a:p>
                <a:r>
                  <a:rPr lang="es-CL" b="1" dirty="0"/>
                  <a:t>7. Facilidad de calibración</a:t>
                </a:r>
              </a:p>
              <a:p>
                <a:r>
                  <a:rPr lang="es-CL" dirty="0"/>
                  <a:t>Los parámetros de distribución α_i se pueden recuperar directamente de los </a:t>
                </a:r>
                <a:r>
                  <a:rPr lang="es-CL" b="1" dirty="0"/>
                  <a:t>shares de gasto observados</a:t>
                </a:r>
                <a:r>
                  <a:rPr lang="es-CL" dirty="0"/>
                  <a:t> en el año base, sin necesidad de estimación econométrica, lo que la hace muy práctica para modelos basados en una SAM.</a:t>
                </a:r>
              </a:p>
              <a:p>
                <a:endParaRPr lang="en-US" dirty="0"/>
              </a:p>
            </p:txBody>
          </p:sp>
        </mc:Choice>
        <mc:Fallback xmlns="">
          <p:sp>
            <p:nvSpPr>
              <p:cNvPr id="3" name="Notes Placeholder 2"/>
              <p:cNvSpPr>
                <a:spLocks noGrp="1"/>
              </p:cNvSpPr>
              <p:nvPr>
                <p:ph type="body" idx="1"/>
              </p:nvPr>
            </p:nvSpPr>
            <p:spPr/>
            <p:txBody>
              <a:bodyPr/>
              <a:lstStyle/>
              <a:p>
                <a:r>
                  <a:rPr lang="es-CL" b="1" dirty="0"/>
                  <a:t>1. Elasticidad de sustitución constante (y parametrizable)</a:t>
                </a:r>
              </a:p>
              <a:p>
                <a:r>
                  <a:rPr lang="es-CL" dirty="0"/>
                  <a:t>La elasticidad de sustitución entre cualquier par de bienes es constante e igual a σ = 1/(1−ρ), donde ρ es el parámetro de sustitución. Esto permite calibrar directamente el grado de complementariedad o sustituibilidad a partir de datos empíricos, algo muy útil en modelos CGE.</a:t>
                </a:r>
              </a:p>
              <a:p>
                <a:r>
                  <a:rPr lang="es-CL" b="1" dirty="0"/>
                  <a:t>2. Generalidad: engloba casos límite importantes</a:t>
                </a:r>
              </a:p>
              <a:p>
                <a:r>
                  <a:rPr lang="es-CL" dirty="0"/>
                  <a:t>Variando σ (o ρ), la CES anida formas funcionales clásicas:</a:t>
                </a:r>
              </a:p>
              <a:p>
                <a:r>
                  <a:rPr lang="es-CL" dirty="0" err="1"/>
                  <a:t>σρForma</a:t>
                </a:r>
                <a:r>
                  <a:rPr lang="es-CL" dirty="0"/>
                  <a:t> resultante→ 0→ −∞</a:t>
                </a:r>
                <a:r>
                  <a:rPr lang="es-CL" dirty="0" err="1"/>
                  <a:t>Leontief</a:t>
                </a:r>
                <a:r>
                  <a:rPr lang="es-CL" dirty="0"/>
                  <a:t> (complementos perfectos)= 1→ 0Cobb-Douglas→ ∞→ 1Lineal (sustitutos perfectos)</a:t>
                </a:r>
              </a:p>
              <a:p>
                <a:r>
                  <a:rPr lang="es-CL" dirty="0"/>
                  <a:t>Esta anidación la convierte en una familia flexible que permite testear hipótesis sobre preferencias simplemente ajustando un parámetro.</a:t>
                </a:r>
              </a:p>
              <a:p>
                <a:r>
                  <a:rPr lang="es-CL" b="1" dirty="0"/>
                  <a:t>3. Homotecia</a:t>
                </a:r>
              </a:p>
              <a:p>
                <a:r>
                  <a:rPr lang="es-CL" dirty="0"/>
                  <a:t>La CES es homotética: las curvas de indiferencia son expansiones radiales unas de otras. Esto implica que las participaciones del gasto en cada bien no dependen del nivel de ingreso, solo de los precios relativos, lo que simplifica enormemente la demanda </a:t>
                </a:r>
                <a:r>
                  <a:rPr lang="es-CL" dirty="0" err="1"/>
                  <a:t>marshalliana</a:t>
                </a:r>
                <a:r>
                  <a:rPr lang="es-CL" dirty="0"/>
                  <a:t> y permite separar efectos precio de efectos ingreso de forma limpia.</a:t>
                </a:r>
              </a:p>
              <a:p>
                <a:r>
                  <a:rPr lang="es-CL" b="1" dirty="0"/>
                  <a:t>4. Regularidad (satisface los axiomas de preferencias)</a:t>
                </a:r>
              </a:p>
              <a:p>
                <a:r>
                  <a:rPr lang="es-CL" dirty="0"/>
                  <a:t>Bajo condiciones estándar (ρ &lt; 1, participaciones positivas), la CES es:</a:t>
                </a:r>
              </a:p>
              <a:p>
                <a:r>
                  <a:rPr lang="es-CL" b="1" dirty="0"/>
                  <a:t>Monótona creciente</a:t>
                </a:r>
                <a:r>
                  <a:rPr lang="es-CL" dirty="0"/>
                  <a:t> en todos los bienes</a:t>
                </a:r>
              </a:p>
              <a:p>
                <a:r>
                  <a:rPr lang="es-CL" b="1" dirty="0" err="1"/>
                  <a:t>Cuasi-cóncava</a:t>
                </a:r>
                <a:r>
                  <a:rPr lang="es-CL" dirty="0"/>
                  <a:t> → las curvas de indiferencia son convexas al origen</a:t>
                </a:r>
              </a:p>
              <a:p>
                <a:r>
                  <a:rPr lang="es-CL" b="1" dirty="0"/>
                  <a:t>Continua y diferenciable</a:t>
                </a:r>
                <a:r>
                  <a:rPr lang="es-CL" dirty="0"/>
                  <a:t> → permite aplicar cálculo para obtener demandas óptimas</a:t>
                </a:r>
              </a:p>
              <a:p>
                <a:r>
                  <a:rPr lang="es-CL" b="1" dirty="0"/>
                  <a:t>5. Demandas </a:t>
                </a:r>
                <a:r>
                  <a:rPr lang="es-CL" b="1" dirty="0" err="1"/>
                  <a:t>marshallianas</a:t>
                </a:r>
                <a:r>
                  <a:rPr lang="es-CL" b="1" dirty="0"/>
                  <a:t> cerradas y elegantes</a:t>
                </a:r>
              </a:p>
              <a:p>
                <a:r>
                  <a:rPr lang="es-CL" dirty="0"/>
                  <a:t>La maximización de utilidad CES sujeta a una restricción presupuestaria produce demandas de la forma:</a:t>
                </a:r>
              </a:p>
              <a:p>
                <a:r>
                  <a:rPr lang="es-CL" sz="1200" i="0" kern="1200">
                    <a:solidFill>
                      <a:schemeClr val="tx1"/>
                    </a:solidFill>
                    <a:latin typeface="+mn-lt"/>
                    <a:ea typeface="+mn-ea"/>
                    <a:cs typeface="+mn-cs"/>
                  </a:rPr>
                  <a:t>𝑥_𝑖=(𝛼_𝑖^𝜎</a:t>
                </a:r>
                <a:r>
                  <a:rPr lang="es-CL" sz="1200" b="0" i="0" kern="1200">
                    <a:solidFill>
                      <a:schemeClr val="tx1"/>
                    </a:solidFill>
                    <a:latin typeface="+mn-lt"/>
                    <a:ea typeface="+mn-ea"/>
                    <a:cs typeface="+mn-cs"/>
                  </a:rPr>
                  <a:t> " " 𝑝_𝑖^(−𝜎))/(∑128_𝑗▒𝛼_𝑗^𝜎  " " 𝑝_𝑗^(1−𝜎) )⋅𝐼</a:t>
                </a:r>
                <a:endParaRPr lang="es-CL" b="0" dirty="0"/>
              </a:p>
              <a:p>
                <a:r>
                  <a:rPr lang="es-CL" dirty="0"/>
                  <a:t>donde los shares de gasto dependen solo de precios relativos y parámetros de distribución α_i. Esto facilita la calibración con datos de cuentas nacionales o encuestas.</a:t>
                </a:r>
              </a:p>
              <a:p>
                <a:r>
                  <a:rPr lang="es-CL" b="1" dirty="0"/>
                  <a:t>6. Separabilidad (en versiones anidadas)</a:t>
                </a:r>
              </a:p>
              <a:p>
                <a:r>
                  <a:rPr lang="es-CL" dirty="0"/>
                  <a:t>La CES puede construirse de forma </a:t>
                </a:r>
                <a:r>
                  <a:rPr lang="es-CL" b="1" dirty="0"/>
                  <a:t>anidada</a:t>
                </a:r>
                <a:r>
                  <a:rPr lang="es-CL" dirty="0"/>
                  <a:t> (</a:t>
                </a:r>
                <a:r>
                  <a:rPr lang="es-CL" i="1" dirty="0" err="1"/>
                  <a:t>nested</a:t>
                </a:r>
                <a:r>
                  <a:rPr lang="es-CL" i="1" dirty="0"/>
                  <a:t> CES</a:t>
                </a:r>
                <a:r>
                  <a:rPr lang="es-CL" dirty="0"/>
                  <a:t>), permitiendo modelar distintas elasticidades de sustitución entre grupos de bienes (</a:t>
                </a:r>
                <a:r>
                  <a:rPr lang="es-CL" dirty="0" err="1"/>
                  <a:t>ej</a:t>
                </a:r>
                <a:r>
                  <a:rPr lang="es-CL" dirty="0"/>
                  <a:t>: bienes domésticos vs. importados con la Armington, o bienes de consumo vs. ocio). Esta estructura es el corazón de la mayoría de los modelos CGE modernos.</a:t>
                </a:r>
              </a:p>
              <a:p>
                <a:r>
                  <a:rPr lang="es-CL" b="1" dirty="0"/>
                  <a:t>7. Facilidad de calibración</a:t>
                </a:r>
              </a:p>
              <a:p>
                <a:r>
                  <a:rPr lang="es-CL" dirty="0"/>
                  <a:t>Los parámetros de distribución α_i se pueden recuperar directamente de los </a:t>
                </a:r>
                <a:r>
                  <a:rPr lang="es-CL" b="1" dirty="0"/>
                  <a:t>shares de gasto observados</a:t>
                </a:r>
                <a:r>
                  <a:rPr lang="es-CL" dirty="0"/>
                  <a:t> en el año base, sin necesidad de estimación econométrica, lo que la hace muy práctica para modelos basados en una SAM.</a:t>
                </a:r>
              </a:p>
              <a:p>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0B3D-6ABE-D4F3-586B-1DF0D63DE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97033-E465-93E3-6288-D0EB48E32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EC254-708E-6D7A-5B98-A7C98FBB86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DC3594-3914-532A-DFD6-A7792E7EA93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45770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sz="1200" b="0" i="0" u="none" strike="noStrike" kern="1200" baseline="0" dirty="0">
                <a:solidFill>
                  <a:schemeClr val="tx1"/>
                </a:solidFill>
                <a:latin typeface="+mn-lt"/>
                <a:ea typeface="+mn-ea"/>
                <a:cs typeface="+mn-cs"/>
              </a:rPr>
              <a:t>En conjunto, este bloque determina la relación entre el precio del productor </a:t>
            </a:r>
            <a:r>
              <a:rPr lang="es-CL" sz="1200" b="0" i="0" u="none" strike="noStrike" kern="1200" baseline="0" dirty="0" err="1">
                <a:solidFill>
                  <a:schemeClr val="tx1"/>
                </a:solidFill>
                <a:latin typeface="+mn-lt"/>
                <a:ea typeface="+mn-ea"/>
                <a:cs typeface="+mn-cs"/>
              </a:rPr>
              <a:t>pzp</a:t>
            </a:r>
            <a:r>
              <a:rPr lang="es-CL" sz="1200" b="0" i="0" u="none" strike="noStrike" kern="1200" baseline="0" dirty="0">
                <a:solidFill>
                  <a:schemeClr val="tx1"/>
                </a:solidFill>
                <a:latin typeface="+mn-lt"/>
                <a:ea typeface="+mn-ea"/>
                <a:cs typeface="+mn-cs"/>
              </a:rPr>
              <a:t>, el precio doméstico </a:t>
            </a:r>
            <a:r>
              <a:rPr lang="es-CL" sz="1200" b="0" i="0" u="none" strike="noStrike" kern="1200" baseline="0" dirty="0" err="1">
                <a:solidFill>
                  <a:schemeClr val="tx1"/>
                </a:solidFill>
                <a:latin typeface="+mn-lt"/>
                <a:ea typeface="+mn-ea"/>
                <a:cs typeface="+mn-cs"/>
              </a:rPr>
              <a:t>pdp</a:t>
            </a:r>
            <a:r>
              <a:rPr lang="es-CL" sz="1200" b="0" i="0" u="none" strike="noStrike" kern="1200" baseline="0" dirty="0">
                <a:solidFill>
                  <a:schemeClr val="tx1"/>
                </a:solidFill>
                <a:latin typeface="+mn-lt"/>
                <a:ea typeface="+mn-ea"/>
                <a:cs typeface="+mn-cs"/>
              </a:rPr>
              <a:t>, el precio importado </a:t>
            </a:r>
            <a:r>
              <a:rPr lang="es-CL" sz="1200" b="0" i="0" u="none" strike="noStrike" kern="1200" baseline="0" dirty="0" err="1">
                <a:solidFill>
                  <a:schemeClr val="tx1"/>
                </a:solidFill>
                <a:latin typeface="+mn-lt"/>
                <a:ea typeface="+mn-ea"/>
                <a:cs typeface="+mn-cs"/>
              </a:rPr>
              <a:t>pmp</a:t>
            </a:r>
            <a:r>
              <a:rPr lang="es-CL" sz="1200" b="0" i="0" u="none" strike="noStrike" kern="1200" baseline="0" dirty="0">
                <a:solidFill>
                  <a:schemeClr val="tx1"/>
                </a:solidFill>
                <a:latin typeface="+mn-lt"/>
                <a:ea typeface="+mn-ea"/>
                <a:cs typeface="+mn-cs"/>
              </a:rPr>
              <a:t> y el precio compuesto pp. En la versión actual del cierre externo, el tipo de cambio</a:t>
            </a:r>
          </a:p>
          <a:p>
            <a:r>
              <a:rPr lang="es-CL" sz="1200" b="0" i="0" u="none" strike="noStrike" kern="1200" baseline="0" dirty="0" err="1">
                <a:solidFill>
                  <a:schemeClr val="tx1"/>
                </a:solidFill>
                <a:latin typeface="+mn-lt"/>
                <a:ea typeface="+mn-ea"/>
                <a:cs typeface="+mn-cs"/>
              </a:rPr>
              <a:t>exr</a:t>
            </a:r>
            <a:r>
              <a:rPr lang="es-CL" sz="1200" b="0" i="0" u="none" strike="noStrike" kern="1200" baseline="0" dirty="0">
                <a:solidFill>
                  <a:schemeClr val="tx1"/>
                </a:solidFill>
                <a:latin typeface="+mn-lt"/>
                <a:ea typeface="+mn-ea"/>
                <a:cs typeface="+mn-cs"/>
              </a:rPr>
              <a:t> es endógeno, de modo que estos precios transmiten el ajuste necesario para compatibilizar el equilibrio comercial con un nivel fijo de ahorro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econ.r-forge.r-project.org/"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tmp"/><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tmp"/><Relationship Id="rId5" Type="http://schemas.openxmlformats.org/officeDocument/2006/relationships/image" Target="../media/image4.tmp"/><Relationship Id="rId4" Type="http://schemas.openxmlformats.org/officeDocument/2006/relationships/image" Target="../media/image3.tm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82A"/>
          </a:solidFill>
          <a:ln w="12700">
            <a:solidFill>
              <a:srgbClr val="D4A82A"/>
            </a:solidFill>
            <a:prstDash val="solid"/>
          </a:ln>
        </p:spPr>
        <p:txBody>
          <a:bodyPr/>
          <a:lstStyle/>
          <a:p>
            <a:endParaRPr lang="es-CL" noProof="0" dirty="0"/>
          </a:p>
        </p:txBody>
      </p:sp>
      <p:sp>
        <p:nvSpPr>
          <p:cNvPr id="3" name="Text 1"/>
          <p:cNvSpPr/>
          <p:nvPr/>
        </p:nvSpPr>
        <p:spPr>
          <a:xfrm>
            <a:off x="731520" y="914400"/>
            <a:ext cx="10515600" cy="365760"/>
          </a:xfrm>
          <a:prstGeom prst="rect">
            <a:avLst/>
          </a:prstGeom>
          <a:noFill/>
          <a:ln/>
        </p:spPr>
        <p:txBody>
          <a:bodyPr wrap="square" rtlCol="0" anchor="ctr"/>
          <a:lstStyle/>
          <a:p>
            <a:pPr marL="0" indent="0" algn="l">
              <a:buNone/>
            </a:pPr>
            <a:r>
              <a:rPr lang="es-CL" sz="1200" b="1" kern="0" spc="400" noProof="0" dirty="0">
                <a:solidFill>
                  <a:srgbClr val="CADCFC"/>
                </a:solidFill>
                <a:latin typeface="Calibri" pitchFamily="34" charset="0"/>
                <a:ea typeface="Calibri" pitchFamily="34" charset="-122"/>
                <a:cs typeface="Calibri" pitchFamily="34" charset="-120"/>
              </a:rPr>
              <a:t>DEPARTAMENTO DE ESTUDIOS ECONÓMICOS Y TRIBUTARIOS · SII</a:t>
            </a:r>
            <a:endParaRPr lang="es-CL" sz="1200" noProof="0" dirty="0"/>
          </a:p>
        </p:txBody>
      </p:sp>
      <p:sp>
        <p:nvSpPr>
          <p:cNvPr id="4" name="Shape 2"/>
          <p:cNvSpPr/>
          <p:nvPr/>
        </p:nvSpPr>
        <p:spPr>
          <a:xfrm>
            <a:off x="731520" y="1417320"/>
            <a:ext cx="2286000" cy="0"/>
          </a:xfrm>
          <a:prstGeom prst="line">
            <a:avLst/>
          </a:prstGeom>
          <a:noFill/>
          <a:ln w="25400">
            <a:solidFill>
              <a:srgbClr val="D4A82A"/>
            </a:solidFill>
            <a:prstDash val="solid"/>
          </a:ln>
        </p:spPr>
        <p:txBody>
          <a:bodyPr/>
          <a:lstStyle/>
          <a:p>
            <a:endParaRPr lang="es-CL" noProof="0" dirty="0"/>
          </a:p>
        </p:txBody>
      </p:sp>
      <p:sp>
        <p:nvSpPr>
          <p:cNvPr id="5" name="Text 3"/>
          <p:cNvSpPr/>
          <p:nvPr/>
        </p:nvSpPr>
        <p:spPr>
          <a:xfrm>
            <a:off x="731520" y="1737360"/>
            <a:ext cx="10972800" cy="914400"/>
          </a:xfrm>
          <a:prstGeom prst="rect">
            <a:avLst/>
          </a:prstGeom>
          <a:noFill/>
          <a:ln/>
        </p:spPr>
        <p:txBody>
          <a:bodyPr wrap="square" lIns="0" tIns="0" rIns="0" bIns="0" rtlCol="0" anchor="ctr"/>
          <a:lstStyle/>
          <a:p>
            <a:pPr marL="0" indent="0" algn="l">
              <a:buNone/>
            </a:pPr>
            <a:r>
              <a:rPr lang="es-CL" sz="4200" b="1" noProof="0" dirty="0">
                <a:solidFill>
                  <a:srgbClr val="FFFFFF"/>
                </a:solidFill>
                <a:latin typeface="Cambria" pitchFamily="34" charset="0"/>
                <a:ea typeface="Cambria" pitchFamily="34" charset="-122"/>
                <a:cs typeface="Cambria" pitchFamily="34" charset="-120"/>
              </a:rPr>
              <a:t>Modelo de Equilibrio General Computable</a:t>
            </a:r>
            <a:endParaRPr lang="es-CL" sz="4200" noProof="0" dirty="0"/>
          </a:p>
        </p:txBody>
      </p:sp>
      <p:sp>
        <p:nvSpPr>
          <p:cNvPr id="6" name="Text 4"/>
          <p:cNvSpPr/>
          <p:nvPr/>
        </p:nvSpPr>
        <p:spPr>
          <a:xfrm>
            <a:off x="731520" y="2606040"/>
            <a:ext cx="10972800" cy="640080"/>
          </a:xfrm>
          <a:prstGeom prst="rect">
            <a:avLst/>
          </a:prstGeom>
          <a:noFill/>
          <a:ln/>
        </p:spPr>
        <p:txBody>
          <a:bodyPr wrap="square" lIns="0" tIns="0" rIns="0" bIns="0" rtlCol="0" anchor="ctr"/>
          <a:lstStyle/>
          <a:p>
            <a:pPr marL="0" indent="0" algn="l">
              <a:buNone/>
            </a:pPr>
            <a:r>
              <a:rPr lang="es-CL" sz="3200" i="1" noProof="0" dirty="0">
                <a:solidFill>
                  <a:srgbClr val="CADCFC"/>
                </a:solidFill>
                <a:latin typeface="Cambria" pitchFamily="34" charset="0"/>
                <a:ea typeface="Cambria" pitchFamily="34" charset="-122"/>
                <a:cs typeface="Cambria" pitchFamily="34" charset="-120"/>
              </a:rPr>
              <a:t>de 12 sectores para Chile</a:t>
            </a:r>
            <a:endParaRPr lang="es-CL" sz="3200" noProof="0" dirty="0"/>
          </a:p>
        </p:txBody>
      </p:sp>
      <p:sp>
        <p:nvSpPr>
          <p:cNvPr id="7" name="Text 5"/>
          <p:cNvSpPr/>
          <p:nvPr/>
        </p:nvSpPr>
        <p:spPr>
          <a:xfrm>
            <a:off x="731520" y="3520440"/>
            <a:ext cx="10972800" cy="457200"/>
          </a:xfrm>
          <a:prstGeom prst="rect">
            <a:avLst/>
          </a:prstGeom>
          <a:noFill/>
          <a:ln/>
        </p:spPr>
        <p:txBody>
          <a:bodyPr wrap="square" lIns="0" tIns="0" rIns="0" bIns="0" rtlCol="0" anchor="ctr"/>
          <a:lstStyle/>
          <a:p>
            <a:pPr marL="0" indent="0" algn="l">
              <a:buNone/>
            </a:pPr>
            <a:r>
              <a:rPr lang="es-CL" sz="1800" noProof="0" dirty="0">
                <a:solidFill>
                  <a:srgbClr val="CADCFC"/>
                </a:solidFill>
                <a:latin typeface="Calibri" pitchFamily="34" charset="0"/>
                <a:ea typeface="Calibri" pitchFamily="34" charset="-122"/>
                <a:cs typeface="Calibri" pitchFamily="34" charset="-120"/>
              </a:rPr>
              <a:t>Evaluación de políticas tributarias con una SAM 2023</a:t>
            </a:r>
            <a:endParaRPr lang="es-CL" sz="1800" noProof="0" dirty="0"/>
          </a:p>
        </p:txBody>
      </p:sp>
      <p:sp>
        <p:nvSpPr>
          <p:cNvPr id="8" name="Text 6"/>
          <p:cNvSpPr/>
          <p:nvPr/>
        </p:nvSpPr>
        <p:spPr>
          <a:xfrm>
            <a:off x="731520" y="5120640"/>
            <a:ext cx="10515600" cy="1097280"/>
          </a:xfrm>
          <a:prstGeom prst="rect">
            <a:avLst/>
          </a:prstGeom>
          <a:noFill/>
          <a:ln/>
        </p:spPr>
        <p:txBody>
          <a:bodyPr wrap="square" lIns="0" tIns="0" rIns="0" bIns="0" rtlCol="0" anchor="ctr"/>
          <a:lstStyle/>
          <a:p>
            <a:pPr marL="0" indent="0" algn="l">
              <a:buNone/>
            </a:pPr>
            <a:r>
              <a:rPr lang="es-CL" sz="1300" b="1" noProof="0" dirty="0">
                <a:solidFill>
                  <a:srgbClr val="FFFFFF"/>
                </a:solidFill>
                <a:latin typeface="Calibri" pitchFamily="34" charset="0"/>
                <a:ea typeface="Calibri" pitchFamily="34" charset="-122"/>
                <a:cs typeface="Calibri" pitchFamily="34" charset="-120"/>
              </a:rPr>
              <a:t>Departamento de Estudios Económicos y Tributarios</a:t>
            </a:r>
            <a:endParaRPr lang="es-CL" sz="1300" noProof="0" dirty="0"/>
          </a:p>
          <a:p>
            <a:pPr marL="0" indent="0" algn="l">
              <a:buNone/>
            </a:pPr>
            <a:r>
              <a:rPr lang="es-CL" sz="1300" noProof="0" dirty="0">
                <a:solidFill>
                  <a:srgbClr val="FFFFFF"/>
                </a:solidFill>
                <a:latin typeface="Calibri" pitchFamily="34" charset="0"/>
                <a:ea typeface="Calibri" pitchFamily="34" charset="-122"/>
                <a:cs typeface="Calibri" pitchFamily="34" charset="-120"/>
              </a:rPr>
              <a:t>Servicio de Impuestos Internos</a:t>
            </a:r>
            <a:endParaRPr lang="es-CL" sz="1300" noProof="0" dirty="0"/>
          </a:p>
          <a:p>
            <a:pPr marL="0" indent="0" algn="l">
              <a:buNone/>
            </a:pPr>
            <a:r>
              <a:rPr lang="es-CL" sz="1300" noProof="0" dirty="0">
                <a:solidFill>
                  <a:srgbClr val="FFFFFF"/>
                </a:solidFill>
                <a:latin typeface="Calibri" pitchFamily="34" charset="0"/>
                <a:ea typeface="Calibri" pitchFamily="34" charset="-122"/>
                <a:cs typeface="Calibri" pitchFamily="34" charset="-120"/>
              </a:rPr>
              <a:t>Documento técnico · Julio 2026</a:t>
            </a:r>
            <a:endParaRPr lang="es-CL" sz="13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Motivación</a:t>
            </a:r>
            <a:endParaRPr lang="es-CL" sz="2400" noProof="0" dirty="0"/>
          </a:p>
        </p:txBody>
      </p:sp>
      <p:sp>
        <p:nvSpPr>
          <p:cNvPr id="5" name="Text 3"/>
          <p:cNvSpPr/>
          <p:nvPr/>
        </p:nvSpPr>
        <p:spPr>
          <a:xfrm>
            <a:off x="640080" y="1188720"/>
            <a:ext cx="6583680" cy="2286000"/>
          </a:xfrm>
          <a:prstGeom prst="rect">
            <a:avLst/>
          </a:prstGeom>
          <a:noFill/>
          <a:ln/>
        </p:spPr>
        <p:txBody>
          <a:bodyPr wrap="square" lIns="0" tIns="0" rIns="0" bIns="0" rtlCol="0" anchor="t"/>
          <a:lstStyle/>
          <a:p>
            <a:pPr marL="0" indent="0" algn="l">
              <a:spcAft>
                <a:spcPts val="400"/>
              </a:spcAft>
              <a:buNone/>
            </a:pPr>
            <a:r>
              <a:rPr lang="es-CL" sz="1600" b="1" noProof="0" dirty="0">
                <a:solidFill>
                  <a:srgbClr val="1E2761"/>
                </a:solidFill>
                <a:latin typeface="Calibri" pitchFamily="34" charset="0"/>
                <a:ea typeface="Calibri" pitchFamily="34" charset="-122"/>
                <a:cs typeface="Calibri" pitchFamily="34" charset="-120"/>
              </a:rPr>
              <a:t>¿Por qué un MEGC para evaluar reformas tributarias?</a:t>
            </a:r>
            <a:endParaRPr lang="es-CL" sz="1300" noProof="0" dirty="0"/>
          </a:p>
          <a:p>
            <a:pPr marL="0" indent="0" algn="l">
              <a:spcAft>
                <a:spcPts val="400"/>
              </a:spcAft>
              <a:buNone/>
            </a:pPr>
            <a:endParaRPr lang="es-CL" sz="800" noProof="0" dirty="0">
              <a:solidFill>
                <a:srgbClr val="2D3748"/>
              </a:solidFill>
              <a:latin typeface="Calibri" pitchFamily="34" charset="0"/>
              <a:ea typeface="Calibri" pitchFamily="34" charset="-122"/>
              <a:cs typeface="Calibri" pitchFamily="34" charset="-120"/>
            </a:endParaRPr>
          </a:p>
          <a:p>
            <a:pPr>
              <a:spcAft>
                <a:spcPts val="400"/>
              </a:spcAft>
            </a:pPr>
            <a:r>
              <a:rPr lang="es-CL" sz="1400" b="1" i="1" noProof="0" dirty="0">
                <a:solidFill>
                  <a:srgbClr val="D4A82A"/>
                </a:solidFill>
                <a:latin typeface="Calibri" pitchFamily="34" charset="0"/>
                <a:ea typeface="Calibri" pitchFamily="34" charset="-122"/>
                <a:cs typeface="Calibri" pitchFamily="34" charset="-120"/>
              </a:rPr>
              <a:t>Contexto institucional: </a:t>
            </a:r>
            <a:r>
              <a:rPr lang="es-CL" sz="1400" i="1" noProof="0" dirty="0">
                <a:solidFill>
                  <a:srgbClr val="64748B"/>
                </a:solidFill>
                <a:latin typeface="Calibri" pitchFamily="34" charset="0"/>
                <a:ea typeface="Calibri" pitchFamily="34" charset="-122"/>
                <a:cs typeface="Calibri" pitchFamily="34" charset="-120"/>
              </a:rPr>
              <a:t>esta herramienta se desarrolla dentro del ámbito funcional de </a:t>
            </a:r>
            <a:r>
              <a:rPr lang="es-CL" sz="1400" b="1" i="1" noProof="0" dirty="0">
                <a:solidFill>
                  <a:srgbClr val="64748B"/>
                </a:solidFill>
                <a:latin typeface="Calibri" pitchFamily="34" charset="0"/>
                <a:ea typeface="Calibri" pitchFamily="34" charset="-122"/>
                <a:cs typeface="Calibri" pitchFamily="34" charset="-120"/>
              </a:rPr>
              <a:t>Análisis de Impacto Recaudatorio y de Gastos Tributarios</a:t>
            </a:r>
            <a:r>
              <a:rPr lang="es-CL" sz="1400" i="1" noProof="0" dirty="0">
                <a:solidFill>
                  <a:srgbClr val="64748B"/>
                </a:solidFill>
                <a:latin typeface="Calibri" pitchFamily="34" charset="0"/>
                <a:ea typeface="Calibri" pitchFamily="34" charset="-122"/>
                <a:cs typeface="Calibri" pitchFamily="34" charset="-120"/>
              </a:rPr>
              <a:t> del Departamento.</a:t>
            </a:r>
            <a:endParaRPr lang="es-CL" sz="1600" noProof="0" dirty="0"/>
          </a:p>
          <a:p>
            <a:pPr marL="0" indent="0" algn="l">
              <a:spcAft>
                <a:spcPts val="400"/>
              </a:spcAft>
              <a:buNone/>
            </a:pPr>
            <a:endParaRPr lang="es-CL" sz="1300" noProof="0" dirty="0">
              <a:solidFill>
                <a:srgbClr val="2D3748"/>
              </a:solidFill>
              <a:latin typeface="Calibri" pitchFamily="34" charset="0"/>
              <a:ea typeface="Calibri" pitchFamily="34" charset="-122"/>
              <a:cs typeface="Calibri" pitchFamily="34" charset="-120"/>
            </a:endParaRPr>
          </a:p>
          <a:p>
            <a:pPr marL="0" indent="0" algn="l">
              <a:spcAft>
                <a:spcPts val="400"/>
              </a:spcAft>
              <a:buNone/>
            </a:pPr>
            <a:r>
              <a:rPr lang="es-CL" sz="1300" noProof="0" dirty="0">
                <a:solidFill>
                  <a:srgbClr val="2D3748"/>
                </a:solidFill>
                <a:latin typeface="Calibri" pitchFamily="34" charset="0"/>
                <a:ea typeface="Calibri" pitchFamily="34" charset="-122"/>
                <a:cs typeface="Calibri" pitchFamily="34" charset="-120"/>
              </a:rPr>
              <a:t>Las reformas tributarias no operan de manera aislada: afectan precios, salarios, decisiones de inversión y la composición de la demanda agregada. Un modelo de equilibrio general computable permite cuantificar estos efectos de manera </a:t>
            </a:r>
            <a:r>
              <a:rPr lang="es-CL" sz="1300" b="1" noProof="0" dirty="0">
                <a:solidFill>
                  <a:srgbClr val="2D3748"/>
                </a:solidFill>
                <a:latin typeface="Calibri" pitchFamily="34" charset="0"/>
                <a:ea typeface="Calibri" pitchFamily="34" charset="-122"/>
                <a:cs typeface="Calibri" pitchFamily="34" charset="-120"/>
              </a:rPr>
              <a:t>integrada y consistente</a:t>
            </a:r>
            <a:r>
              <a:rPr lang="es-CL" sz="1300" noProof="0" dirty="0">
                <a:solidFill>
                  <a:srgbClr val="2D3748"/>
                </a:solidFill>
                <a:latin typeface="Calibri" pitchFamily="34" charset="0"/>
                <a:ea typeface="Calibri" pitchFamily="34" charset="-122"/>
                <a:cs typeface="Calibri" pitchFamily="34" charset="-120"/>
              </a:rPr>
              <a:t>, haciendo explícitos los </a:t>
            </a:r>
            <a:r>
              <a:rPr lang="es-CL" sz="1300" noProof="0" dirty="0" err="1">
                <a:solidFill>
                  <a:srgbClr val="2D3748"/>
                </a:solidFill>
                <a:latin typeface="Calibri" pitchFamily="34" charset="0"/>
                <a:ea typeface="Calibri" pitchFamily="34" charset="-122"/>
                <a:cs typeface="Calibri" pitchFamily="34" charset="-120"/>
              </a:rPr>
              <a:t>trade-offs</a:t>
            </a:r>
            <a:r>
              <a:rPr lang="es-CL" sz="1300" noProof="0" dirty="0">
                <a:solidFill>
                  <a:srgbClr val="2D3748"/>
                </a:solidFill>
                <a:latin typeface="Calibri" pitchFamily="34" charset="0"/>
                <a:ea typeface="Calibri" pitchFamily="34" charset="-122"/>
                <a:cs typeface="Calibri" pitchFamily="34" charset="-120"/>
              </a:rPr>
              <a:t> entre actividad, empleo, recaudación y sector externo.</a:t>
            </a:r>
          </a:p>
          <a:p>
            <a:pPr marL="0" indent="0" algn="l">
              <a:spcAft>
                <a:spcPts val="400"/>
              </a:spcAft>
              <a:buNone/>
            </a:pPr>
            <a:endParaRPr lang="es-CL" sz="1300" noProof="0" dirty="0">
              <a:solidFill>
                <a:srgbClr val="2D3748"/>
              </a:solidFill>
              <a:latin typeface="Calibri" pitchFamily="34" charset="0"/>
              <a:ea typeface="Calibri" pitchFamily="34" charset="-122"/>
              <a:cs typeface="Calibri" pitchFamily="34" charset="-120"/>
            </a:endParaRPr>
          </a:p>
          <a:p>
            <a:pPr marL="0" indent="0" algn="l">
              <a:spcAft>
                <a:spcPts val="400"/>
              </a:spcAft>
              <a:buNone/>
            </a:pPr>
            <a:endParaRPr lang="es-CL" sz="1300" noProof="0" dirty="0"/>
          </a:p>
        </p:txBody>
      </p:sp>
      <p:sp>
        <p:nvSpPr>
          <p:cNvPr id="6" name="Shape 4"/>
          <p:cNvSpPr/>
          <p:nvPr/>
        </p:nvSpPr>
        <p:spPr>
          <a:xfrm>
            <a:off x="640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Estático</a:t>
            </a:r>
            <a:endParaRPr lang="es-CL" sz="1600" noProof="0" dirty="0"/>
          </a:p>
        </p:txBody>
      </p:sp>
      <p:sp>
        <p:nvSpPr>
          <p:cNvPr id="9" name="Text 7"/>
          <p:cNvSpPr/>
          <p:nvPr/>
        </p:nvSpPr>
        <p:spPr>
          <a:xfrm>
            <a:off x="868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Comparativa estática entre el estado base y el escenario </a:t>
            </a:r>
            <a:r>
              <a:rPr lang="es-CL" sz="1100" noProof="0" dirty="0" err="1">
                <a:solidFill>
                  <a:srgbClr val="2D3748"/>
                </a:solidFill>
                <a:latin typeface="Calibri" pitchFamily="34" charset="0"/>
                <a:ea typeface="Calibri" pitchFamily="34" charset="-122"/>
                <a:cs typeface="Calibri" pitchFamily="34" charset="-120"/>
              </a:rPr>
              <a:t>post-shock</a:t>
            </a:r>
            <a:r>
              <a:rPr lang="es-CL" sz="1100" noProof="0" dirty="0">
                <a:solidFill>
                  <a:srgbClr val="2D3748"/>
                </a:solidFill>
                <a:latin typeface="Calibri" pitchFamily="34" charset="0"/>
                <a:ea typeface="Calibri" pitchFamily="34" charset="-122"/>
                <a:cs typeface="Calibri" pitchFamily="34" charset="-120"/>
              </a:rPr>
              <a:t>.</a:t>
            </a:r>
            <a:endParaRPr lang="es-CL" sz="1100" noProof="0" dirty="0"/>
          </a:p>
        </p:txBody>
      </p:sp>
      <p:sp>
        <p:nvSpPr>
          <p:cNvPr id="10" name="Shape 8"/>
          <p:cNvSpPr/>
          <p:nvPr/>
        </p:nvSpPr>
        <p:spPr>
          <a:xfrm>
            <a:off x="2926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2926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12" name="Text 10"/>
          <p:cNvSpPr/>
          <p:nvPr/>
        </p:nvSpPr>
        <p:spPr>
          <a:xfrm>
            <a:off x="3154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Determinístico</a:t>
            </a:r>
            <a:endParaRPr lang="es-CL" sz="1600" noProof="0" dirty="0"/>
          </a:p>
        </p:txBody>
      </p:sp>
      <p:sp>
        <p:nvSpPr>
          <p:cNvPr id="13" name="Text 11"/>
          <p:cNvSpPr/>
          <p:nvPr/>
        </p:nvSpPr>
        <p:spPr>
          <a:xfrm>
            <a:off x="3154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Sin perturbaciones aleatorias; los resultados dependen exclusivamente de la especificación.</a:t>
            </a:r>
            <a:endParaRPr lang="es-CL" sz="1100" noProof="0" dirty="0"/>
          </a:p>
        </p:txBody>
      </p:sp>
      <p:sp>
        <p:nvSpPr>
          <p:cNvPr id="14" name="Shape 12"/>
          <p:cNvSpPr/>
          <p:nvPr/>
        </p:nvSpPr>
        <p:spPr>
          <a:xfrm>
            <a:off x="5212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15" name="Shape 13"/>
          <p:cNvSpPr/>
          <p:nvPr/>
        </p:nvSpPr>
        <p:spPr>
          <a:xfrm>
            <a:off x="5212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16" name="Text 14"/>
          <p:cNvSpPr/>
          <p:nvPr/>
        </p:nvSpPr>
        <p:spPr>
          <a:xfrm>
            <a:off x="5440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Calibrado a Chile 2023</a:t>
            </a:r>
            <a:endParaRPr lang="es-CL" sz="1600" noProof="0" dirty="0"/>
          </a:p>
        </p:txBody>
      </p:sp>
      <p:sp>
        <p:nvSpPr>
          <p:cNvPr id="17" name="Text 15"/>
          <p:cNvSpPr/>
          <p:nvPr/>
        </p:nvSpPr>
        <p:spPr>
          <a:xfrm>
            <a:off x="5440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SAM construida a partir de la matriz insumo-producto más reciente del Banco Central.</a:t>
            </a:r>
            <a:endParaRPr lang="es-CL" sz="1100" noProof="0" dirty="0"/>
          </a:p>
        </p:txBody>
      </p:sp>
      <p:sp>
        <p:nvSpPr>
          <p:cNvPr id="18" name="Shape 16"/>
          <p:cNvSpPr/>
          <p:nvPr/>
        </p:nvSpPr>
        <p:spPr>
          <a:xfrm>
            <a:off x="7498080" y="1188720"/>
            <a:ext cx="4206240" cy="2286000"/>
          </a:xfrm>
          <a:prstGeom prst="rect">
            <a:avLst/>
          </a:prstGeom>
          <a:solidFill>
            <a:srgbClr val="1E2761"/>
          </a:solidFill>
          <a:ln w="12700">
            <a:solidFill>
              <a:srgbClr val="1E2761"/>
            </a:solidFill>
            <a:prstDash val="solid"/>
          </a:ln>
        </p:spPr>
        <p:txBody>
          <a:bodyPr/>
          <a:lstStyle/>
          <a:p>
            <a:endParaRPr lang="es-CL" noProof="0" dirty="0"/>
          </a:p>
        </p:txBody>
      </p:sp>
      <p:sp>
        <p:nvSpPr>
          <p:cNvPr id="19" name="Text 17"/>
          <p:cNvSpPr/>
          <p:nvPr/>
        </p:nvSpPr>
        <p:spPr>
          <a:xfrm>
            <a:off x="7680960" y="1280160"/>
            <a:ext cx="3840480" cy="2103120"/>
          </a:xfrm>
          <a:prstGeom prst="rect">
            <a:avLst/>
          </a:prstGeom>
          <a:noFill/>
          <a:ln/>
        </p:spPr>
        <p:txBody>
          <a:bodyPr wrap="square" lIns="0" tIns="0" rIns="0" bIns="0" rtlCol="0" anchor="t"/>
          <a:lstStyle/>
          <a:p>
            <a:pPr marL="0" indent="0" algn="l">
              <a:buNone/>
            </a:pPr>
            <a:endParaRPr lang="es-CL" sz="3600" noProof="0" dirty="0"/>
          </a:p>
          <a:p>
            <a:pPr marL="0" indent="0" algn="l">
              <a:buNone/>
            </a:pPr>
            <a:r>
              <a:rPr lang="es-CL" sz="1300" i="1" noProof="0" dirty="0">
                <a:solidFill>
                  <a:srgbClr val="FFFFFF"/>
                </a:solidFill>
              </a:rPr>
              <a:t>A diferencia de los análisis parciales, esta perspectiva integrada hace visible los </a:t>
            </a:r>
            <a:r>
              <a:rPr lang="es-CL" sz="1300" i="1" noProof="0" dirty="0" err="1">
                <a:solidFill>
                  <a:srgbClr val="FFFFFF"/>
                </a:solidFill>
              </a:rPr>
              <a:t>trade-offs</a:t>
            </a:r>
            <a:r>
              <a:rPr lang="es-CL" sz="1300" i="1" noProof="0" dirty="0">
                <a:solidFill>
                  <a:srgbClr val="FFFFFF"/>
                </a:solidFill>
              </a:rPr>
              <a:t> entre actividad, empleo, recaudación y sector externo.</a:t>
            </a:r>
            <a:endParaRPr lang="es-CL" sz="3600" noProof="0" dirty="0"/>
          </a:p>
          <a:p>
            <a:pPr marL="0" indent="0" algn="l">
              <a:buNone/>
            </a:pPr>
            <a:r>
              <a:rPr lang="es-CL" sz="800" noProof="0" dirty="0">
                <a:solidFill>
                  <a:srgbClr val="000000"/>
                </a:solidFill>
              </a:rPr>
              <a:t> </a:t>
            </a:r>
            <a:endParaRPr lang="es-CL" sz="3600" noProof="0" dirty="0"/>
          </a:p>
        </p:txBody>
      </p:sp>
      <p:sp>
        <p:nvSpPr>
          <p:cNvPr id="20" name="Text 18"/>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
        <p:nvSpPr>
          <p:cNvPr id="21" name="Shape 12">
            <a:extLst>
              <a:ext uri="{FF2B5EF4-FFF2-40B4-BE49-F238E27FC236}">
                <a16:creationId xmlns:a16="http://schemas.microsoft.com/office/drawing/2014/main" id="{9192FC71-30E9-2623-5541-A67536CF9B69}"/>
              </a:ext>
            </a:extLst>
          </p:cNvPr>
          <p:cNvSpPr/>
          <p:nvPr/>
        </p:nvSpPr>
        <p:spPr>
          <a:xfrm>
            <a:off x="7498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22" name="Shape 13">
            <a:extLst>
              <a:ext uri="{FF2B5EF4-FFF2-40B4-BE49-F238E27FC236}">
                <a16:creationId xmlns:a16="http://schemas.microsoft.com/office/drawing/2014/main" id="{3E37DF4B-0129-5E41-86C3-5CD9F7FD0930}"/>
              </a:ext>
            </a:extLst>
          </p:cNvPr>
          <p:cNvSpPr/>
          <p:nvPr/>
        </p:nvSpPr>
        <p:spPr>
          <a:xfrm>
            <a:off x="7498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23" name="Text 14">
            <a:extLst>
              <a:ext uri="{FF2B5EF4-FFF2-40B4-BE49-F238E27FC236}">
                <a16:creationId xmlns:a16="http://schemas.microsoft.com/office/drawing/2014/main" id="{12C26481-AE1F-D72E-781E-7C7D5DB2A742}"/>
              </a:ext>
            </a:extLst>
          </p:cNvPr>
          <p:cNvSpPr/>
          <p:nvPr/>
        </p:nvSpPr>
        <p:spPr>
          <a:xfrm>
            <a:off x="7726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Implementado en R</a:t>
            </a:r>
            <a:endParaRPr lang="es-CL" sz="1600" noProof="0" dirty="0"/>
          </a:p>
        </p:txBody>
      </p:sp>
      <p:sp>
        <p:nvSpPr>
          <p:cNvPr id="24" name="Text 15">
            <a:extLst>
              <a:ext uri="{FF2B5EF4-FFF2-40B4-BE49-F238E27FC236}">
                <a16:creationId xmlns:a16="http://schemas.microsoft.com/office/drawing/2014/main" id="{3AB10A3F-6868-6152-8D16-F5D91EB1EA10}"/>
              </a:ext>
            </a:extLst>
          </p:cNvPr>
          <p:cNvSpPr/>
          <p:nvPr/>
        </p:nvSpPr>
        <p:spPr>
          <a:xfrm>
            <a:off x="7726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Se utiliza el paquete </a:t>
            </a:r>
            <a:r>
              <a:rPr lang="es-CL" sz="1100" noProof="0" dirty="0" err="1">
                <a:solidFill>
                  <a:srgbClr val="2D3748"/>
                </a:solidFill>
                <a:latin typeface="Calibri" pitchFamily="34" charset="0"/>
                <a:ea typeface="Calibri" pitchFamily="34" charset="-122"/>
                <a:cs typeface="Calibri" pitchFamily="34" charset="-120"/>
              </a:rPr>
              <a:t>Gecon</a:t>
            </a:r>
            <a:r>
              <a:rPr lang="es-CL" sz="1100" noProof="0" dirty="0">
                <a:solidFill>
                  <a:srgbClr val="2D3748"/>
                </a:solidFill>
                <a:latin typeface="Calibri" pitchFamily="34" charset="0"/>
                <a:ea typeface="Calibri" pitchFamily="34" charset="-122"/>
                <a:cs typeface="Calibri" pitchFamily="34" charset="-120"/>
              </a:rPr>
              <a:t> en R.</a:t>
            </a:r>
            <a:endParaRPr lang="es-CL" sz="1100" noProof="0" dirty="0"/>
          </a:p>
        </p:txBody>
      </p:sp>
      <p:pic>
        <p:nvPicPr>
          <p:cNvPr id="26" name="Imagen 25">
            <a:hlinkClick r:id="rId3"/>
            <a:extLst>
              <a:ext uri="{FF2B5EF4-FFF2-40B4-BE49-F238E27FC236}">
                <a16:creationId xmlns:a16="http://schemas.microsoft.com/office/drawing/2014/main" id="{8F2650FD-D648-A28B-7E72-D264F351627F}"/>
              </a:ext>
            </a:extLst>
          </p:cNvPr>
          <p:cNvPicPr>
            <a:picLocks noChangeAspect="1"/>
          </p:cNvPicPr>
          <p:nvPr/>
        </p:nvPicPr>
        <p:blipFill>
          <a:blip r:embed="rId4"/>
          <a:stretch>
            <a:fillRect/>
          </a:stretch>
        </p:blipFill>
        <p:spPr>
          <a:xfrm>
            <a:off x="7662673" y="4834637"/>
            <a:ext cx="1532854" cy="8346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Alcance del modelo</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Anticipar limitaciones mejora la lectura de los resultados</a:t>
            </a:r>
            <a:endParaRPr lang="es-CL" sz="1300" noProof="0" dirty="0"/>
          </a:p>
        </p:txBody>
      </p:sp>
      <p:sp>
        <p:nvSpPr>
          <p:cNvPr id="6" name="Shape 4"/>
          <p:cNvSpPr/>
          <p:nvPr/>
        </p:nvSpPr>
        <p:spPr>
          <a:xfrm>
            <a:off x="640080" y="1554480"/>
            <a:ext cx="5486400" cy="457200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4572000"/>
          </a:xfrm>
          <a:prstGeom prst="rect">
            <a:avLst/>
          </a:prstGeom>
          <a:solidFill>
            <a:srgbClr val="2F7D58"/>
          </a:solidFill>
          <a:ln w="12700">
            <a:solidFill>
              <a:srgbClr val="2F7D58"/>
            </a:solidFill>
            <a:prstDash val="solid"/>
          </a:ln>
        </p:spPr>
        <p:txBody>
          <a:bodyPr/>
          <a:lstStyle/>
          <a:p>
            <a:endParaRPr lang="es-CL" noProof="0" dirty="0"/>
          </a:p>
        </p:txBody>
      </p:sp>
      <p:sp>
        <p:nvSpPr>
          <p:cNvPr id="8" name="Text 6"/>
          <p:cNvSpPr/>
          <p:nvPr/>
        </p:nvSpPr>
        <p:spPr>
          <a:xfrm>
            <a:off x="82296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2F7D58"/>
                </a:solidFill>
                <a:latin typeface="Cambria" pitchFamily="34" charset="0"/>
                <a:ea typeface="Cambria" pitchFamily="34" charset="-122"/>
                <a:cs typeface="Cambria" pitchFamily="34" charset="-120"/>
              </a:rPr>
              <a:t>Sí responde</a:t>
            </a:r>
            <a:endParaRPr lang="es-CL" sz="1800" noProof="0" dirty="0"/>
          </a:p>
        </p:txBody>
      </p:sp>
      <p:sp>
        <p:nvSpPr>
          <p:cNvPr id="9" name="Text 7"/>
          <p:cNvSpPr/>
          <p:nvPr/>
        </p:nvSpPr>
        <p:spPr>
          <a:xfrm>
            <a:off x="822960" y="2286000"/>
            <a:ext cx="5120640" cy="37490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Efectos de equilibrio general ante reformas tributarias específicas.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Comparativas estáticas entre escenarios.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Recaudación neta por instrumento (PIT, IDPC, IVA, aranceles, etc.).</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Descomposición sectorial agregada (12 sectores, 13 bienes).</a:t>
            </a:r>
            <a:endParaRPr lang="es-CL" sz="1200" noProof="0" dirty="0"/>
          </a:p>
          <a:p>
            <a:pPr marL="342900" indent="-342900" algn="l">
              <a:spcAft>
                <a:spcPts val="500"/>
              </a:spcAft>
              <a:buSzPct val="100000"/>
              <a:buChar char="•"/>
            </a:pPr>
            <a:r>
              <a:rPr lang="es-CL" sz="1200" noProof="0" dirty="0" err="1">
                <a:solidFill>
                  <a:srgbClr val="2D3748"/>
                </a:solidFill>
                <a:latin typeface="Calibri" pitchFamily="34" charset="0"/>
                <a:ea typeface="Calibri" pitchFamily="34" charset="-122"/>
                <a:cs typeface="Calibri" pitchFamily="34" charset="-120"/>
              </a:rPr>
              <a:t>Trade-offs</a:t>
            </a:r>
            <a:r>
              <a:rPr lang="es-CL" sz="1200" noProof="0" dirty="0">
                <a:solidFill>
                  <a:srgbClr val="2D3748"/>
                </a:solidFill>
                <a:latin typeface="Calibri" pitchFamily="34" charset="0"/>
                <a:ea typeface="Calibri" pitchFamily="34" charset="-122"/>
                <a:cs typeface="Calibri" pitchFamily="34" charset="-120"/>
              </a:rPr>
              <a:t> entre actividad, empleo y balance comercial.</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Mercado laboral con desempleo endógeno (3 tipos de trabajo).</a:t>
            </a:r>
            <a:endParaRPr lang="es-CL" sz="1200" noProof="0" dirty="0"/>
          </a:p>
        </p:txBody>
      </p:sp>
      <p:sp>
        <p:nvSpPr>
          <p:cNvPr id="10" name="Shape 8"/>
          <p:cNvSpPr/>
          <p:nvPr/>
        </p:nvSpPr>
        <p:spPr>
          <a:xfrm>
            <a:off x="6309360" y="1554480"/>
            <a:ext cx="5486400" cy="457200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6309360" y="1554480"/>
            <a:ext cx="73152" cy="4572000"/>
          </a:xfrm>
          <a:prstGeom prst="rect">
            <a:avLst/>
          </a:prstGeom>
          <a:solidFill>
            <a:srgbClr val="C2562E"/>
          </a:solidFill>
          <a:ln w="12700">
            <a:solidFill>
              <a:srgbClr val="C2562E"/>
            </a:solidFill>
            <a:prstDash val="solid"/>
          </a:ln>
        </p:spPr>
        <p:txBody>
          <a:bodyPr/>
          <a:lstStyle/>
          <a:p>
            <a:endParaRPr lang="es-CL" noProof="0" dirty="0"/>
          </a:p>
        </p:txBody>
      </p:sp>
      <p:sp>
        <p:nvSpPr>
          <p:cNvPr id="12" name="Text 10"/>
          <p:cNvSpPr/>
          <p:nvPr/>
        </p:nvSpPr>
        <p:spPr>
          <a:xfrm>
            <a:off x="649224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C2562E"/>
                </a:solidFill>
                <a:latin typeface="Cambria" pitchFamily="34" charset="0"/>
                <a:ea typeface="Cambria" pitchFamily="34" charset="-122"/>
                <a:cs typeface="Cambria" pitchFamily="34" charset="-120"/>
              </a:rPr>
              <a:t>No responde (en esta versión)</a:t>
            </a:r>
            <a:endParaRPr lang="es-CL" sz="1800" noProof="0" dirty="0"/>
          </a:p>
        </p:txBody>
      </p:sp>
      <p:sp>
        <p:nvSpPr>
          <p:cNvPr id="13" name="Text 11"/>
          <p:cNvSpPr/>
          <p:nvPr/>
        </p:nvSpPr>
        <p:spPr>
          <a:xfrm>
            <a:off x="6492240" y="2286000"/>
            <a:ext cx="5120640" cy="37490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Dinámica de transición: el modelo es estático.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Expectativas o comportamiento </a:t>
            </a:r>
            <a:r>
              <a:rPr lang="es-CL" sz="1200" noProof="0" dirty="0" err="1">
                <a:solidFill>
                  <a:srgbClr val="2D3748"/>
                </a:solidFill>
                <a:latin typeface="Calibri" pitchFamily="34" charset="0"/>
                <a:ea typeface="Calibri" pitchFamily="34" charset="-122"/>
                <a:cs typeface="Calibri" pitchFamily="34" charset="-120"/>
              </a:rPr>
              <a:t>intertemporal</a:t>
            </a:r>
            <a:r>
              <a:rPr lang="es-CL" sz="1200" noProof="0" dirty="0">
                <a:solidFill>
                  <a:srgbClr val="2D3748"/>
                </a:solidFill>
                <a:latin typeface="Calibri" pitchFamily="34" charset="0"/>
                <a:ea typeface="Calibri" pitchFamily="34" charset="-122"/>
                <a:cs typeface="Calibri" pitchFamily="34" charset="-120"/>
              </a:rPr>
              <a:t>.</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Heterogeneidad de hogares; no hay análisis distributivo.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Informalidad laboral explícita.</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Política monetaria (no hay dinero ni precios nominales).</a:t>
            </a:r>
            <a:endParaRPr lang="es-CL" sz="1200" noProof="0" dirty="0"/>
          </a:p>
        </p:txBody>
      </p:sp>
      <p:sp>
        <p:nvSpPr>
          <p:cNvPr id="14" name="Text 12"/>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Marco teórico: tres tradiciones</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La literatura que enmarca este trabajo se organiza en tres dimensiones.</a:t>
            </a:r>
            <a:endParaRPr lang="es-CL" sz="1300" noProof="0" dirty="0"/>
          </a:p>
        </p:txBody>
      </p:sp>
      <p:sp>
        <p:nvSpPr>
          <p:cNvPr id="6" name="Shape 4"/>
          <p:cNvSpPr/>
          <p:nvPr/>
        </p:nvSpPr>
        <p:spPr>
          <a:xfrm>
            <a:off x="640080" y="1554480"/>
            <a:ext cx="3657600" cy="42976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4297680"/>
          </a:xfrm>
          <a:prstGeom prst="rect">
            <a:avLst/>
          </a:prstGeom>
          <a:solidFill>
            <a:srgbClr val="1E2761"/>
          </a:solidFill>
          <a:ln w="12700">
            <a:solidFill>
              <a:srgbClr val="1E2761"/>
            </a:solidFill>
            <a:prstDash val="solid"/>
          </a:ln>
        </p:spPr>
        <p:txBody>
          <a:bodyPr/>
          <a:lstStyle/>
          <a:p>
            <a:endParaRPr lang="es-CL" noProof="0" dirty="0"/>
          </a:p>
        </p:txBody>
      </p:sp>
      <p:sp>
        <p:nvSpPr>
          <p:cNvPr id="8" name="Text 6"/>
          <p:cNvSpPr/>
          <p:nvPr/>
        </p:nvSpPr>
        <p:spPr>
          <a:xfrm>
            <a:off x="3017520" y="4572000"/>
            <a:ext cx="1097280" cy="1371600"/>
          </a:xfrm>
          <a:prstGeom prst="rect">
            <a:avLst/>
          </a:prstGeom>
          <a:noFill/>
          <a:ln/>
        </p:spPr>
        <p:txBody>
          <a:bodyPr wrap="square" lIns="0" tIns="0" rIns="0" bIns="0" rtlCol="0" anchor="b"/>
          <a:lstStyle/>
          <a:p>
            <a:pPr marL="0" indent="0" algn="r">
              <a:buNone/>
            </a:pPr>
            <a:r>
              <a:rPr lang="es-CL" sz="9600" b="1" i="1" noProof="0" dirty="0">
                <a:solidFill>
                  <a:srgbClr val="CADCFC">
                    <a:alpha val="70000"/>
                  </a:srgbClr>
                </a:solidFill>
                <a:latin typeface="Cambria" pitchFamily="34" charset="0"/>
                <a:ea typeface="Cambria" pitchFamily="34" charset="-122"/>
                <a:cs typeface="Cambria" pitchFamily="34" charset="-120"/>
              </a:rPr>
              <a:t>1</a:t>
            </a:r>
            <a:endParaRPr lang="es-CL" sz="9600" noProof="0" dirty="0"/>
          </a:p>
        </p:txBody>
      </p:sp>
      <p:sp>
        <p:nvSpPr>
          <p:cNvPr id="9" name="Text 7"/>
          <p:cNvSpPr/>
          <p:nvPr/>
        </p:nvSpPr>
        <p:spPr>
          <a:xfrm>
            <a:off x="868680" y="1691640"/>
            <a:ext cx="3200400" cy="6400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1. Fundamentos teóricos</a:t>
            </a:r>
            <a:endParaRPr lang="es-CL" sz="1600" noProof="0" dirty="0"/>
          </a:p>
        </p:txBody>
      </p:sp>
      <p:sp>
        <p:nvSpPr>
          <p:cNvPr id="10" name="Text 8"/>
          <p:cNvSpPr/>
          <p:nvPr/>
        </p:nvSpPr>
        <p:spPr>
          <a:xfrm>
            <a:off x="868680" y="2331720"/>
            <a:ext cx="3291840" cy="731520"/>
          </a:xfrm>
          <a:prstGeom prst="rect">
            <a:avLst/>
          </a:prstGeom>
          <a:noFill/>
          <a:ln/>
        </p:spPr>
        <p:txBody>
          <a:bodyPr wrap="square" lIns="0" tIns="0" rIns="0" bIns="0" rtlCol="0" anchor="t"/>
          <a:lstStyle/>
          <a:p>
            <a:pPr marL="0" indent="0" algn="l">
              <a:buNone/>
            </a:pPr>
            <a:r>
              <a:rPr lang="es-CL" sz="1100" i="1" noProof="0" dirty="0">
                <a:solidFill>
                  <a:srgbClr val="2D3748"/>
                </a:solidFill>
                <a:latin typeface="Calibri" pitchFamily="34" charset="0"/>
                <a:ea typeface="Calibri" pitchFamily="34" charset="-122"/>
                <a:cs typeface="Calibri" pitchFamily="34" charset="-120"/>
              </a:rPr>
              <a:t>Equilibrio general y aplicación empírica a política pública</a:t>
            </a:r>
            <a:endParaRPr lang="es-CL" sz="1100" noProof="0" dirty="0"/>
          </a:p>
        </p:txBody>
      </p:sp>
      <p:sp>
        <p:nvSpPr>
          <p:cNvPr id="11" name="Shape 9"/>
          <p:cNvSpPr/>
          <p:nvPr/>
        </p:nvSpPr>
        <p:spPr>
          <a:xfrm>
            <a:off x="868680" y="3154680"/>
            <a:ext cx="3200400" cy="0"/>
          </a:xfrm>
          <a:prstGeom prst="line">
            <a:avLst/>
          </a:prstGeom>
          <a:noFill/>
          <a:ln w="19050">
            <a:solidFill>
              <a:srgbClr val="D4A82A"/>
            </a:solidFill>
            <a:prstDash val="solid"/>
          </a:ln>
        </p:spPr>
        <p:txBody>
          <a:bodyPr/>
          <a:lstStyle/>
          <a:p>
            <a:endParaRPr lang="es-CL" noProof="0" dirty="0"/>
          </a:p>
        </p:txBody>
      </p:sp>
      <p:sp>
        <p:nvSpPr>
          <p:cNvPr id="12" name="Text 10"/>
          <p:cNvSpPr/>
          <p:nvPr/>
        </p:nvSpPr>
        <p:spPr>
          <a:xfrm>
            <a:off x="868680" y="3291840"/>
            <a:ext cx="3291840" cy="2286000"/>
          </a:xfrm>
          <a:prstGeom prst="rect">
            <a:avLst/>
          </a:prstGeom>
          <a:noFill/>
          <a:ln/>
        </p:spPr>
        <p:txBody>
          <a:bodyPr wrap="square" lIns="0" tIns="0" rIns="0" bIns="0" rtlCol="0" anchor="t"/>
          <a:lstStyle/>
          <a:p>
            <a:pPr marL="342900" indent="-342900" algn="l">
              <a:spcAft>
                <a:spcPts val="400"/>
              </a:spcAft>
              <a:buSzPct val="100000"/>
              <a:buChar char="•"/>
            </a:pPr>
            <a:r>
              <a:rPr lang="es-CL" sz="1100" noProof="0" dirty="0">
                <a:solidFill>
                  <a:srgbClr val="2D3748"/>
                </a:solidFill>
                <a:latin typeface="Calibri" pitchFamily="34" charset="0"/>
                <a:ea typeface="Calibri" pitchFamily="34" charset="-122"/>
                <a:cs typeface="Calibri" pitchFamily="34" charset="-120"/>
              </a:rPr>
              <a:t>Arrow &amp; </a:t>
            </a:r>
            <a:r>
              <a:rPr lang="es-CL" sz="1100" noProof="0" dirty="0" err="1">
                <a:solidFill>
                  <a:srgbClr val="2D3748"/>
                </a:solidFill>
                <a:latin typeface="Calibri" pitchFamily="34" charset="0"/>
                <a:ea typeface="Calibri" pitchFamily="34" charset="-122"/>
                <a:cs typeface="Calibri" pitchFamily="34" charset="-120"/>
              </a:rPr>
              <a:t>Debreu</a:t>
            </a:r>
            <a:r>
              <a:rPr lang="es-CL" sz="1100" noProof="0" dirty="0">
                <a:solidFill>
                  <a:srgbClr val="2D3748"/>
                </a:solidFill>
                <a:latin typeface="Calibri" pitchFamily="34" charset="0"/>
                <a:ea typeface="Calibri" pitchFamily="34" charset="-122"/>
                <a:cs typeface="Calibri" pitchFamily="34" charset="-120"/>
              </a:rPr>
              <a:t> (1954)</a:t>
            </a:r>
            <a:endParaRPr lang="es-CL" sz="1100" noProof="0" dirty="0"/>
          </a:p>
          <a:p>
            <a:pPr marL="342900" indent="-342900" algn="l">
              <a:spcAft>
                <a:spcPts val="400"/>
              </a:spcAft>
              <a:buSzPct val="100000"/>
              <a:buChar char="•"/>
            </a:pPr>
            <a:r>
              <a:rPr lang="es-CL" sz="1100" noProof="0" dirty="0" err="1">
                <a:solidFill>
                  <a:srgbClr val="2D3748"/>
                </a:solidFill>
                <a:latin typeface="Calibri" pitchFamily="34" charset="0"/>
                <a:ea typeface="Calibri" pitchFamily="34" charset="-122"/>
                <a:cs typeface="Calibri" pitchFamily="34" charset="-120"/>
              </a:rPr>
              <a:t>Shoven</a:t>
            </a:r>
            <a:r>
              <a:rPr lang="es-CL" sz="1100" noProof="0" dirty="0">
                <a:solidFill>
                  <a:srgbClr val="2D3748"/>
                </a:solidFill>
                <a:latin typeface="Calibri" pitchFamily="34" charset="0"/>
                <a:ea typeface="Calibri" pitchFamily="34" charset="-122"/>
                <a:cs typeface="Calibri" pitchFamily="34" charset="-120"/>
              </a:rPr>
              <a:t> &amp; Whalley (1992)</a:t>
            </a:r>
            <a:endParaRPr lang="es-CL" sz="1100" noProof="0" dirty="0"/>
          </a:p>
          <a:p>
            <a:pPr marL="342900" indent="-342900" algn="l">
              <a:spcAft>
                <a:spcPts val="400"/>
              </a:spcAft>
              <a:buSzPct val="100000"/>
              <a:buChar char="•"/>
            </a:pPr>
            <a:r>
              <a:rPr lang="es-CL" sz="1100" noProof="0" dirty="0">
                <a:solidFill>
                  <a:srgbClr val="2D3748"/>
                </a:solidFill>
                <a:latin typeface="Calibri" pitchFamily="34" charset="0"/>
                <a:ea typeface="Calibri" pitchFamily="34" charset="-122"/>
                <a:cs typeface="Calibri" pitchFamily="34" charset="-120"/>
              </a:rPr>
              <a:t>Dixon &amp; Jorgenson (2013)</a:t>
            </a:r>
            <a:endParaRPr lang="es-CL" sz="1100" noProof="0" dirty="0"/>
          </a:p>
        </p:txBody>
      </p:sp>
      <p:sp>
        <p:nvSpPr>
          <p:cNvPr id="13" name="Shape 11"/>
          <p:cNvSpPr/>
          <p:nvPr/>
        </p:nvSpPr>
        <p:spPr>
          <a:xfrm>
            <a:off x="4434840" y="1554480"/>
            <a:ext cx="3657600" cy="4297680"/>
          </a:xfrm>
          <a:prstGeom prst="rect">
            <a:avLst/>
          </a:prstGeom>
          <a:solidFill>
            <a:srgbClr val="F5F7FA"/>
          </a:solidFill>
          <a:ln w="9525">
            <a:solidFill>
              <a:srgbClr val="E2E8F0"/>
            </a:solidFill>
            <a:prstDash val="solid"/>
          </a:ln>
        </p:spPr>
        <p:txBody>
          <a:bodyPr/>
          <a:lstStyle/>
          <a:p>
            <a:endParaRPr lang="es-CL" noProof="0" dirty="0"/>
          </a:p>
        </p:txBody>
      </p:sp>
      <p:sp>
        <p:nvSpPr>
          <p:cNvPr id="14" name="Shape 12"/>
          <p:cNvSpPr/>
          <p:nvPr/>
        </p:nvSpPr>
        <p:spPr>
          <a:xfrm>
            <a:off x="4434840" y="1554480"/>
            <a:ext cx="73152" cy="4297680"/>
          </a:xfrm>
          <a:prstGeom prst="rect">
            <a:avLst/>
          </a:prstGeom>
          <a:solidFill>
            <a:srgbClr val="1E2761"/>
          </a:solidFill>
          <a:ln w="12700">
            <a:solidFill>
              <a:srgbClr val="1E2761"/>
            </a:solidFill>
            <a:prstDash val="solid"/>
          </a:ln>
        </p:spPr>
        <p:txBody>
          <a:bodyPr/>
          <a:lstStyle/>
          <a:p>
            <a:endParaRPr lang="es-CL" noProof="0" dirty="0"/>
          </a:p>
        </p:txBody>
      </p:sp>
      <p:sp>
        <p:nvSpPr>
          <p:cNvPr id="15" name="Text 13"/>
          <p:cNvSpPr/>
          <p:nvPr/>
        </p:nvSpPr>
        <p:spPr>
          <a:xfrm>
            <a:off x="6812280" y="4572000"/>
            <a:ext cx="1097280" cy="1371600"/>
          </a:xfrm>
          <a:prstGeom prst="rect">
            <a:avLst/>
          </a:prstGeom>
          <a:noFill/>
          <a:ln/>
        </p:spPr>
        <p:txBody>
          <a:bodyPr wrap="square" lIns="0" tIns="0" rIns="0" bIns="0" rtlCol="0" anchor="b"/>
          <a:lstStyle/>
          <a:p>
            <a:pPr marL="0" indent="0" algn="r">
              <a:buNone/>
            </a:pPr>
            <a:r>
              <a:rPr lang="es-CL" sz="9600" b="1" i="1" noProof="0" dirty="0">
                <a:solidFill>
                  <a:srgbClr val="CADCFC">
                    <a:alpha val="70000"/>
                  </a:srgbClr>
                </a:solidFill>
                <a:latin typeface="Cambria" pitchFamily="34" charset="0"/>
                <a:ea typeface="Cambria" pitchFamily="34" charset="-122"/>
                <a:cs typeface="Cambria" pitchFamily="34" charset="-120"/>
              </a:rPr>
              <a:t>2</a:t>
            </a:r>
            <a:endParaRPr lang="es-CL" sz="9600" noProof="0" dirty="0"/>
          </a:p>
        </p:txBody>
      </p:sp>
      <p:sp>
        <p:nvSpPr>
          <p:cNvPr id="16" name="Text 14"/>
          <p:cNvSpPr/>
          <p:nvPr/>
        </p:nvSpPr>
        <p:spPr>
          <a:xfrm>
            <a:off x="4663440" y="1691640"/>
            <a:ext cx="3200400" cy="6400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2. Modelos calibrados con SAM</a:t>
            </a:r>
            <a:endParaRPr lang="es-CL" sz="1600" noProof="0" dirty="0"/>
          </a:p>
        </p:txBody>
      </p:sp>
      <p:sp>
        <p:nvSpPr>
          <p:cNvPr id="17" name="Text 15"/>
          <p:cNvSpPr/>
          <p:nvPr/>
        </p:nvSpPr>
        <p:spPr>
          <a:xfrm>
            <a:off x="4663440" y="2331720"/>
            <a:ext cx="3291840" cy="731520"/>
          </a:xfrm>
          <a:prstGeom prst="rect">
            <a:avLst/>
          </a:prstGeom>
          <a:noFill/>
          <a:ln/>
        </p:spPr>
        <p:txBody>
          <a:bodyPr wrap="square" lIns="0" tIns="0" rIns="0" bIns="0" rtlCol="0" anchor="t"/>
          <a:lstStyle/>
          <a:p>
            <a:pPr marL="0" indent="0" algn="l">
              <a:buNone/>
            </a:pPr>
            <a:r>
              <a:rPr lang="es-CL" sz="1100" i="1" noProof="0" dirty="0">
                <a:solidFill>
                  <a:srgbClr val="2D3748"/>
                </a:solidFill>
                <a:latin typeface="Calibri" pitchFamily="34" charset="0"/>
                <a:ea typeface="Calibri" pitchFamily="34" charset="-122"/>
                <a:cs typeface="Calibri" pitchFamily="34" charset="-120"/>
              </a:rPr>
              <a:t>Representación coherente de flujos hogares–firmas–gobierno</a:t>
            </a:r>
            <a:endParaRPr lang="es-CL" sz="1100" noProof="0" dirty="0"/>
          </a:p>
        </p:txBody>
      </p:sp>
      <p:sp>
        <p:nvSpPr>
          <p:cNvPr id="18" name="Shape 16"/>
          <p:cNvSpPr/>
          <p:nvPr/>
        </p:nvSpPr>
        <p:spPr>
          <a:xfrm>
            <a:off x="4663440" y="3154680"/>
            <a:ext cx="3200400" cy="0"/>
          </a:xfrm>
          <a:prstGeom prst="line">
            <a:avLst/>
          </a:prstGeom>
          <a:noFill/>
          <a:ln w="19050">
            <a:solidFill>
              <a:srgbClr val="D4A82A"/>
            </a:solidFill>
            <a:prstDash val="solid"/>
          </a:ln>
        </p:spPr>
        <p:txBody>
          <a:bodyPr/>
          <a:lstStyle/>
          <a:p>
            <a:endParaRPr lang="es-CL" noProof="0" dirty="0"/>
          </a:p>
        </p:txBody>
      </p:sp>
      <p:sp>
        <p:nvSpPr>
          <p:cNvPr id="19" name="Text 17"/>
          <p:cNvSpPr/>
          <p:nvPr/>
        </p:nvSpPr>
        <p:spPr>
          <a:xfrm>
            <a:off x="4663440" y="3291840"/>
            <a:ext cx="3291840" cy="2286000"/>
          </a:xfrm>
          <a:prstGeom prst="rect">
            <a:avLst/>
          </a:prstGeom>
          <a:noFill/>
          <a:ln/>
        </p:spPr>
        <p:txBody>
          <a:bodyPr wrap="square" lIns="0" tIns="0" rIns="0" bIns="0" rtlCol="0" anchor="t"/>
          <a:lstStyle/>
          <a:p>
            <a:pPr marL="342900" indent="-342900" algn="l">
              <a:spcAft>
                <a:spcPts val="400"/>
              </a:spcAft>
              <a:buSzPct val="100000"/>
              <a:buChar char="•"/>
            </a:pPr>
            <a:r>
              <a:rPr lang="es-CL" sz="1100" noProof="0" dirty="0">
                <a:solidFill>
                  <a:srgbClr val="2D3748"/>
                </a:solidFill>
                <a:latin typeface="Calibri" pitchFamily="34" charset="0"/>
                <a:ea typeface="Calibri" pitchFamily="34" charset="-122"/>
                <a:cs typeface="Calibri" pitchFamily="34" charset="-120"/>
              </a:rPr>
              <a:t>Pyatt &amp; Round (1985)</a:t>
            </a:r>
            <a:endParaRPr lang="es-CL" sz="1100" noProof="0" dirty="0"/>
          </a:p>
          <a:p>
            <a:pPr marL="342900" indent="-342900" algn="l">
              <a:spcAft>
                <a:spcPts val="400"/>
              </a:spcAft>
              <a:buSzPct val="100000"/>
              <a:buChar char="•"/>
            </a:pPr>
            <a:r>
              <a:rPr lang="es-CL" sz="1100" noProof="0" dirty="0">
                <a:solidFill>
                  <a:srgbClr val="2D3748"/>
                </a:solidFill>
                <a:latin typeface="Calibri" pitchFamily="34" charset="0"/>
                <a:ea typeface="Calibri" pitchFamily="34" charset="-122"/>
                <a:cs typeface="Calibri" pitchFamily="34" charset="-120"/>
              </a:rPr>
              <a:t>Dervis, de Melo &amp; Robinson (1982)</a:t>
            </a:r>
            <a:endParaRPr lang="es-CL" sz="1100" noProof="0" dirty="0"/>
          </a:p>
        </p:txBody>
      </p:sp>
      <p:sp>
        <p:nvSpPr>
          <p:cNvPr id="20" name="Shape 18"/>
          <p:cNvSpPr/>
          <p:nvPr/>
        </p:nvSpPr>
        <p:spPr>
          <a:xfrm>
            <a:off x="8229600" y="1554480"/>
            <a:ext cx="3657600" cy="4297680"/>
          </a:xfrm>
          <a:prstGeom prst="rect">
            <a:avLst/>
          </a:prstGeom>
          <a:solidFill>
            <a:srgbClr val="F5F7FA"/>
          </a:solidFill>
          <a:ln w="9525">
            <a:solidFill>
              <a:srgbClr val="E2E8F0"/>
            </a:solidFill>
            <a:prstDash val="solid"/>
          </a:ln>
        </p:spPr>
        <p:txBody>
          <a:bodyPr/>
          <a:lstStyle/>
          <a:p>
            <a:endParaRPr lang="es-CL" noProof="0" dirty="0"/>
          </a:p>
        </p:txBody>
      </p:sp>
      <p:sp>
        <p:nvSpPr>
          <p:cNvPr id="21" name="Shape 19"/>
          <p:cNvSpPr/>
          <p:nvPr/>
        </p:nvSpPr>
        <p:spPr>
          <a:xfrm>
            <a:off x="8229600" y="1554480"/>
            <a:ext cx="73152" cy="4297680"/>
          </a:xfrm>
          <a:prstGeom prst="rect">
            <a:avLst/>
          </a:prstGeom>
          <a:solidFill>
            <a:srgbClr val="1E2761"/>
          </a:solidFill>
          <a:ln w="12700">
            <a:solidFill>
              <a:srgbClr val="1E2761"/>
            </a:solidFill>
            <a:prstDash val="solid"/>
          </a:ln>
        </p:spPr>
        <p:txBody>
          <a:bodyPr/>
          <a:lstStyle/>
          <a:p>
            <a:endParaRPr lang="es-CL" noProof="0" dirty="0"/>
          </a:p>
        </p:txBody>
      </p:sp>
      <p:sp>
        <p:nvSpPr>
          <p:cNvPr id="22" name="Text 20"/>
          <p:cNvSpPr/>
          <p:nvPr/>
        </p:nvSpPr>
        <p:spPr>
          <a:xfrm>
            <a:off x="10607040" y="4572000"/>
            <a:ext cx="1097280" cy="1371600"/>
          </a:xfrm>
          <a:prstGeom prst="rect">
            <a:avLst/>
          </a:prstGeom>
          <a:noFill/>
          <a:ln/>
        </p:spPr>
        <p:txBody>
          <a:bodyPr wrap="square" lIns="0" tIns="0" rIns="0" bIns="0" rtlCol="0" anchor="b"/>
          <a:lstStyle/>
          <a:p>
            <a:pPr marL="0" indent="0" algn="r">
              <a:buNone/>
            </a:pPr>
            <a:r>
              <a:rPr lang="es-CL" sz="9600" b="1" i="1" noProof="0" dirty="0">
                <a:solidFill>
                  <a:srgbClr val="CADCFC">
                    <a:alpha val="70000"/>
                  </a:srgbClr>
                </a:solidFill>
                <a:latin typeface="Cambria" pitchFamily="34" charset="0"/>
                <a:ea typeface="Cambria" pitchFamily="34" charset="-122"/>
                <a:cs typeface="Cambria" pitchFamily="34" charset="-120"/>
              </a:rPr>
              <a:t>3</a:t>
            </a:r>
            <a:endParaRPr lang="es-CL" sz="9600" noProof="0" dirty="0"/>
          </a:p>
        </p:txBody>
      </p:sp>
      <p:sp>
        <p:nvSpPr>
          <p:cNvPr id="23" name="Text 21"/>
          <p:cNvSpPr/>
          <p:nvPr/>
        </p:nvSpPr>
        <p:spPr>
          <a:xfrm>
            <a:off x="8458200" y="1691640"/>
            <a:ext cx="3200400" cy="6400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3. Evaluación tributaria</a:t>
            </a:r>
            <a:endParaRPr lang="es-CL" sz="1600" noProof="0" dirty="0"/>
          </a:p>
        </p:txBody>
      </p:sp>
      <p:sp>
        <p:nvSpPr>
          <p:cNvPr id="24" name="Text 22"/>
          <p:cNvSpPr/>
          <p:nvPr/>
        </p:nvSpPr>
        <p:spPr>
          <a:xfrm>
            <a:off x="8458200" y="2331720"/>
            <a:ext cx="3291840" cy="731520"/>
          </a:xfrm>
          <a:prstGeom prst="rect">
            <a:avLst/>
          </a:prstGeom>
          <a:noFill/>
          <a:ln/>
        </p:spPr>
        <p:txBody>
          <a:bodyPr wrap="square" lIns="0" tIns="0" rIns="0" bIns="0" rtlCol="0" anchor="t"/>
          <a:lstStyle/>
          <a:p>
            <a:pPr marL="0" indent="0" algn="l">
              <a:buNone/>
            </a:pPr>
            <a:r>
              <a:rPr lang="es-CL" sz="1100" i="1" noProof="0" dirty="0">
                <a:solidFill>
                  <a:srgbClr val="2D3748"/>
                </a:solidFill>
                <a:latin typeface="Calibri" pitchFamily="34" charset="0"/>
                <a:ea typeface="Calibri" pitchFamily="34" charset="-122"/>
                <a:cs typeface="Calibri" pitchFamily="34" charset="-120"/>
              </a:rPr>
              <a:t>Recaudación, bienestar y composición de la demanda agregada</a:t>
            </a:r>
            <a:endParaRPr lang="es-CL" sz="1100" noProof="0" dirty="0"/>
          </a:p>
        </p:txBody>
      </p:sp>
      <p:sp>
        <p:nvSpPr>
          <p:cNvPr id="25" name="Shape 23"/>
          <p:cNvSpPr/>
          <p:nvPr/>
        </p:nvSpPr>
        <p:spPr>
          <a:xfrm>
            <a:off x="8458200" y="3154680"/>
            <a:ext cx="3200400" cy="0"/>
          </a:xfrm>
          <a:prstGeom prst="line">
            <a:avLst/>
          </a:prstGeom>
          <a:noFill/>
          <a:ln w="19050">
            <a:solidFill>
              <a:srgbClr val="D4A82A"/>
            </a:solidFill>
            <a:prstDash val="solid"/>
          </a:ln>
        </p:spPr>
        <p:txBody>
          <a:bodyPr/>
          <a:lstStyle/>
          <a:p>
            <a:endParaRPr lang="es-CL" noProof="0" dirty="0"/>
          </a:p>
        </p:txBody>
      </p:sp>
      <p:sp>
        <p:nvSpPr>
          <p:cNvPr id="26" name="Text 24"/>
          <p:cNvSpPr/>
          <p:nvPr/>
        </p:nvSpPr>
        <p:spPr>
          <a:xfrm>
            <a:off x="8458200" y="3291840"/>
            <a:ext cx="3291840" cy="2286000"/>
          </a:xfrm>
          <a:prstGeom prst="rect">
            <a:avLst/>
          </a:prstGeom>
          <a:noFill/>
          <a:ln/>
        </p:spPr>
        <p:txBody>
          <a:bodyPr wrap="square" lIns="0" tIns="0" rIns="0" bIns="0" rtlCol="0" anchor="t"/>
          <a:lstStyle/>
          <a:p>
            <a:pPr marL="342900" indent="-342900" algn="l">
              <a:spcAft>
                <a:spcPts val="400"/>
              </a:spcAft>
              <a:buSzPct val="100000"/>
              <a:buChar char="•"/>
            </a:pPr>
            <a:r>
              <a:rPr lang="es-CL" sz="1100" noProof="0" dirty="0">
                <a:solidFill>
                  <a:srgbClr val="2D3748"/>
                </a:solidFill>
                <a:latin typeface="Calibri" pitchFamily="34" charset="0"/>
                <a:ea typeface="Calibri" pitchFamily="34" charset="-122"/>
                <a:cs typeface="Calibri" pitchFamily="34" charset="-120"/>
              </a:rPr>
              <a:t>Ballard, Fullerton, </a:t>
            </a:r>
            <a:r>
              <a:rPr lang="es-CL" sz="1100" noProof="0" dirty="0" err="1">
                <a:solidFill>
                  <a:srgbClr val="2D3748"/>
                </a:solidFill>
                <a:latin typeface="Calibri" pitchFamily="34" charset="0"/>
                <a:ea typeface="Calibri" pitchFamily="34" charset="-122"/>
                <a:cs typeface="Calibri" pitchFamily="34" charset="-120"/>
              </a:rPr>
              <a:t>Shoven</a:t>
            </a:r>
            <a:r>
              <a:rPr lang="es-CL" sz="1100" noProof="0" dirty="0">
                <a:solidFill>
                  <a:srgbClr val="2D3748"/>
                </a:solidFill>
                <a:latin typeface="Calibri" pitchFamily="34" charset="0"/>
                <a:ea typeface="Calibri" pitchFamily="34" charset="-122"/>
                <a:cs typeface="Calibri" pitchFamily="34" charset="-120"/>
              </a:rPr>
              <a:t> &amp; Whalley (1985)</a:t>
            </a:r>
            <a:endParaRPr lang="es-CL" sz="1100" noProof="0" dirty="0"/>
          </a:p>
        </p:txBody>
      </p:sp>
      <p:sp>
        <p:nvSpPr>
          <p:cNvPr id="27" name="Text 25"/>
          <p:cNvSpPr/>
          <p:nvPr/>
        </p:nvSpPr>
        <p:spPr>
          <a:xfrm>
            <a:off x="640080" y="60350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Construcción de la SAM: metodología matricial de Venegas (2013), adaptada a Chile 2023.</a:t>
            </a:r>
            <a:endParaRPr lang="es-CL" sz="900" noProof="0" dirty="0"/>
          </a:p>
        </p:txBody>
      </p:sp>
      <p:sp>
        <p:nvSpPr>
          <p:cNvPr id="28" name="Text 26"/>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4196-A483-266A-F7C9-C553A59414AD}"/>
            </a:ext>
          </a:extLst>
        </p:cNvPr>
        <p:cNvGrpSpPr/>
        <p:nvPr/>
      </p:nvGrpSpPr>
      <p:grpSpPr>
        <a:xfrm>
          <a:off x="0" y="0"/>
          <a:ext cx="0" cy="0"/>
          <a:chOff x="0" y="0"/>
          <a:chExt cx="0" cy="0"/>
        </a:xfrm>
      </p:grpSpPr>
      <p:grpSp>
        <p:nvGrpSpPr>
          <p:cNvPr id="49" name="Grupo 48">
            <a:extLst>
              <a:ext uri="{FF2B5EF4-FFF2-40B4-BE49-F238E27FC236}">
                <a16:creationId xmlns:a16="http://schemas.microsoft.com/office/drawing/2014/main" id="{EFBF8A43-33BA-BB13-5009-EE4DD5B36C14}"/>
              </a:ext>
            </a:extLst>
          </p:cNvPr>
          <p:cNvGrpSpPr/>
          <p:nvPr/>
        </p:nvGrpSpPr>
        <p:grpSpPr>
          <a:xfrm>
            <a:off x="3587214" y="4017975"/>
            <a:ext cx="5907768" cy="949280"/>
            <a:chOff x="3587214" y="4017975"/>
            <a:chExt cx="5907768" cy="949280"/>
          </a:xfrm>
        </p:grpSpPr>
        <p:sp>
          <p:nvSpPr>
            <p:cNvPr id="47" name="Flecha: a la izquierda y arriba 46">
              <a:extLst>
                <a:ext uri="{FF2B5EF4-FFF2-40B4-BE49-F238E27FC236}">
                  <a16:creationId xmlns:a16="http://schemas.microsoft.com/office/drawing/2014/main" id="{E8E34D35-4F2C-C4D5-03BE-34AC0BF201C0}"/>
                </a:ext>
              </a:extLst>
            </p:cNvPr>
            <p:cNvSpPr/>
            <p:nvPr/>
          </p:nvSpPr>
          <p:spPr>
            <a:xfrm>
              <a:off x="3587214" y="4017975"/>
              <a:ext cx="5907768" cy="474950"/>
            </a:xfrm>
            <a:prstGeom prst="leftUpArrow">
              <a:avLst>
                <a:gd name="adj1" fmla="val 32779"/>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48" name="CuadroTexto 47">
              <a:extLst>
                <a:ext uri="{FF2B5EF4-FFF2-40B4-BE49-F238E27FC236}">
                  <a16:creationId xmlns:a16="http://schemas.microsoft.com/office/drawing/2014/main" id="{27F79E66-4B6F-E25A-1718-C652FBE5735E}"/>
                </a:ext>
              </a:extLst>
            </p:cNvPr>
            <p:cNvSpPr txBox="1"/>
            <p:nvPr/>
          </p:nvSpPr>
          <p:spPr>
            <a:xfrm>
              <a:off x="3613641" y="4444035"/>
              <a:ext cx="2482359" cy="523220"/>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Impuestos a la Renta y p(x) </a:t>
              </a:r>
            </a:p>
            <a:p>
              <a:pPr marL="285750" indent="-285750">
                <a:buFont typeface="Arial" panose="020B0604020202020204" pitchFamily="34" charset="0"/>
                <a:buChar char="•"/>
              </a:pPr>
              <a:r>
                <a:rPr lang="es-CL" sz="1400" noProof="0" dirty="0"/>
                <a:t>Transferencias</a:t>
              </a:r>
            </a:p>
          </p:txBody>
        </p:sp>
      </p:grpSp>
      <p:sp>
        <p:nvSpPr>
          <p:cNvPr id="2" name="Shape 0">
            <a:extLst>
              <a:ext uri="{FF2B5EF4-FFF2-40B4-BE49-F238E27FC236}">
                <a16:creationId xmlns:a16="http://schemas.microsoft.com/office/drawing/2014/main" id="{16836E77-C5E1-85EF-71F8-5B452FAE9977}"/>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6DCA4FF8-C276-9BF4-7532-F80E06E18ED0}"/>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706683F2-EB38-7A04-322E-CF9594983FFF}"/>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Mapa conceptual: bloques del modelo</a:t>
            </a:r>
            <a:endParaRPr lang="es-CL" sz="2400" noProof="0" dirty="0"/>
          </a:p>
        </p:txBody>
      </p:sp>
      <p:sp>
        <p:nvSpPr>
          <p:cNvPr id="5" name="Text 3">
            <a:extLst>
              <a:ext uri="{FF2B5EF4-FFF2-40B4-BE49-F238E27FC236}">
                <a16:creationId xmlns:a16="http://schemas.microsoft.com/office/drawing/2014/main" id="{21AEABDE-851D-EF50-3867-2CF6E9F818B1}"/>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Hogar representativo, 12 sectores, gobierno, firmas, sector externo y bloque ahorro–inversión.</a:t>
            </a:r>
            <a:endParaRPr lang="es-CL" sz="1300" noProof="0" dirty="0"/>
          </a:p>
        </p:txBody>
      </p:sp>
      <p:sp>
        <p:nvSpPr>
          <p:cNvPr id="19" name="Text 17">
            <a:extLst>
              <a:ext uri="{FF2B5EF4-FFF2-40B4-BE49-F238E27FC236}">
                <a16:creationId xmlns:a16="http://schemas.microsoft.com/office/drawing/2014/main" id="{529F8CD8-0F24-F524-EB36-0850F7037D05}"/>
              </a:ext>
            </a:extLst>
          </p:cNvPr>
          <p:cNvSpPr/>
          <p:nvPr/>
        </p:nvSpPr>
        <p:spPr>
          <a:xfrm>
            <a:off x="5682220" y="5257800"/>
            <a:ext cx="2194560" cy="640080"/>
          </a:xfrm>
          <a:prstGeom prst="rect">
            <a:avLst/>
          </a:prstGeom>
          <a:noFill/>
          <a:ln/>
        </p:spPr>
        <p:txBody>
          <a:bodyPr wrap="square" lIns="0" tIns="0" rIns="0" bIns="0" rtlCol="0" anchor="ctr"/>
          <a:lstStyle/>
          <a:p>
            <a:pPr marL="0" indent="0" algn="ctr">
              <a:buNone/>
            </a:pPr>
            <a:r>
              <a:rPr lang="es-CL" sz="1100" b="1" noProof="0" dirty="0">
                <a:solidFill>
                  <a:srgbClr val="FFFFFF"/>
                </a:solidFill>
                <a:latin typeface="Cambria" pitchFamily="34" charset="0"/>
                <a:ea typeface="Cambria" pitchFamily="34" charset="-122"/>
                <a:cs typeface="Cambria" pitchFamily="34" charset="-120"/>
              </a:rPr>
              <a:t>AHORRO–INVERSIÓN</a:t>
            </a:r>
            <a:endParaRPr lang="es-CL" sz="1100" noProof="0" dirty="0"/>
          </a:p>
        </p:txBody>
      </p:sp>
      <p:sp>
        <p:nvSpPr>
          <p:cNvPr id="32" name="Text 30">
            <a:extLst>
              <a:ext uri="{FF2B5EF4-FFF2-40B4-BE49-F238E27FC236}">
                <a16:creationId xmlns:a16="http://schemas.microsoft.com/office/drawing/2014/main" id="{37758CE0-6BAF-849E-5022-53E3E17E0A15}"/>
              </a:ext>
            </a:extLst>
          </p:cNvPr>
          <p:cNvSpPr/>
          <p:nvPr/>
        </p:nvSpPr>
        <p:spPr>
          <a:xfrm>
            <a:off x="640080" y="6080760"/>
            <a:ext cx="10972800" cy="411480"/>
          </a:xfrm>
          <a:prstGeom prst="rect">
            <a:avLst/>
          </a:prstGeom>
          <a:noFill/>
          <a:ln/>
        </p:spPr>
        <p:txBody>
          <a:bodyPr wrap="square" lIns="0" tIns="0" rIns="0" bIns="0" rtlCol="0" anchor="t"/>
          <a:lstStyle/>
          <a:p>
            <a:pPr marL="342900" indent="-342900" algn="l">
              <a:buSzPct val="100000"/>
              <a:buChar char="•"/>
            </a:pPr>
            <a:r>
              <a:rPr lang="es-CL" sz="1000" noProof="0" dirty="0">
                <a:solidFill>
                  <a:srgbClr val="2D3748"/>
                </a:solidFill>
                <a:latin typeface="Calibri" pitchFamily="34" charset="0"/>
                <a:ea typeface="Calibri" pitchFamily="34" charset="-122"/>
                <a:cs typeface="Calibri" pitchFamily="34" charset="-120"/>
              </a:rPr>
              <a:t>Tres tipos de trabajo (calificación baja, media y alta) y un tipo de capital.</a:t>
            </a:r>
            <a:endParaRPr lang="es-CL" sz="1000" noProof="0" dirty="0"/>
          </a:p>
          <a:p>
            <a:pPr marL="342900" indent="-342900" algn="l">
              <a:buSzPct val="100000"/>
              <a:buChar char="•"/>
            </a:pPr>
            <a:r>
              <a:rPr lang="es-CL" sz="1000" noProof="0" dirty="0">
                <a:solidFill>
                  <a:srgbClr val="2D3748"/>
                </a:solidFill>
                <a:latin typeface="Calibri" pitchFamily="34" charset="0"/>
                <a:ea typeface="Calibri" pitchFamily="34" charset="-122"/>
                <a:cs typeface="Calibri" pitchFamily="34" charset="-120"/>
              </a:rPr>
              <a:t>Cierre con ahorro externo fijo y tipo de cambio real endógeno.</a:t>
            </a:r>
            <a:endParaRPr lang="es-CL" sz="1000" noProof="0" dirty="0"/>
          </a:p>
          <a:p>
            <a:pPr marL="342900" indent="-342900" algn="l">
              <a:buSzPct val="100000"/>
              <a:buChar char="•"/>
            </a:pPr>
            <a:r>
              <a:rPr lang="es-CL" sz="1000" noProof="0" dirty="0">
                <a:solidFill>
                  <a:srgbClr val="2D3748"/>
                </a:solidFill>
                <a:latin typeface="Calibri" pitchFamily="34" charset="0"/>
                <a:ea typeface="Calibri" pitchFamily="34" charset="-122"/>
                <a:cs typeface="Calibri" pitchFamily="34" charset="-120"/>
              </a:rPr>
              <a:t>Calibración exacta del estado base con la SAM 2023.</a:t>
            </a:r>
            <a:endParaRPr lang="es-CL" sz="1000" noProof="0" dirty="0"/>
          </a:p>
        </p:txBody>
      </p:sp>
      <p:sp>
        <p:nvSpPr>
          <p:cNvPr id="33" name="Text 31">
            <a:extLst>
              <a:ext uri="{FF2B5EF4-FFF2-40B4-BE49-F238E27FC236}">
                <a16:creationId xmlns:a16="http://schemas.microsoft.com/office/drawing/2014/main" id="{48CB5E0E-033B-14A9-1AC6-B0DB343113B2}"/>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grpSp>
        <p:nvGrpSpPr>
          <p:cNvPr id="8" name="Grupo 7">
            <a:extLst>
              <a:ext uri="{FF2B5EF4-FFF2-40B4-BE49-F238E27FC236}">
                <a16:creationId xmlns:a16="http://schemas.microsoft.com/office/drawing/2014/main" id="{3109AC2E-4142-C22F-2A9B-C512AA12263F}"/>
              </a:ext>
            </a:extLst>
          </p:cNvPr>
          <p:cNvGrpSpPr/>
          <p:nvPr/>
        </p:nvGrpSpPr>
        <p:grpSpPr>
          <a:xfrm>
            <a:off x="4808350" y="1338624"/>
            <a:ext cx="2390570" cy="1140282"/>
            <a:chOff x="4808351" y="1432587"/>
            <a:chExt cx="2390570" cy="1140282"/>
          </a:xfrm>
        </p:grpSpPr>
        <p:pic>
          <p:nvPicPr>
            <p:cNvPr id="43" name="Imagen 42" descr="Fila de casas de dos plantas">
              <a:extLst>
                <a:ext uri="{FF2B5EF4-FFF2-40B4-BE49-F238E27FC236}">
                  <a16:creationId xmlns:a16="http://schemas.microsoft.com/office/drawing/2014/main" id="{78C3EAED-9B3C-7A18-ACE4-2104FC2B0D21}"/>
                </a:ext>
              </a:extLst>
            </p:cNvPr>
            <p:cNvPicPr>
              <a:picLocks noChangeAspect="1"/>
            </p:cNvPicPr>
            <p:nvPr/>
          </p:nvPicPr>
          <p:blipFill>
            <a:blip r:embed="rId3"/>
            <a:stretch>
              <a:fillRect/>
            </a:stretch>
          </p:blipFill>
          <p:spPr>
            <a:xfrm>
              <a:off x="4808351" y="1452005"/>
              <a:ext cx="2390570" cy="1120864"/>
            </a:xfrm>
            <a:prstGeom prst="rect">
              <a:avLst/>
            </a:prstGeom>
          </p:spPr>
        </p:pic>
        <p:sp>
          <p:nvSpPr>
            <p:cNvPr id="7" name="CuadroTexto 6">
              <a:extLst>
                <a:ext uri="{FF2B5EF4-FFF2-40B4-BE49-F238E27FC236}">
                  <a16:creationId xmlns:a16="http://schemas.microsoft.com/office/drawing/2014/main" id="{6B48A19E-5786-3A9B-230F-A54E6110FDB9}"/>
                </a:ext>
              </a:extLst>
            </p:cNvPr>
            <p:cNvSpPr txBox="1"/>
            <p:nvPr/>
          </p:nvSpPr>
          <p:spPr>
            <a:xfrm>
              <a:off x="5515444" y="1432587"/>
              <a:ext cx="1130631" cy="369332"/>
            </a:xfrm>
            <a:prstGeom prst="rect">
              <a:avLst/>
            </a:prstGeom>
            <a:noFill/>
          </p:spPr>
          <p:txBody>
            <a:bodyPr wrap="square" rtlCol="0">
              <a:spAutoFit/>
            </a:bodyPr>
            <a:lstStyle/>
            <a:p>
              <a:r>
                <a:rPr lang="es-CL" noProof="0" dirty="0">
                  <a:solidFill>
                    <a:schemeClr val="bg1"/>
                  </a:solidFill>
                </a:rPr>
                <a:t>HOGARES</a:t>
              </a:r>
            </a:p>
          </p:txBody>
        </p:sp>
      </p:grpSp>
      <p:grpSp>
        <p:nvGrpSpPr>
          <p:cNvPr id="10" name="Grupo 9">
            <a:extLst>
              <a:ext uri="{FF2B5EF4-FFF2-40B4-BE49-F238E27FC236}">
                <a16:creationId xmlns:a16="http://schemas.microsoft.com/office/drawing/2014/main" id="{345CF784-14FD-26A9-4E34-F5257BA2620D}"/>
              </a:ext>
            </a:extLst>
          </p:cNvPr>
          <p:cNvGrpSpPr/>
          <p:nvPr/>
        </p:nvGrpSpPr>
        <p:grpSpPr>
          <a:xfrm>
            <a:off x="685800" y="3653677"/>
            <a:ext cx="2576854" cy="1120864"/>
            <a:chOff x="325665" y="3133744"/>
            <a:chExt cx="2576854" cy="1120864"/>
          </a:xfrm>
        </p:grpSpPr>
        <p:pic>
          <p:nvPicPr>
            <p:cNvPr id="53" name="Imagen 52">
              <a:extLst>
                <a:ext uri="{FF2B5EF4-FFF2-40B4-BE49-F238E27FC236}">
                  <a16:creationId xmlns:a16="http://schemas.microsoft.com/office/drawing/2014/main" id="{25EF9595-4E4F-849C-C9CC-FF7ACABD23C8}"/>
                </a:ext>
              </a:extLst>
            </p:cNvPr>
            <p:cNvPicPr>
              <a:picLocks noChangeAspect="1"/>
            </p:cNvPicPr>
            <p:nvPr/>
          </p:nvPicPr>
          <p:blipFill>
            <a:blip r:embed="rId4"/>
            <a:srcRect l="19991" t="40666" r="21129" b="26000"/>
            <a:stretch>
              <a:fillRect/>
            </a:stretch>
          </p:blipFill>
          <p:spPr>
            <a:xfrm>
              <a:off x="325665" y="3133744"/>
              <a:ext cx="2576854" cy="1120864"/>
            </a:xfrm>
            <a:prstGeom prst="rect">
              <a:avLst/>
            </a:prstGeom>
          </p:spPr>
        </p:pic>
        <p:sp>
          <p:nvSpPr>
            <p:cNvPr id="9" name="CuadroTexto 8">
              <a:extLst>
                <a:ext uri="{FF2B5EF4-FFF2-40B4-BE49-F238E27FC236}">
                  <a16:creationId xmlns:a16="http://schemas.microsoft.com/office/drawing/2014/main" id="{FAD61871-2528-B200-4DDD-337B08984700}"/>
                </a:ext>
              </a:extLst>
            </p:cNvPr>
            <p:cNvSpPr txBox="1"/>
            <p:nvPr/>
          </p:nvSpPr>
          <p:spPr>
            <a:xfrm>
              <a:off x="325665" y="3142704"/>
              <a:ext cx="2550427" cy="369332"/>
            </a:xfrm>
            <a:prstGeom prst="rect">
              <a:avLst/>
            </a:prstGeom>
            <a:noFill/>
          </p:spPr>
          <p:txBody>
            <a:bodyPr wrap="square" rtlCol="0">
              <a:spAutoFit/>
            </a:bodyPr>
            <a:lstStyle/>
            <a:p>
              <a:r>
                <a:rPr lang="es-CL" noProof="0" dirty="0">
                  <a:solidFill>
                    <a:schemeClr val="bg1"/>
                  </a:solidFill>
                </a:rPr>
                <a:t>EMPRESAS / SECTORES</a:t>
              </a:r>
            </a:p>
          </p:txBody>
        </p:sp>
      </p:grpSp>
      <p:grpSp>
        <p:nvGrpSpPr>
          <p:cNvPr id="12" name="Grupo 11">
            <a:extLst>
              <a:ext uri="{FF2B5EF4-FFF2-40B4-BE49-F238E27FC236}">
                <a16:creationId xmlns:a16="http://schemas.microsoft.com/office/drawing/2014/main" id="{5D826199-9252-FD9B-7805-5C69FFD15523}"/>
              </a:ext>
            </a:extLst>
          </p:cNvPr>
          <p:cNvGrpSpPr/>
          <p:nvPr/>
        </p:nvGrpSpPr>
        <p:grpSpPr>
          <a:xfrm>
            <a:off x="8988971" y="2511422"/>
            <a:ext cx="2818476" cy="1469670"/>
            <a:chOff x="8583362" y="3004126"/>
            <a:chExt cx="3166678" cy="1469670"/>
          </a:xfrm>
        </p:grpSpPr>
        <p:pic>
          <p:nvPicPr>
            <p:cNvPr id="50" name="Imagen 49">
              <a:extLst>
                <a:ext uri="{FF2B5EF4-FFF2-40B4-BE49-F238E27FC236}">
                  <a16:creationId xmlns:a16="http://schemas.microsoft.com/office/drawing/2014/main" id="{AF1AB9AB-A8A2-8F05-AECA-73188D4BADD3}"/>
                </a:ext>
              </a:extLst>
            </p:cNvPr>
            <p:cNvPicPr>
              <a:picLocks noChangeAspect="1"/>
            </p:cNvPicPr>
            <p:nvPr/>
          </p:nvPicPr>
          <p:blipFill>
            <a:blip r:embed="rId5"/>
            <a:srcRect l="13576" t="29667" r="15128" b="29666"/>
            <a:stretch>
              <a:fillRect/>
            </a:stretch>
          </p:blipFill>
          <p:spPr>
            <a:xfrm>
              <a:off x="8583362" y="3086019"/>
              <a:ext cx="3166678" cy="1387777"/>
            </a:xfrm>
            <a:prstGeom prst="rect">
              <a:avLst/>
            </a:prstGeom>
          </p:spPr>
        </p:pic>
        <p:sp>
          <p:nvSpPr>
            <p:cNvPr id="11" name="CuadroTexto 10">
              <a:extLst>
                <a:ext uri="{FF2B5EF4-FFF2-40B4-BE49-F238E27FC236}">
                  <a16:creationId xmlns:a16="http://schemas.microsoft.com/office/drawing/2014/main" id="{B2C85B8C-5C46-9239-E20D-CB49FC3999E7}"/>
                </a:ext>
              </a:extLst>
            </p:cNvPr>
            <p:cNvSpPr txBox="1"/>
            <p:nvPr/>
          </p:nvSpPr>
          <p:spPr>
            <a:xfrm>
              <a:off x="9564613" y="3004126"/>
              <a:ext cx="1204176" cy="369332"/>
            </a:xfrm>
            <a:prstGeom prst="rect">
              <a:avLst/>
            </a:prstGeom>
            <a:noFill/>
          </p:spPr>
          <p:txBody>
            <a:bodyPr wrap="none" rtlCol="0">
              <a:spAutoFit/>
            </a:bodyPr>
            <a:lstStyle/>
            <a:p>
              <a:r>
                <a:rPr lang="es-CL" noProof="0" dirty="0">
                  <a:solidFill>
                    <a:schemeClr val="bg1"/>
                  </a:solidFill>
                </a:rPr>
                <a:t>GOBIERNO</a:t>
              </a:r>
            </a:p>
          </p:txBody>
        </p:sp>
      </p:grpSp>
      <p:grpSp>
        <p:nvGrpSpPr>
          <p:cNvPr id="14" name="Grupo 13">
            <a:extLst>
              <a:ext uri="{FF2B5EF4-FFF2-40B4-BE49-F238E27FC236}">
                <a16:creationId xmlns:a16="http://schemas.microsoft.com/office/drawing/2014/main" id="{CF4F4C5A-854A-DB28-0BD7-F8BFAE766CFC}"/>
              </a:ext>
            </a:extLst>
          </p:cNvPr>
          <p:cNvGrpSpPr/>
          <p:nvPr/>
        </p:nvGrpSpPr>
        <p:grpSpPr>
          <a:xfrm>
            <a:off x="5515443" y="5211131"/>
            <a:ext cx="1623393" cy="1655319"/>
            <a:chOff x="5269061" y="5074920"/>
            <a:chExt cx="1623393" cy="1655319"/>
          </a:xfrm>
        </p:grpSpPr>
        <p:pic>
          <p:nvPicPr>
            <p:cNvPr id="55" name="Imagen 54">
              <a:extLst>
                <a:ext uri="{FF2B5EF4-FFF2-40B4-BE49-F238E27FC236}">
                  <a16:creationId xmlns:a16="http://schemas.microsoft.com/office/drawing/2014/main" id="{324D3016-E423-2990-520B-0D37A1858B2F}"/>
                </a:ext>
              </a:extLst>
            </p:cNvPr>
            <p:cNvPicPr>
              <a:picLocks noChangeAspect="1"/>
            </p:cNvPicPr>
            <p:nvPr/>
          </p:nvPicPr>
          <p:blipFill>
            <a:blip r:embed="rId6"/>
            <a:srcRect l="29718" t="28687" r="38100" b="27333"/>
            <a:stretch>
              <a:fillRect/>
            </a:stretch>
          </p:blipFill>
          <p:spPr>
            <a:xfrm>
              <a:off x="5302474" y="5257800"/>
              <a:ext cx="1402323" cy="1472439"/>
            </a:xfrm>
            <a:prstGeom prst="rect">
              <a:avLst/>
            </a:prstGeom>
          </p:spPr>
        </p:pic>
        <p:sp>
          <p:nvSpPr>
            <p:cNvPr id="13" name="CuadroTexto 12">
              <a:extLst>
                <a:ext uri="{FF2B5EF4-FFF2-40B4-BE49-F238E27FC236}">
                  <a16:creationId xmlns:a16="http://schemas.microsoft.com/office/drawing/2014/main" id="{CAE429FC-583F-5D2B-724F-592ED36A2942}"/>
                </a:ext>
              </a:extLst>
            </p:cNvPr>
            <p:cNvSpPr txBox="1"/>
            <p:nvPr/>
          </p:nvSpPr>
          <p:spPr>
            <a:xfrm>
              <a:off x="5269061" y="5074920"/>
              <a:ext cx="1623393" cy="369332"/>
            </a:xfrm>
            <a:prstGeom prst="rect">
              <a:avLst/>
            </a:prstGeom>
            <a:noFill/>
          </p:spPr>
          <p:txBody>
            <a:bodyPr wrap="none" rtlCol="0">
              <a:spAutoFit/>
            </a:bodyPr>
            <a:lstStyle/>
            <a:p>
              <a:r>
                <a:rPr lang="es-CL" noProof="0" dirty="0"/>
                <a:t>RESTO MUNDO</a:t>
              </a:r>
            </a:p>
          </p:txBody>
        </p:sp>
      </p:grpSp>
      <p:grpSp>
        <p:nvGrpSpPr>
          <p:cNvPr id="16" name="Grupo 15">
            <a:extLst>
              <a:ext uri="{FF2B5EF4-FFF2-40B4-BE49-F238E27FC236}">
                <a16:creationId xmlns:a16="http://schemas.microsoft.com/office/drawing/2014/main" id="{E9696588-6E3C-EFCD-2242-B521FD5F1750}"/>
              </a:ext>
            </a:extLst>
          </p:cNvPr>
          <p:cNvGrpSpPr/>
          <p:nvPr/>
        </p:nvGrpSpPr>
        <p:grpSpPr>
          <a:xfrm>
            <a:off x="6186717" y="3623477"/>
            <a:ext cx="2024405" cy="1229560"/>
            <a:chOff x="5750984" y="3040902"/>
            <a:chExt cx="2375062" cy="1758184"/>
          </a:xfrm>
        </p:grpSpPr>
        <p:pic>
          <p:nvPicPr>
            <p:cNvPr id="57" name="Imagen 56">
              <a:extLst>
                <a:ext uri="{FF2B5EF4-FFF2-40B4-BE49-F238E27FC236}">
                  <a16:creationId xmlns:a16="http://schemas.microsoft.com/office/drawing/2014/main" id="{6F0CAD0D-F661-7167-554D-F9B1FCDC316B}"/>
                </a:ext>
              </a:extLst>
            </p:cNvPr>
            <p:cNvPicPr>
              <a:picLocks noChangeAspect="1"/>
            </p:cNvPicPr>
            <p:nvPr/>
          </p:nvPicPr>
          <p:blipFill>
            <a:blip r:embed="rId7"/>
            <a:srcRect l="12334" t="27340" r="35720" b="23333"/>
            <a:stretch>
              <a:fillRect/>
            </a:stretch>
          </p:blipFill>
          <p:spPr>
            <a:xfrm>
              <a:off x="5750984" y="3066284"/>
              <a:ext cx="2375062" cy="1732802"/>
            </a:xfrm>
            <a:prstGeom prst="rect">
              <a:avLst/>
            </a:prstGeom>
          </p:spPr>
        </p:pic>
        <p:sp>
          <p:nvSpPr>
            <p:cNvPr id="15" name="CuadroTexto 14">
              <a:extLst>
                <a:ext uri="{FF2B5EF4-FFF2-40B4-BE49-F238E27FC236}">
                  <a16:creationId xmlns:a16="http://schemas.microsoft.com/office/drawing/2014/main" id="{1E97F095-E5E3-75EB-0CE1-4A286C0031E2}"/>
                </a:ext>
              </a:extLst>
            </p:cNvPr>
            <p:cNvSpPr txBox="1"/>
            <p:nvPr/>
          </p:nvSpPr>
          <p:spPr>
            <a:xfrm>
              <a:off x="6316815" y="3040902"/>
              <a:ext cx="1151277" cy="369332"/>
            </a:xfrm>
            <a:prstGeom prst="rect">
              <a:avLst/>
            </a:prstGeom>
            <a:noFill/>
          </p:spPr>
          <p:txBody>
            <a:bodyPr wrap="none" rtlCol="0">
              <a:spAutoFit/>
            </a:bodyPr>
            <a:lstStyle/>
            <a:p>
              <a:r>
                <a:rPr lang="es-CL" noProof="0" dirty="0" err="1"/>
                <a:t>M°</a:t>
              </a:r>
              <a:r>
                <a:rPr lang="es-CL" noProof="0" dirty="0"/>
                <a:t> BS / SS</a:t>
              </a:r>
            </a:p>
          </p:txBody>
        </p:sp>
      </p:grpSp>
      <p:grpSp>
        <p:nvGrpSpPr>
          <p:cNvPr id="18" name="Grupo 17">
            <a:extLst>
              <a:ext uri="{FF2B5EF4-FFF2-40B4-BE49-F238E27FC236}">
                <a16:creationId xmlns:a16="http://schemas.microsoft.com/office/drawing/2014/main" id="{99D6B9B8-5771-6CC7-6360-1F165B681F3D}"/>
              </a:ext>
            </a:extLst>
          </p:cNvPr>
          <p:cNvGrpSpPr/>
          <p:nvPr/>
        </p:nvGrpSpPr>
        <p:grpSpPr>
          <a:xfrm>
            <a:off x="3587214" y="2646468"/>
            <a:ext cx="1958876" cy="1402341"/>
            <a:chOff x="3592950" y="3148092"/>
            <a:chExt cx="1958876" cy="1402341"/>
          </a:xfrm>
        </p:grpSpPr>
        <p:pic>
          <p:nvPicPr>
            <p:cNvPr id="59" name="Imagen 58" descr="Persona manejando máquina">
              <a:extLst>
                <a:ext uri="{FF2B5EF4-FFF2-40B4-BE49-F238E27FC236}">
                  <a16:creationId xmlns:a16="http://schemas.microsoft.com/office/drawing/2014/main" id="{71407034-28C6-55A2-A189-5CD81CAE9756}"/>
                </a:ext>
              </a:extLst>
            </p:cNvPr>
            <p:cNvPicPr>
              <a:picLocks noChangeAspect="1"/>
            </p:cNvPicPr>
            <p:nvPr/>
          </p:nvPicPr>
          <p:blipFill>
            <a:blip r:embed="rId8"/>
            <a:stretch>
              <a:fillRect/>
            </a:stretch>
          </p:blipFill>
          <p:spPr>
            <a:xfrm>
              <a:off x="3592950" y="3244069"/>
              <a:ext cx="1958876" cy="1306364"/>
            </a:xfrm>
            <a:prstGeom prst="rect">
              <a:avLst/>
            </a:prstGeom>
          </p:spPr>
        </p:pic>
        <p:sp>
          <p:nvSpPr>
            <p:cNvPr id="17" name="CuadroTexto 16">
              <a:extLst>
                <a:ext uri="{FF2B5EF4-FFF2-40B4-BE49-F238E27FC236}">
                  <a16:creationId xmlns:a16="http://schemas.microsoft.com/office/drawing/2014/main" id="{1F5C0499-85AA-7689-5998-25D44FA69C69}"/>
                </a:ext>
              </a:extLst>
            </p:cNvPr>
            <p:cNvSpPr txBox="1"/>
            <p:nvPr/>
          </p:nvSpPr>
          <p:spPr>
            <a:xfrm>
              <a:off x="4039308" y="3148092"/>
              <a:ext cx="1460849" cy="369332"/>
            </a:xfrm>
            <a:prstGeom prst="rect">
              <a:avLst/>
            </a:prstGeom>
            <a:noFill/>
          </p:spPr>
          <p:txBody>
            <a:bodyPr wrap="none" rtlCol="0">
              <a:spAutoFit/>
            </a:bodyPr>
            <a:lstStyle/>
            <a:p>
              <a:r>
                <a:rPr lang="es-CL" noProof="0" dirty="0" err="1">
                  <a:solidFill>
                    <a:schemeClr val="bg1"/>
                  </a:solidFill>
                </a:rPr>
                <a:t>M°</a:t>
              </a:r>
              <a:r>
                <a:rPr lang="es-CL" noProof="0" dirty="0">
                  <a:solidFill>
                    <a:schemeClr val="bg1"/>
                  </a:solidFill>
                </a:rPr>
                <a:t> FACTORES</a:t>
              </a:r>
            </a:p>
          </p:txBody>
        </p:sp>
      </p:grpSp>
      <p:grpSp>
        <p:nvGrpSpPr>
          <p:cNvPr id="28" name="Grupo 27">
            <a:extLst>
              <a:ext uri="{FF2B5EF4-FFF2-40B4-BE49-F238E27FC236}">
                <a16:creationId xmlns:a16="http://schemas.microsoft.com/office/drawing/2014/main" id="{3F51A1DC-47C1-D36A-5B88-97BECE94F6DD}"/>
              </a:ext>
            </a:extLst>
          </p:cNvPr>
          <p:cNvGrpSpPr/>
          <p:nvPr/>
        </p:nvGrpSpPr>
        <p:grpSpPr>
          <a:xfrm>
            <a:off x="7313399" y="1521546"/>
            <a:ext cx="3123694" cy="1203695"/>
            <a:chOff x="7313399" y="1521546"/>
            <a:chExt cx="3123694" cy="1203695"/>
          </a:xfrm>
        </p:grpSpPr>
        <p:sp>
          <p:nvSpPr>
            <p:cNvPr id="26" name="Flecha: a la izquierda y arriba 25">
              <a:extLst>
                <a:ext uri="{FF2B5EF4-FFF2-40B4-BE49-F238E27FC236}">
                  <a16:creationId xmlns:a16="http://schemas.microsoft.com/office/drawing/2014/main" id="{EA8CF815-6AE9-99E7-75AE-52881952FE03}"/>
                </a:ext>
              </a:extLst>
            </p:cNvPr>
            <p:cNvSpPr/>
            <p:nvPr/>
          </p:nvSpPr>
          <p:spPr>
            <a:xfrm rot="16200000">
              <a:off x="8339362" y="495583"/>
              <a:ext cx="1071767" cy="3123694"/>
            </a:xfrm>
            <a:prstGeom prst="leftUpArrow">
              <a:avLst>
                <a:gd name="adj1" fmla="val 25000"/>
                <a:gd name="adj2" fmla="val 27154"/>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7" name="CuadroTexto 26">
              <a:extLst>
                <a:ext uri="{FF2B5EF4-FFF2-40B4-BE49-F238E27FC236}">
                  <a16:creationId xmlns:a16="http://schemas.microsoft.com/office/drawing/2014/main" id="{6DDB19A9-1318-5A7F-9883-73120FE22463}"/>
                </a:ext>
              </a:extLst>
            </p:cNvPr>
            <p:cNvSpPr txBox="1"/>
            <p:nvPr/>
          </p:nvSpPr>
          <p:spPr>
            <a:xfrm>
              <a:off x="7580865" y="1986577"/>
              <a:ext cx="1812165" cy="738664"/>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Impuestos a la renta</a:t>
              </a:r>
            </a:p>
            <a:p>
              <a:pPr marL="285750" indent="-285750">
                <a:buFont typeface="Arial" panose="020B0604020202020204" pitchFamily="34" charset="0"/>
                <a:buChar char="•"/>
              </a:pPr>
              <a:r>
                <a:rPr lang="es-CL" sz="1400" noProof="0" dirty="0"/>
                <a:t>Transferencias</a:t>
              </a:r>
            </a:p>
          </p:txBody>
        </p:sp>
      </p:grpSp>
      <p:grpSp>
        <p:nvGrpSpPr>
          <p:cNvPr id="30" name="Grupo 29">
            <a:extLst>
              <a:ext uri="{FF2B5EF4-FFF2-40B4-BE49-F238E27FC236}">
                <a16:creationId xmlns:a16="http://schemas.microsoft.com/office/drawing/2014/main" id="{2131B8D0-F922-94B7-7B36-8085A2233006}"/>
              </a:ext>
            </a:extLst>
          </p:cNvPr>
          <p:cNvGrpSpPr/>
          <p:nvPr/>
        </p:nvGrpSpPr>
        <p:grpSpPr>
          <a:xfrm>
            <a:off x="8562109" y="4062986"/>
            <a:ext cx="2142836" cy="1450219"/>
            <a:chOff x="8562109" y="4062986"/>
            <a:chExt cx="2142836" cy="1450219"/>
          </a:xfrm>
        </p:grpSpPr>
        <p:sp>
          <p:nvSpPr>
            <p:cNvPr id="25" name="Flecha: a la izquierda y arriba 24">
              <a:extLst>
                <a:ext uri="{FF2B5EF4-FFF2-40B4-BE49-F238E27FC236}">
                  <a16:creationId xmlns:a16="http://schemas.microsoft.com/office/drawing/2014/main" id="{07CEAB2A-7EFE-CCEA-D982-DEDA43120A30}"/>
                </a:ext>
              </a:extLst>
            </p:cNvPr>
            <p:cNvSpPr/>
            <p:nvPr/>
          </p:nvSpPr>
          <p:spPr>
            <a:xfrm>
              <a:off x="8562109" y="4062986"/>
              <a:ext cx="1874982" cy="711556"/>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9" name="CuadroTexto 28">
              <a:extLst>
                <a:ext uri="{FF2B5EF4-FFF2-40B4-BE49-F238E27FC236}">
                  <a16:creationId xmlns:a16="http://schemas.microsoft.com/office/drawing/2014/main" id="{C6C817A9-90E7-DDD4-7611-01604DA510C2}"/>
                </a:ext>
              </a:extLst>
            </p:cNvPr>
            <p:cNvSpPr txBox="1"/>
            <p:nvPr/>
          </p:nvSpPr>
          <p:spPr>
            <a:xfrm>
              <a:off x="9070109" y="4774541"/>
              <a:ext cx="1634836" cy="738664"/>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Compra Bs y </a:t>
              </a:r>
              <a:r>
                <a:rPr lang="es-CL" sz="1400" noProof="0" dirty="0" err="1"/>
                <a:t>Ss</a:t>
              </a:r>
              <a:endParaRPr lang="es-CL" sz="1400" noProof="0" dirty="0"/>
            </a:p>
            <a:p>
              <a:pPr marL="285750" indent="-285750">
                <a:buFont typeface="Arial" panose="020B0604020202020204" pitchFamily="34" charset="0"/>
                <a:buChar char="•"/>
              </a:pPr>
              <a:r>
                <a:rPr lang="es-CL" sz="1400" noProof="0" dirty="0"/>
                <a:t>Impuestos Indirectos</a:t>
              </a:r>
            </a:p>
          </p:txBody>
        </p:sp>
      </p:grpSp>
      <p:grpSp>
        <p:nvGrpSpPr>
          <p:cNvPr id="34" name="Grupo 33">
            <a:extLst>
              <a:ext uri="{FF2B5EF4-FFF2-40B4-BE49-F238E27FC236}">
                <a16:creationId xmlns:a16="http://schemas.microsoft.com/office/drawing/2014/main" id="{4820C6B6-3332-36B0-9CFA-074B36AF756A}"/>
              </a:ext>
            </a:extLst>
          </p:cNvPr>
          <p:cNvGrpSpPr/>
          <p:nvPr/>
        </p:nvGrpSpPr>
        <p:grpSpPr>
          <a:xfrm>
            <a:off x="7198920" y="5089236"/>
            <a:ext cx="2194110" cy="1044405"/>
            <a:chOff x="7198920" y="5089236"/>
            <a:chExt cx="2194110" cy="1044405"/>
          </a:xfrm>
        </p:grpSpPr>
        <p:sp>
          <p:nvSpPr>
            <p:cNvPr id="23" name="Flecha: a la izquierda y arriba 22">
              <a:extLst>
                <a:ext uri="{FF2B5EF4-FFF2-40B4-BE49-F238E27FC236}">
                  <a16:creationId xmlns:a16="http://schemas.microsoft.com/office/drawing/2014/main" id="{56AF677A-E11B-4E46-AF53-67FF5062C100}"/>
                </a:ext>
              </a:extLst>
            </p:cNvPr>
            <p:cNvSpPr/>
            <p:nvPr/>
          </p:nvSpPr>
          <p:spPr>
            <a:xfrm>
              <a:off x="7198920" y="5089236"/>
              <a:ext cx="677860" cy="104440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1" name="CuadroTexto 30">
              <a:extLst>
                <a:ext uri="{FF2B5EF4-FFF2-40B4-BE49-F238E27FC236}">
                  <a16:creationId xmlns:a16="http://schemas.microsoft.com/office/drawing/2014/main" id="{30A0E22A-7368-F6ED-582A-7E825160B66D}"/>
                </a:ext>
              </a:extLst>
            </p:cNvPr>
            <p:cNvSpPr txBox="1"/>
            <p:nvPr/>
          </p:nvSpPr>
          <p:spPr>
            <a:xfrm>
              <a:off x="7876780" y="5580463"/>
              <a:ext cx="1516250" cy="523220"/>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Exportaciones</a:t>
              </a:r>
            </a:p>
            <a:p>
              <a:pPr marL="285750" indent="-285750">
                <a:buFont typeface="Arial" panose="020B0604020202020204" pitchFamily="34" charset="0"/>
                <a:buChar char="•"/>
              </a:pPr>
              <a:r>
                <a:rPr lang="es-CL" sz="1400" noProof="0" dirty="0"/>
                <a:t>Importaciones</a:t>
              </a:r>
            </a:p>
          </p:txBody>
        </p:sp>
      </p:grpSp>
      <p:grpSp>
        <p:nvGrpSpPr>
          <p:cNvPr id="36" name="Grupo 35">
            <a:extLst>
              <a:ext uri="{FF2B5EF4-FFF2-40B4-BE49-F238E27FC236}">
                <a16:creationId xmlns:a16="http://schemas.microsoft.com/office/drawing/2014/main" id="{3C43A106-79FB-9408-7477-496067C9A024}"/>
              </a:ext>
            </a:extLst>
          </p:cNvPr>
          <p:cNvGrpSpPr/>
          <p:nvPr/>
        </p:nvGrpSpPr>
        <p:grpSpPr>
          <a:xfrm>
            <a:off x="6459869" y="2581559"/>
            <a:ext cx="1648172" cy="1053159"/>
            <a:chOff x="6459869" y="2581559"/>
            <a:chExt cx="1648172" cy="1053159"/>
          </a:xfrm>
        </p:grpSpPr>
        <p:sp>
          <p:nvSpPr>
            <p:cNvPr id="22" name="Flecha: arriba y abajo 21">
              <a:extLst>
                <a:ext uri="{FF2B5EF4-FFF2-40B4-BE49-F238E27FC236}">
                  <a16:creationId xmlns:a16="http://schemas.microsoft.com/office/drawing/2014/main" id="{D4A2E034-8B07-C126-F6D4-89815A548393}"/>
                </a:ext>
              </a:extLst>
            </p:cNvPr>
            <p:cNvSpPr/>
            <p:nvPr/>
          </p:nvSpPr>
          <p:spPr>
            <a:xfrm>
              <a:off x="6459869" y="2581559"/>
              <a:ext cx="395887" cy="10531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5" name="CuadroTexto 34">
              <a:extLst>
                <a:ext uri="{FF2B5EF4-FFF2-40B4-BE49-F238E27FC236}">
                  <a16:creationId xmlns:a16="http://schemas.microsoft.com/office/drawing/2014/main" id="{E199BC16-889C-F815-248D-3312DE884D0D}"/>
                </a:ext>
              </a:extLst>
            </p:cNvPr>
            <p:cNvSpPr txBox="1"/>
            <p:nvPr/>
          </p:nvSpPr>
          <p:spPr>
            <a:xfrm>
              <a:off x="6727201" y="2884881"/>
              <a:ext cx="1380840" cy="523220"/>
            </a:xfrm>
            <a:prstGeom prst="rect">
              <a:avLst/>
            </a:prstGeom>
            <a:noFill/>
          </p:spPr>
          <p:txBody>
            <a:bodyPr wrap="square" rtlCol="0">
              <a:spAutoFit/>
            </a:bodyPr>
            <a:lstStyle/>
            <a:p>
              <a:r>
                <a:rPr lang="es-CL" sz="1400" noProof="0" dirty="0"/>
                <a:t>Compra /Venta Bs / </a:t>
              </a:r>
              <a:r>
                <a:rPr lang="es-CL" sz="1400" noProof="0" dirty="0" err="1"/>
                <a:t>Ss</a:t>
              </a:r>
              <a:endParaRPr lang="es-CL" sz="1400" noProof="0" dirty="0"/>
            </a:p>
          </p:txBody>
        </p:sp>
      </p:grpSp>
      <p:grpSp>
        <p:nvGrpSpPr>
          <p:cNvPr id="40" name="Grupo 39">
            <a:extLst>
              <a:ext uri="{FF2B5EF4-FFF2-40B4-BE49-F238E27FC236}">
                <a16:creationId xmlns:a16="http://schemas.microsoft.com/office/drawing/2014/main" id="{BF4767C5-0AE3-57B5-A225-5F3D89276E0B}"/>
              </a:ext>
            </a:extLst>
          </p:cNvPr>
          <p:cNvGrpSpPr/>
          <p:nvPr/>
        </p:nvGrpSpPr>
        <p:grpSpPr>
          <a:xfrm>
            <a:off x="2009319" y="1577158"/>
            <a:ext cx="2799031" cy="1068048"/>
            <a:chOff x="2009319" y="1577158"/>
            <a:chExt cx="2799031" cy="1068048"/>
          </a:xfrm>
        </p:grpSpPr>
        <p:sp>
          <p:nvSpPr>
            <p:cNvPr id="21" name="Flecha: a la izquierda y arriba 20">
              <a:extLst>
                <a:ext uri="{FF2B5EF4-FFF2-40B4-BE49-F238E27FC236}">
                  <a16:creationId xmlns:a16="http://schemas.microsoft.com/office/drawing/2014/main" id="{2F068418-9E13-1994-B8DC-F22D5CAB37AB}"/>
                </a:ext>
              </a:extLst>
            </p:cNvPr>
            <p:cNvSpPr/>
            <p:nvPr/>
          </p:nvSpPr>
          <p:spPr>
            <a:xfrm rot="10800000">
              <a:off x="3715960" y="1762221"/>
              <a:ext cx="1092390" cy="88298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7" name="CuadroTexto 36">
              <a:extLst>
                <a:ext uri="{FF2B5EF4-FFF2-40B4-BE49-F238E27FC236}">
                  <a16:creationId xmlns:a16="http://schemas.microsoft.com/office/drawing/2014/main" id="{0517D4A1-115B-772A-0F71-4552DB06B5F0}"/>
                </a:ext>
              </a:extLst>
            </p:cNvPr>
            <p:cNvSpPr txBox="1"/>
            <p:nvPr/>
          </p:nvSpPr>
          <p:spPr>
            <a:xfrm>
              <a:off x="2009319" y="1577158"/>
              <a:ext cx="2184869" cy="523220"/>
            </a:xfrm>
            <a:prstGeom prst="rect">
              <a:avLst/>
            </a:prstGeom>
            <a:noFill/>
          </p:spPr>
          <p:txBody>
            <a:bodyPr wrap="square" rtlCol="0">
              <a:spAutoFit/>
            </a:bodyPr>
            <a:lstStyle/>
            <a:p>
              <a:r>
                <a:rPr lang="es-CL" sz="1400" noProof="0" dirty="0"/>
                <a:t>Compra / Venta Capital y Trabajo</a:t>
              </a:r>
            </a:p>
          </p:txBody>
        </p:sp>
      </p:grpSp>
      <p:grpSp>
        <p:nvGrpSpPr>
          <p:cNvPr id="41" name="Grupo 40">
            <a:extLst>
              <a:ext uri="{FF2B5EF4-FFF2-40B4-BE49-F238E27FC236}">
                <a16:creationId xmlns:a16="http://schemas.microsoft.com/office/drawing/2014/main" id="{7675702F-35AA-9A79-AC07-1440FE525298}"/>
              </a:ext>
            </a:extLst>
          </p:cNvPr>
          <p:cNvGrpSpPr/>
          <p:nvPr/>
        </p:nvGrpSpPr>
        <p:grpSpPr>
          <a:xfrm>
            <a:off x="587111" y="2884881"/>
            <a:ext cx="2773164" cy="738595"/>
            <a:chOff x="587111" y="2884881"/>
            <a:chExt cx="2773164" cy="738595"/>
          </a:xfrm>
        </p:grpSpPr>
        <p:sp>
          <p:nvSpPr>
            <p:cNvPr id="24" name="Flecha: a la izquierda y arriba 23">
              <a:extLst>
                <a:ext uri="{FF2B5EF4-FFF2-40B4-BE49-F238E27FC236}">
                  <a16:creationId xmlns:a16="http://schemas.microsoft.com/office/drawing/2014/main" id="{32DE5F5D-2FF2-4369-7D93-14E37CF1EC78}"/>
                </a:ext>
              </a:extLst>
            </p:cNvPr>
            <p:cNvSpPr/>
            <p:nvPr/>
          </p:nvSpPr>
          <p:spPr>
            <a:xfrm rot="10800000">
              <a:off x="2299855" y="3015798"/>
              <a:ext cx="1060420" cy="607678"/>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9" name="CuadroTexto 38">
              <a:extLst>
                <a:ext uri="{FF2B5EF4-FFF2-40B4-BE49-F238E27FC236}">
                  <a16:creationId xmlns:a16="http://schemas.microsoft.com/office/drawing/2014/main" id="{20727232-707B-CCDD-30AC-D66AF30EE998}"/>
                </a:ext>
              </a:extLst>
            </p:cNvPr>
            <p:cNvSpPr txBox="1"/>
            <p:nvPr/>
          </p:nvSpPr>
          <p:spPr>
            <a:xfrm>
              <a:off x="587111" y="2884881"/>
              <a:ext cx="2184869" cy="523220"/>
            </a:xfrm>
            <a:prstGeom prst="rect">
              <a:avLst/>
            </a:prstGeom>
            <a:noFill/>
          </p:spPr>
          <p:txBody>
            <a:bodyPr wrap="square" rtlCol="0">
              <a:spAutoFit/>
            </a:bodyPr>
            <a:lstStyle/>
            <a:p>
              <a:r>
                <a:rPr lang="es-CL" sz="1400" noProof="0" dirty="0"/>
                <a:t>Compra / Venta Capital y Trabajo</a:t>
              </a:r>
            </a:p>
          </p:txBody>
        </p:sp>
      </p:grpSp>
      <p:grpSp>
        <p:nvGrpSpPr>
          <p:cNvPr id="45" name="Grupo 44">
            <a:extLst>
              <a:ext uri="{FF2B5EF4-FFF2-40B4-BE49-F238E27FC236}">
                <a16:creationId xmlns:a16="http://schemas.microsoft.com/office/drawing/2014/main" id="{1DD30BEB-B159-5D6C-E93F-5514419C500C}"/>
              </a:ext>
            </a:extLst>
          </p:cNvPr>
          <p:cNvGrpSpPr/>
          <p:nvPr/>
        </p:nvGrpSpPr>
        <p:grpSpPr>
          <a:xfrm>
            <a:off x="3690551" y="4837373"/>
            <a:ext cx="2248516" cy="961771"/>
            <a:chOff x="3600427" y="4347590"/>
            <a:chExt cx="2248516" cy="961771"/>
          </a:xfrm>
        </p:grpSpPr>
        <p:sp>
          <p:nvSpPr>
            <p:cNvPr id="42" name="Flecha: a la izquierda y derecha 41">
              <a:extLst>
                <a:ext uri="{FF2B5EF4-FFF2-40B4-BE49-F238E27FC236}">
                  <a16:creationId xmlns:a16="http://schemas.microsoft.com/office/drawing/2014/main" id="{3B3F428A-1E43-8F38-B5D3-3F11C4BC0C51}"/>
                </a:ext>
              </a:extLst>
            </p:cNvPr>
            <p:cNvSpPr/>
            <p:nvPr/>
          </p:nvSpPr>
          <p:spPr>
            <a:xfrm>
              <a:off x="3600427" y="4347590"/>
              <a:ext cx="2248516" cy="47495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44" name="CuadroTexto 43">
              <a:extLst>
                <a:ext uri="{FF2B5EF4-FFF2-40B4-BE49-F238E27FC236}">
                  <a16:creationId xmlns:a16="http://schemas.microsoft.com/office/drawing/2014/main" id="{1DFF6430-83CF-9717-12F1-6FB01D3CC48D}"/>
                </a:ext>
              </a:extLst>
            </p:cNvPr>
            <p:cNvSpPr txBox="1"/>
            <p:nvPr/>
          </p:nvSpPr>
          <p:spPr>
            <a:xfrm>
              <a:off x="3918764" y="4786141"/>
              <a:ext cx="1328825" cy="523220"/>
            </a:xfrm>
            <a:prstGeom prst="rect">
              <a:avLst/>
            </a:prstGeom>
            <a:noFill/>
          </p:spPr>
          <p:txBody>
            <a:bodyPr wrap="none" rtlCol="0">
              <a:spAutoFit/>
            </a:bodyPr>
            <a:lstStyle/>
            <a:p>
              <a:r>
                <a:rPr lang="es-CL" sz="1400" noProof="0" dirty="0"/>
                <a:t>Compra / Venta</a:t>
              </a:r>
            </a:p>
            <a:p>
              <a:r>
                <a:rPr lang="es-CL" sz="1400" noProof="0" dirty="0"/>
                <a:t>Bs / </a:t>
              </a:r>
              <a:r>
                <a:rPr lang="es-CL" sz="1400" noProof="0" dirty="0" err="1"/>
                <a:t>Ss</a:t>
              </a:r>
              <a:endParaRPr lang="es-CL" sz="1400" noProof="0" dirty="0"/>
            </a:p>
          </p:txBody>
        </p:sp>
      </p:grpSp>
    </p:spTree>
    <p:extLst>
      <p:ext uri="{BB962C8B-B14F-4D97-AF65-F5344CB8AC3E}">
        <p14:creationId xmlns:p14="http://schemas.microsoft.com/office/powerpoint/2010/main" val="32425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Matriz de Contabilidad Social (SAM) 2023</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Estructura básica de la SAM utilizada para calibrar el modelo.</a:t>
            </a:r>
            <a:endParaRPr lang="es-CL" sz="1300" noProof="0" dirty="0"/>
          </a:p>
        </p:txBody>
      </p:sp>
      <p:sp>
        <p:nvSpPr>
          <p:cNvPr id="6" name="Shape 4"/>
          <p:cNvSpPr/>
          <p:nvPr/>
        </p:nvSpPr>
        <p:spPr>
          <a:xfrm>
            <a:off x="640080" y="169164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69164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22960" y="182880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12</a:t>
            </a:r>
            <a:endParaRPr lang="es-CL" sz="5200" noProof="0" dirty="0"/>
          </a:p>
        </p:txBody>
      </p:sp>
      <p:sp>
        <p:nvSpPr>
          <p:cNvPr id="9" name="Text 7"/>
          <p:cNvSpPr/>
          <p:nvPr/>
        </p:nvSpPr>
        <p:spPr>
          <a:xfrm>
            <a:off x="822960" y="251460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Actividades productivas</a:t>
            </a:r>
            <a:endParaRPr lang="es-CL" sz="1100" noProof="0" dirty="0"/>
          </a:p>
        </p:txBody>
      </p:sp>
      <p:sp>
        <p:nvSpPr>
          <p:cNvPr id="10" name="Shape 8"/>
          <p:cNvSpPr/>
          <p:nvPr/>
        </p:nvSpPr>
        <p:spPr>
          <a:xfrm>
            <a:off x="3337560" y="169164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3337560" y="169164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12" name="Text 10"/>
          <p:cNvSpPr/>
          <p:nvPr/>
        </p:nvSpPr>
        <p:spPr>
          <a:xfrm>
            <a:off x="3520440" y="182880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13</a:t>
            </a:r>
            <a:endParaRPr lang="es-CL" sz="5200" noProof="0" dirty="0"/>
          </a:p>
        </p:txBody>
      </p:sp>
      <p:sp>
        <p:nvSpPr>
          <p:cNvPr id="13" name="Text 11"/>
          <p:cNvSpPr/>
          <p:nvPr/>
        </p:nvSpPr>
        <p:spPr>
          <a:xfrm>
            <a:off x="3520440" y="251460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Bienes / productos</a:t>
            </a:r>
            <a:endParaRPr lang="es-CL" sz="1100" noProof="0" dirty="0"/>
          </a:p>
        </p:txBody>
      </p:sp>
      <p:sp>
        <p:nvSpPr>
          <p:cNvPr id="14" name="Shape 12"/>
          <p:cNvSpPr/>
          <p:nvPr/>
        </p:nvSpPr>
        <p:spPr>
          <a:xfrm>
            <a:off x="640080" y="315468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15" name="Shape 13"/>
          <p:cNvSpPr/>
          <p:nvPr/>
        </p:nvSpPr>
        <p:spPr>
          <a:xfrm>
            <a:off x="640080" y="315468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16" name="Text 14"/>
          <p:cNvSpPr/>
          <p:nvPr/>
        </p:nvSpPr>
        <p:spPr>
          <a:xfrm>
            <a:off x="822960" y="329184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3</a:t>
            </a:r>
            <a:endParaRPr lang="es-CL" sz="5200" noProof="0" dirty="0"/>
          </a:p>
        </p:txBody>
      </p:sp>
      <p:sp>
        <p:nvSpPr>
          <p:cNvPr id="17" name="Text 15"/>
          <p:cNvSpPr/>
          <p:nvPr/>
        </p:nvSpPr>
        <p:spPr>
          <a:xfrm>
            <a:off x="822960" y="397764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Tipos de trabajo (CASEN 2022)</a:t>
            </a:r>
            <a:endParaRPr lang="es-CL" sz="1100" noProof="0" dirty="0"/>
          </a:p>
        </p:txBody>
      </p:sp>
      <p:sp>
        <p:nvSpPr>
          <p:cNvPr id="18" name="Shape 16"/>
          <p:cNvSpPr/>
          <p:nvPr/>
        </p:nvSpPr>
        <p:spPr>
          <a:xfrm>
            <a:off x="3337560" y="315468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3337560" y="315468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20" name="Text 18"/>
          <p:cNvSpPr/>
          <p:nvPr/>
        </p:nvSpPr>
        <p:spPr>
          <a:xfrm>
            <a:off x="3520440" y="329184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1</a:t>
            </a:r>
            <a:endParaRPr lang="es-CL" sz="5200" noProof="0" dirty="0"/>
          </a:p>
        </p:txBody>
      </p:sp>
      <p:sp>
        <p:nvSpPr>
          <p:cNvPr id="21" name="Text 19"/>
          <p:cNvSpPr/>
          <p:nvPr/>
        </p:nvSpPr>
        <p:spPr>
          <a:xfrm>
            <a:off x="3520440" y="397764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Tipo de capital</a:t>
            </a:r>
            <a:endParaRPr lang="es-CL" sz="1100" noProof="0" dirty="0"/>
          </a:p>
        </p:txBody>
      </p:sp>
      <p:grpSp>
        <p:nvGrpSpPr>
          <p:cNvPr id="32" name="Grupo 31">
            <a:extLst>
              <a:ext uri="{FF2B5EF4-FFF2-40B4-BE49-F238E27FC236}">
                <a16:creationId xmlns:a16="http://schemas.microsoft.com/office/drawing/2014/main" id="{ADC7C0A7-C08F-DEE0-65B6-144164B0E584}"/>
              </a:ext>
            </a:extLst>
          </p:cNvPr>
          <p:cNvGrpSpPr/>
          <p:nvPr/>
        </p:nvGrpSpPr>
        <p:grpSpPr>
          <a:xfrm>
            <a:off x="6263640" y="3443316"/>
            <a:ext cx="5486400" cy="4069080"/>
            <a:chOff x="6217920" y="1691640"/>
            <a:chExt cx="5486400" cy="4069080"/>
          </a:xfrm>
        </p:grpSpPr>
        <p:sp>
          <p:nvSpPr>
            <p:cNvPr id="22" name="Text 20"/>
            <p:cNvSpPr/>
            <p:nvPr/>
          </p:nvSpPr>
          <p:spPr>
            <a:xfrm>
              <a:off x="6217920" y="1691640"/>
              <a:ext cx="5486400" cy="365760"/>
            </a:xfrm>
            <a:prstGeom prst="rect">
              <a:avLst/>
            </a:prstGeom>
            <a:noFill/>
            <a:ln/>
          </p:spPr>
          <p:txBody>
            <a:bodyPr wrap="square" lIns="0" tIns="0" rIns="0" bIns="0" rtlCol="0" anchor="ctr"/>
            <a:lstStyle/>
            <a:p>
              <a:pPr marL="0" indent="0" algn="l">
                <a:buNone/>
              </a:pPr>
              <a:r>
                <a:rPr lang="es-CL" sz="1400" b="1" noProof="0" dirty="0">
                  <a:solidFill>
                    <a:srgbClr val="1E2761"/>
                  </a:solidFill>
                  <a:latin typeface="Cambria" pitchFamily="34" charset="0"/>
                  <a:ea typeface="Cambria" pitchFamily="34" charset="-122"/>
                  <a:cs typeface="Cambria" pitchFamily="34" charset="-120"/>
                </a:rPr>
                <a:t>Los 12 sectores productivos</a:t>
              </a:r>
              <a:endParaRPr lang="es-CL" sz="1400" noProof="0" dirty="0"/>
            </a:p>
          </p:txBody>
        </p:sp>
        <p:sp>
          <p:nvSpPr>
            <p:cNvPr id="23" name="Text 21"/>
            <p:cNvSpPr/>
            <p:nvPr/>
          </p:nvSpPr>
          <p:spPr>
            <a:xfrm>
              <a:off x="6217920" y="2103120"/>
              <a:ext cx="2834640" cy="3657600"/>
            </a:xfrm>
            <a:prstGeom prst="rect">
              <a:avLst/>
            </a:prstGeom>
            <a:noFill/>
            <a:ln/>
          </p:spPr>
          <p:txBody>
            <a:bodyPr wrap="square" lIns="0" tIns="0" rIns="0" bIns="0" rtlCol="0" anchor="t"/>
            <a:lstStyle/>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  Agropecuario, silvícola y pesca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2.  Minería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3.  Industria manufacturera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4.  Electricidad, gas, agua y desechos</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5.  Construcción</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6.  Comercio, hoteles y restaurantes</a:t>
              </a:r>
              <a:endParaRPr lang="es-CL" sz="1000" noProof="0" dirty="0"/>
            </a:p>
          </p:txBody>
        </p:sp>
        <p:sp>
          <p:nvSpPr>
            <p:cNvPr id="24" name="Text 22"/>
            <p:cNvSpPr/>
            <p:nvPr/>
          </p:nvSpPr>
          <p:spPr>
            <a:xfrm>
              <a:off x="9052560" y="2103120"/>
              <a:ext cx="2651760" cy="3657600"/>
            </a:xfrm>
            <a:prstGeom prst="rect">
              <a:avLst/>
            </a:prstGeom>
            <a:noFill/>
            <a:ln/>
          </p:spPr>
          <p:txBody>
            <a:bodyPr wrap="square" lIns="0" tIns="0" rIns="0" bIns="0" rtlCol="0" anchor="t"/>
            <a:lstStyle/>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7.  Transporte, comunicaciones e información</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8.  Intermediación financiera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9.  Servicios inmobiliarios y vivienda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10.  Servicios empresariales</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11.  Servicios personales</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12.  Administración pública</a:t>
              </a:r>
              <a:endParaRPr lang="es-CL" sz="1000" noProof="0" dirty="0"/>
            </a:p>
          </p:txBody>
        </p:sp>
      </p:grpSp>
      <p:sp>
        <p:nvSpPr>
          <p:cNvPr id="25" name="Text 23"/>
          <p:cNvSpPr/>
          <p:nvPr/>
        </p:nvSpPr>
        <p:spPr>
          <a:xfrm>
            <a:off x="640080" y="612648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Clasificación sectorial siguiendo al Banco Central de Chile. El bien “Otros bienes y servicios” no tiene un sector productor asociado (de ahí 13 bienes contra 12 sectores).</a:t>
            </a:r>
            <a:endParaRPr lang="es-CL" sz="900" noProof="0" dirty="0"/>
          </a:p>
        </p:txBody>
      </p:sp>
      <p:sp>
        <p:nvSpPr>
          <p:cNvPr id="26" name="Text 24"/>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
        <p:nvSpPr>
          <p:cNvPr id="28" name="Shape 16">
            <a:extLst>
              <a:ext uri="{FF2B5EF4-FFF2-40B4-BE49-F238E27FC236}">
                <a16:creationId xmlns:a16="http://schemas.microsoft.com/office/drawing/2014/main" id="{2AB259B2-FAA7-FED6-2BC1-02DA4176015F}"/>
              </a:ext>
            </a:extLst>
          </p:cNvPr>
          <p:cNvSpPr/>
          <p:nvPr/>
        </p:nvSpPr>
        <p:spPr>
          <a:xfrm>
            <a:off x="6888480" y="1005840"/>
            <a:ext cx="4206240" cy="2286000"/>
          </a:xfrm>
          <a:prstGeom prst="rect">
            <a:avLst/>
          </a:prstGeom>
          <a:solidFill>
            <a:srgbClr val="1E2761"/>
          </a:solidFill>
          <a:ln w="12700">
            <a:solidFill>
              <a:srgbClr val="1E2761"/>
            </a:solidFill>
            <a:prstDash val="solid"/>
          </a:ln>
        </p:spPr>
        <p:txBody>
          <a:bodyPr/>
          <a:lstStyle/>
          <a:p>
            <a:endParaRPr lang="es-CL" sz="1400" i="1" noProof="0" dirty="0">
              <a:solidFill>
                <a:schemeClr val="bg1"/>
              </a:solidFill>
            </a:endParaRPr>
          </a:p>
          <a:p>
            <a:endParaRPr lang="es-CL" sz="1400" i="1" noProof="0" dirty="0">
              <a:solidFill>
                <a:schemeClr val="bg1"/>
              </a:solidFill>
            </a:endParaRPr>
          </a:p>
          <a:p>
            <a:endParaRPr lang="es-CL" sz="1400" i="1" noProof="0" dirty="0">
              <a:solidFill>
                <a:schemeClr val="bg1"/>
              </a:solidFill>
            </a:endParaRPr>
          </a:p>
          <a:p>
            <a:r>
              <a:rPr lang="es-CL" sz="1400" i="1" noProof="0" dirty="0">
                <a:solidFill>
                  <a:schemeClr val="bg1"/>
                </a:solidFill>
              </a:rPr>
              <a:t>Registro contable de doble entrada que captura, de forma consistente y cerrada, todos los flujos de ingreso y gasto entre los agentes de una economía — la base de calibración de un MEGC.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98CBF-357B-8C81-93B7-0079383807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0606A9E-EABF-06FF-67AF-6E3A2106D77A}"/>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2D7760D5-D230-831D-9AEF-788DCF51698F}"/>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4A7D762E-03BF-C67C-58DA-5CB5BAD90E21}"/>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Construcción de la SAM</a:t>
            </a:r>
            <a:endParaRPr lang="es-CL" sz="2400" noProof="0" dirty="0"/>
          </a:p>
        </p:txBody>
      </p:sp>
      <p:sp>
        <p:nvSpPr>
          <p:cNvPr id="5" name="Text 3">
            <a:extLst>
              <a:ext uri="{FF2B5EF4-FFF2-40B4-BE49-F238E27FC236}">
                <a16:creationId xmlns:a16="http://schemas.microsoft.com/office/drawing/2014/main" id="{3CE05445-BFFC-A94D-4753-167C9A18B5CF}"/>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Macro SAM Chile 2023</a:t>
            </a:r>
            <a:endParaRPr lang="es-CL" sz="1300" noProof="0" dirty="0"/>
          </a:p>
        </p:txBody>
      </p:sp>
      <p:sp>
        <p:nvSpPr>
          <p:cNvPr id="7" name="Text 5">
            <a:extLst>
              <a:ext uri="{FF2B5EF4-FFF2-40B4-BE49-F238E27FC236}">
                <a16:creationId xmlns:a16="http://schemas.microsoft.com/office/drawing/2014/main" id="{C0FDE059-6A1D-6BD4-2701-CED59E80B20A}"/>
              </a:ext>
            </a:extLst>
          </p:cNvPr>
          <p:cNvSpPr/>
          <p:nvPr/>
        </p:nvSpPr>
        <p:spPr>
          <a:xfrm>
            <a:off x="640080" y="15087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PRODUCCIÓN</a:t>
            </a:r>
            <a:endParaRPr lang="es-CL" sz="1200" noProof="0" dirty="0"/>
          </a:p>
        </p:txBody>
      </p:sp>
      <p:sp>
        <p:nvSpPr>
          <p:cNvPr id="26" name="Text 24">
            <a:extLst>
              <a:ext uri="{FF2B5EF4-FFF2-40B4-BE49-F238E27FC236}">
                <a16:creationId xmlns:a16="http://schemas.microsoft.com/office/drawing/2014/main" id="{4CF13B4B-799C-2AB2-2809-D1BC94FEAA36}"/>
              </a:ext>
            </a:extLst>
          </p:cNvPr>
          <p:cNvSpPr/>
          <p:nvPr/>
        </p:nvSpPr>
        <p:spPr>
          <a:xfrm>
            <a:off x="640080" y="62636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s-CL" sz="900" noProof="0" dirty="0"/>
          </a:p>
        </p:txBody>
      </p:sp>
      <p:sp>
        <p:nvSpPr>
          <p:cNvPr id="27" name="Text 25">
            <a:extLst>
              <a:ext uri="{FF2B5EF4-FFF2-40B4-BE49-F238E27FC236}">
                <a16:creationId xmlns:a16="http://schemas.microsoft.com/office/drawing/2014/main" id="{DF257E86-C5F4-AAAD-0ED8-026FD0FE18A4}"/>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pic>
        <p:nvPicPr>
          <p:cNvPr id="29" name="Imagen 28">
            <a:extLst>
              <a:ext uri="{FF2B5EF4-FFF2-40B4-BE49-F238E27FC236}">
                <a16:creationId xmlns:a16="http://schemas.microsoft.com/office/drawing/2014/main" id="{B8B4A525-C0EC-08C6-8167-F7F584DBCE86}"/>
              </a:ext>
            </a:extLst>
          </p:cNvPr>
          <p:cNvPicPr>
            <a:picLocks noChangeAspect="1"/>
          </p:cNvPicPr>
          <p:nvPr/>
        </p:nvPicPr>
        <p:blipFill>
          <a:blip r:embed="rId3"/>
          <a:srcRect t="1930"/>
          <a:stretch>
            <a:fillRect/>
          </a:stretch>
        </p:blipFill>
        <p:spPr>
          <a:xfrm>
            <a:off x="408196" y="1536192"/>
            <a:ext cx="11436568" cy="3156578"/>
          </a:xfrm>
          <a:prstGeom prst="rect">
            <a:avLst/>
          </a:prstGeom>
        </p:spPr>
      </p:pic>
      <p:sp>
        <p:nvSpPr>
          <p:cNvPr id="6" name="Rectángulo 5">
            <a:extLst>
              <a:ext uri="{FF2B5EF4-FFF2-40B4-BE49-F238E27FC236}">
                <a16:creationId xmlns:a16="http://schemas.microsoft.com/office/drawing/2014/main" id="{6C118A60-6A77-641A-51DE-AB268F2A85BE}"/>
              </a:ext>
            </a:extLst>
          </p:cNvPr>
          <p:cNvSpPr/>
          <p:nvPr/>
        </p:nvSpPr>
        <p:spPr>
          <a:xfrm>
            <a:off x="526210" y="1682151"/>
            <a:ext cx="836763" cy="35696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8" name="Rectángulo 7">
            <a:extLst>
              <a:ext uri="{FF2B5EF4-FFF2-40B4-BE49-F238E27FC236}">
                <a16:creationId xmlns:a16="http://schemas.microsoft.com/office/drawing/2014/main" id="{1B436A4C-5ED4-AAD8-8342-1C8D6928E3C3}"/>
              </a:ext>
            </a:extLst>
          </p:cNvPr>
          <p:cNvSpPr/>
          <p:nvPr/>
        </p:nvSpPr>
        <p:spPr>
          <a:xfrm>
            <a:off x="1362974" y="1536192"/>
            <a:ext cx="1181818" cy="1459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Tree>
    <p:extLst>
      <p:ext uri="{BB962C8B-B14F-4D97-AF65-F5344CB8AC3E}">
        <p14:creationId xmlns:p14="http://schemas.microsoft.com/office/powerpoint/2010/main" val="2816158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Construcción de la SAM</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Fuentes y reglas de compilación matricial.</a:t>
            </a:r>
            <a:endParaRPr lang="es-CL" sz="1300" noProof="0" dirty="0"/>
          </a:p>
        </p:txBody>
      </p:sp>
      <p:sp>
        <p:nvSpPr>
          <p:cNvPr id="6" name="Shape 4"/>
          <p:cNvSpPr/>
          <p:nvPr/>
        </p:nvSpPr>
        <p:spPr>
          <a:xfrm>
            <a:off x="640080" y="15087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p:cNvSpPr/>
          <p:nvPr/>
        </p:nvSpPr>
        <p:spPr>
          <a:xfrm>
            <a:off x="640080" y="15087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PRODUCCIÓN</a:t>
            </a:r>
            <a:endParaRPr lang="es-CL" sz="1200" noProof="0" dirty="0"/>
          </a:p>
        </p:txBody>
      </p:sp>
      <p:sp>
        <p:nvSpPr>
          <p:cNvPr id="8" name="Shape 6"/>
          <p:cNvSpPr/>
          <p:nvPr/>
        </p:nvSpPr>
        <p:spPr>
          <a:xfrm>
            <a:off x="2651760" y="15087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9" name="Text 7"/>
          <p:cNvSpPr/>
          <p:nvPr/>
        </p:nvSpPr>
        <p:spPr>
          <a:xfrm>
            <a:off x="2834640" y="15087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Matriz de producción a precios básicos del Banco Central. Margen de comercio incorporado a la actividad de servicios.</a:t>
            </a:r>
            <a:endParaRPr lang="es-CL" sz="1200" noProof="0" dirty="0"/>
          </a:p>
        </p:txBody>
      </p:sp>
      <p:sp>
        <p:nvSpPr>
          <p:cNvPr id="10" name="Shape 8"/>
          <p:cNvSpPr/>
          <p:nvPr/>
        </p:nvSpPr>
        <p:spPr>
          <a:xfrm>
            <a:off x="640080" y="24231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1" name="Text 9"/>
          <p:cNvSpPr/>
          <p:nvPr/>
        </p:nvSpPr>
        <p:spPr>
          <a:xfrm>
            <a:off x="640080" y="24231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INSUMOS</a:t>
            </a:r>
            <a:endParaRPr lang="es-CL" sz="1200" noProof="0" dirty="0"/>
          </a:p>
        </p:txBody>
      </p:sp>
      <p:sp>
        <p:nvSpPr>
          <p:cNvPr id="12" name="Shape 10"/>
          <p:cNvSpPr/>
          <p:nvPr/>
        </p:nvSpPr>
        <p:spPr>
          <a:xfrm>
            <a:off x="2651760" y="24231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13" name="Text 11"/>
          <p:cNvSpPr/>
          <p:nvPr/>
        </p:nvSpPr>
        <p:spPr>
          <a:xfrm>
            <a:off x="2834640" y="24231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Cuadro de utilización intermedia total a precios de usuario. Coeficientes técnicos fijos en la calibración.</a:t>
            </a:r>
            <a:endParaRPr lang="es-CL" sz="1200" noProof="0" dirty="0"/>
          </a:p>
        </p:txBody>
      </p:sp>
      <p:sp>
        <p:nvSpPr>
          <p:cNvPr id="14" name="Shape 12"/>
          <p:cNvSpPr/>
          <p:nvPr/>
        </p:nvSpPr>
        <p:spPr>
          <a:xfrm>
            <a:off x="640080" y="33375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5" name="Text 13"/>
          <p:cNvSpPr/>
          <p:nvPr/>
        </p:nvSpPr>
        <p:spPr>
          <a:xfrm>
            <a:off x="640080" y="33375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VALOR AGREGADO</a:t>
            </a:r>
            <a:endParaRPr lang="es-CL" sz="1200" noProof="0" dirty="0"/>
          </a:p>
        </p:txBody>
      </p:sp>
      <p:sp>
        <p:nvSpPr>
          <p:cNvPr id="16" name="Shape 14"/>
          <p:cNvSpPr/>
          <p:nvPr/>
        </p:nvSpPr>
        <p:spPr>
          <a:xfrm>
            <a:off x="2651760" y="33375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17" name="Text 15"/>
          <p:cNvSpPr/>
          <p:nvPr/>
        </p:nvSpPr>
        <p:spPr>
          <a:xfrm>
            <a:off x="2834640" y="33375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Cuadrante de valor agregado: trabajo, capital e impuestos a la producción. Trabajo clasificado en 3 niveles según CASEN 2022.</a:t>
            </a:r>
            <a:endParaRPr lang="es-CL" sz="1200" noProof="0" dirty="0"/>
          </a:p>
        </p:txBody>
      </p:sp>
      <p:sp>
        <p:nvSpPr>
          <p:cNvPr id="18" name="Shape 16"/>
          <p:cNvSpPr/>
          <p:nvPr/>
        </p:nvSpPr>
        <p:spPr>
          <a:xfrm>
            <a:off x="640080" y="42519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9" name="Text 17"/>
          <p:cNvSpPr/>
          <p:nvPr/>
        </p:nvSpPr>
        <p:spPr>
          <a:xfrm>
            <a:off x="640080" y="42519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DEMANDA FINAL</a:t>
            </a:r>
            <a:endParaRPr lang="es-CL" sz="1200" noProof="0" dirty="0"/>
          </a:p>
        </p:txBody>
      </p:sp>
      <p:sp>
        <p:nvSpPr>
          <p:cNvPr id="20" name="Shape 18"/>
          <p:cNvSpPr/>
          <p:nvPr/>
        </p:nvSpPr>
        <p:spPr>
          <a:xfrm>
            <a:off x="2651760" y="42519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21" name="Text 19"/>
          <p:cNvSpPr/>
          <p:nvPr/>
        </p:nvSpPr>
        <p:spPr>
          <a:xfrm>
            <a:off x="2834640" y="42519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Cuadro de utilización final total: consumo de hogares y gobierno, exportaciones, inversión (S-I) y variación de existencias.</a:t>
            </a:r>
            <a:endParaRPr lang="es-CL" sz="1200" noProof="0" dirty="0"/>
          </a:p>
        </p:txBody>
      </p:sp>
      <p:sp>
        <p:nvSpPr>
          <p:cNvPr id="22" name="Shape 20"/>
          <p:cNvSpPr/>
          <p:nvPr/>
        </p:nvSpPr>
        <p:spPr>
          <a:xfrm>
            <a:off x="640080" y="51663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23" name="Text 21"/>
          <p:cNvSpPr/>
          <p:nvPr/>
        </p:nvSpPr>
        <p:spPr>
          <a:xfrm>
            <a:off x="640080" y="51663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IMPUESTOS INDIRECTOS</a:t>
            </a:r>
            <a:endParaRPr lang="es-CL" sz="1200" noProof="0" dirty="0"/>
          </a:p>
        </p:txBody>
      </p:sp>
      <p:sp>
        <p:nvSpPr>
          <p:cNvPr id="24" name="Shape 22"/>
          <p:cNvSpPr/>
          <p:nvPr/>
        </p:nvSpPr>
        <p:spPr>
          <a:xfrm>
            <a:off x="2651760" y="51663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25" name="Text 23"/>
          <p:cNvSpPr/>
          <p:nvPr/>
        </p:nvSpPr>
        <p:spPr>
          <a:xfrm>
            <a:off x="2834640" y="51663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IVA, aranceles e impuestos específicos desde el cuadro de oferta total.</a:t>
            </a:r>
            <a:endParaRPr lang="es-CL" sz="1200" noProof="0" dirty="0"/>
          </a:p>
        </p:txBody>
      </p:sp>
      <p:sp>
        <p:nvSpPr>
          <p:cNvPr id="26" name="Text 24"/>
          <p:cNvSpPr/>
          <p:nvPr/>
        </p:nvSpPr>
        <p:spPr>
          <a:xfrm>
            <a:off x="640080" y="62636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s-CL" sz="900" noProof="0" dirty="0"/>
          </a:p>
        </p:txBody>
      </p:sp>
      <p:sp>
        <p:nvSpPr>
          <p:cNvPr id="27" name="Text 25"/>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6AC7-ADD7-29CF-4199-625306EEDB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E835F5-920B-74CA-CCE5-69FA924DC59C}"/>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51D284A9-B670-6CDF-BCA3-A8D43560840C}"/>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FBA5ECD1-6D25-C75C-E0EF-B7B2FBA3BFF1}"/>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Construcción de la SAM</a:t>
            </a:r>
            <a:endParaRPr lang="es-CL" sz="2400" noProof="0" dirty="0"/>
          </a:p>
        </p:txBody>
      </p:sp>
      <p:sp>
        <p:nvSpPr>
          <p:cNvPr id="5" name="Text 3">
            <a:extLst>
              <a:ext uri="{FF2B5EF4-FFF2-40B4-BE49-F238E27FC236}">
                <a16:creationId xmlns:a16="http://schemas.microsoft.com/office/drawing/2014/main" id="{F7FC5C45-C332-F4D4-AE82-EEB2382AAD60}"/>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Fuentes y reglas de compilación matricial.</a:t>
            </a:r>
            <a:endParaRPr lang="es-CL" sz="1300" noProof="0" dirty="0"/>
          </a:p>
        </p:txBody>
      </p:sp>
      <p:sp>
        <p:nvSpPr>
          <p:cNvPr id="6" name="Shape 4">
            <a:extLst>
              <a:ext uri="{FF2B5EF4-FFF2-40B4-BE49-F238E27FC236}">
                <a16:creationId xmlns:a16="http://schemas.microsoft.com/office/drawing/2014/main" id="{AF1F80EF-50FA-E732-0CD6-45F6BB377751}"/>
              </a:ext>
            </a:extLst>
          </p:cNvPr>
          <p:cNvSpPr/>
          <p:nvPr/>
        </p:nvSpPr>
        <p:spPr>
          <a:xfrm>
            <a:off x="640080" y="15087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a:extLst>
              <a:ext uri="{FF2B5EF4-FFF2-40B4-BE49-F238E27FC236}">
                <a16:creationId xmlns:a16="http://schemas.microsoft.com/office/drawing/2014/main" id="{2319CD75-976F-38FE-6489-F82252B0CD9F}"/>
              </a:ext>
            </a:extLst>
          </p:cNvPr>
          <p:cNvSpPr/>
          <p:nvPr/>
        </p:nvSpPr>
        <p:spPr>
          <a:xfrm>
            <a:off x="640080" y="15087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REMUNERACIÓN INSTUITUCIONAL</a:t>
            </a:r>
            <a:endParaRPr lang="es-CL" sz="1200" noProof="0" dirty="0"/>
          </a:p>
        </p:txBody>
      </p:sp>
      <p:sp>
        <p:nvSpPr>
          <p:cNvPr id="8" name="Shape 6">
            <a:extLst>
              <a:ext uri="{FF2B5EF4-FFF2-40B4-BE49-F238E27FC236}">
                <a16:creationId xmlns:a16="http://schemas.microsoft.com/office/drawing/2014/main" id="{A405347F-A31E-93C1-96CE-608E6E38D677}"/>
              </a:ext>
            </a:extLst>
          </p:cNvPr>
          <p:cNvSpPr/>
          <p:nvPr/>
        </p:nvSpPr>
        <p:spPr>
          <a:xfrm>
            <a:off x="2651760" y="15087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9" name="Text 7">
            <a:extLst>
              <a:ext uri="{FF2B5EF4-FFF2-40B4-BE49-F238E27FC236}">
                <a16:creationId xmlns:a16="http://schemas.microsoft.com/office/drawing/2014/main" id="{2B4742B0-CDD7-9BAF-264B-94DBDE5A79CC}"/>
              </a:ext>
            </a:extLst>
          </p:cNvPr>
          <p:cNvSpPr/>
          <p:nvPr/>
        </p:nvSpPr>
        <p:spPr>
          <a:xfrm>
            <a:off x="2834640" y="1508760"/>
            <a:ext cx="8686800" cy="777240"/>
          </a:xfrm>
          <a:prstGeom prst="rect">
            <a:avLst/>
          </a:prstGeom>
          <a:noFill/>
          <a:ln/>
        </p:spPr>
        <p:txBody>
          <a:bodyPr wrap="square" lIns="0" tIns="0" rIns="0" bIns="0" rtlCol="0" anchor="ctr"/>
          <a:lstStyle/>
          <a:p>
            <a:r>
              <a:rPr lang="es-CL" sz="1200" noProof="0" dirty="0">
                <a:solidFill>
                  <a:srgbClr val="2D3748"/>
                </a:solidFill>
                <a:latin typeface="Calibri" pitchFamily="34" charset="0"/>
                <a:ea typeface="Calibri" pitchFamily="34" charset="-122"/>
                <a:cs typeface="Calibri" pitchFamily="34" charset="-120"/>
              </a:rPr>
              <a:t>Cuentas no Financieras por sector institucional</a:t>
            </a:r>
            <a:endParaRPr lang="es-CL" sz="1200" noProof="0" dirty="0"/>
          </a:p>
          <a:p>
            <a:pPr marL="0" indent="0" algn="l">
              <a:buNone/>
            </a:pPr>
            <a:endParaRPr lang="es-CL" sz="1200" noProof="0" dirty="0"/>
          </a:p>
        </p:txBody>
      </p:sp>
      <p:sp>
        <p:nvSpPr>
          <p:cNvPr id="10" name="Shape 8">
            <a:extLst>
              <a:ext uri="{FF2B5EF4-FFF2-40B4-BE49-F238E27FC236}">
                <a16:creationId xmlns:a16="http://schemas.microsoft.com/office/drawing/2014/main" id="{C41ECBF1-73E6-7DB8-12FE-F494FBCA8F3E}"/>
              </a:ext>
            </a:extLst>
          </p:cNvPr>
          <p:cNvSpPr/>
          <p:nvPr/>
        </p:nvSpPr>
        <p:spPr>
          <a:xfrm>
            <a:off x="640080" y="24231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1" name="Text 9">
            <a:extLst>
              <a:ext uri="{FF2B5EF4-FFF2-40B4-BE49-F238E27FC236}">
                <a16:creationId xmlns:a16="http://schemas.microsoft.com/office/drawing/2014/main" id="{E549E383-4A9C-DC09-33B3-E22374CB6B63}"/>
              </a:ext>
            </a:extLst>
          </p:cNvPr>
          <p:cNvSpPr/>
          <p:nvPr/>
        </p:nvSpPr>
        <p:spPr>
          <a:xfrm>
            <a:off x="640080" y="24231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TRANSFERENCIAS ENTRE INSTITUCIONES</a:t>
            </a:r>
            <a:endParaRPr lang="es-CL" sz="1200" noProof="0" dirty="0"/>
          </a:p>
        </p:txBody>
      </p:sp>
      <p:sp>
        <p:nvSpPr>
          <p:cNvPr id="12" name="Shape 10">
            <a:extLst>
              <a:ext uri="{FF2B5EF4-FFF2-40B4-BE49-F238E27FC236}">
                <a16:creationId xmlns:a16="http://schemas.microsoft.com/office/drawing/2014/main" id="{5A55BF50-965E-960A-B08C-3A227B134C28}"/>
              </a:ext>
            </a:extLst>
          </p:cNvPr>
          <p:cNvSpPr/>
          <p:nvPr/>
        </p:nvSpPr>
        <p:spPr>
          <a:xfrm>
            <a:off x="2651760" y="24231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13" name="Text 11">
            <a:extLst>
              <a:ext uri="{FF2B5EF4-FFF2-40B4-BE49-F238E27FC236}">
                <a16:creationId xmlns:a16="http://schemas.microsoft.com/office/drawing/2014/main" id="{190AE07C-2345-E0DB-1E9B-32F32584D2D1}"/>
              </a:ext>
            </a:extLst>
          </p:cNvPr>
          <p:cNvSpPr/>
          <p:nvPr/>
        </p:nvSpPr>
        <p:spPr>
          <a:xfrm>
            <a:off x="2834640" y="2423160"/>
            <a:ext cx="8686800" cy="777240"/>
          </a:xfrm>
          <a:prstGeom prst="rect">
            <a:avLst/>
          </a:prstGeom>
          <a:noFill/>
          <a:ln/>
        </p:spPr>
        <p:txBody>
          <a:bodyPr wrap="square" lIns="0" tIns="0" rIns="0" bIns="0" rtlCol="0" anchor="ctr"/>
          <a:lstStyle/>
          <a:p>
            <a:r>
              <a:rPr lang="es-CL" sz="1200" noProof="0" dirty="0">
                <a:solidFill>
                  <a:srgbClr val="2D3748"/>
                </a:solidFill>
                <a:latin typeface="Calibri" pitchFamily="34" charset="0"/>
                <a:ea typeface="Calibri" pitchFamily="34" charset="-122"/>
                <a:cs typeface="Calibri" pitchFamily="34" charset="-120"/>
              </a:rPr>
              <a:t>Cuentas no Financieras por sector institucional</a:t>
            </a:r>
            <a:endParaRPr lang="es-CL" sz="1200" noProof="0" dirty="0"/>
          </a:p>
          <a:p>
            <a:pPr marL="0" indent="0" algn="l">
              <a:buNone/>
            </a:pPr>
            <a:endParaRPr lang="es-CL" sz="1200" noProof="0" dirty="0"/>
          </a:p>
        </p:txBody>
      </p:sp>
      <p:sp>
        <p:nvSpPr>
          <p:cNvPr id="15" name="Text 13">
            <a:extLst>
              <a:ext uri="{FF2B5EF4-FFF2-40B4-BE49-F238E27FC236}">
                <a16:creationId xmlns:a16="http://schemas.microsoft.com/office/drawing/2014/main" id="{825FA931-0EE3-1D4A-E65D-44E5D137EEC1}"/>
              </a:ext>
            </a:extLst>
          </p:cNvPr>
          <p:cNvSpPr/>
          <p:nvPr/>
        </p:nvSpPr>
        <p:spPr>
          <a:xfrm>
            <a:off x="640080" y="33375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VALOR AGREGADO</a:t>
            </a:r>
            <a:endParaRPr lang="es-CL" sz="1200" noProof="0" dirty="0"/>
          </a:p>
        </p:txBody>
      </p:sp>
      <p:sp>
        <p:nvSpPr>
          <p:cNvPr id="19" name="Text 17">
            <a:extLst>
              <a:ext uri="{FF2B5EF4-FFF2-40B4-BE49-F238E27FC236}">
                <a16:creationId xmlns:a16="http://schemas.microsoft.com/office/drawing/2014/main" id="{F32AFCFF-A5FD-9C16-6E89-9CEACF5F0B1D}"/>
              </a:ext>
            </a:extLst>
          </p:cNvPr>
          <p:cNvSpPr/>
          <p:nvPr/>
        </p:nvSpPr>
        <p:spPr>
          <a:xfrm>
            <a:off x="640080" y="42519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DEMANDA FINAL</a:t>
            </a:r>
            <a:endParaRPr lang="es-CL" sz="1200" noProof="0" dirty="0"/>
          </a:p>
        </p:txBody>
      </p:sp>
      <p:sp>
        <p:nvSpPr>
          <p:cNvPr id="22" name="Shape 20">
            <a:extLst>
              <a:ext uri="{FF2B5EF4-FFF2-40B4-BE49-F238E27FC236}">
                <a16:creationId xmlns:a16="http://schemas.microsoft.com/office/drawing/2014/main" id="{523A66F5-894D-A599-E955-582F681400D9}"/>
              </a:ext>
            </a:extLst>
          </p:cNvPr>
          <p:cNvSpPr/>
          <p:nvPr/>
        </p:nvSpPr>
        <p:spPr>
          <a:xfrm>
            <a:off x="640080" y="354330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23" name="Text 21">
            <a:extLst>
              <a:ext uri="{FF2B5EF4-FFF2-40B4-BE49-F238E27FC236}">
                <a16:creationId xmlns:a16="http://schemas.microsoft.com/office/drawing/2014/main" id="{E0D70E0B-B18B-CE28-0492-385C28CCE476}"/>
              </a:ext>
            </a:extLst>
          </p:cNvPr>
          <p:cNvSpPr/>
          <p:nvPr/>
        </p:nvSpPr>
        <p:spPr>
          <a:xfrm>
            <a:off x="640080" y="3542437"/>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IMPUESTOS DIRECTOS</a:t>
            </a:r>
            <a:endParaRPr lang="es-CL" sz="1200" noProof="0" dirty="0"/>
          </a:p>
        </p:txBody>
      </p:sp>
      <p:sp>
        <p:nvSpPr>
          <p:cNvPr id="24" name="Shape 22">
            <a:extLst>
              <a:ext uri="{FF2B5EF4-FFF2-40B4-BE49-F238E27FC236}">
                <a16:creationId xmlns:a16="http://schemas.microsoft.com/office/drawing/2014/main" id="{22CF31E1-E7CB-EF88-C4D9-0793361E4A16}"/>
              </a:ext>
            </a:extLst>
          </p:cNvPr>
          <p:cNvSpPr/>
          <p:nvPr/>
        </p:nvSpPr>
        <p:spPr>
          <a:xfrm>
            <a:off x="2651760" y="354330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25" name="Text 23">
            <a:extLst>
              <a:ext uri="{FF2B5EF4-FFF2-40B4-BE49-F238E27FC236}">
                <a16:creationId xmlns:a16="http://schemas.microsoft.com/office/drawing/2014/main" id="{E9D0D938-8A06-41CE-0DDB-879CF19C2AA1}"/>
              </a:ext>
            </a:extLst>
          </p:cNvPr>
          <p:cNvSpPr/>
          <p:nvPr/>
        </p:nvSpPr>
        <p:spPr>
          <a:xfrm>
            <a:off x="2834640" y="354330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Cuentas no Financieras por sector institucional</a:t>
            </a:r>
            <a:endParaRPr lang="es-CL" sz="1200" noProof="0" dirty="0"/>
          </a:p>
        </p:txBody>
      </p:sp>
      <p:sp>
        <p:nvSpPr>
          <p:cNvPr id="26" name="Text 24">
            <a:extLst>
              <a:ext uri="{FF2B5EF4-FFF2-40B4-BE49-F238E27FC236}">
                <a16:creationId xmlns:a16="http://schemas.microsoft.com/office/drawing/2014/main" id="{7A8B6672-041D-3ECC-D836-29A09750A074}"/>
              </a:ext>
            </a:extLst>
          </p:cNvPr>
          <p:cNvSpPr/>
          <p:nvPr/>
        </p:nvSpPr>
        <p:spPr>
          <a:xfrm>
            <a:off x="640080" y="62636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s-CL" sz="900" noProof="0" dirty="0"/>
          </a:p>
        </p:txBody>
      </p:sp>
      <p:sp>
        <p:nvSpPr>
          <p:cNvPr id="27" name="Text 25">
            <a:extLst>
              <a:ext uri="{FF2B5EF4-FFF2-40B4-BE49-F238E27FC236}">
                <a16:creationId xmlns:a16="http://schemas.microsoft.com/office/drawing/2014/main" id="{49E055F1-EF2B-C6DD-9037-F2F0D97BFC09}"/>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extLst>
      <p:ext uri="{BB962C8B-B14F-4D97-AF65-F5344CB8AC3E}">
        <p14:creationId xmlns:p14="http://schemas.microsoft.com/office/powerpoint/2010/main" val="2267770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Estructura tributaria modelada</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Seis instrumentos diferenciados, según la clasificación del Banco Central.</a:t>
            </a:r>
            <a:endParaRPr lang="es-CL" sz="1300" noProof="0" dirty="0"/>
          </a:p>
        </p:txBody>
      </p:sp>
      <p:sp>
        <p:nvSpPr>
          <p:cNvPr id="6" name="Shape 4"/>
          <p:cNvSpPr/>
          <p:nvPr/>
        </p:nvSpPr>
        <p:spPr>
          <a:xfrm>
            <a:off x="640080" y="155448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69164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IVA</a:t>
            </a:r>
            <a:endParaRPr lang="es-CL" sz="1500" noProof="0" dirty="0"/>
          </a:p>
        </p:txBody>
      </p:sp>
      <p:sp>
        <p:nvSpPr>
          <p:cNvPr id="9" name="Text 7"/>
          <p:cNvSpPr/>
          <p:nvPr/>
        </p:nvSpPr>
        <p:spPr>
          <a:xfrm>
            <a:off x="868680" y="21031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Impuesto al valor agregado por producto; se aplica sobre la demanda doméstica compuesta.</a:t>
            </a:r>
            <a:endParaRPr lang="es-CL" sz="1100" noProof="0" dirty="0"/>
          </a:p>
        </p:txBody>
      </p:sp>
      <p:sp>
        <p:nvSpPr>
          <p:cNvPr id="10" name="Shape 8"/>
          <p:cNvSpPr/>
          <p:nvPr/>
        </p:nvSpPr>
        <p:spPr>
          <a:xfrm>
            <a:off x="4434840" y="155448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4434840" y="155448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12" name="Text 10"/>
          <p:cNvSpPr/>
          <p:nvPr/>
        </p:nvSpPr>
        <p:spPr>
          <a:xfrm>
            <a:off x="4663440" y="169164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Aranceles</a:t>
            </a:r>
            <a:endParaRPr lang="es-CL" sz="1500" noProof="0" dirty="0"/>
          </a:p>
        </p:txBody>
      </p:sp>
      <p:sp>
        <p:nvSpPr>
          <p:cNvPr id="13" name="Text 11"/>
          <p:cNvSpPr/>
          <p:nvPr/>
        </p:nvSpPr>
        <p:spPr>
          <a:xfrm>
            <a:off x="4663440" y="21031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Derechos de importación; se aplican sobre el valor CIF en moneda doméstica.</a:t>
            </a:r>
            <a:endParaRPr lang="es-CL" sz="1100" noProof="0" dirty="0"/>
          </a:p>
        </p:txBody>
      </p:sp>
      <p:sp>
        <p:nvSpPr>
          <p:cNvPr id="14" name="Shape 12"/>
          <p:cNvSpPr/>
          <p:nvPr/>
        </p:nvSpPr>
        <p:spPr>
          <a:xfrm>
            <a:off x="8229600" y="155448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15" name="Shape 13"/>
          <p:cNvSpPr/>
          <p:nvPr/>
        </p:nvSpPr>
        <p:spPr>
          <a:xfrm>
            <a:off x="8229600" y="155448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16" name="Text 14"/>
          <p:cNvSpPr/>
          <p:nvPr/>
        </p:nvSpPr>
        <p:spPr>
          <a:xfrm>
            <a:off x="8458200" y="169164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PIT</a:t>
            </a:r>
            <a:endParaRPr lang="es-CL" sz="1500" noProof="0" dirty="0"/>
          </a:p>
        </p:txBody>
      </p:sp>
      <p:sp>
        <p:nvSpPr>
          <p:cNvPr id="17" name="Text 15"/>
          <p:cNvSpPr/>
          <p:nvPr/>
        </p:nvSpPr>
        <p:spPr>
          <a:xfrm>
            <a:off x="8458200" y="21031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Impuesto a la renta de personas; grava el ingreso bruto del hogar (trabajo + capital + transferencias).</a:t>
            </a:r>
            <a:endParaRPr lang="es-CL" sz="1100" noProof="0" dirty="0"/>
          </a:p>
        </p:txBody>
      </p:sp>
      <p:sp>
        <p:nvSpPr>
          <p:cNvPr id="18" name="Shape 16"/>
          <p:cNvSpPr/>
          <p:nvPr/>
        </p:nvSpPr>
        <p:spPr>
          <a:xfrm>
            <a:off x="640080" y="324612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640080" y="324612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20" name="Text 18"/>
          <p:cNvSpPr/>
          <p:nvPr/>
        </p:nvSpPr>
        <p:spPr>
          <a:xfrm>
            <a:off x="868680" y="338328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IDPC / FIT</a:t>
            </a:r>
            <a:endParaRPr lang="es-CL" sz="1500" noProof="0" dirty="0"/>
          </a:p>
        </p:txBody>
      </p:sp>
      <p:sp>
        <p:nvSpPr>
          <p:cNvPr id="21" name="Text 19"/>
          <p:cNvSpPr/>
          <p:nvPr/>
        </p:nvSpPr>
        <p:spPr>
          <a:xfrm>
            <a:off x="868680" y="37947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Impuesto de primera categoría; grava la renta del capital corporativo a nivel institucional.</a:t>
            </a:r>
            <a:endParaRPr lang="es-CL" sz="1100" noProof="0" dirty="0"/>
          </a:p>
        </p:txBody>
      </p:sp>
      <p:sp>
        <p:nvSpPr>
          <p:cNvPr id="22" name="Shape 20"/>
          <p:cNvSpPr/>
          <p:nvPr/>
        </p:nvSpPr>
        <p:spPr>
          <a:xfrm>
            <a:off x="4434840" y="324612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23" name="Shape 21"/>
          <p:cNvSpPr/>
          <p:nvPr/>
        </p:nvSpPr>
        <p:spPr>
          <a:xfrm>
            <a:off x="4434840" y="324612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24" name="Text 22"/>
          <p:cNvSpPr/>
          <p:nvPr/>
        </p:nvSpPr>
        <p:spPr>
          <a:xfrm>
            <a:off x="4663440" y="338328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Impuestos a la producción</a:t>
            </a:r>
            <a:endParaRPr lang="es-CL" sz="1500" noProof="0" dirty="0"/>
          </a:p>
        </p:txBody>
      </p:sp>
      <p:sp>
        <p:nvSpPr>
          <p:cNvPr id="25" name="Text 23"/>
          <p:cNvSpPr/>
          <p:nvPr/>
        </p:nvSpPr>
        <p:spPr>
          <a:xfrm>
            <a:off x="4663440" y="37947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Timbres, contribuciones de bienes raíces, permisos, patentes, juegos de azar.</a:t>
            </a:r>
            <a:endParaRPr lang="es-CL" sz="1100" noProof="0" dirty="0"/>
          </a:p>
        </p:txBody>
      </p:sp>
      <p:sp>
        <p:nvSpPr>
          <p:cNvPr id="26" name="Shape 24"/>
          <p:cNvSpPr/>
          <p:nvPr/>
        </p:nvSpPr>
        <p:spPr>
          <a:xfrm>
            <a:off x="8229600" y="324612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27" name="Shape 25"/>
          <p:cNvSpPr/>
          <p:nvPr/>
        </p:nvSpPr>
        <p:spPr>
          <a:xfrm>
            <a:off x="8229600" y="324612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28" name="Text 26"/>
          <p:cNvSpPr/>
          <p:nvPr/>
        </p:nvSpPr>
        <p:spPr>
          <a:xfrm>
            <a:off x="8458200" y="338328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Impuestos específicos</a:t>
            </a:r>
            <a:endParaRPr lang="es-CL" sz="1500" noProof="0" dirty="0"/>
          </a:p>
        </p:txBody>
      </p:sp>
      <p:sp>
        <p:nvSpPr>
          <p:cNvPr id="29" name="Text 27"/>
          <p:cNvSpPr/>
          <p:nvPr/>
        </p:nvSpPr>
        <p:spPr>
          <a:xfrm>
            <a:off x="8458200" y="37947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Alcoholes, combustibles, tabaco, fuentes móviles — por unidad de bien o porcentaje de venta.</a:t>
            </a:r>
            <a:endParaRPr lang="es-CL" sz="1100" noProof="0" dirty="0"/>
          </a:p>
        </p:txBody>
      </p:sp>
      <p:sp>
        <p:nvSpPr>
          <p:cNvPr id="30" name="Shape 28"/>
          <p:cNvSpPr/>
          <p:nvPr/>
        </p:nvSpPr>
        <p:spPr>
          <a:xfrm>
            <a:off x="548640" y="5394960"/>
            <a:ext cx="11064240" cy="777240"/>
          </a:xfrm>
          <a:prstGeom prst="rect">
            <a:avLst/>
          </a:prstGeom>
          <a:solidFill>
            <a:srgbClr val="1E2761"/>
          </a:solidFill>
          <a:ln w="12700">
            <a:solidFill>
              <a:srgbClr val="1E2761"/>
            </a:solidFill>
            <a:prstDash val="solid"/>
          </a:ln>
        </p:spPr>
        <p:txBody>
          <a:bodyPr/>
          <a:lstStyle/>
          <a:p>
            <a:endParaRPr lang="es-CL" noProof="0" dirty="0"/>
          </a:p>
        </p:txBody>
      </p:sp>
      <p:sp>
        <p:nvSpPr>
          <p:cNvPr id="31" name="Text 29"/>
          <p:cNvSpPr/>
          <p:nvPr/>
        </p:nvSpPr>
        <p:spPr>
          <a:xfrm>
            <a:off x="822960" y="5394960"/>
            <a:ext cx="10698480" cy="777240"/>
          </a:xfrm>
          <a:prstGeom prst="rect">
            <a:avLst/>
          </a:prstGeom>
          <a:noFill/>
          <a:ln/>
        </p:spPr>
        <p:txBody>
          <a:bodyPr wrap="square" lIns="0" tIns="0" rIns="0" bIns="0" rtlCol="0" anchor="ctr"/>
          <a:lstStyle/>
          <a:p>
            <a:pPr marL="0" indent="0" algn="l">
              <a:buNone/>
            </a:pPr>
            <a:endParaRPr lang="es-CL" sz="1200" noProof="0" dirty="0"/>
          </a:p>
        </p:txBody>
      </p:sp>
      <p:sp>
        <p:nvSpPr>
          <p:cNvPr id="32" name="Text 3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Bloque del consumidor</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Hogar representativo con utilidad CES sobre 11 bienes consumibles (PCON).</a:t>
            </a:r>
            <a:endParaRPr lang="es-CL" sz="1300" noProof="0" dirty="0"/>
          </a:p>
        </p:txBody>
      </p:sp>
      <mc:AlternateContent xmlns:mc="http://schemas.openxmlformats.org/markup-compatibility/2006" xmlns:a14="http://schemas.microsoft.com/office/drawing/2010/main">
        <mc:Choice Requires="a14">
          <p:sp>
            <p:nvSpPr>
              <p:cNvPr id="6" name="Text 4"/>
              <p:cNvSpPr/>
              <p:nvPr/>
            </p:nvSpPr>
            <p:spPr>
              <a:xfrm>
                <a:off x="640080" y="1554480"/>
                <a:ext cx="5943600" cy="4114800"/>
              </a:xfrm>
              <a:prstGeom prst="rect">
                <a:avLst/>
              </a:prstGeom>
              <a:noFill/>
              <a:ln/>
            </p:spPr>
            <p:txBody>
              <a:bodyPr wrap="square" lIns="0" tIns="0" rIns="0" bIns="0" rtlCol="0" anchor="t"/>
              <a:lstStyle/>
              <a:p>
                <a:pPr marL="0" indent="0" algn="l">
                  <a:buNone/>
                </a:pPr>
                <a:r>
                  <a:rPr lang="es-CL" sz="1400" b="1" noProof="0" dirty="0">
                    <a:solidFill>
                      <a:srgbClr val="1E2761"/>
                    </a:solidFill>
                    <a:latin typeface="Calibri" pitchFamily="34" charset="0"/>
                    <a:ea typeface="Calibri" pitchFamily="34" charset="-122"/>
                    <a:cs typeface="Calibri" pitchFamily="34" charset="-120"/>
                  </a:rPr>
                  <a:t>Función de utilidad CES</a:t>
                </a:r>
                <a:endParaRPr lang="es-CL" sz="1400" noProof="0" dirty="0"/>
              </a:p>
              <a:p>
                <a:pPr marL="0" indent="0" algn="l">
                  <a:buNone/>
                </a:pPr>
                <a:r>
                  <a:rPr lang="es-CL" sz="600" noProof="0" dirty="0">
                    <a:solidFill>
                      <a:srgbClr val="000000"/>
                    </a:solidFill>
                    <a:latin typeface="Calibri" pitchFamily="34" charset="0"/>
                    <a:ea typeface="Calibri" pitchFamily="34" charset="-122"/>
                    <a:cs typeface="Calibri" pitchFamily="34" charset="-120"/>
                  </a:rPr>
                  <a:t> </a:t>
                </a:r>
                <a:endParaRPr lang="es-CL" sz="1400" noProof="0" dirty="0"/>
              </a:p>
              <a:p>
                <a:endParaRPr lang="es-CL" noProof="0" dirty="0"/>
              </a:p>
              <a:p>
                <a:pPr/>
                <a14:m>
                  <m:oMathPara xmlns:m="http://schemas.openxmlformats.org/officeDocument/2006/math">
                    <m:oMathParaPr>
                      <m:jc m:val="centerGroup"/>
                    </m:oMathParaPr>
                    <m:oMath xmlns:m="http://schemas.openxmlformats.org/officeDocument/2006/math">
                      <m:r>
                        <a:rPr lang="es-CL" sz="1400" i="1" noProof="0">
                          <a:latin typeface="Cambria Math" panose="02040503050406030204" pitchFamily="18" charset="0"/>
                        </a:rPr>
                        <m:t>𝑈</m:t>
                      </m:r>
                      <m:r>
                        <a:rPr lang="es-CL" sz="1400" i="1" noProof="0">
                          <a:latin typeface="Cambria Math" panose="02040503050406030204" pitchFamily="18" charset="0"/>
                        </a:rPr>
                        <m:t>=</m:t>
                      </m:r>
                      <m:sSup>
                        <m:sSupPr>
                          <m:ctrlPr>
                            <a:rPr lang="es-CL" sz="1400" i="1" noProof="0">
                              <a:latin typeface="Cambria Math" panose="02040503050406030204" pitchFamily="18" charset="0"/>
                            </a:rPr>
                          </m:ctrlPr>
                        </m:sSupPr>
                        <m:e>
                          <m:d>
                            <m:dPr>
                              <m:ctrlPr>
                                <a:rPr lang="es-CL" sz="1400" i="1" noProof="0">
                                  <a:latin typeface="Cambria Math" panose="02040503050406030204" pitchFamily="18" charset="0"/>
                                </a:rPr>
                              </m:ctrlPr>
                            </m:dPr>
                            <m:e>
                              <m:nary>
                                <m:naryPr>
                                  <m:chr m:val="∑"/>
                                  <m:limLoc m:val="undOvr"/>
                                  <m:supHide m:val="on"/>
                                  <m:ctrlPr>
                                    <a:rPr lang="es-CL" sz="1400" i="1" noProof="0">
                                      <a:latin typeface="Cambria Math" panose="02040503050406030204" pitchFamily="18" charset="0"/>
                                    </a:rPr>
                                  </m:ctrlPr>
                                </m:naryPr>
                                <m:sub>
                                  <m:r>
                                    <a:rPr lang="es-CL" sz="1400" i="1" noProof="0">
                                      <a:latin typeface="Cambria Math" panose="02040503050406030204" pitchFamily="18" charset="0"/>
                                    </a:rPr>
                                    <m:t>𝑝</m:t>
                                  </m:r>
                                  <m:r>
                                    <a:rPr lang="es-CL" sz="1400" i="1" noProof="0">
                                      <a:latin typeface="Cambria Math" panose="02040503050406030204" pitchFamily="18" charset="0"/>
                                    </a:rPr>
                                    <m:t>∈</m:t>
                                  </m:r>
                                  <m:r>
                                    <a:rPr lang="es-CL" sz="1400" i="1" noProof="0">
                                      <a:latin typeface="Cambria Math" panose="02040503050406030204" pitchFamily="18" charset="0"/>
                                    </a:rPr>
                                    <m:t>𝑃𝑅𝑂𝐷𝑆</m:t>
                                  </m:r>
                                </m:sub>
                                <m:sup/>
                                <m:e>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𝛼</m:t>
                                      </m:r>
                                    </m:e>
                                    <m:sup>
                                      <m:r>
                                        <a:rPr lang="es-CL" sz="1400" i="1" noProof="0">
                                          <a:latin typeface="Cambria Math" panose="02040503050406030204" pitchFamily="18" charset="0"/>
                                        </a:rPr>
                                        <m:t>𝑝</m:t>
                                      </m:r>
                                    </m:sup>
                                  </m:sSup>
                                  <m:sSup>
                                    <m:sSupPr>
                                      <m:ctrlPr>
                                        <a:rPr lang="es-CL" sz="1400" i="1" noProof="0">
                                          <a:latin typeface="Cambria Math" panose="02040503050406030204" pitchFamily="18" charset="0"/>
                                        </a:rPr>
                                      </m:ctrlPr>
                                    </m:sSupPr>
                                    <m:e>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𝐷</m:t>
                                          </m:r>
                                        </m:e>
                                        <m:sup>
                                          <m:r>
                                            <a:rPr lang="es-CL" sz="1400" i="1" noProof="0">
                                              <a:latin typeface="Cambria Math" panose="02040503050406030204" pitchFamily="18" charset="0"/>
                                            </a:rPr>
                                            <m:t>𝑝</m:t>
                                          </m:r>
                                        </m:sup>
                                      </m:sSup>
                                    </m:e>
                                    <m:sup>
                                      <m:f>
                                        <m:fPr>
                                          <m:ctrlPr>
                                            <a:rPr lang="es-CL" sz="1400" i="1" noProof="0">
                                              <a:latin typeface="Cambria Math" panose="02040503050406030204" pitchFamily="18" charset="0"/>
                                            </a:rPr>
                                          </m:ctrlPr>
                                        </m:fPr>
                                        <m:num>
                                          <m:r>
                                            <a:rPr lang="es-CL" sz="1400" i="1" noProof="0">
                                              <a:latin typeface="Cambria Math" panose="02040503050406030204" pitchFamily="18" charset="0"/>
                                            </a:rPr>
                                            <m:t>𝜔</m:t>
                                          </m:r>
                                          <m:r>
                                            <a:rPr lang="es-CL" sz="1400" i="1" noProof="0">
                                              <a:latin typeface="Cambria Math" panose="02040503050406030204" pitchFamily="18" charset="0"/>
                                            </a:rPr>
                                            <m:t>−1</m:t>
                                          </m:r>
                                        </m:num>
                                        <m:den>
                                          <m:r>
                                            <a:rPr lang="es-CL" sz="1400" i="1" noProof="0">
                                              <a:latin typeface="Cambria Math" panose="02040503050406030204" pitchFamily="18" charset="0"/>
                                            </a:rPr>
                                            <m:t>𝜔</m:t>
                                          </m:r>
                                        </m:den>
                                      </m:f>
                                    </m:sup>
                                  </m:sSup>
                                </m:e>
                              </m:nary>
                            </m:e>
                          </m:d>
                        </m:e>
                        <m:sup>
                          <m:f>
                            <m:fPr>
                              <m:ctrlPr>
                                <a:rPr lang="es-CL" sz="1400" i="1" noProof="0">
                                  <a:latin typeface="Cambria Math" panose="02040503050406030204" pitchFamily="18" charset="0"/>
                                </a:rPr>
                              </m:ctrlPr>
                            </m:fPr>
                            <m:num>
                              <m:r>
                                <a:rPr lang="es-CL" sz="1400" i="1" noProof="0">
                                  <a:latin typeface="Cambria Math" panose="02040503050406030204" pitchFamily="18" charset="0"/>
                                </a:rPr>
                                <m:t>𝜔</m:t>
                              </m:r>
                            </m:num>
                            <m:den>
                              <m:r>
                                <a:rPr lang="es-CL" sz="1400" i="1" noProof="0">
                                  <a:latin typeface="Cambria Math" panose="02040503050406030204" pitchFamily="18" charset="0"/>
                                </a:rPr>
                                <m:t>𝜔</m:t>
                              </m:r>
                              <m:r>
                                <a:rPr lang="es-CL" sz="1400" i="1" noProof="0">
                                  <a:latin typeface="Cambria Math" panose="02040503050406030204" pitchFamily="18" charset="0"/>
                                </a:rPr>
                                <m:t>−1</m:t>
                              </m:r>
                            </m:den>
                          </m:f>
                        </m:sup>
                      </m:sSup>
                    </m:oMath>
                  </m:oMathPara>
                </a14:m>
                <a:endParaRPr lang="es-CL" sz="1300" noProof="0" dirty="0">
                  <a:solidFill>
                    <a:srgbClr val="1E2761"/>
                  </a:solidFill>
                  <a:latin typeface="Consolas" pitchFamily="34" charset="0"/>
                  <a:ea typeface="Consolas" pitchFamily="34" charset="-122"/>
                  <a:cs typeface="Consolas" pitchFamily="34" charset="-120"/>
                </a:endParaRPr>
              </a:p>
              <a:p>
                <a:pPr marL="0" indent="0" algn="l">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buNone/>
                </a:pPr>
                <a:endParaRPr lang="es-CL" sz="1400" noProof="0" dirty="0"/>
              </a:p>
              <a:p>
                <a:pPr marL="0" indent="0" algn="l">
                  <a:buNone/>
                </a:pPr>
                <a:r>
                  <a:rPr lang="es-CL" sz="1400" b="1" noProof="0" dirty="0">
                    <a:solidFill>
                      <a:srgbClr val="1E2761"/>
                    </a:solidFill>
                    <a:latin typeface="Calibri" pitchFamily="34" charset="0"/>
                    <a:ea typeface="Calibri" pitchFamily="34" charset="-122"/>
                    <a:cs typeface="Calibri" pitchFamily="34" charset="-120"/>
                  </a:rPr>
                  <a:t>Restricción presupuestaria</a:t>
                </a:r>
                <a:endParaRPr lang="es-CL" sz="1400" noProof="0" dirty="0"/>
              </a:p>
              <a:p>
                <a:pPr marL="0" indent="0" algn="l">
                  <a:buNone/>
                </a:pPr>
                <a:r>
                  <a:rPr lang="es-CL" sz="600" noProof="0" dirty="0">
                    <a:solidFill>
                      <a:srgbClr val="000000"/>
                    </a:solidFill>
                    <a:latin typeface="Calibri" pitchFamily="34" charset="0"/>
                    <a:ea typeface="Calibri" pitchFamily="34" charset="-122"/>
                    <a:cs typeface="Calibri" pitchFamily="34" charset="-120"/>
                  </a:rPr>
                  <a:t> </a:t>
                </a:r>
                <a:endParaRPr lang="es-CL" sz="1400" noProof="0" dirty="0"/>
              </a:p>
              <a:p>
                <a:pPr/>
                <a14:m>
                  <m:oMathPara xmlns:m="http://schemas.openxmlformats.org/officeDocument/2006/math">
                    <m:oMathParaPr>
                      <m:jc m:val="centerGroup"/>
                    </m:oMathParaPr>
                    <m:oMath xmlns:m="http://schemas.openxmlformats.org/officeDocument/2006/math">
                      <m:r>
                        <a:rPr lang="es-CL" sz="1400" i="1" noProof="0">
                          <a:latin typeface="Cambria Math" panose="02040503050406030204" pitchFamily="18" charset="0"/>
                        </a:rPr>
                        <m:t>𝐼𝑁𝐶</m:t>
                      </m:r>
                      <m:r>
                        <a:rPr lang="es-CL" sz="1400" i="1" noProof="0">
                          <a:latin typeface="Cambria Math" panose="02040503050406030204" pitchFamily="18" charset="0"/>
                        </a:rPr>
                        <m:t>=</m:t>
                      </m:r>
                      <m:nary>
                        <m:naryPr>
                          <m:chr m:val="∑"/>
                          <m:limLoc m:val="undOvr"/>
                          <m:supHide m:val="on"/>
                          <m:ctrlPr>
                            <a:rPr lang="es-CL" sz="1400" i="1" noProof="0">
                              <a:latin typeface="Cambria Math" panose="02040503050406030204" pitchFamily="18" charset="0"/>
                            </a:rPr>
                          </m:ctrlPr>
                        </m:naryPr>
                        <m:sub>
                          <m:r>
                            <a:rPr lang="es-CL" sz="1400" i="1" noProof="0">
                              <a:latin typeface="Cambria Math" panose="02040503050406030204" pitchFamily="18" charset="0"/>
                            </a:rPr>
                            <m:t>𝑝</m:t>
                          </m:r>
                          <m:r>
                            <a:rPr lang="es-CL" sz="1400" i="1" noProof="0">
                              <a:latin typeface="Cambria Math" panose="02040503050406030204" pitchFamily="18" charset="0"/>
                            </a:rPr>
                            <m:t>∈</m:t>
                          </m:r>
                          <m:r>
                            <a:rPr lang="es-CL" sz="1400" i="1" noProof="0">
                              <a:latin typeface="Cambria Math" panose="02040503050406030204" pitchFamily="18" charset="0"/>
                            </a:rPr>
                            <m:t>𝑃𝑅𝑂𝐷𝑆</m:t>
                          </m:r>
                        </m:sub>
                        <m:sup/>
                        <m:e>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𝐷</m:t>
                              </m:r>
                            </m:e>
                            <m:sup>
                              <m:r>
                                <a:rPr lang="es-CL" sz="1400" i="1" noProof="0">
                                  <a:latin typeface="Cambria Math" panose="02040503050406030204" pitchFamily="18" charset="0"/>
                                </a:rPr>
                                <m:t>𝑝</m:t>
                              </m:r>
                            </m:sup>
                          </m:sSup>
                          <m:r>
                            <a:rPr lang="es-CL" sz="1400" i="1" noProof="0">
                              <a:latin typeface="Cambria Math" panose="02040503050406030204" pitchFamily="18" charset="0"/>
                            </a:rPr>
                            <m:t>∗</m:t>
                          </m:r>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𝑃</m:t>
                              </m:r>
                            </m:e>
                            <m:sup>
                              <m:r>
                                <a:rPr lang="es-CL" sz="1400" i="1" noProof="0">
                                  <a:latin typeface="Cambria Math" panose="02040503050406030204" pitchFamily="18" charset="0"/>
                                </a:rPr>
                                <m:t>𝑝</m:t>
                              </m:r>
                            </m:sup>
                          </m:sSup>
                          <m:r>
                            <a:rPr lang="es-CL" sz="1400" i="1" noProof="0">
                              <a:latin typeface="Cambria Math" panose="02040503050406030204" pitchFamily="18" charset="0"/>
                            </a:rPr>
                            <m:t>+</m:t>
                          </m:r>
                          <m:r>
                            <a:rPr lang="es-CL" sz="1400" i="1" noProof="0">
                              <a:latin typeface="Cambria Math" panose="02040503050406030204" pitchFamily="18" charset="0"/>
                            </a:rPr>
                            <m:t>𝑆𝐴𝑉</m:t>
                          </m:r>
                          <m:r>
                            <a:rPr lang="es-CL" sz="1400" i="1" noProof="0">
                              <a:latin typeface="Cambria Math" panose="02040503050406030204" pitchFamily="18" charset="0"/>
                            </a:rPr>
                            <m:t>+</m:t>
                          </m:r>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𝐶𝑂𝑁𝑇</m:t>
                              </m:r>
                            </m:e>
                            <m:sup>
                              <m:r>
                                <a:rPr lang="es-CL" sz="1400" i="1" noProof="0">
                                  <a:latin typeface="Cambria Math" panose="02040503050406030204" pitchFamily="18" charset="0"/>
                                </a:rPr>
                                <m:t>𝑆𝑂𝐶</m:t>
                              </m:r>
                            </m:sup>
                          </m:sSup>
                        </m:e>
                      </m:nary>
                    </m:oMath>
                  </m:oMathPara>
                </a14:m>
                <a:endParaRPr lang="es-CL" noProof="0" dirty="0"/>
              </a:p>
              <a:p>
                <a:endParaRPr lang="es-CL" noProof="0" dirty="0"/>
              </a:p>
              <a:p>
                <a:pPr/>
                <a14:m>
                  <m:oMathPara xmlns:m="http://schemas.openxmlformats.org/officeDocument/2006/math">
                    <m:oMathParaPr>
                      <m:jc m:val="centerGroup"/>
                    </m:oMathParaPr>
                    <m:oMath xmlns:m="http://schemas.openxmlformats.org/officeDocument/2006/math">
                      <m:r>
                        <a:rPr lang="es-CL" sz="1400" i="1" noProof="0">
                          <a:latin typeface="Cambria Math" panose="02040503050406030204" pitchFamily="18" charset="0"/>
                        </a:rPr>
                        <m:t>𝐼𝑁𝐶</m:t>
                      </m:r>
                      <m:r>
                        <a:rPr lang="es-CL" sz="1400" i="1" noProof="0">
                          <a:latin typeface="Cambria Math" panose="02040503050406030204" pitchFamily="18" charset="0"/>
                        </a:rPr>
                        <m:t>=</m:t>
                      </m:r>
                      <m:r>
                        <m:rPr>
                          <m:sty m:val="p"/>
                        </m:rPr>
                        <a:rPr lang="es-CL" sz="1400" b="0" i="0" noProof="0" smtClean="0">
                          <a:latin typeface="Cambria Math" panose="02040503050406030204" pitchFamily="18" charset="0"/>
                        </a:rPr>
                        <m:t>BTINC</m:t>
                      </m:r>
                      <m:r>
                        <a:rPr lang="es-CL" sz="1400" b="0" i="0" noProof="0" smtClean="0">
                          <a:latin typeface="Cambria Math" panose="02040503050406030204" pitchFamily="18" charset="0"/>
                        </a:rPr>
                        <m:t>−</m:t>
                      </m:r>
                      <m:r>
                        <m:rPr>
                          <m:sty m:val="p"/>
                        </m:rPr>
                        <a:rPr lang="es-CL" sz="1400" b="0" i="0" noProof="0" smtClean="0">
                          <a:latin typeface="Cambria Math" panose="02040503050406030204" pitchFamily="18" charset="0"/>
                        </a:rPr>
                        <m:t>PITAX</m:t>
                      </m:r>
                    </m:oMath>
                  </m:oMathPara>
                </a14:m>
                <a:endParaRPr lang="es-CL" sz="1400" noProof="0" dirty="0">
                  <a:solidFill>
                    <a:srgbClr val="1E2761"/>
                  </a:solidFill>
                  <a:latin typeface="Consolas" pitchFamily="34" charset="0"/>
                  <a:ea typeface="Consolas" pitchFamily="34" charset="-122"/>
                  <a:cs typeface="Consolas" pitchFamily="34" charset="-120"/>
                </a:endParaRPr>
              </a:p>
              <a:p>
                <a:pPr marL="0" indent="0" algn="l">
                  <a:buNone/>
                </a:pPr>
                <a:endParaRPr lang="es-CL" sz="1400" noProof="0" dirty="0"/>
              </a:p>
              <a:p>
                <a:pPr marL="0" indent="0" algn="l">
                  <a:buNone/>
                </a:pPr>
                <a:r>
                  <a:rPr lang="es-CL" sz="800" noProof="0" dirty="0">
                    <a:solidFill>
                      <a:srgbClr val="000000"/>
                    </a:solidFill>
                    <a:latin typeface="Calibri" pitchFamily="34" charset="0"/>
                    <a:ea typeface="Calibri" pitchFamily="34" charset="-122"/>
                    <a:cs typeface="Calibri" pitchFamily="34" charset="-120"/>
                  </a:rPr>
                  <a:t> </a:t>
                </a:r>
                <a:endParaRPr lang="es-CL" sz="1400" noProof="0" dirty="0"/>
              </a:p>
              <a:p>
                <a:pPr marL="0" indent="0" algn="l">
                  <a:buNone/>
                </a:pPr>
                <a:r>
                  <a:rPr lang="es-CL" sz="1200" noProof="0" dirty="0">
                    <a:solidFill>
                      <a:srgbClr val="2D3748"/>
                    </a:solidFill>
                    <a:latin typeface="Calibri" pitchFamily="34" charset="0"/>
                    <a:ea typeface="Calibri" pitchFamily="34" charset="-122"/>
                    <a:cs typeface="Calibri" pitchFamily="34" charset="-120"/>
                  </a:rPr>
                  <a:t>Donde BTINC incluye ingresos del trabajo (3 tipos), capital, transferencias de firmas/gobierno y prestaciones sociales. Y PITAX aplica la tasa promedio de los hogares sobre BTINC.</a:t>
                </a:r>
                <a:endParaRPr lang="es-CL" sz="1400" noProof="0" dirty="0"/>
              </a:p>
            </p:txBody>
          </p:sp>
        </mc:Choice>
        <mc:Fallback xmlns="">
          <p:sp>
            <p:nvSpPr>
              <p:cNvPr id="6" name="Text 4"/>
              <p:cNvSpPr>
                <a:spLocks noRot="1" noChangeAspect="1" noMove="1" noResize="1" noEditPoints="1" noAdjustHandles="1" noChangeArrowheads="1" noChangeShapeType="1" noTextEdit="1"/>
              </p:cNvSpPr>
              <p:nvPr/>
            </p:nvSpPr>
            <p:spPr>
              <a:xfrm>
                <a:off x="640080" y="1554480"/>
                <a:ext cx="5943600" cy="4114800"/>
              </a:xfrm>
              <a:prstGeom prst="rect">
                <a:avLst/>
              </a:prstGeom>
              <a:blipFill>
                <a:blip r:embed="rId3"/>
                <a:stretch>
                  <a:fillRect l="-1846" t="-1333" r="-308"/>
                </a:stretch>
              </a:blipFill>
              <a:ln/>
            </p:spPr>
            <p:txBody>
              <a:bodyPr/>
              <a:lstStyle/>
              <a:p>
                <a:r>
                  <a:rPr lang="es-CL">
                    <a:noFill/>
                  </a:rPr>
                  <a:t> </a:t>
                </a:r>
              </a:p>
            </p:txBody>
          </p:sp>
        </mc:Fallback>
      </mc:AlternateContent>
      <p:sp>
        <p:nvSpPr>
          <p:cNvPr id="7" name="Shape 5"/>
          <p:cNvSpPr/>
          <p:nvPr/>
        </p:nvSpPr>
        <p:spPr>
          <a:xfrm>
            <a:off x="6766560" y="155448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8" name="Shape 6"/>
          <p:cNvSpPr/>
          <p:nvPr/>
        </p:nvSpPr>
        <p:spPr>
          <a:xfrm>
            <a:off x="6766560" y="155448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9" name="Text 7"/>
          <p:cNvSpPr/>
          <p:nvPr/>
        </p:nvSpPr>
        <p:spPr>
          <a:xfrm>
            <a:off x="6949440" y="164592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ω = 1.5</a:t>
            </a:r>
            <a:endParaRPr lang="es-CL" sz="1300" noProof="0" dirty="0"/>
          </a:p>
        </p:txBody>
      </p:sp>
      <p:sp>
        <p:nvSpPr>
          <p:cNvPr id="10" name="Text 8"/>
          <p:cNvSpPr/>
          <p:nvPr/>
        </p:nvSpPr>
        <p:spPr>
          <a:xfrm>
            <a:off x="6949440" y="2011680"/>
            <a:ext cx="4663440" cy="41148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Elasticidad de sustitución entre bienes de consumo.</a:t>
            </a:r>
            <a:endParaRPr lang="es-CL" sz="1100" noProof="0" dirty="0"/>
          </a:p>
        </p:txBody>
      </p:sp>
      <p:sp>
        <p:nvSpPr>
          <p:cNvPr id="11" name="Shape 9"/>
          <p:cNvSpPr/>
          <p:nvPr/>
        </p:nvSpPr>
        <p:spPr>
          <a:xfrm>
            <a:off x="6766560" y="260604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6766560" y="260604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13" name="Text 11"/>
          <p:cNvSpPr/>
          <p:nvPr/>
        </p:nvSpPr>
        <p:spPr>
          <a:xfrm>
            <a:off x="6949440" y="269748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Minería y construcción</a:t>
            </a:r>
            <a:endParaRPr lang="es-CL" sz="1300" noProof="0" dirty="0"/>
          </a:p>
        </p:txBody>
      </p:sp>
      <p:sp>
        <p:nvSpPr>
          <p:cNvPr id="14" name="Text 12"/>
          <p:cNvSpPr/>
          <p:nvPr/>
        </p:nvSpPr>
        <p:spPr>
          <a:xfrm>
            <a:off x="6949440" y="3063240"/>
            <a:ext cx="4663440" cy="41148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Fijadas en niveles residuales exógenos: no entran en la utilidad directa.</a:t>
            </a:r>
            <a:endParaRPr lang="es-CL" sz="1100" noProof="0" dirty="0"/>
          </a:p>
        </p:txBody>
      </p:sp>
      <p:sp>
        <p:nvSpPr>
          <p:cNvPr id="15" name="Shape 13"/>
          <p:cNvSpPr/>
          <p:nvPr/>
        </p:nvSpPr>
        <p:spPr>
          <a:xfrm>
            <a:off x="6766560" y="365760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16" name="Shape 14"/>
          <p:cNvSpPr/>
          <p:nvPr/>
        </p:nvSpPr>
        <p:spPr>
          <a:xfrm>
            <a:off x="6766560" y="365760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17" name="Text 15"/>
          <p:cNvSpPr/>
          <p:nvPr/>
        </p:nvSpPr>
        <p:spPr>
          <a:xfrm>
            <a:off x="6949440" y="374904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Precio relevante</a:t>
            </a:r>
            <a:endParaRPr lang="es-CL" sz="1300" noProof="0" dirty="0"/>
          </a:p>
        </p:txBody>
      </p:sp>
      <mc:AlternateContent xmlns:mc="http://schemas.openxmlformats.org/markup-compatibility/2006" xmlns:a14="http://schemas.microsoft.com/office/drawing/2010/main">
        <mc:Choice Requires="a14">
          <p:sp>
            <p:nvSpPr>
              <p:cNvPr id="18" name="Text 16"/>
              <p:cNvSpPr/>
              <p:nvPr/>
            </p:nvSpPr>
            <p:spPr>
              <a:xfrm>
                <a:off x="6949440" y="4114800"/>
                <a:ext cx="4663440" cy="411480"/>
              </a:xfrm>
              <a:prstGeom prst="rect">
                <a:avLst/>
              </a:prstGeom>
              <a:noFill/>
              <a:ln/>
            </p:spPr>
            <p:txBody>
              <a:bodyPr wrap="square" lIns="0" tIns="0" rIns="0" bIns="0" rtlCol="0" anchor="ctr"/>
              <a:lstStyle/>
              <a:p>
                <a:pPr marL="0" indent="0" algn="l">
                  <a:buNone/>
                </a:pPr>
                <a14:m>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𝑃</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2D3748"/>
                    </a:solidFill>
                    <a:latin typeface="Calibri" pitchFamily="34" charset="0"/>
                    <a:ea typeface="Calibri" pitchFamily="34" charset="-122"/>
                    <a:cs typeface="Calibri" pitchFamily="34" charset="-120"/>
                  </a:rPr>
                  <a:t> (precio del bien compuesto Armington).</a:t>
                </a:r>
                <a:endParaRPr lang="es-CL" sz="1100" noProof="0" dirty="0"/>
              </a:p>
            </p:txBody>
          </p:sp>
        </mc:Choice>
        <mc:Fallback xmlns="">
          <p:sp>
            <p:nvSpPr>
              <p:cNvPr id="18" name="Text 16"/>
              <p:cNvSpPr>
                <a:spLocks noRot="1" noChangeAspect="1" noMove="1" noResize="1" noEditPoints="1" noAdjustHandles="1" noChangeArrowheads="1" noChangeShapeType="1" noTextEdit="1"/>
              </p:cNvSpPr>
              <p:nvPr/>
            </p:nvSpPr>
            <p:spPr>
              <a:xfrm>
                <a:off x="6949440" y="4114800"/>
                <a:ext cx="4663440" cy="411480"/>
              </a:xfrm>
              <a:prstGeom prst="rect">
                <a:avLst/>
              </a:prstGeom>
              <a:blipFill>
                <a:blip r:embed="rId4"/>
                <a:stretch>
                  <a:fillRect l="-1046"/>
                </a:stretch>
              </a:blipFill>
              <a:ln/>
            </p:spPr>
            <p:txBody>
              <a:bodyPr/>
              <a:lstStyle/>
              <a:p>
                <a:r>
                  <a:rPr lang="es-CL">
                    <a:noFill/>
                  </a:rPr>
                  <a:t> </a:t>
                </a:r>
              </a:p>
            </p:txBody>
          </p:sp>
        </mc:Fallback>
      </mc:AlternateContent>
      <p:sp>
        <p:nvSpPr>
          <p:cNvPr id="19" name="Shape 17"/>
          <p:cNvSpPr/>
          <p:nvPr/>
        </p:nvSpPr>
        <p:spPr>
          <a:xfrm>
            <a:off x="6766560" y="470916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20" name="Shape 18"/>
          <p:cNvSpPr/>
          <p:nvPr/>
        </p:nvSpPr>
        <p:spPr>
          <a:xfrm>
            <a:off x="6766560" y="470916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21" name="Text 19"/>
          <p:cNvSpPr/>
          <p:nvPr/>
        </p:nvSpPr>
        <p:spPr>
          <a:xfrm>
            <a:off x="6949440" y="480060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F_ACT_ROW = 0</a:t>
            </a:r>
            <a:endParaRPr lang="es-CL" sz="1300" noProof="0" dirty="0"/>
          </a:p>
        </p:txBody>
      </p:sp>
      <p:sp>
        <p:nvSpPr>
          <p:cNvPr id="22" name="Text 20"/>
          <p:cNvSpPr/>
          <p:nvPr/>
        </p:nvSpPr>
        <p:spPr>
          <a:xfrm>
            <a:off x="6949440" y="5166360"/>
            <a:ext cx="4663440" cy="41148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Sin rentas factoriales del/al resto del mundo en la calibración.</a:t>
            </a:r>
            <a:endParaRPr lang="es-CL" sz="1100" noProof="0" dirty="0"/>
          </a:p>
        </p:txBody>
      </p:sp>
      <p:sp>
        <p:nvSpPr>
          <p:cNvPr id="23" name="Text 21"/>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Bloque de sectores</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12 firmas representativas eligen producción, factores e insumos para maximizar beneficios.</a:t>
            </a:r>
            <a:endParaRPr lang="es-CL" sz="1300" noProof="0" dirty="0"/>
          </a:p>
        </p:txBody>
      </p:sp>
      <p:sp>
        <p:nvSpPr>
          <p:cNvPr id="6" name="Shape 4"/>
          <p:cNvSpPr/>
          <p:nvPr/>
        </p:nvSpPr>
        <p:spPr>
          <a:xfrm>
            <a:off x="640080" y="1554480"/>
            <a:ext cx="5486400" cy="228600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691640"/>
            <a:ext cx="51206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Valor agregado: Cobb-Douglas</a:t>
            </a:r>
            <a:endParaRPr lang="es-CL" sz="1500" noProof="0" dirty="0"/>
          </a:p>
        </p:txBody>
      </p:sp>
      <p:sp>
        <p:nvSpPr>
          <p:cNvPr id="10" name="Text 8"/>
          <p:cNvSpPr/>
          <p:nvPr/>
        </p:nvSpPr>
        <p:spPr>
          <a:xfrm>
            <a:off x="868680" y="2834640"/>
            <a:ext cx="5074920" cy="109728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Sustitución entre capital y los 3 tipos de trabajo. Calibración: los β se infieren de la SAM (participaciones del valor agregado).</a:t>
            </a:r>
            <a:endParaRPr lang="es-CL" sz="1100" noProof="0" dirty="0"/>
          </a:p>
        </p:txBody>
      </p:sp>
      <p:sp>
        <p:nvSpPr>
          <p:cNvPr id="11" name="Shape 9"/>
          <p:cNvSpPr/>
          <p:nvPr/>
        </p:nvSpPr>
        <p:spPr>
          <a:xfrm>
            <a:off x="6309360" y="1554480"/>
            <a:ext cx="5486400" cy="228600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6309360" y="1554480"/>
            <a:ext cx="73152" cy="2286000"/>
          </a:xfrm>
          <a:prstGeom prst="rect">
            <a:avLst/>
          </a:prstGeom>
          <a:solidFill>
            <a:srgbClr val="C2562E"/>
          </a:solidFill>
          <a:ln w="12700">
            <a:solidFill>
              <a:srgbClr val="C2562E"/>
            </a:solidFill>
            <a:prstDash val="solid"/>
          </a:ln>
        </p:spPr>
        <p:txBody>
          <a:bodyPr/>
          <a:lstStyle/>
          <a:p>
            <a:endParaRPr lang="es-CL" noProof="0" dirty="0"/>
          </a:p>
        </p:txBody>
      </p:sp>
      <p:sp>
        <p:nvSpPr>
          <p:cNvPr id="13" name="Text 11"/>
          <p:cNvSpPr/>
          <p:nvPr/>
        </p:nvSpPr>
        <p:spPr>
          <a:xfrm>
            <a:off x="6537960" y="1691640"/>
            <a:ext cx="51206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Insumos intermedios: </a:t>
            </a:r>
            <a:r>
              <a:rPr lang="es-CL" sz="1500" b="1" noProof="0" dirty="0" err="1">
                <a:solidFill>
                  <a:srgbClr val="1E2761"/>
                </a:solidFill>
                <a:latin typeface="Cambria" pitchFamily="34" charset="0"/>
                <a:ea typeface="Cambria" pitchFamily="34" charset="-122"/>
                <a:cs typeface="Cambria" pitchFamily="34" charset="-120"/>
              </a:rPr>
              <a:t>Leontief</a:t>
            </a:r>
            <a:endParaRPr lang="es-CL" sz="1500" noProof="0" dirty="0"/>
          </a:p>
        </p:txBody>
      </p:sp>
      <p:sp>
        <p:nvSpPr>
          <p:cNvPr id="15" name="Text 13"/>
          <p:cNvSpPr/>
          <p:nvPr/>
        </p:nvSpPr>
        <p:spPr>
          <a:xfrm>
            <a:off x="6537960" y="2606040"/>
            <a:ext cx="5074920" cy="109728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Coeficientes fijos proporcionales al nivel de actividad. No hay sustitución en el bloque intermedio: las proporciones se mantienen según la SAM.</a:t>
            </a:r>
            <a:endParaRPr lang="es-CL" sz="1100" noProof="0" dirty="0"/>
          </a:p>
        </p:txBody>
      </p:sp>
      <p:sp>
        <p:nvSpPr>
          <p:cNvPr id="16" name="Shape 14"/>
          <p:cNvSpPr/>
          <p:nvPr/>
        </p:nvSpPr>
        <p:spPr>
          <a:xfrm>
            <a:off x="640080" y="4069080"/>
            <a:ext cx="11155680" cy="2194560"/>
          </a:xfrm>
          <a:prstGeom prst="rect">
            <a:avLst/>
          </a:prstGeom>
          <a:solidFill>
            <a:srgbClr val="1E2761"/>
          </a:solidFill>
          <a:ln w="12700">
            <a:solidFill>
              <a:srgbClr val="1E2761"/>
            </a:solidFill>
            <a:prstDash val="solid"/>
          </a:ln>
        </p:spPr>
        <p:txBody>
          <a:bodyPr/>
          <a:lstStyle/>
          <a:p>
            <a:endParaRPr lang="es-CL" noProof="0" dirty="0"/>
          </a:p>
        </p:txBody>
      </p:sp>
      <p:sp>
        <p:nvSpPr>
          <p:cNvPr id="17" name="Text 15"/>
          <p:cNvSpPr/>
          <p:nvPr/>
        </p:nvSpPr>
        <p:spPr>
          <a:xfrm>
            <a:off x="822960" y="4160520"/>
            <a:ext cx="10789920" cy="365760"/>
          </a:xfrm>
          <a:prstGeom prst="rect">
            <a:avLst/>
          </a:prstGeom>
          <a:noFill/>
          <a:ln/>
        </p:spPr>
        <p:txBody>
          <a:bodyPr wrap="square" lIns="0" tIns="0" rIns="0" bIns="0" rtlCol="0" anchor="ctr"/>
          <a:lstStyle/>
          <a:p>
            <a:pPr marL="0" indent="0" algn="l">
              <a:buNone/>
            </a:pPr>
            <a:r>
              <a:rPr lang="es-CL" sz="1400" b="1" noProof="0" dirty="0">
                <a:solidFill>
                  <a:srgbClr val="D4A82A"/>
                </a:solidFill>
                <a:latin typeface="Cambria" pitchFamily="34" charset="0"/>
                <a:ea typeface="Cambria" pitchFamily="34" charset="-122"/>
                <a:cs typeface="Cambria" pitchFamily="34" charset="-120"/>
              </a:rPr>
              <a:t>Función de beneficio sectorial</a:t>
            </a:r>
            <a:endParaRPr lang="es-CL" sz="1400" noProof="0" dirty="0"/>
          </a:p>
        </p:txBody>
      </p:sp>
      <p:sp>
        <p:nvSpPr>
          <p:cNvPr id="19" name="Text 17"/>
          <p:cNvSpPr/>
          <p:nvPr/>
        </p:nvSpPr>
        <p:spPr>
          <a:xfrm>
            <a:off x="822960" y="5303505"/>
            <a:ext cx="10789920" cy="586611"/>
          </a:xfrm>
          <a:prstGeom prst="rect">
            <a:avLst/>
          </a:prstGeom>
          <a:noFill/>
          <a:ln/>
        </p:spPr>
        <p:txBody>
          <a:bodyPr wrap="square" lIns="0" tIns="0" rIns="0" bIns="0" rtlCol="0" anchor="t"/>
          <a:lstStyle/>
          <a:p>
            <a:pPr marL="0" indent="0" algn="l">
              <a:buNone/>
            </a:pPr>
            <a:r>
              <a:rPr lang="es-CL" sz="1200" b="1" noProof="0" dirty="0">
                <a:solidFill>
                  <a:srgbClr val="D4A82A"/>
                </a:solidFill>
                <a:latin typeface="Calibri" pitchFamily="34" charset="0"/>
                <a:ea typeface="Calibri" pitchFamily="34" charset="-122"/>
                <a:cs typeface="Calibri" pitchFamily="34" charset="-120"/>
              </a:rPr>
              <a:t>Ceros estructurales: </a:t>
            </a:r>
            <a:r>
              <a:rPr lang="es-CL" sz="1200" noProof="0" dirty="0">
                <a:solidFill>
                  <a:srgbClr val="FFFFFF"/>
                </a:solidFill>
                <a:latin typeface="Calibri" pitchFamily="34" charset="0"/>
                <a:ea typeface="Calibri" pitchFamily="34" charset="-122"/>
                <a:cs typeface="Calibri" pitchFamily="34" charset="-120"/>
              </a:rPr>
              <a:t>los sectores se agrupan en bloques (SECTORS_A, B, C) según los insumos que efectivamente utilizan, evitando calibrar demandas sobre flujos nulos en la SAM (p. ej., construcción como insumo en agro).</a:t>
            </a:r>
            <a:endParaRPr lang="es-CL" sz="1200" noProof="0" dirty="0"/>
          </a:p>
        </p:txBody>
      </p:sp>
      <p:sp>
        <p:nvSpPr>
          <p:cNvPr id="20" name="Text 18"/>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AFBFA96-A715-1415-879A-5077A4754A79}"/>
                  </a:ext>
                </a:extLst>
              </p:cNvPr>
              <p:cNvSpPr txBox="1"/>
              <p:nvPr/>
            </p:nvSpPr>
            <p:spPr>
              <a:xfrm>
                <a:off x="2074653" y="2135900"/>
                <a:ext cx="2825151" cy="672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𝑉</m:t>
                          </m:r>
                        </m:e>
                        <m:sup>
                          <m:r>
                            <a:rPr lang="es-CL" b="0" i="1" noProof="0" smtClean="0">
                              <a:latin typeface="Cambria Math" panose="02040503050406030204" pitchFamily="18" charset="0"/>
                            </a:rPr>
                            <m:t>𝑆</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ea typeface="Cambria Math" panose="02040503050406030204" pitchFamily="18" charset="0"/>
                            </a:rPr>
                            <m:t>𝛾</m:t>
                          </m:r>
                        </m:e>
                        <m:sup>
                          <m:r>
                            <a:rPr lang="es-CL" b="0" i="1" noProof="0" smtClean="0">
                              <a:latin typeface="Cambria Math" panose="02040503050406030204" pitchFamily="18" charset="0"/>
                            </a:rPr>
                            <m:t>𝑆</m:t>
                          </m:r>
                        </m:sup>
                      </m:sSup>
                      <m:sSup>
                        <m:sSupPr>
                          <m:ctrlPr>
                            <a:rPr lang="es-CL" b="0" i="1" noProof="0" smtClean="0">
                              <a:latin typeface="Cambria Math" panose="02040503050406030204" pitchFamily="18" charset="0"/>
                            </a:rPr>
                          </m:ctrlPr>
                        </m:sSupPr>
                        <m:e>
                          <m:d>
                            <m:dPr>
                              <m:ctrlPr>
                                <a:rPr lang="es-CL" b="0" i="1" noProof="0" smtClean="0">
                                  <a:latin typeface="Cambria Math" panose="02040503050406030204" pitchFamily="18" charset="0"/>
                                </a:rPr>
                              </m:ctrlPr>
                            </m:dPr>
                            <m:e>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𝐾</m:t>
                                  </m:r>
                                </m:e>
                                <m:sup>
                                  <m:r>
                                    <a:rPr lang="es-CL" b="0" i="1" noProof="0" smtClean="0">
                                      <a:latin typeface="Cambria Math" panose="02040503050406030204" pitchFamily="18" charset="0"/>
                                    </a:rPr>
                                    <m:t>𝑆</m:t>
                                  </m:r>
                                </m:sup>
                              </m:sSup>
                            </m:e>
                          </m:d>
                        </m:e>
                        <m:sup>
                          <m:sSubSup>
                            <m:sSubSupPr>
                              <m:ctrlPr>
                                <a:rPr lang="es-CL" b="0" i="1" noProof="0" smtClean="0">
                                  <a:latin typeface="Cambria Math" panose="02040503050406030204" pitchFamily="18" charset="0"/>
                                </a:rPr>
                              </m:ctrlPr>
                            </m:sSubSupPr>
                            <m:e>
                              <m:r>
                                <a:rPr lang="es-CL" b="0" i="1" noProof="0" smtClean="0">
                                  <a:latin typeface="Cambria Math" panose="02040503050406030204" pitchFamily="18" charset="0"/>
                                  <a:ea typeface="Cambria Math" panose="02040503050406030204" pitchFamily="18" charset="0"/>
                                </a:rPr>
                                <m:t>𝛽</m:t>
                              </m:r>
                            </m:e>
                            <m:sub>
                              <m:r>
                                <a:rPr lang="es-CL" b="0" i="1" noProof="0" smtClean="0">
                                  <a:latin typeface="Cambria Math" panose="02040503050406030204" pitchFamily="18" charset="0"/>
                                </a:rPr>
                                <m:t>𝐾</m:t>
                              </m:r>
                            </m:sub>
                            <m:sup>
                              <m:r>
                                <a:rPr lang="es-CL" b="0" i="1" noProof="0" smtClean="0">
                                  <a:latin typeface="Cambria Math" panose="02040503050406030204" pitchFamily="18" charset="0"/>
                                </a:rPr>
                                <m:t>𝑆</m:t>
                              </m:r>
                            </m:sup>
                          </m:sSubSup>
                        </m:sup>
                      </m:sSup>
                      <m:nary>
                        <m:naryPr>
                          <m:chr m:val="∏"/>
                          <m:supHide m:val="on"/>
                          <m:ctrlPr>
                            <a:rPr lang="es-CL" b="0" i="1" noProof="0" smtClean="0">
                              <a:latin typeface="Cambria Math" panose="02040503050406030204" pitchFamily="18" charset="0"/>
                            </a:rPr>
                          </m:ctrlPr>
                        </m:naryPr>
                        <m:sub>
                          <m:r>
                            <m:rPr>
                              <m:brk m:alnAt="7"/>
                            </m:rPr>
                            <a:rPr lang="es-CL" b="0" i="1" noProof="0" smtClean="0">
                              <a:latin typeface="Cambria Math" panose="02040503050406030204" pitchFamily="18" charset="0"/>
                              <a:ea typeface="Cambria Math" panose="02040503050406030204" pitchFamily="18" charset="0"/>
                            </a:rPr>
                            <m:t>ℓ</m:t>
                          </m:r>
                          <m:r>
                            <a:rPr lang="es-CL" b="0" i="1" noProof="0" smtClean="0">
                              <a:latin typeface="Cambria Math" panose="02040503050406030204" pitchFamily="18" charset="0"/>
                              <a:ea typeface="Cambria Math" panose="02040503050406030204" pitchFamily="18" charset="0"/>
                            </a:rPr>
                            <m:t>∈</m:t>
                          </m:r>
                          <m:r>
                            <a:rPr lang="es-CL" b="0" i="1" noProof="0" smtClean="0">
                              <a:latin typeface="Cambria Math" panose="02040503050406030204" pitchFamily="18" charset="0"/>
                              <a:ea typeface="Cambria Math" panose="02040503050406030204" pitchFamily="18" charset="0"/>
                            </a:rPr>
                            <m:t>ℒ</m:t>
                          </m:r>
                        </m:sub>
                        <m:sup/>
                        <m:e>
                          <m:sSup>
                            <m:sSupPr>
                              <m:ctrlPr>
                                <a:rPr lang="es-CL" b="0" i="1" noProof="0" smtClean="0">
                                  <a:latin typeface="Cambria Math" panose="02040503050406030204" pitchFamily="18" charset="0"/>
                                </a:rPr>
                              </m:ctrlPr>
                            </m:sSupPr>
                            <m:e>
                              <m:d>
                                <m:dPr>
                                  <m:ctrlPr>
                                    <a:rPr lang="es-CL" b="0" i="1" noProof="0" smtClean="0">
                                      <a:latin typeface="Cambria Math" panose="02040503050406030204" pitchFamily="18" charset="0"/>
                                    </a:rPr>
                                  </m:ctrlPr>
                                </m:dPr>
                                <m:e>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𝐿</m:t>
                                      </m:r>
                                    </m:e>
                                    <m:sup>
                                      <m:r>
                                        <a:rPr lang="es-CL" b="0" i="1" noProof="0" smtClean="0">
                                          <a:latin typeface="Cambria Math" panose="02040503050406030204" pitchFamily="18" charset="0"/>
                                          <a:ea typeface="Cambria Math" panose="02040503050406030204" pitchFamily="18" charset="0"/>
                                        </a:rPr>
                                        <m:t>ℓ,</m:t>
                                      </m:r>
                                      <m:r>
                                        <a:rPr lang="es-CL" b="0" i="1" noProof="0" smtClean="0">
                                          <a:latin typeface="Cambria Math" panose="02040503050406030204" pitchFamily="18" charset="0"/>
                                          <a:ea typeface="Cambria Math" panose="02040503050406030204" pitchFamily="18" charset="0"/>
                                        </a:rPr>
                                        <m:t>𝑆</m:t>
                                      </m:r>
                                    </m:sup>
                                  </m:sSup>
                                </m:e>
                              </m:d>
                            </m:e>
                            <m:sup>
                              <m:sSubSup>
                                <m:sSubSupPr>
                                  <m:ctrlPr>
                                    <a:rPr lang="es-CL" b="0" i="1" noProof="0" smtClean="0">
                                      <a:latin typeface="Cambria Math" panose="02040503050406030204" pitchFamily="18" charset="0"/>
                                    </a:rPr>
                                  </m:ctrlPr>
                                </m:sSubSupPr>
                                <m:e>
                                  <m:r>
                                    <a:rPr lang="es-CL" b="0" i="1" noProof="0" smtClean="0">
                                      <a:latin typeface="Cambria Math" panose="02040503050406030204" pitchFamily="18" charset="0"/>
                                      <a:ea typeface="Cambria Math" panose="02040503050406030204" pitchFamily="18" charset="0"/>
                                    </a:rPr>
                                    <m:t>𝛽</m:t>
                                  </m:r>
                                </m:e>
                                <m:sub>
                                  <m:r>
                                    <a:rPr lang="es-CL" b="0" i="1" noProof="0" smtClean="0">
                                      <a:latin typeface="Cambria Math" panose="02040503050406030204" pitchFamily="18" charset="0"/>
                                    </a:rPr>
                                    <m:t>𝐿</m:t>
                                  </m:r>
                                  <m:r>
                                    <a:rPr lang="es-CL" b="0" i="1" noProof="0" smtClean="0">
                                      <a:latin typeface="Cambria Math" panose="02040503050406030204" pitchFamily="18" charset="0"/>
                                    </a:rPr>
                                    <m:t>,ℓ</m:t>
                                  </m:r>
                                </m:sub>
                                <m:sup>
                                  <m:r>
                                    <a:rPr lang="es-CL" b="0" i="1" noProof="0" smtClean="0">
                                      <a:latin typeface="Cambria Math" panose="02040503050406030204" pitchFamily="18" charset="0"/>
                                    </a:rPr>
                                    <m:t>𝑆</m:t>
                                  </m:r>
                                </m:sup>
                              </m:sSubSup>
                            </m:sup>
                          </m:sSup>
                        </m:e>
                      </m:nary>
                    </m:oMath>
                  </m:oMathPara>
                </a14:m>
                <a:endParaRPr lang="es-CL" noProof="0" dirty="0"/>
              </a:p>
            </p:txBody>
          </p:sp>
        </mc:Choice>
        <mc:Fallback xmlns="">
          <p:sp>
            <p:nvSpPr>
              <p:cNvPr id="21" name="CuadroTexto 20">
                <a:extLst>
                  <a:ext uri="{FF2B5EF4-FFF2-40B4-BE49-F238E27FC236}">
                    <a16:creationId xmlns:a16="http://schemas.microsoft.com/office/drawing/2014/main" id="{9AFBFA96-A715-1415-879A-5077A4754A79}"/>
                  </a:ext>
                </a:extLst>
              </p:cNvPr>
              <p:cNvSpPr txBox="1">
                <a:spLocks noRot="1" noChangeAspect="1" noMove="1" noResize="1" noEditPoints="1" noAdjustHandles="1" noChangeArrowheads="1" noChangeShapeType="1" noTextEdit="1"/>
              </p:cNvSpPr>
              <p:nvPr/>
            </p:nvSpPr>
            <p:spPr>
              <a:xfrm>
                <a:off x="2074653" y="2135900"/>
                <a:ext cx="2825151" cy="672043"/>
              </a:xfrm>
              <a:prstGeom prst="rect">
                <a:avLst/>
              </a:prstGeom>
              <a:blipFill>
                <a:blip r:embed="rId3"/>
                <a:stretch>
                  <a:fillRect/>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D94AE19-5A3E-998A-9DCB-A2699B6A36BF}"/>
                  </a:ext>
                </a:extLst>
              </p:cNvPr>
              <p:cNvSpPr txBox="1"/>
              <p:nvPr/>
            </p:nvSpPr>
            <p:spPr>
              <a:xfrm>
                <a:off x="7391594" y="2135900"/>
                <a:ext cx="1484765" cy="277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𝑋</m:t>
                          </m:r>
                        </m:e>
                        <m:sup>
                          <m:r>
                            <a:rPr lang="es-CL" b="0" i="1" noProof="0" smtClean="0">
                              <a:latin typeface="Cambria Math" panose="02040503050406030204" pitchFamily="18" charset="0"/>
                            </a:rPr>
                            <m:t>𝑝</m:t>
                          </m:r>
                          <m:r>
                            <a:rPr lang="es-CL" b="0" i="1" noProof="0" smtClean="0">
                              <a:latin typeface="Cambria Math" panose="02040503050406030204" pitchFamily="18" charset="0"/>
                            </a:rPr>
                            <m:t>,</m:t>
                          </m:r>
                          <m:r>
                            <a:rPr lang="es-CL" b="0" i="1" noProof="0" smtClean="0">
                              <a:latin typeface="Cambria Math" panose="02040503050406030204" pitchFamily="18" charset="0"/>
                            </a:rPr>
                            <m:t>𝑆</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𝑖𝑜</m:t>
                          </m:r>
                        </m:e>
                        <m:sup>
                          <m:r>
                            <a:rPr lang="es-CL" b="0" i="1" noProof="0" smtClean="0">
                              <a:latin typeface="Cambria Math" panose="02040503050406030204" pitchFamily="18" charset="0"/>
                            </a:rPr>
                            <m:t>𝑝</m:t>
                          </m:r>
                          <m:r>
                            <a:rPr lang="es-CL" b="0" i="1" noProof="0" smtClean="0">
                              <a:latin typeface="Cambria Math" panose="02040503050406030204" pitchFamily="18" charset="0"/>
                            </a:rPr>
                            <m:t>,</m:t>
                          </m:r>
                          <m:r>
                            <a:rPr lang="es-CL" b="0" i="1" noProof="0" smtClean="0">
                              <a:latin typeface="Cambria Math" panose="02040503050406030204" pitchFamily="18" charset="0"/>
                            </a:rPr>
                            <m:t>𝑆</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𝑉</m:t>
                          </m:r>
                        </m:e>
                        <m:sup>
                          <m:r>
                            <a:rPr lang="es-CL" b="0" i="1" noProof="0" smtClean="0">
                              <a:latin typeface="Cambria Math" panose="02040503050406030204" pitchFamily="18" charset="0"/>
                            </a:rPr>
                            <m:t>𝑆</m:t>
                          </m:r>
                        </m:sup>
                      </m:sSup>
                    </m:oMath>
                  </m:oMathPara>
                </a14:m>
                <a:endParaRPr lang="es-CL" noProof="0" dirty="0"/>
              </a:p>
            </p:txBody>
          </p:sp>
        </mc:Choice>
        <mc:Fallback xmlns="">
          <p:sp>
            <p:nvSpPr>
              <p:cNvPr id="22" name="CuadroTexto 21">
                <a:extLst>
                  <a:ext uri="{FF2B5EF4-FFF2-40B4-BE49-F238E27FC236}">
                    <a16:creationId xmlns:a16="http://schemas.microsoft.com/office/drawing/2014/main" id="{9D94AE19-5A3E-998A-9DCB-A2699B6A36BF}"/>
                  </a:ext>
                </a:extLst>
              </p:cNvPr>
              <p:cNvSpPr txBox="1">
                <a:spLocks noRot="1" noChangeAspect="1" noMove="1" noResize="1" noEditPoints="1" noAdjustHandles="1" noChangeArrowheads="1" noChangeShapeType="1" noTextEdit="1"/>
              </p:cNvSpPr>
              <p:nvPr/>
            </p:nvSpPr>
            <p:spPr>
              <a:xfrm>
                <a:off x="7391594" y="2135900"/>
                <a:ext cx="1484765" cy="277897"/>
              </a:xfrm>
              <a:prstGeom prst="rect">
                <a:avLst/>
              </a:prstGeom>
              <a:blipFill>
                <a:blip r:embed="rId4"/>
                <a:stretch>
                  <a:fillRect l="-3704" r="-1235" b="-8696"/>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21825790-F930-A2FD-1E35-B8605C7EC2FC}"/>
                  </a:ext>
                </a:extLst>
              </p:cNvPr>
              <p:cNvSpPr txBox="1"/>
              <p:nvPr/>
            </p:nvSpPr>
            <p:spPr>
              <a:xfrm>
                <a:off x="1755636" y="4397004"/>
                <a:ext cx="9009774" cy="7159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ea typeface="Cambria Math" panose="02040503050406030204" pitchFamily="18" charset="0"/>
                            </a:rPr>
                            <m:t>𝜋</m:t>
                          </m:r>
                        </m:e>
                        <m:sup>
                          <m:r>
                            <a:rPr lang="es-CL" b="0" i="1" noProof="0" smtClean="0">
                              <a:solidFill>
                                <a:schemeClr val="bg1"/>
                              </a:solidFill>
                              <a:latin typeface="Cambria Math" panose="02040503050406030204" pitchFamily="18" charset="0"/>
                            </a:rPr>
                            <m:t>𝑆</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m:t>
                          </m:r>
                        </m:e>
                        <m:sup>
                          <m:r>
                            <a:rPr lang="es-CL" b="0" i="1" noProof="0" smtClean="0">
                              <a:solidFill>
                                <a:schemeClr val="bg1"/>
                              </a:solidFill>
                              <a:latin typeface="Cambria Math" panose="02040503050406030204" pitchFamily="18" charset="0"/>
                            </a:rPr>
                            <m:t>𝑆</m:t>
                          </m:r>
                        </m:sup>
                      </m:sSup>
                      <m:d>
                        <m:dPr>
                          <m:ctrlPr>
                            <a:rPr lang="es-CL" b="0" i="1" noProof="0" smtClean="0">
                              <a:solidFill>
                                <a:schemeClr val="bg1"/>
                              </a:solidFill>
                              <a:latin typeface="Cambria Math" panose="02040503050406030204" pitchFamily="18" charset="0"/>
                            </a:rPr>
                          </m:ctrlPr>
                        </m:dPr>
                        <m:e>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𝑃𝑅𝑂𝐷𝑆</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𝑝𝑧</m:t>
                                  </m:r>
                                </m:e>
                                <m:sup>
                                  <m:r>
                                    <a:rPr lang="es-CL" b="0" i="1" noProof="0" smtClean="0">
                                      <a:solidFill>
                                        <a:schemeClr val="bg1"/>
                                      </a:solidFill>
                                      <a:latin typeface="Cambria Math" panose="02040503050406030204" pitchFamily="18" charset="0"/>
                                    </a:rPr>
                                    <m:t>𝑝</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𝑠h𝑎𝑟𝑒</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𝑆</m:t>
                                  </m:r>
                                </m:sup>
                              </m:sSup>
                            </m:e>
                          </m:nary>
                        </m:e>
                      </m:d>
                      <m:d>
                        <m:dPr>
                          <m:ctrlPr>
                            <a:rPr lang="es-CL" b="0" i="1" noProof="0" smtClean="0">
                              <a:solidFill>
                                <a:schemeClr val="bg1"/>
                              </a:solidFill>
                              <a:latin typeface="Cambria Math" panose="02040503050406030204" pitchFamily="18" charset="0"/>
                            </a:rPr>
                          </m:ctrlPr>
                        </m:dPr>
                        <m:e>
                          <m:r>
                            <a:rPr lang="es-CL" b="0" i="1" noProof="0" smtClean="0">
                              <a:solidFill>
                                <a:schemeClr val="bg1"/>
                              </a:solidFill>
                              <a:latin typeface="Cambria Math" panose="02040503050406030204" pitchFamily="18" charset="0"/>
                            </a:rPr>
                            <m:t>1−</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𝑡𝑝𝑠</m:t>
                              </m:r>
                            </m:e>
                            <m:sup>
                              <m:r>
                                <a:rPr lang="es-CL" b="0" i="1" noProof="0" smtClean="0">
                                  <a:solidFill>
                                    <a:schemeClr val="bg1"/>
                                  </a:solidFill>
                                  <a:latin typeface="Cambria Math" panose="02040503050406030204" pitchFamily="18" charset="0"/>
                                </a:rPr>
                                <m:t>𝑆</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𝑡𝑒𝑠</m:t>
                              </m:r>
                            </m:e>
                            <m:sup>
                              <m:r>
                                <a:rPr lang="es-CL" b="0" i="1" noProof="0" smtClean="0">
                                  <a:solidFill>
                                    <a:schemeClr val="bg1"/>
                                  </a:solidFill>
                                  <a:latin typeface="Cambria Math" panose="02040503050406030204" pitchFamily="18" charset="0"/>
                                </a:rPr>
                                <m:t>𝑆</m:t>
                              </m:r>
                            </m:sup>
                          </m:sSup>
                        </m:e>
                      </m:d>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𝐾</m:t>
                          </m:r>
                        </m:e>
                        <m:sup>
                          <m:r>
                            <a:rPr lang="es-CL" b="0" i="1" noProof="0" smtClean="0">
                              <a:solidFill>
                                <a:schemeClr val="bg1"/>
                              </a:solidFill>
                              <a:latin typeface="Cambria Math" panose="02040503050406030204" pitchFamily="18" charset="0"/>
                            </a:rPr>
                            <m:t>𝑆</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𝑝</m:t>
                          </m:r>
                        </m:e>
                        <m:sup>
                          <m:r>
                            <a:rPr lang="es-CL" b="0" i="1" noProof="0" smtClean="0">
                              <a:solidFill>
                                <a:schemeClr val="bg1"/>
                              </a:solidFill>
                              <a:latin typeface="Cambria Math" panose="02040503050406030204" pitchFamily="18" charset="0"/>
                            </a:rPr>
                            <m:t>𝑘</m:t>
                          </m:r>
                        </m:sup>
                      </m:sSup>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ea typeface="Cambria Math" panose="02040503050406030204" pitchFamily="18" charset="0"/>
                            </a:rPr>
                            <m:t>ℓ</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ℒ</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𝑤</m:t>
                              </m:r>
                            </m:e>
                            <m:sup>
                              <m:r>
                                <a:rPr lang="es-CL" b="0" i="1" noProof="0" smtClean="0">
                                  <a:solidFill>
                                    <a:schemeClr val="bg1"/>
                                  </a:solidFill>
                                  <a:latin typeface="Cambria Math" panose="02040503050406030204" pitchFamily="18" charset="0"/>
                                  <a:ea typeface="Cambria Math" panose="02040503050406030204" pitchFamily="18" charset="0"/>
                                </a:rPr>
                                <m:t>ℓ</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𝐿</m:t>
                              </m:r>
                            </m:e>
                            <m:sup>
                              <m:r>
                                <a:rPr lang="es-CL" b="0" i="1" noProof="0" smtClean="0">
                                  <a:solidFill>
                                    <a:schemeClr val="bg1"/>
                                  </a:solidFill>
                                  <a:latin typeface="Cambria Math" panose="02040503050406030204" pitchFamily="18" charset="0"/>
                                  <a:ea typeface="Cambria Math" panose="02040503050406030204" pitchFamily="18" charset="0"/>
                                </a:rPr>
                                <m:t>ℓ,</m:t>
                              </m:r>
                              <m:r>
                                <a:rPr lang="es-CL" b="0" i="1" noProof="0" smtClean="0">
                                  <a:solidFill>
                                    <a:schemeClr val="bg1"/>
                                  </a:solidFill>
                                  <a:latin typeface="Cambria Math" panose="02040503050406030204" pitchFamily="18" charset="0"/>
                                  <a:ea typeface="Cambria Math" panose="02040503050406030204" pitchFamily="18" charset="0"/>
                                </a:rPr>
                                <m:t>𝑆</m:t>
                              </m:r>
                            </m:sup>
                          </m:sSup>
                        </m:e>
                      </m:nary>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ℐ</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𝑆</m:t>
                          </m:r>
                          <m:r>
                            <a:rPr lang="es-CL" b="0" i="1" noProof="0" smtClean="0">
                              <a:solidFill>
                                <a:schemeClr val="bg1"/>
                              </a:solidFill>
                              <a:latin typeface="Cambria Math" panose="02040503050406030204" pitchFamily="18" charset="0"/>
                              <a:ea typeface="Cambria Math" panose="02040503050406030204" pitchFamily="18" charset="0"/>
                            </a:rPr>
                            <m:t>)</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𝑖𝑜</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𝑆</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m:t>
                              </m:r>
                            </m:e>
                            <m:sup>
                              <m:r>
                                <a:rPr lang="es-CL" b="0" i="1" noProof="0" smtClean="0">
                                  <a:solidFill>
                                    <a:schemeClr val="bg1"/>
                                  </a:solidFill>
                                  <a:latin typeface="Cambria Math" panose="02040503050406030204" pitchFamily="18" charset="0"/>
                                </a:rPr>
                                <m:t>𝑆</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𝑝</m:t>
                              </m:r>
                            </m:e>
                            <m:sup>
                              <m:r>
                                <a:rPr lang="es-CL" b="0" i="1" noProof="0" smtClean="0">
                                  <a:solidFill>
                                    <a:schemeClr val="bg1"/>
                                  </a:solidFill>
                                  <a:latin typeface="Cambria Math" panose="02040503050406030204" pitchFamily="18" charset="0"/>
                                </a:rPr>
                                <m:t>𝑝</m:t>
                              </m:r>
                            </m:sup>
                          </m:sSup>
                        </m:e>
                      </m:nary>
                    </m:oMath>
                  </m:oMathPara>
                </a14:m>
                <a:endParaRPr lang="es-CL" noProof="0" dirty="0">
                  <a:solidFill>
                    <a:schemeClr val="bg1"/>
                  </a:solidFill>
                </a:endParaRPr>
              </a:p>
            </p:txBody>
          </p:sp>
        </mc:Choice>
        <mc:Fallback xmlns="">
          <p:sp>
            <p:nvSpPr>
              <p:cNvPr id="23" name="CuadroTexto 22">
                <a:extLst>
                  <a:ext uri="{FF2B5EF4-FFF2-40B4-BE49-F238E27FC236}">
                    <a16:creationId xmlns:a16="http://schemas.microsoft.com/office/drawing/2014/main" id="{21825790-F930-A2FD-1E35-B8605C7EC2FC}"/>
                  </a:ext>
                </a:extLst>
              </p:cNvPr>
              <p:cNvSpPr txBox="1">
                <a:spLocks noRot="1" noChangeAspect="1" noMove="1" noResize="1" noEditPoints="1" noAdjustHandles="1" noChangeArrowheads="1" noChangeShapeType="1" noTextEdit="1"/>
              </p:cNvSpPr>
              <p:nvPr/>
            </p:nvSpPr>
            <p:spPr>
              <a:xfrm>
                <a:off x="1755636" y="4397004"/>
                <a:ext cx="9009774" cy="715902"/>
              </a:xfrm>
              <a:prstGeom prst="rect">
                <a:avLst/>
              </a:prstGeom>
              <a:blipFill>
                <a:blip r:embed="rId5"/>
                <a:stretch>
                  <a:fillRect/>
                </a:stretch>
              </a:blipFill>
            </p:spPr>
            <p:txBody>
              <a:bodyPr/>
              <a:lstStyle/>
              <a:p>
                <a:r>
                  <a:rPr lang="es-CL">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18718-5AC4-2B9A-C7F4-8A41125261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3DD77D-33CD-7601-84F4-CBFBB7DBC336}"/>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149DD7F7-A337-4215-6445-DF12A73CF607}"/>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0CB3A883-B93A-9EA0-EAE9-9CDDAF7207A7}"/>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Productos y comercio exterior</a:t>
            </a:r>
            <a:endParaRPr lang="es-CL" sz="2400" noProof="0" dirty="0"/>
          </a:p>
        </p:txBody>
      </p:sp>
      <p:sp>
        <p:nvSpPr>
          <p:cNvPr id="5" name="Text 3">
            <a:extLst>
              <a:ext uri="{FF2B5EF4-FFF2-40B4-BE49-F238E27FC236}">
                <a16:creationId xmlns:a16="http://schemas.microsoft.com/office/drawing/2014/main" id="{686A72DA-F0FA-2DE6-98BB-4A2C65E6FA94}"/>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Dos etapas en cada producto: transformación CET → agregación Armington.</a:t>
            </a:r>
            <a:endParaRPr lang="es-CL" sz="1300" noProof="0" dirty="0"/>
          </a:p>
        </p:txBody>
      </p:sp>
      <p:sp>
        <p:nvSpPr>
          <p:cNvPr id="6" name="Shape 4">
            <a:extLst>
              <a:ext uri="{FF2B5EF4-FFF2-40B4-BE49-F238E27FC236}">
                <a16:creationId xmlns:a16="http://schemas.microsoft.com/office/drawing/2014/main" id="{71C833BA-CC02-C0DB-EE6F-D86D3B86BC43}"/>
              </a:ext>
            </a:extLst>
          </p:cNvPr>
          <p:cNvSpPr/>
          <p:nvPr/>
        </p:nvSpPr>
        <p:spPr>
          <a:xfrm>
            <a:off x="701040" y="1562723"/>
            <a:ext cx="5394960" cy="997597"/>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a:extLst>
              <a:ext uri="{FF2B5EF4-FFF2-40B4-BE49-F238E27FC236}">
                <a16:creationId xmlns:a16="http://schemas.microsoft.com/office/drawing/2014/main" id="{F9F1C061-F5F7-17C9-CE17-9FF7477F6812}"/>
              </a:ext>
            </a:extLst>
          </p:cNvPr>
          <p:cNvSpPr/>
          <p:nvPr/>
        </p:nvSpPr>
        <p:spPr>
          <a:xfrm>
            <a:off x="868680" y="1691640"/>
            <a:ext cx="493776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1 · CET</a:t>
            </a:r>
            <a:endParaRPr lang="es-CL" sz="2000" noProof="0" dirty="0"/>
          </a:p>
        </p:txBody>
      </p:sp>
      <p:sp>
        <p:nvSpPr>
          <p:cNvPr id="8" name="Text 6">
            <a:extLst>
              <a:ext uri="{FF2B5EF4-FFF2-40B4-BE49-F238E27FC236}">
                <a16:creationId xmlns:a16="http://schemas.microsoft.com/office/drawing/2014/main" id="{E0614CD0-4503-D4FC-35DD-997228114D32}"/>
              </a:ext>
            </a:extLst>
          </p:cNvPr>
          <p:cNvSpPr/>
          <p:nvPr/>
        </p:nvSpPr>
        <p:spPr>
          <a:xfrm>
            <a:off x="868680" y="2194560"/>
            <a:ext cx="493776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Asignación producción → ventas domésticas / exportaciones</a:t>
            </a:r>
            <a:endParaRPr lang="es-CL" sz="1200" noProof="0" dirty="0"/>
          </a:p>
        </p:txBody>
      </p:sp>
      <p:sp>
        <p:nvSpPr>
          <p:cNvPr id="11" name="Shape 9">
            <a:extLst>
              <a:ext uri="{FF2B5EF4-FFF2-40B4-BE49-F238E27FC236}">
                <a16:creationId xmlns:a16="http://schemas.microsoft.com/office/drawing/2014/main" id="{160D80F1-9D69-88AE-9F86-B5EBB1AA4335}"/>
              </a:ext>
            </a:extLst>
          </p:cNvPr>
          <p:cNvSpPr/>
          <p:nvPr/>
        </p:nvSpPr>
        <p:spPr>
          <a:xfrm>
            <a:off x="6263640" y="1554480"/>
            <a:ext cx="5440680" cy="997597"/>
          </a:xfrm>
          <a:prstGeom prst="rect">
            <a:avLst/>
          </a:prstGeom>
          <a:solidFill>
            <a:srgbClr val="4A6FA5"/>
          </a:solidFill>
          <a:ln w="12700">
            <a:solidFill>
              <a:srgbClr val="4A6FA5"/>
            </a:solidFill>
            <a:prstDash val="solid"/>
          </a:ln>
        </p:spPr>
        <p:txBody>
          <a:bodyPr/>
          <a:lstStyle/>
          <a:p>
            <a:endParaRPr lang="es-CL" noProof="0" dirty="0"/>
          </a:p>
        </p:txBody>
      </p:sp>
      <p:sp>
        <p:nvSpPr>
          <p:cNvPr id="12" name="Text 10">
            <a:extLst>
              <a:ext uri="{FF2B5EF4-FFF2-40B4-BE49-F238E27FC236}">
                <a16:creationId xmlns:a16="http://schemas.microsoft.com/office/drawing/2014/main" id="{039CA60F-340C-45D7-E57E-FA637D6884F7}"/>
              </a:ext>
            </a:extLst>
          </p:cNvPr>
          <p:cNvSpPr/>
          <p:nvPr/>
        </p:nvSpPr>
        <p:spPr>
          <a:xfrm>
            <a:off x="6492240" y="1691640"/>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2 · Armington</a:t>
            </a:r>
            <a:endParaRPr lang="es-CL" sz="2000" noProof="0" dirty="0"/>
          </a:p>
        </p:txBody>
      </p:sp>
      <p:sp>
        <p:nvSpPr>
          <p:cNvPr id="13" name="Text 11">
            <a:extLst>
              <a:ext uri="{FF2B5EF4-FFF2-40B4-BE49-F238E27FC236}">
                <a16:creationId xmlns:a16="http://schemas.microsoft.com/office/drawing/2014/main" id="{E8BD8151-2B14-4A99-39C5-3B92913E4A33}"/>
              </a:ext>
            </a:extLst>
          </p:cNvPr>
          <p:cNvSpPr/>
          <p:nvPr/>
        </p:nvSpPr>
        <p:spPr>
          <a:xfrm>
            <a:off x="6492240" y="2194560"/>
            <a:ext cx="512064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Agregación doméstico + importado → bien compuesto</a:t>
            </a:r>
            <a:endParaRPr lang="es-CL" sz="1200" noProof="0" dirty="0"/>
          </a:p>
        </p:txBody>
      </p:sp>
      <p:sp>
        <p:nvSpPr>
          <p:cNvPr id="16" name="Text 14">
            <a:extLst>
              <a:ext uri="{FF2B5EF4-FFF2-40B4-BE49-F238E27FC236}">
                <a16:creationId xmlns:a16="http://schemas.microsoft.com/office/drawing/2014/main" id="{856C3F21-47EC-B903-CC19-2E471AE77B8F}"/>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
        <p:nvSpPr>
          <p:cNvPr id="19" name="Shape 9">
            <a:extLst>
              <a:ext uri="{FF2B5EF4-FFF2-40B4-BE49-F238E27FC236}">
                <a16:creationId xmlns:a16="http://schemas.microsoft.com/office/drawing/2014/main" id="{00EAA061-F508-CDAA-66FD-6C0F616EAAE7}"/>
              </a:ext>
            </a:extLst>
          </p:cNvPr>
          <p:cNvSpPr/>
          <p:nvPr/>
        </p:nvSpPr>
        <p:spPr>
          <a:xfrm>
            <a:off x="750498" y="2751443"/>
            <a:ext cx="10953822" cy="1452244"/>
          </a:xfrm>
          <a:prstGeom prst="rect">
            <a:avLst/>
          </a:prstGeom>
          <a:solidFill>
            <a:srgbClr val="4A6FA5"/>
          </a:solidFill>
          <a:ln w="12700">
            <a:solidFill>
              <a:srgbClr val="4A6FA5"/>
            </a:solidFill>
            <a:prstDash val="solid"/>
          </a:ln>
        </p:spPr>
        <p:txBody>
          <a:bodyPr/>
          <a:lstStyle/>
          <a:p>
            <a:endParaRPr lang="es-CL" noProof="0" dirty="0"/>
          </a:p>
        </p:txBody>
      </p:sp>
      <p:sp>
        <p:nvSpPr>
          <p:cNvPr id="20" name="Text 10">
            <a:extLst>
              <a:ext uri="{FF2B5EF4-FFF2-40B4-BE49-F238E27FC236}">
                <a16:creationId xmlns:a16="http://schemas.microsoft.com/office/drawing/2014/main" id="{8F2B92ED-EE12-6919-E866-39F603511D71}"/>
              </a:ext>
            </a:extLst>
          </p:cNvPr>
          <p:cNvSpPr/>
          <p:nvPr/>
        </p:nvSpPr>
        <p:spPr>
          <a:xfrm>
            <a:off x="914400" y="2800095"/>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Absorción Doméstica </a:t>
            </a:r>
            <a:endParaRPr lang="es-CL" sz="2000" noProof="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2A3914B-AAF8-C4E9-6FB2-E6501668D269}"/>
                  </a:ext>
                </a:extLst>
              </p:cNvPr>
              <p:cNvSpPr txBox="1"/>
              <p:nvPr/>
            </p:nvSpPr>
            <p:spPr>
              <a:xfrm>
                <a:off x="1026282" y="3349966"/>
                <a:ext cx="5351658" cy="672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𝑇𝐷</m:t>
                          </m:r>
                          <m:r>
                            <a:rPr lang="es-CL" b="0" i="1" noProof="0" smtClean="0">
                              <a:solidFill>
                                <a:schemeClr val="bg1"/>
                              </a:solidFill>
                              <a:latin typeface="Cambria Math" panose="02040503050406030204" pitchFamily="18" charset="0"/>
                            </a:rPr>
                            <m:t>_</m:t>
                          </m:r>
                          <m:r>
                            <a:rPr lang="es-CL" b="0" i="1" noProof="0" smtClean="0">
                              <a:solidFill>
                                <a:schemeClr val="bg1"/>
                              </a:solidFill>
                              <a:latin typeface="Cambria Math" panose="02040503050406030204" pitchFamily="18" charset="0"/>
                            </a:rPr>
                            <m:t>𝐷𝑜𝑚</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𝐷</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𝐺𝐺</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𝐼</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𝑉𝐴𝑅𝐸𝑋𝐼𝑆</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𝑠</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𝑆𝐸𝐶</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𝑋</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𝑠</m:t>
                              </m:r>
                            </m:sup>
                          </m:sSup>
                        </m:e>
                      </m:nary>
                    </m:oMath>
                  </m:oMathPara>
                </a14:m>
                <a:endParaRPr lang="es-CL" noProof="0" dirty="0">
                  <a:solidFill>
                    <a:schemeClr val="bg1"/>
                  </a:solidFill>
                </a:endParaRPr>
              </a:p>
            </p:txBody>
          </p:sp>
        </mc:Choice>
        <mc:Fallback xmlns="">
          <p:sp>
            <p:nvSpPr>
              <p:cNvPr id="21" name="CuadroTexto 20">
                <a:extLst>
                  <a:ext uri="{FF2B5EF4-FFF2-40B4-BE49-F238E27FC236}">
                    <a16:creationId xmlns:a16="http://schemas.microsoft.com/office/drawing/2014/main" id="{B2A3914B-AAF8-C4E9-6FB2-E6501668D269}"/>
                  </a:ext>
                </a:extLst>
              </p:cNvPr>
              <p:cNvSpPr txBox="1">
                <a:spLocks noRot="1" noChangeAspect="1" noMove="1" noResize="1" noEditPoints="1" noAdjustHandles="1" noChangeArrowheads="1" noChangeShapeType="1" noTextEdit="1"/>
              </p:cNvSpPr>
              <p:nvPr/>
            </p:nvSpPr>
            <p:spPr>
              <a:xfrm>
                <a:off x="1026282" y="3349966"/>
                <a:ext cx="5351658" cy="672492"/>
              </a:xfrm>
              <a:prstGeom prst="rect">
                <a:avLst/>
              </a:prstGeom>
              <a:blipFill>
                <a:blip r:embed="rId3"/>
                <a:stretch>
                  <a:fillRect/>
                </a:stretch>
              </a:blipFill>
            </p:spPr>
            <p:txBody>
              <a:bodyPr/>
              <a:lstStyle/>
              <a:p>
                <a:r>
                  <a:rPr lang="es-CL">
                    <a:noFill/>
                  </a:rPr>
                  <a:t> </a:t>
                </a:r>
              </a:p>
            </p:txBody>
          </p:sp>
        </mc:Fallback>
      </mc:AlternateContent>
      <p:grpSp>
        <p:nvGrpSpPr>
          <p:cNvPr id="22" name="Grupo 21">
            <a:extLst>
              <a:ext uri="{FF2B5EF4-FFF2-40B4-BE49-F238E27FC236}">
                <a16:creationId xmlns:a16="http://schemas.microsoft.com/office/drawing/2014/main" id="{2E48072D-A953-E1C7-452F-B18CF4D1F93A}"/>
              </a:ext>
            </a:extLst>
          </p:cNvPr>
          <p:cNvGrpSpPr/>
          <p:nvPr/>
        </p:nvGrpSpPr>
        <p:grpSpPr>
          <a:xfrm>
            <a:off x="750498" y="4404496"/>
            <a:ext cx="10953822" cy="1810109"/>
            <a:chOff x="640080" y="1554480"/>
            <a:chExt cx="11064240" cy="2286000"/>
          </a:xfrm>
        </p:grpSpPr>
        <p:sp>
          <p:nvSpPr>
            <p:cNvPr id="23" name="Shape 4">
              <a:extLst>
                <a:ext uri="{FF2B5EF4-FFF2-40B4-BE49-F238E27FC236}">
                  <a16:creationId xmlns:a16="http://schemas.microsoft.com/office/drawing/2014/main" id="{E82E30C7-3F05-327F-6D95-2F66BAD59F39}"/>
                </a:ext>
              </a:extLst>
            </p:cNvPr>
            <p:cNvSpPr/>
            <p:nvPr/>
          </p:nvSpPr>
          <p:spPr>
            <a:xfrm>
              <a:off x="640080" y="1554480"/>
              <a:ext cx="11064240" cy="2286000"/>
            </a:xfrm>
            <a:prstGeom prst="rect">
              <a:avLst/>
            </a:prstGeom>
            <a:solidFill>
              <a:srgbClr val="F5F7FA"/>
            </a:solidFill>
            <a:ln w="9525">
              <a:solidFill>
                <a:srgbClr val="E2E8F0"/>
              </a:solidFill>
              <a:prstDash val="solid"/>
            </a:ln>
          </p:spPr>
          <p:txBody>
            <a:bodyPr/>
            <a:lstStyle/>
            <a:p>
              <a:endParaRPr lang="es-CL" noProof="0" dirty="0"/>
            </a:p>
          </p:txBody>
        </p:sp>
        <p:sp>
          <p:nvSpPr>
            <p:cNvPr id="24" name="Text 6">
              <a:extLst>
                <a:ext uri="{FF2B5EF4-FFF2-40B4-BE49-F238E27FC236}">
                  <a16:creationId xmlns:a16="http://schemas.microsoft.com/office/drawing/2014/main" id="{BF0A40D0-90BE-A8F1-A8C8-6AE04C5AF46A}"/>
                </a:ext>
              </a:extLst>
            </p:cNvPr>
            <p:cNvSpPr/>
            <p:nvPr/>
          </p:nvSpPr>
          <p:spPr>
            <a:xfrm>
              <a:off x="868680" y="1691640"/>
              <a:ext cx="10607040" cy="4114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Recaudación indirecta y vínculo de precios</a:t>
              </a:r>
              <a:endParaRPr lang="es-CL" sz="1600" noProof="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F6123080-D11A-9EBD-70B5-D7775288676A}"/>
                    </a:ext>
                  </a:extLst>
                </p:cNvPr>
                <p:cNvSpPr txBox="1"/>
                <p:nvPr/>
              </p:nvSpPr>
              <p:spPr>
                <a:xfrm>
                  <a:off x="868680" y="2290902"/>
                  <a:ext cx="26266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𝑉𝐴𝑇</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𝑣𝑎𝑡</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𝑇𝐷</m:t>
                            </m:r>
                            <m:r>
                              <a:rPr lang="es-CL" b="0" i="1" noProof="0" smtClean="0">
                                <a:latin typeface="Cambria Math" panose="02040503050406030204" pitchFamily="18" charset="0"/>
                              </a:rPr>
                              <m:t>_</m:t>
                            </m:r>
                            <m:r>
                              <a:rPr lang="es-CL" b="0" i="1" noProof="0" smtClean="0">
                                <a:latin typeface="Cambria Math" panose="02040503050406030204" pitchFamily="18" charset="0"/>
                              </a:rPr>
                              <m:t>𝐷𝑜𝑚</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25" name="CuadroTexto 24">
                  <a:extLst>
                    <a:ext uri="{FF2B5EF4-FFF2-40B4-BE49-F238E27FC236}">
                      <a16:creationId xmlns:a16="http://schemas.microsoft.com/office/drawing/2014/main" id="{F6123080-D11A-9EBD-70B5-D7775288676A}"/>
                    </a:ext>
                  </a:extLst>
                </p:cNvPr>
                <p:cNvSpPr txBox="1">
                  <a:spLocks noRot="1" noChangeAspect="1" noMove="1" noResize="1" noEditPoints="1" noAdjustHandles="1" noChangeArrowheads="1" noChangeShapeType="1" noTextEdit="1"/>
                </p:cNvSpPr>
                <p:nvPr/>
              </p:nvSpPr>
              <p:spPr>
                <a:xfrm>
                  <a:off x="868680" y="2290902"/>
                  <a:ext cx="2626681" cy="276999"/>
                </a:xfrm>
                <a:prstGeom prst="rect">
                  <a:avLst/>
                </a:prstGeom>
                <a:blipFill>
                  <a:blip r:embed="rId4"/>
                  <a:stretch>
                    <a:fillRect l="-2108" r="-937" b="-5833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87B87C7-FB07-D7D4-E0A4-1C86314C2D3E}"/>
                    </a:ext>
                  </a:extLst>
                </p:cNvPr>
                <p:cNvSpPr txBox="1"/>
                <p:nvPr/>
              </p:nvSpPr>
              <p:spPr>
                <a:xfrm>
                  <a:off x="868680" y="2636481"/>
                  <a:ext cx="4889480" cy="3498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𝐴𝑅𝐴𝑁𝐶𝐸𝐿</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𝑡𝑎𝑟</m:t>
                            </m:r>
                            <m:r>
                              <a:rPr lang="es-CL" b="0" i="1" noProof="0" smtClean="0">
                                <a:latin typeface="Cambria Math" panose="02040503050406030204" pitchFamily="18" charset="0"/>
                              </a:rPr>
                              <m:t>_</m:t>
                            </m:r>
                            <m:r>
                              <a:rPr lang="es-CL" b="0" i="1" noProof="0" smtClean="0">
                                <a:latin typeface="Cambria Math" panose="02040503050406030204" pitchFamily="18" charset="0"/>
                              </a:rPr>
                              <m:t>𝑟𝑎𝑡𝑒</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r>
                          <a:rPr lang="es-CL" b="0" i="1" noProof="0" smtClean="0">
                            <a:latin typeface="Cambria Math" panose="02040503050406030204" pitchFamily="18" charset="0"/>
                          </a:rPr>
                          <m:t>𝑒𝑥𝑟</m:t>
                        </m:r>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𝑀</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26" name="CuadroTexto 25">
                  <a:extLst>
                    <a:ext uri="{FF2B5EF4-FFF2-40B4-BE49-F238E27FC236}">
                      <a16:creationId xmlns:a16="http://schemas.microsoft.com/office/drawing/2014/main" id="{087B87C7-FB07-D7D4-E0A4-1C86314C2D3E}"/>
                    </a:ext>
                  </a:extLst>
                </p:cNvPr>
                <p:cNvSpPr txBox="1">
                  <a:spLocks noRot="1" noChangeAspect="1" noMove="1" noResize="1" noEditPoints="1" noAdjustHandles="1" noChangeArrowheads="1" noChangeShapeType="1" noTextEdit="1"/>
                </p:cNvSpPr>
                <p:nvPr/>
              </p:nvSpPr>
              <p:spPr>
                <a:xfrm>
                  <a:off x="868680" y="2636481"/>
                  <a:ext cx="4889480" cy="349824"/>
                </a:xfrm>
                <a:prstGeom prst="rect">
                  <a:avLst/>
                </a:prstGeom>
                <a:blipFill>
                  <a:blip r:embed="rId5"/>
                  <a:stretch>
                    <a:fillRect l="-630" t="-2174" b="-32609"/>
                  </a:stretch>
                </a:blipFill>
              </p:spPr>
              <p:txBody>
                <a:bodyPr/>
                <a:lstStyle/>
                <a:p>
                  <a:r>
                    <a:rPr lang="es-CL">
                      <a:noFill/>
                    </a:rPr>
                    <a:t> </a:t>
                  </a:r>
                </a:p>
              </p:txBody>
            </p:sp>
          </mc:Fallback>
        </mc:AlternateContent>
      </p:grpSp>
    </p:spTree>
    <p:extLst>
      <p:ext uri="{BB962C8B-B14F-4D97-AF65-F5344CB8AC3E}">
        <p14:creationId xmlns:p14="http://schemas.microsoft.com/office/powerpoint/2010/main" val="2827439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Bloque de firmas</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Punto conceptual clave: las firmas son una institución financiera, no una unidad productiva.</a:t>
            </a:r>
            <a:endParaRPr lang="es-CL" sz="1300" noProof="0" dirty="0"/>
          </a:p>
        </p:txBody>
      </p:sp>
      <p:sp>
        <p:nvSpPr>
          <p:cNvPr id="6" name="Shape 4"/>
          <p:cNvSpPr/>
          <p:nvPr/>
        </p:nvSpPr>
        <p:spPr>
          <a:xfrm>
            <a:off x="5166360" y="2468880"/>
            <a:ext cx="1828800" cy="137160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p:cNvSpPr/>
          <p:nvPr/>
        </p:nvSpPr>
        <p:spPr>
          <a:xfrm>
            <a:off x="5166360" y="2468880"/>
            <a:ext cx="1828800" cy="1371600"/>
          </a:xfrm>
          <a:prstGeom prst="rect">
            <a:avLst/>
          </a:prstGeom>
          <a:noFill/>
          <a:ln/>
        </p:spPr>
        <p:txBody>
          <a:bodyPr wrap="square" lIns="0" tIns="0" rIns="0" bIns="0" rtlCol="0" anchor="ctr"/>
          <a:lstStyle/>
          <a:p>
            <a:pPr marL="0" indent="0" algn="ctr">
              <a:buNone/>
            </a:pPr>
            <a:r>
              <a:rPr lang="es-CL" sz="1400" b="1" noProof="0" dirty="0">
                <a:solidFill>
                  <a:srgbClr val="FFFFFF"/>
                </a:solidFill>
                <a:latin typeface="Cambria" pitchFamily="34" charset="0"/>
                <a:ea typeface="Cambria" pitchFamily="34" charset="-122"/>
                <a:cs typeface="Cambria" pitchFamily="34" charset="-120"/>
              </a:rPr>
              <a:t>FIRMAS</a:t>
            </a:r>
            <a:endParaRPr lang="es-CL" sz="1400" noProof="0" dirty="0"/>
          </a:p>
          <a:p>
            <a:pPr marL="0" indent="0" algn="ctr">
              <a:buNone/>
            </a:pPr>
            <a:r>
              <a:rPr lang="es-CL" sz="1400" b="1" noProof="0" dirty="0">
                <a:solidFill>
                  <a:srgbClr val="FFFFFF"/>
                </a:solidFill>
                <a:latin typeface="Cambria" pitchFamily="34" charset="0"/>
                <a:ea typeface="Cambria" pitchFamily="34" charset="-122"/>
                <a:cs typeface="Cambria" pitchFamily="34" charset="-120"/>
              </a:rPr>
              <a:t>INGF</a:t>
            </a:r>
            <a:endParaRPr lang="es-CL" sz="1400" noProof="0" dirty="0"/>
          </a:p>
        </p:txBody>
      </p:sp>
      <p:sp>
        <p:nvSpPr>
          <p:cNvPr id="8" name="Shape 6"/>
          <p:cNvSpPr/>
          <p:nvPr/>
        </p:nvSpPr>
        <p:spPr>
          <a:xfrm>
            <a:off x="822960" y="2468880"/>
            <a:ext cx="3291840" cy="502920"/>
          </a:xfrm>
          <a:prstGeom prst="rect">
            <a:avLst/>
          </a:prstGeom>
          <a:solidFill>
            <a:srgbClr val="CADCFC"/>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9" name="Text 7"/>
              <p:cNvSpPr/>
              <p:nvPr/>
            </p:nvSpPr>
            <p:spPr>
              <a:xfrm>
                <a:off x="822960" y="2468880"/>
                <a:ext cx="329184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Renta del capital corporativo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libri" pitchFamily="34" charset="-122"/>
                                <a:cs typeface="Calibri" pitchFamily="34" charset="-120"/>
                              </a:rPr>
                              <m:t>𝑲</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𝒇</m:t>
                            </m:r>
                          </m:sup>
                        </m:sSup>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libri" pitchFamily="34" charset="-122"/>
                                <a:cs typeface="Calibri" pitchFamily="34" charset="-120"/>
                              </a:rPr>
                              <m:t>𝒑</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𝒌</m:t>
                            </m:r>
                          </m:sup>
                        </m:sSup>
                      </m:e>
                    </m:d>
                  </m:oMath>
                </a14:m>
                <a:r>
                  <a:rPr lang="es-CL" sz="1100" b="1" noProof="0" dirty="0">
                    <a:solidFill>
                      <a:srgbClr val="1E2761"/>
                    </a:solidFill>
                    <a:latin typeface="Calibri" pitchFamily="34" charset="0"/>
                    <a:ea typeface="Calibri" pitchFamily="34" charset="-122"/>
                    <a:cs typeface="Calibri" pitchFamily="34" charset="-120"/>
                  </a:rPr>
                  <a:t> </a:t>
                </a:r>
                <a:endParaRPr lang="es-CL" sz="1100" noProof="0" dirty="0"/>
              </a:p>
            </p:txBody>
          </p:sp>
        </mc:Choice>
        <mc:Fallback xmlns="">
          <p:sp>
            <p:nvSpPr>
              <p:cNvPr id="9" name="Text 7"/>
              <p:cNvSpPr>
                <a:spLocks noRot="1" noChangeAspect="1" noMove="1" noResize="1" noEditPoints="1" noAdjustHandles="1" noChangeArrowheads="1" noChangeShapeType="1" noTextEdit="1"/>
              </p:cNvSpPr>
              <p:nvPr/>
            </p:nvSpPr>
            <p:spPr>
              <a:xfrm>
                <a:off x="822960" y="2468880"/>
                <a:ext cx="3291840" cy="502920"/>
              </a:xfrm>
              <a:prstGeom prst="rect">
                <a:avLst/>
              </a:prstGeom>
              <a:blipFill>
                <a:blip r:embed="rId3"/>
                <a:stretch>
                  <a:fillRect/>
                </a:stretch>
              </a:blipFill>
              <a:ln/>
            </p:spPr>
            <p:txBody>
              <a:bodyPr/>
              <a:lstStyle/>
              <a:p>
                <a:r>
                  <a:rPr lang="es-CL">
                    <a:noFill/>
                  </a:rPr>
                  <a:t> </a:t>
                </a:r>
              </a:p>
            </p:txBody>
          </p:sp>
        </mc:Fallback>
      </mc:AlternateContent>
      <p:sp>
        <p:nvSpPr>
          <p:cNvPr id="10" name="Shape 8"/>
          <p:cNvSpPr/>
          <p:nvPr/>
        </p:nvSpPr>
        <p:spPr>
          <a:xfrm>
            <a:off x="4114800" y="2715768"/>
            <a:ext cx="1051560" cy="0"/>
          </a:xfrm>
          <a:prstGeom prst="line">
            <a:avLst/>
          </a:prstGeom>
          <a:noFill/>
          <a:ln w="19050">
            <a:solidFill>
              <a:srgbClr val="4A6FA5"/>
            </a:solidFill>
            <a:prstDash val="solid"/>
            <a:tailEnd type="triangle"/>
          </a:ln>
        </p:spPr>
        <p:txBody>
          <a:bodyPr/>
          <a:lstStyle/>
          <a:p>
            <a:endParaRPr lang="es-CL" noProof="0" dirty="0"/>
          </a:p>
        </p:txBody>
      </p:sp>
      <p:sp>
        <p:nvSpPr>
          <p:cNvPr id="11" name="Shape 9"/>
          <p:cNvSpPr/>
          <p:nvPr/>
        </p:nvSpPr>
        <p:spPr>
          <a:xfrm>
            <a:off x="822960" y="3154680"/>
            <a:ext cx="3291840" cy="502920"/>
          </a:xfrm>
          <a:prstGeom prst="rect">
            <a:avLst/>
          </a:prstGeom>
          <a:solidFill>
            <a:srgbClr val="CADCFC"/>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12" name="Text 10"/>
              <p:cNvSpPr/>
              <p:nvPr/>
            </p:nvSpPr>
            <p:spPr>
              <a:xfrm>
                <a:off x="822960" y="3154680"/>
                <a:ext cx="329184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Contribuciones sociales asignadas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mbria Math" panose="02040503050406030204" pitchFamily="18" charset="0"/>
                                <a:cs typeface="Calibri" pitchFamily="34" charset="-120"/>
                              </a:rPr>
                              <m:t>𝜽</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𝒄𝒔</m:t>
                            </m:r>
                          </m:sup>
                        </m:sSup>
                        <m:r>
                          <a:rPr lang="es-CL" sz="1100" b="1" i="1" noProof="0" smtClean="0">
                            <a:solidFill>
                              <a:srgbClr val="1E2761"/>
                            </a:solidFill>
                            <a:latin typeface="Cambria Math" panose="02040503050406030204" pitchFamily="18" charset="0"/>
                            <a:ea typeface="Calibri" pitchFamily="34" charset="-122"/>
                            <a:cs typeface="Calibri" pitchFamily="34" charset="-120"/>
                          </a:rPr>
                          <m:t>𝑪𝑶𝑵𝑻𝑺𝑶𝑪</m:t>
                        </m:r>
                      </m:e>
                    </m:d>
                  </m:oMath>
                </a14:m>
                <a:endParaRPr lang="es-CL" sz="1100" noProof="0" dirty="0"/>
              </a:p>
            </p:txBody>
          </p:sp>
        </mc:Choice>
        <mc:Fallback xmlns="">
          <p:sp>
            <p:nvSpPr>
              <p:cNvPr id="12" name="Text 10"/>
              <p:cNvSpPr>
                <a:spLocks noRot="1" noChangeAspect="1" noMove="1" noResize="1" noEditPoints="1" noAdjustHandles="1" noChangeArrowheads="1" noChangeShapeType="1" noTextEdit="1"/>
              </p:cNvSpPr>
              <p:nvPr/>
            </p:nvSpPr>
            <p:spPr>
              <a:xfrm>
                <a:off x="822960" y="3154680"/>
                <a:ext cx="3291840" cy="502920"/>
              </a:xfrm>
              <a:prstGeom prst="rect">
                <a:avLst/>
              </a:prstGeom>
              <a:blipFill>
                <a:blip r:embed="rId4"/>
                <a:stretch>
                  <a:fillRect/>
                </a:stretch>
              </a:blipFill>
              <a:ln/>
            </p:spPr>
            <p:txBody>
              <a:bodyPr/>
              <a:lstStyle/>
              <a:p>
                <a:r>
                  <a:rPr lang="es-CL">
                    <a:noFill/>
                  </a:rPr>
                  <a:t> </a:t>
                </a:r>
              </a:p>
            </p:txBody>
          </p:sp>
        </mc:Fallback>
      </mc:AlternateContent>
      <p:sp>
        <p:nvSpPr>
          <p:cNvPr id="13" name="Shape 11"/>
          <p:cNvSpPr/>
          <p:nvPr/>
        </p:nvSpPr>
        <p:spPr>
          <a:xfrm>
            <a:off x="4114800" y="3401568"/>
            <a:ext cx="1051560" cy="0"/>
          </a:xfrm>
          <a:prstGeom prst="line">
            <a:avLst/>
          </a:prstGeom>
          <a:noFill/>
          <a:ln w="19050">
            <a:solidFill>
              <a:srgbClr val="4A6FA5"/>
            </a:solidFill>
            <a:prstDash val="solid"/>
            <a:tailEnd type="triangle"/>
          </a:ln>
        </p:spPr>
        <p:txBody>
          <a:bodyPr/>
          <a:lstStyle/>
          <a:p>
            <a:endParaRPr lang="es-CL" noProof="0" dirty="0"/>
          </a:p>
        </p:txBody>
      </p:sp>
      <p:sp>
        <p:nvSpPr>
          <p:cNvPr id="14" name="Shape 12"/>
          <p:cNvSpPr/>
          <p:nvPr/>
        </p:nvSpPr>
        <p:spPr>
          <a:xfrm>
            <a:off x="8046720" y="1783080"/>
            <a:ext cx="3657600" cy="502920"/>
          </a:xfrm>
          <a:prstGeom prst="rect">
            <a:avLst/>
          </a:prstGeom>
          <a:solidFill>
            <a:srgbClr val="F5F7FA"/>
          </a:solidFill>
          <a:ln w="12700">
            <a:solidFill>
              <a:srgbClr val="E2E8F0"/>
            </a:solidFill>
            <a:prstDash val="solid"/>
          </a:ln>
        </p:spPr>
        <p:txBody>
          <a:bodyPr/>
          <a:lstStyle/>
          <a:p>
            <a:endParaRPr lang="es-CL" noProof="0" dirty="0"/>
          </a:p>
        </p:txBody>
      </p:sp>
      <p:sp>
        <p:nvSpPr>
          <p:cNvPr id="15" name="Text 13"/>
          <p:cNvSpPr/>
          <p:nvPr/>
        </p:nvSpPr>
        <p:spPr>
          <a:xfrm>
            <a:off x="8046720" y="178308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Dividendos a hogares (TREMP)</a:t>
            </a:r>
            <a:endParaRPr lang="es-CL" sz="1100" noProof="0" dirty="0"/>
          </a:p>
        </p:txBody>
      </p:sp>
      <p:sp>
        <p:nvSpPr>
          <p:cNvPr id="16" name="Shape 14"/>
          <p:cNvSpPr/>
          <p:nvPr/>
        </p:nvSpPr>
        <p:spPr>
          <a:xfrm>
            <a:off x="6995160" y="2029968"/>
            <a:ext cx="1051560" cy="0"/>
          </a:xfrm>
          <a:prstGeom prst="line">
            <a:avLst/>
          </a:prstGeom>
          <a:noFill/>
          <a:ln w="19050">
            <a:solidFill>
              <a:srgbClr val="4A6FA5"/>
            </a:solidFill>
            <a:prstDash val="solid"/>
            <a:tailEnd type="triangle"/>
          </a:ln>
        </p:spPr>
        <p:txBody>
          <a:bodyPr/>
          <a:lstStyle/>
          <a:p>
            <a:endParaRPr lang="es-CL" noProof="0" dirty="0"/>
          </a:p>
        </p:txBody>
      </p:sp>
      <p:sp>
        <p:nvSpPr>
          <p:cNvPr id="17" name="Shape 15"/>
          <p:cNvSpPr/>
          <p:nvPr/>
        </p:nvSpPr>
        <p:spPr>
          <a:xfrm>
            <a:off x="8046720" y="2423160"/>
            <a:ext cx="3657600" cy="502920"/>
          </a:xfrm>
          <a:prstGeom prst="rect">
            <a:avLst/>
          </a:prstGeom>
          <a:solidFill>
            <a:srgbClr val="F5F7FA"/>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18" name="Text 16"/>
              <p:cNvSpPr/>
              <p:nvPr/>
            </p:nvSpPr>
            <p:spPr>
              <a:xfrm>
                <a:off x="8046720" y="2423160"/>
                <a:ext cx="3657600" cy="502920"/>
              </a:xfrm>
              <a:prstGeom prst="rect">
                <a:avLst/>
              </a:prstGeom>
              <a:noFill/>
              <a:ln/>
            </p:spPr>
            <p:txBody>
              <a:bodyPr wrap="square" lIns="0" tIns="0" rIns="0" bIns="0" rtlCol="0" anchor="ctr"/>
              <a:lstStyle/>
              <a:p>
                <a:pPr algn="ctr"/>
                <a:r>
                  <a:rPr lang="es-CL" sz="1100" b="1" noProof="0" dirty="0">
                    <a:solidFill>
                      <a:srgbClr val="1E2761"/>
                    </a:solidFill>
                    <a:latin typeface="Calibri" pitchFamily="34" charset="0"/>
                    <a:ea typeface="Calibri" pitchFamily="34" charset="-122"/>
                    <a:cs typeface="Calibri" pitchFamily="34" charset="-120"/>
                  </a:rPr>
                  <a:t> </a:t>
                </a:r>
                <a14:m>
                  <m:oMath xmlns:m="http://schemas.openxmlformats.org/officeDocument/2006/math">
                    <m:r>
                      <a:rPr lang="es-CL" sz="1100" b="1" i="0" noProof="0" smtClean="0">
                        <a:solidFill>
                          <a:srgbClr val="1E2761"/>
                        </a:solidFill>
                        <a:latin typeface="Cambria Math" panose="02040503050406030204" pitchFamily="18" charset="0"/>
                        <a:ea typeface="Calibri" pitchFamily="34" charset="-122"/>
                        <a:cs typeface="Calibri" pitchFamily="34" charset="-120"/>
                      </a:rPr>
                      <m:t>𝐅𝐈𝐓</m:t>
                    </m:r>
                    <m:r>
                      <a:rPr lang="es-CL" sz="1100" b="1" i="0" noProof="0" smtClean="0">
                        <a:solidFill>
                          <a:srgbClr val="1E2761"/>
                        </a:solidFill>
                        <a:latin typeface="Cambria Math" panose="02040503050406030204" pitchFamily="18" charset="0"/>
                        <a:ea typeface="Calibri" pitchFamily="34" charset="-122"/>
                        <a:cs typeface="Calibri" pitchFamily="34" charset="-120"/>
                      </a:rPr>
                      <m:t>=</m:t>
                    </m:r>
                    <m:r>
                      <a:rPr lang="es-CL" sz="1100" b="1" i="0" noProof="0" smtClean="0">
                        <a:solidFill>
                          <a:srgbClr val="1E2761"/>
                        </a:solidFill>
                        <a:latin typeface="Cambria Math" panose="02040503050406030204" pitchFamily="18" charset="0"/>
                        <a:ea typeface="Calibri" pitchFamily="34" charset="-122"/>
                        <a:cs typeface="Calibri" pitchFamily="34" charset="-120"/>
                      </a:rPr>
                      <m:t>𝐟𝐢</m:t>
                    </m:r>
                    <m:r>
                      <a:rPr lang="es-CL" sz="1100" b="1" i="1" noProof="0" smtClean="0">
                        <a:solidFill>
                          <a:srgbClr val="1E2761"/>
                        </a:solidFill>
                        <a:latin typeface="Cambria Math" panose="02040503050406030204" pitchFamily="18" charset="0"/>
                        <a:ea typeface="Calibri" pitchFamily="34" charset="-122"/>
                        <a:cs typeface="Calibri" pitchFamily="34" charset="-120"/>
                      </a:rPr>
                      <m:t>𝒕</m:t>
                    </m:r>
                    <m:d>
                      <m:dPr>
                        <m:ctrlPr>
                          <a:rPr lang="es-CL" sz="1100" b="1" i="1" noProof="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a:solidFill>
                                  <a:srgbClr val="1E2761"/>
                                </a:solidFill>
                                <a:latin typeface="Cambria Math" panose="02040503050406030204" pitchFamily="18" charset="0"/>
                                <a:ea typeface="Calibri" pitchFamily="34" charset="-122"/>
                                <a:cs typeface="Calibri" pitchFamily="34" charset="-120"/>
                              </a:rPr>
                            </m:ctrlPr>
                          </m:sSupPr>
                          <m:e>
                            <m:r>
                              <a:rPr lang="es-CL" sz="1100" b="1" i="1" noProof="0">
                                <a:solidFill>
                                  <a:srgbClr val="1E2761"/>
                                </a:solidFill>
                                <a:latin typeface="Cambria Math" panose="02040503050406030204" pitchFamily="18" charset="0"/>
                                <a:ea typeface="Calibri" pitchFamily="34" charset="-122"/>
                                <a:cs typeface="Calibri" pitchFamily="34" charset="-120"/>
                              </a:rPr>
                              <m:t>𝑲</m:t>
                            </m:r>
                          </m:e>
                          <m:sup>
                            <m:r>
                              <a:rPr lang="es-CL" sz="1100" b="1" i="1" noProof="0">
                                <a:solidFill>
                                  <a:srgbClr val="1E2761"/>
                                </a:solidFill>
                                <a:latin typeface="Cambria Math" panose="02040503050406030204" pitchFamily="18" charset="0"/>
                                <a:ea typeface="Calibri" pitchFamily="34" charset="-122"/>
                                <a:cs typeface="Calibri" pitchFamily="34" charset="-120"/>
                              </a:rPr>
                              <m:t>𝒇</m:t>
                            </m:r>
                          </m:sup>
                        </m:sSup>
                        <m:sSup>
                          <m:sSupPr>
                            <m:ctrlPr>
                              <a:rPr lang="es-CL" sz="1100" b="1" i="1" noProof="0">
                                <a:solidFill>
                                  <a:srgbClr val="1E2761"/>
                                </a:solidFill>
                                <a:latin typeface="Cambria Math" panose="02040503050406030204" pitchFamily="18" charset="0"/>
                                <a:ea typeface="Calibri" pitchFamily="34" charset="-122"/>
                                <a:cs typeface="Calibri" pitchFamily="34" charset="-120"/>
                              </a:rPr>
                            </m:ctrlPr>
                          </m:sSupPr>
                          <m:e>
                            <m:r>
                              <a:rPr lang="es-CL" sz="1100" b="1" i="1" noProof="0">
                                <a:solidFill>
                                  <a:srgbClr val="1E2761"/>
                                </a:solidFill>
                                <a:latin typeface="Cambria Math" panose="02040503050406030204" pitchFamily="18" charset="0"/>
                                <a:ea typeface="Calibri" pitchFamily="34" charset="-122"/>
                                <a:cs typeface="Calibri" pitchFamily="34" charset="-120"/>
                              </a:rPr>
                              <m:t>𝒑</m:t>
                            </m:r>
                          </m:e>
                          <m:sup>
                            <m:r>
                              <a:rPr lang="es-CL" sz="1100" b="1" i="1" noProof="0">
                                <a:solidFill>
                                  <a:srgbClr val="1E2761"/>
                                </a:solidFill>
                                <a:latin typeface="Cambria Math" panose="02040503050406030204" pitchFamily="18" charset="0"/>
                                <a:ea typeface="Calibri" pitchFamily="34" charset="-122"/>
                                <a:cs typeface="Calibri" pitchFamily="34" charset="-120"/>
                              </a:rPr>
                              <m:t>𝒌</m:t>
                            </m:r>
                          </m:sup>
                        </m:sSup>
                      </m:e>
                    </m:d>
                  </m:oMath>
                </a14:m>
                <a:endParaRPr lang="es-CL" sz="1100" noProof="0" dirty="0"/>
              </a:p>
            </p:txBody>
          </p:sp>
        </mc:Choice>
        <mc:Fallback xmlns="">
          <p:sp>
            <p:nvSpPr>
              <p:cNvPr id="18" name="Text 16"/>
              <p:cNvSpPr>
                <a:spLocks noRot="1" noChangeAspect="1" noMove="1" noResize="1" noEditPoints="1" noAdjustHandles="1" noChangeArrowheads="1" noChangeShapeType="1" noTextEdit="1"/>
              </p:cNvSpPr>
              <p:nvPr/>
            </p:nvSpPr>
            <p:spPr>
              <a:xfrm>
                <a:off x="8046720" y="2423160"/>
                <a:ext cx="3657600" cy="502920"/>
              </a:xfrm>
              <a:prstGeom prst="rect">
                <a:avLst/>
              </a:prstGeom>
              <a:blipFill>
                <a:blip r:embed="rId5"/>
                <a:stretch>
                  <a:fillRect/>
                </a:stretch>
              </a:blipFill>
              <a:ln/>
            </p:spPr>
            <p:txBody>
              <a:bodyPr/>
              <a:lstStyle/>
              <a:p>
                <a:r>
                  <a:rPr lang="es-CL">
                    <a:noFill/>
                  </a:rPr>
                  <a:t> </a:t>
                </a:r>
              </a:p>
            </p:txBody>
          </p:sp>
        </mc:Fallback>
      </mc:AlternateContent>
      <p:sp>
        <p:nvSpPr>
          <p:cNvPr id="19" name="Shape 17"/>
          <p:cNvSpPr/>
          <p:nvPr/>
        </p:nvSpPr>
        <p:spPr>
          <a:xfrm>
            <a:off x="6995160" y="2670048"/>
            <a:ext cx="1051560" cy="0"/>
          </a:xfrm>
          <a:prstGeom prst="line">
            <a:avLst/>
          </a:prstGeom>
          <a:noFill/>
          <a:ln w="19050">
            <a:solidFill>
              <a:srgbClr val="4A6FA5"/>
            </a:solidFill>
            <a:prstDash val="solid"/>
            <a:tailEnd type="triangle"/>
          </a:ln>
        </p:spPr>
        <p:txBody>
          <a:bodyPr/>
          <a:lstStyle/>
          <a:p>
            <a:endParaRPr lang="es-CL" noProof="0" dirty="0"/>
          </a:p>
        </p:txBody>
      </p:sp>
      <p:sp>
        <p:nvSpPr>
          <p:cNvPr id="20" name="Shape 18"/>
          <p:cNvSpPr/>
          <p:nvPr/>
        </p:nvSpPr>
        <p:spPr>
          <a:xfrm>
            <a:off x="8046720" y="3063240"/>
            <a:ext cx="3657600" cy="502920"/>
          </a:xfrm>
          <a:prstGeom prst="rect">
            <a:avLst/>
          </a:prstGeom>
          <a:solidFill>
            <a:srgbClr val="F5F7FA"/>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21" name="Text 19"/>
              <p:cNvSpPr/>
              <p:nvPr/>
            </p:nvSpPr>
            <p:spPr>
              <a:xfrm>
                <a:off x="8046720" y="306324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Prestaciones sociales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libri" pitchFamily="34" charset="-122"/>
                                <a:cs typeface="Calibri" pitchFamily="34" charset="-120"/>
                              </a:rPr>
                              <m:t>𝑷𝑹𝑬𝑺𝑻𝑺𝑶𝑪</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𝒇</m:t>
                            </m:r>
                          </m:sup>
                        </m:sSup>
                      </m:e>
                    </m:d>
                  </m:oMath>
                </a14:m>
                <a:endParaRPr lang="es-CL" sz="1100" noProof="0" dirty="0"/>
              </a:p>
            </p:txBody>
          </p:sp>
        </mc:Choice>
        <mc:Fallback xmlns="">
          <p:sp>
            <p:nvSpPr>
              <p:cNvPr id="21" name="Text 19"/>
              <p:cNvSpPr>
                <a:spLocks noRot="1" noChangeAspect="1" noMove="1" noResize="1" noEditPoints="1" noAdjustHandles="1" noChangeArrowheads="1" noChangeShapeType="1" noTextEdit="1"/>
              </p:cNvSpPr>
              <p:nvPr/>
            </p:nvSpPr>
            <p:spPr>
              <a:xfrm>
                <a:off x="8046720" y="3063240"/>
                <a:ext cx="3657600" cy="502920"/>
              </a:xfrm>
              <a:prstGeom prst="rect">
                <a:avLst/>
              </a:prstGeom>
              <a:blipFill>
                <a:blip r:embed="rId6"/>
                <a:stretch>
                  <a:fillRect/>
                </a:stretch>
              </a:blipFill>
              <a:ln/>
            </p:spPr>
            <p:txBody>
              <a:bodyPr/>
              <a:lstStyle/>
              <a:p>
                <a:r>
                  <a:rPr lang="es-CL">
                    <a:noFill/>
                  </a:rPr>
                  <a:t> </a:t>
                </a:r>
              </a:p>
            </p:txBody>
          </p:sp>
        </mc:Fallback>
      </mc:AlternateContent>
      <p:sp>
        <p:nvSpPr>
          <p:cNvPr id="22" name="Shape 20"/>
          <p:cNvSpPr/>
          <p:nvPr/>
        </p:nvSpPr>
        <p:spPr>
          <a:xfrm>
            <a:off x="6995160" y="3310128"/>
            <a:ext cx="1051560" cy="0"/>
          </a:xfrm>
          <a:prstGeom prst="line">
            <a:avLst/>
          </a:prstGeom>
          <a:noFill/>
          <a:ln w="19050">
            <a:solidFill>
              <a:srgbClr val="4A6FA5"/>
            </a:solidFill>
            <a:prstDash val="solid"/>
            <a:tailEnd type="triangle"/>
          </a:ln>
        </p:spPr>
        <p:txBody>
          <a:bodyPr/>
          <a:lstStyle/>
          <a:p>
            <a:endParaRPr lang="es-CL" noProof="0" dirty="0"/>
          </a:p>
        </p:txBody>
      </p:sp>
      <p:sp>
        <p:nvSpPr>
          <p:cNvPr id="23" name="Shape 21"/>
          <p:cNvSpPr/>
          <p:nvPr/>
        </p:nvSpPr>
        <p:spPr>
          <a:xfrm>
            <a:off x="8046720" y="3703320"/>
            <a:ext cx="3657600" cy="502920"/>
          </a:xfrm>
          <a:prstGeom prst="rect">
            <a:avLst/>
          </a:prstGeom>
          <a:solidFill>
            <a:srgbClr val="F5F7FA"/>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24" name="Text 22"/>
              <p:cNvSpPr/>
              <p:nvPr/>
            </p:nvSpPr>
            <p:spPr>
              <a:xfrm>
                <a:off x="8046720" y="370332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Transferencias al gobierno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bSup>
                          <m:sSub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bSupPr>
                          <m:e>
                            <m:r>
                              <a:rPr lang="es-CL" sz="1100" b="1" i="1" noProof="0" smtClean="0">
                                <a:solidFill>
                                  <a:srgbClr val="1E2761"/>
                                </a:solidFill>
                                <a:latin typeface="Cambria Math" panose="02040503050406030204" pitchFamily="18" charset="0"/>
                                <a:ea typeface="Calibri" pitchFamily="34" charset="-122"/>
                                <a:cs typeface="Calibri" pitchFamily="34" charset="-120"/>
                              </a:rPr>
                              <m:t>𝑻𝑹</m:t>
                            </m:r>
                          </m:e>
                          <m:sub>
                            <m:r>
                              <a:rPr lang="es-CL" sz="1100" b="1" i="1" noProof="0" smtClean="0">
                                <a:solidFill>
                                  <a:srgbClr val="1E2761"/>
                                </a:solidFill>
                                <a:latin typeface="Cambria Math" panose="02040503050406030204" pitchFamily="18" charset="0"/>
                                <a:ea typeface="Calibri" pitchFamily="34" charset="-122"/>
                                <a:cs typeface="Calibri" pitchFamily="34" charset="-120"/>
                              </a:rPr>
                              <m:t>𝑮</m:t>
                            </m:r>
                          </m:sub>
                          <m:sup>
                            <m:r>
                              <a:rPr lang="es-CL" sz="1100" b="1" i="1" noProof="0" smtClean="0">
                                <a:solidFill>
                                  <a:srgbClr val="1E2761"/>
                                </a:solidFill>
                                <a:latin typeface="Cambria Math" panose="02040503050406030204" pitchFamily="18" charset="0"/>
                                <a:ea typeface="Calibri" pitchFamily="34" charset="-122"/>
                                <a:cs typeface="Calibri" pitchFamily="34" charset="-120"/>
                              </a:rPr>
                              <m:t>𝒇</m:t>
                            </m:r>
                          </m:sup>
                        </m:sSubSup>
                      </m:e>
                    </m:d>
                  </m:oMath>
                </a14:m>
                <a:endParaRPr lang="es-CL" sz="1100" noProof="0" dirty="0"/>
              </a:p>
            </p:txBody>
          </p:sp>
        </mc:Choice>
        <mc:Fallback xmlns="">
          <p:sp>
            <p:nvSpPr>
              <p:cNvPr id="24" name="Text 22"/>
              <p:cNvSpPr>
                <a:spLocks noRot="1" noChangeAspect="1" noMove="1" noResize="1" noEditPoints="1" noAdjustHandles="1" noChangeArrowheads="1" noChangeShapeType="1" noTextEdit="1"/>
              </p:cNvSpPr>
              <p:nvPr/>
            </p:nvSpPr>
            <p:spPr>
              <a:xfrm>
                <a:off x="8046720" y="3703320"/>
                <a:ext cx="3657600" cy="502920"/>
              </a:xfrm>
              <a:prstGeom prst="rect">
                <a:avLst/>
              </a:prstGeom>
              <a:blipFill>
                <a:blip r:embed="rId7"/>
                <a:stretch>
                  <a:fillRect/>
                </a:stretch>
              </a:blipFill>
              <a:ln/>
            </p:spPr>
            <p:txBody>
              <a:bodyPr/>
              <a:lstStyle/>
              <a:p>
                <a:r>
                  <a:rPr lang="es-CL">
                    <a:noFill/>
                  </a:rPr>
                  <a:t> </a:t>
                </a:r>
              </a:p>
            </p:txBody>
          </p:sp>
        </mc:Fallback>
      </mc:AlternateContent>
      <p:sp>
        <p:nvSpPr>
          <p:cNvPr id="25" name="Shape 23"/>
          <p:cNvSpPr/>
          <p:nvPr/>
        </p:nvSpPr>
        <p:spPr>
          <a:xfrm>
            <a:off x="6995160" y="3950208"/>
            <a:ext cx="1051560" cy="0"/>
          </a:xfrm>
          <a:prstGeom prst="line">
            <a:avLst/>
          </a:prstGeom>
          <a:noFill/>
          <a:ln w="19050">
            <a:solidFill>
              <a:srgbClr val="4A6FA5"/>
            </a:solidFill>
            <a:prstDash val="solid"/>
            <a:tailEnd type="triangle"/>
          </a:ln>
        </p:spPr>
        <p:txBody>
          <a:bodyPr/>
          <a:lstStyle/>
          <a:p>
            <a:endParaRPr lang="es-CL" noProof="0" dirty="0"/>
          </a:p>
        </p:txBody>
      </p:sp>
      <p:sp>
        <p:nvSpPr>
          <p:cNvPr id="26" name="Shape 24"/>
          <p:cNvSpPr/>
          <p:nvPr/>
        </p:nvSpPr>
        <p:spPr>
          <a:xfrm>
            <a:off x="8046720" y="4343400"/>
            <a:ext cx="3657600" cy="502920"/>
          </a:xfrm>
          <a:prstGeom prst="rect">
            <a:avLst/>
          </a:prstGeom>
          <a:solidFill>
            <a:srgbClr val="D4A82A"/>
          </a:solidFill>
          <a:ln w="12700">
            <a:solidFill>
              <a:srgbClr val="E2E8F0"/>
            </a:solidFill>
            <a:prstDash val="solid"/>
          </a:ln>
        </p:spPr>
        <p:txBody>
          <a:bodyPr/>
          <a:lstStyle/>
          <a:p>
            <a:endParaRPr lang="es-CL" noProof="0" dirty="0"/>
          </a:p>
        </p:txBody>
      </p:sp>
      <p:sp>
        <p:nvSpPr>
          <p:cNvPr id="27" name="Text 25"/>
          <p:cNvSpPr/>
          <p:nvPr/>
        </p:nvSpPr>
        <p:spPr>
          <a:xfrm>
            <a:off x="8046720" y="434340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Ahorro corporativo (SAV_F · residuo)</a:t>
            </a:r>
            <a:endParaRPr lang="es-CL" sz="1100" noProof="0" dirty="0"/>
          </a:p>
        </p:txBody>
      </p:sp>
      <p:sp>
        <p:nvSpPr>
          <p:cNvPr id="28" name="Shape 26"/>
          <p:cNvSpPr/>
          <p:nvPr/>
        </p:nvSpPr>
        <p:spPr>
          <a:xfrm>
            <a:off x="6995160" y="4590288"/>
            <a:ext cx="1051560" cy="0"/>
          </a:xfrm>
          <a:prstGeom prst="line">
            <a:avLst/>
          </a:prstGeom>
          <a:noFill/>
          <a:ln w="19050">
            <a:solidFill>
              <a:srgbClr val="4A6FA5"/>
            </a:solidFill>
            <a:prstDash val="solid"/>
            <a:tailEnd type="triangle"/>
          </a:ln>
        </p:spPr>
        <p:txBody>
          <a:bodyPr/>
          <a:lstStyle/>
          <a:p>
            <a:endParaRPr lang="es-CL" noProof="0" dirty="0"/>
          </a:p>
        </p:txBody>
      </p:sp>
      <p:sp>
        <p:nvSpPr>
          <p:cNvPr id="29" name="Shape 27"/>
          <p:cNvSpPr/>
          <p:nvPr/>
        </p:nvSpPr>
        <p:spPr>
          <a:xfrm>
            <a:off x="640080" y="5166360"/>
            <a:ext cx="11064240" cy="1143000"/>
          </a:xfrm>
          <a:prstGeom prst="rect">
            <a:avLst/>
          </a:prstGeom>
          <a:solidFill>
            <a:srgbClr val="C2562E"/>
          </a:solidFill>
          <a:ln w="12700">
            <a:solidFill>
              <a:srgbClr val="C2562E"/>
            </a:solidFill>
            <a:prstDash val="solid"/>
          </a:ln>
        </p:spPr>
        <p:txBody>
          <a:bodyPr/>
          <a:lstStyle/>
          <a:p>
            <a:endParaRPr lang="es-CL" noProof="0" dirty="0"/>
          </a:p>
        </p:txBody>
      </p:sp>
      <p:sp>
        <p:nvSpPr>
          <p:cNvPr id="30" name="Text 28"/>
          <p:cNvSpPr/>
          <p:nvPr/>
        </p:nvSpPr>
        <p:spPr>
          <a:xfrm>
            <a:off x="868680" y="5212080"/>
            <a:ext cx="10607040" cy="1051560"/>
          </a:xfrm>
          <a:prstGeom prst="rect">
            <a:avLst/>
          </a:prstGeom>
          <a:noFill/>
          <a:ln/>
        </p:spPr>
        <p:txBody>
          <a:bodyPr wrap="square" lIns="0" tIns="0" rIns="0" bIns="0" rtlCol="0" anchor="ctr"/>
          <a:lstStyle/>
          <a:p>
            <a:pPr marL="0" indent="0" algn="l">
              <a:buNone/>
            </a:pPr>
            <a:r>
              <a:rPr lang="es-CL" sz="1200" b="1" noProof="0" dirty="0">
                <a:solidFill>
                  <a:srgbClr val="FFFFFF"/>
                </a:solidFill>
                <a:latin typeface="Calibri" pitchFamily="34" charset="0"/>
                <a:ea typeface="Calibri" pitchFamily="34" charset="-122"/>
                <a:cs typeface="Calibri" pitchFamily="34" charset="-120"/>
              </a:rPr>
              <a:t>Lectura importante para política tributaria: </a:t>
            </a:r>
            <a:r>
              <a:rPr lang="es-CL" sz="1200" noProof="0" dirty="0">
                <a:solidFill>
                  <a:srgbClr val="FFFFFF"/>
                </a:solidFill>
                <a:latin typeface="Calibri" pitchFamily="34" charset="0"/>
                <a:ea typeface="Calibri" pitchFamily="34" charset="-122"/>
                <a:cs typeface="Calibri" pitchFamily="34" charset="-120"/>
              </a:rPr>
              <a:t>el IDPC se modela sobre la renta del capital a nivel institucional, </a:t>
            </a:r>
            <a:r>
              <a:rPr lang="es-CL" sz="1200" b="1" i="1" noProof="0" dirty="0">
                <a:solidFill>
                  <a:srgbClr val="FFFFFF"/>
                </a:solidFill>
                <a:latin typeface="Calibri" pitchFamily="34" charset="0"/>
                <a:ea typeface="Calibri" pitchFamily="34" charset="-122"/>
                <a:cs typeface="Calibri" pitchFamily="34" charset="-120"/>
              </a:rPr>
              <a:t>no</a:t>
            </a:r>
            <a:r>
              <a:rPr lang="es-CL" sz="1200" noProof="0" dirty="0">
                <a:solidFill>
                  <a:srgbClr val="FFFFFF"/>
                </a:solidFill>
                <a:latin typeface="Calibri" pitchFamily="34" charset="0"/>
                <a:ea typeface="Calibri" pitchFamily="34" charset="-122"/>
                <a:cs typeface="Calibri" pitchFamily="34" charset="-120"/>
              </a:rPr>
              <a:t> usando como base imponible RLI (en este modelo por definición la RLI es 0).</a:t>
            </a:r>
            <a:endParaRPr lang="es-CL" sz="1200" noProof="0" dirty="0"/>
          </a:p>
        </p:txBody>
      </p:sp>
      <p:sp>
        <p:nvSpPr>
          <p:cNvPr id="31" name="Text 29"/>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Gobierno y bloque ahorro–inversión</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El gobierno opera como sistema contable; el cierre ahorro-inversión ya no es puramente neoclásico.</a:t>
            </a:r>
            <a:endParaRPr lang="es-CL" sz="1300" noProof="0" dirty="0"/>
          </a:p>
        </p:txBody>
      </p:sp>
      <p:sp>
        <p:nvSpPr>
          <p:cNvPr id="6" name="Shape 4"/>
          <p:cNvSpPr/>
          <p:nvPr/>
        </p:nvSpPr>
        <p:spPr>
          <a:xfrm>
            <a:off x="640080" y="1554480"/>
            <a:ext cx="5486400" cy="47548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4754880"/>
          </a:xfrm>
          <a:prstGeom prst="rect">
            <a:avLst/>
          </a:prstGeom>
          <a:solidFill>
            <a:srgbClr val="1E2761"/>
          </a:solidFill>
          <a:ln w="12700">
            <a:solidFill>
              <a:srgbClr val="1E2761"/>
            </a:solidFill>
            <a:prstDash val="solid"/>
          </a:ln>
        </p:spPr>
        <p:txBody>
          <a:bodyPr/>
          <a:lstStyle/>
          <a:p>
            <a:endParaRPr lang="es-CL" noProof="0" dirty="0"/>
          </a:p>
        </p:txBody>
      </p:sp>
      <p:sp>
        <p:nvSpPr>
          <p:cNvPr id="8" name="Text 6"/>
          <p:cNvSpPr/>
          <p:nvPr/>
        </p:nvSpPr>
        <p:spPr>
          <a:xfrm>
            <a:off x="86868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1E2761"/>
                </a:solidFill>
                <a:latin typeface="Cambria" pitchFamily="34" charset="0"/>
                <a:ea typeface="Cambria" pitchFamily="34" charset="-122"/>
                <a:cs typeface="Cambria" pitchFamily="34" charset="-120"/>
              </a:rPr>
              <a:t>Gobierno</a:t>
            </a:r>
            <a:endParaRPr lang="es-CL" sz="1800" noProof="0" dirty="0"/>
          </a:p>
        </p:txBody>
      </p:sp>
      <p:sp>
        <p:nvSpPr>
          <p:cNvPr id="9" name="Text 7"/>
          <p:cNvSpPr/>
          <p:nvPr/>
        </p:nvSpPr>
        <p:spPr>
          <a:xfrm>
            <a:off x="868680" y="2148840"/>
            <a:ext cx="5120640" cy="320040"/>
          </a:xfrm>
          <a:prstGeom prst="rect">
            <a:avLst/>
          </a:prstGeom>
          <a:noFill/>
          <a:ln/>
        </p:spPr>
        <p:txBody>
          <a:bodyPr wrap="square" lIns="0" tIns="0" rIns="0" bIns="0" rtlCol="0" anchor="ctr"/>
          <a:lstStyle/>
          <a:p>
            <a:pPr marL="0" indent="0" algn="l">
              <a:buNone/>
            </a:pPr>
            <a:r>
              <a:rPr lang="es-CL" sz="1100" i="1" noProof="0" dirty="0">
                <a:solidFill>
                  <a:srgbClr val="64748B"/>
                </a:solidFill>
                <a:latin typeface="Calibri" pitchFamily="34" charset="0"/>
                <a:ea typeface="Calibri" pitchFamily="34" charset="-122"/>
                <a:cs typeface="Calibri" pitchFamily="34" charset="-120"/>
              </a:rPr>
              <a:t>Sistema contable de cierre macroeconómico</a:t>
            </a:r>
            <a:endParaRPr lang="es-CL" sz="1100" noProof="0" dirty="0"/>
          </a:p>
        </p:txBody>
      </p:sp>
      <p:sp>
        <p:nvSpPr>
          <p:cNvPr id="10" name="Text 8"/>
          <p:cNvSpPr/>
          <p:nvPr/>
        </p:nvSpPr>
        <p:spPr>
          <a:xfrm>
            <a:off x="868680" y="2514600"/>
            <a:ext cx="5029200" cy="3749040"/>
          </a:xfrm>
          <a:prstGeom prst="rect">
            <a:avLst/>
          </a:prstGeom>
          <a:noFill/>
          <a:ln/>
        </p:spPr>
        <p:txBody>
          <a:bodyPr wrap="square" lIns="0" tIns="0" rIns="0" bIns="0" rtlCol="0" anchor="t"/>
          <a:lstStyle/>
          <a:p>
            <a:pPr marL="0" indent="0" algn="l">
              <a:spcAft>
                <a:spcPts val="200"/>
              </a:spcAft>
              <a:buNone/>
            </a:pPr>
            <a:r>
              <a:rPr lang="es-CL" sz="1200" b="1" noProof="0" dirty="0">
                <a:solidFill>
                  <a:srgbClr val="1E2761"/>
                </a:solidFill>
                <a:latin typeface="Calibri" pitchFamily="34" charset="0"/>
                <a:ea typeface="Calibri" pitchFamily="34" charset="-122"/>
                <a:cs typeface="Calibri" pitchFamily="34" charset="-120"/>
              </a:rPr>
              <a:t>Ingresos:</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PIT, IDPC/FIT, IVA, impuestos a la producción, específicos, aranceles</a:t>
            </a:r>
            <a:endParaRPr lang="es-CL" sz="1200" noProof="0" dirty="0"/>
          </a:p>
          <a:p>
            <a:pPr marL="0" indent="0" algn="l">
              <a:spcAft>
                <a:spcPts val="200"/>
              </a:spcAft>
              <a:buNone/>
            </a:pPr>
            <a:r>
              <a:rPr lang="es-CL" sz="400" noProof="0" dirty="0">
                <a:solidFill>
                  <a:srgbClr val="2D3748"/>
                </a:solidFill>
                <a:latin typeface="Calibri" pitchFamily="34" charset="0"/>
                <a:ea typeface="Calibri" pitchFamily="34" charset="-122"/>
                <a:cs typeface="Calibri" pitchFamily="34" charset="-120"/>
              </a:rPr>
              <a:t> </a:t>
            </a:r>
            <a:endParaRPr lang="es-CL" sz="1200" noProof="0" dirty="0"/>
          </a:p>
          <a:p>
            <a:pPr marL="0" indent="0" algn="l">
              <a:spcAft>
                <a:spcPts val="200"/>
              </a:spcAft>
              <a:buNone/>
            </a:pPr>
            <a:r>
              <a:rPr lang="es-CL" sz="1200" b="1" noProof="0" dirty="0">
                <a:solidFill>
                  <a:srgbClr val="1E2761"/>
                </a:solidFill>
                <a:latin typeface="Calibri" pitchFamily="34" charset="0"/>
                <a:ea typeface="Calibri" pitchFamily="34" charset="-122"/>
                <a:cs typeface="Calibri" pitchFamily="34" charset="-120"/>
              </a:rPr>
              <a:t>Gastos:</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Gasto público fijo en bienes (</a:t>
            </a:r>
            <a:r>
              <a:rPr lang="es-CL" sz="1100" noProof="0" dirty="0" err="1">
                <a:solidFill>
                  <a:srgbClr val="2D3748"/>
                </a:solidFill>
                <a:latin typeface="Calibri" pitchFamily="34" charset="0"/>
                <a:ea typeface="Calibri" pitchFamily="34" charset="-122"/>
                <a:cs typeface="Calibri" pitchFamily="34" charset="-120"/>
              </a:rPr>
              <a:t>GG_p</a:t>
            </a:r>
            <a:r>
              <a:rPr lang="es-CL" sz="1100" noProof="0" dirty="0">
                <a:solidFill>
                  <a:srgbClr val="2D3748"/>
                </a:solidFill>
                <a:latin typeface="Calibri" pitchFamily="34" charset="0"/>
                <a:ea typeface="Calibri" pitchFamily="34" charset="-122"/>
                <a:cs typeface="Calibri" pitchFamily="34" charset="-120"/>
              </a:rPr>
              <a:t>)</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Transferencias y prestaciones sociales</a:t>
            </a:r>
            <a:endParaRPr lang="es-CL" sz="1200" noProof="0" dirty="0"/>
          </a:p>
          <a:p>
            <a:pPr marL="0" indent="0" algn="l">
              <a:spcAft>
                <a:spcPts val="200"/>
              </a:spcAft>
              <a:buNone/>
            </a:pPr>
            <a:r>
              <a:rPr lang="es-CL" sz="400" noProof="0" dirty="0">
                <a:solidFill>
                  <a:srgbClr val="2D3748"/>
                </a:solidFill>
                <a:latin typeface="Calibri" pitchFamily="34" charset="0"/>
                <a:ea typeface="Calibri" pitchFamily="34" charset="-122"/>
                <a:cs typeface="Calibri" pitchFamily="34" charset="-120"/>
              </a:rPr>
              <a:t> </a:t>
            </a:r>
            <a:endParaRPr lang="es-CL" sz="1200" noProof="0" dirty="0"/>
          </a:p>
          <a:p>
            <a:pPr marL="0" indent="0" algn="l">
              <a:spcAft>
                <a:spcPts val="200"/>
              </a:spcAft>
              <a:buNone/>
            </a:pPr>
            <a:r>
              <a:rPr lang="es-CL" sz="1200" b="1" noProof="0" dirty="0">
                <a:solidFill>
                  <a:srgbClr val="1E2761"/>
                </a:solidFill>
                <a:latin typeface="Calibri" pitchFamily="34" charset="0"/>
                <a:ea typeface="Calibri" pitchFamily="34" charset="-122"/>
                <a:cs typeface="Calibri" pitchFamily="34" charset="-120"/>
              </a:rPr>
              <a:t>Cierre:</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SAV_G como residuo: ahorro fiscal</a:t>
            </a:r>
            <a:endParaRPr lang="es-CL" sz="1200" noProof="0" dirty="0"/>
          </a:p>
        </p:txBody>
      </p:sp>
      <p:sp>
        <p:nvSpPr>
          <p:cNvPr id="11" name="Shape 9"/>
          <p:cNvSpPr/>
          <p:nvPr/>
        </p:nvSpPr>
        <p:spPr>
          <a:xfrm>
            <a:off x="6309360" y="1554480"/>
            <a:ext cx="5486400" cy="475488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6309360" y="1554480"/>
            <a:ext cx="73152" cy="4754880"/>
          </a:xfrm>
          <a:prstGeom prst="rect">
            <a:avLst/>
          </a:prstGeom>
          <a:solidFill>
            <a:srgbClr val="D4A82A"/>
          </a:solidFill>
          <a:ln w="12700">
            <a:solidFill>
              <a:srgbClr val="D4A82A"/>
            </a:solidFill>
            <a:prstDash val="solid"/>
          </a:ln>
        </p:spPr>
        <p:txBody>
          <a:bodyPr/>
          <a:lstStyle/>
          <a:p>
            <a:endParaRPr lang="es-CL" noProof="0" dirty="0"/>
          </a:p>
        </p:txBody>
      </p:sp>
      <p:sp>
        <p:nvSpPr>
          <p:cNvPr id="13" name="Text 11"/>
          <p:cNvSpPr/>
          <p:nvPr/>
        </p:nvSpPr>
        <p:spPr>
          <a:xfrm>
            <a:off x="653796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1E2761"/>
                </a:solidFill>
                <a:latin typeface="Cambria" pitchFamily="34" charset="0"/>
                <a:ea typeface="Cambria" pitchFamily="34" charset="-122"/>
                <a:cs typeface="Cambria" pitchFamily="34" charset="-120"/>
              </a:rPr>
              <a:t>Ahorro–Inversión</a:t>
            </a:r>
            <a:endParaRPr lang="es-CL" sz="1800" noProof="0" dirty="0"/>
          </a:p>
        </p:txBody>
      </p:sp>
      <p:sp>
        <p:nvSpPr>
          <p:cNvPr id="14" name="Text 12"/>
          <p:cNvSpPr/>
          <p:nvPr/>
        </p:nvSpPr>
        <p:spPr>
          <a:xfrm>
            <a:off x="6537960" y="2148840"/>
            <a:ext cx="5120640" cy="320040"/>
          </a:xfrm>
          <a:prstGeom prst="rect">
            <a:avLst/>
          </a:prstGeom>
          <a:noFill/>
          <a:ln/>
        </p:spPr>
        <p:txBody>
          <a:bodyPr wrap="square" lIns="0" tIns="0" rIns="0" bIns="0" rtlCol="0" anchor="ctr"/>
          <a:lstStyle/>
          <a:p>
            <a:pPr marL="0" indent="0" algn="l">
              <a:buNone/>
            </a:pPr>
            <a:r>
              <a:rPr lang="es-CL" sz="1100" i="1" noProof="0" dirty="0">
                <a:solidFill>
                  <a:srgbClr val="64748B"/>
                </a:solidFill>
                <a:latin typeface="Calibri" pitchFamily="34" charset="0"/>
                <a:ea typeface="Calibri" pitchFamily="34" charset="-122"/>
                <a:cs typeface="Calibri" pitchFamily="34" charset="-120"/>
              </a:rPr>
              <a:t>Cierre no neoclásico</a:t>
            </a:r>
            <a:endParaRPr lang="es-CL" sz="1100" noProof="0" dirty="0"/>
          </a:p>
        </p:txBody>
      </p:sp>
      <p:sp>
        <p:nvSpPr>
          <p:cNvPr id="15" name="Text 13"/>
          <p:cNvSpPr/>
          <p:nvPr/>
        </p:nvSpPr>
        <p:spPr>
          <a:xfrm>
            <a:off x="6537960" y="2514600"/>
            <a:ext cx="5029200" cy="3749040"/>
          </a:xfrm>
          <a:prstGeom prst="rect">
            <a:avLst/>
          </a:prstGeom>
          <a:noFill/>
          <a:ln/>
        </p:spPr>
        <p:txBody>
          <a:bodyPr wrap="square" lIns="0" tIns="0" rIns="0" bIns="0" rtlCol="0" anchor="t"/>
          <a:lstStyle/>
          <a:p>
            <a:pPr marL="342900" indent="-342900" algn="l">
              <a:spcAft>
                <a:spcPts val="400"/>
              </a:spcAft>
              <a:buSzPct val="100000"/>
              <a:buChar char="•"/>
            </a:pPr>
            <a:r>
              <a:rPr lang="es-CL" sz="1200" noProof="0" dirty="0">
                <a:solidFill>
                  <a:srgbClr val="2D3748"/>
                </a:solidFill>
                <a:latin typeface="Calibri" pitchFamily="34" charset="0"/>
                <a:ea typeface="Calibri" pitchFamily="34" charset="-122"/>
                <a:cs typeface="Calibri" pitchFamily="34" charset="-120"/>
              </a:rPr>
              <a:t>Inversión pública: fija en su nivel base (</a:t>
            </a:r>
            <a:r>
              <a:rPr lang="es-CL" sz="1200" noProof="0" dirty="0" err="1">
                <a:solidFill>
                  <a:srgbClr val="2D3748"/>
                </a:solidFill>
                <a:latin typeface="Calibri" pitchFamily="34" charset="0"/>
                <a:ea typeface="Calibri" pitchFamily="34" charset="-122"/>
                <a:cs typeface="Calibri" pitchFamily="34" charset="-120"/>
              </a:rPr>
              <a:t>inv_adj_G</a:t>
            </a:r>
            <a:r>
              <a:rPr lang="es-CL" sz="1200" noProof="0" dirty="0">
                <a:solidFill>
                  <a:srgbClr val="2D3748"/>
                </a:solidFill>
                <a:latin typeface="Calibri" pitchFamily="34" charset="0"/>
                <a:ea typeface="Calibri" pitchFamily="34" charset="-122"/>
                <a:cs typeface="Calibri" pitchFamily="34" charset="-120"/>
              </a:rPr>
              <a:t> = 1).</a:t>
            </a:r>
            <a:endParaRPr lang="es-CL" sz="1200" noProof="0" dirty="0"/>
          </a:p>
          <a:p>
            <a:pPr marL="342900" indent="-342900" algn="l">
              <a:spcAft>
                <a:spcPts val="400"/>
              </a:spcAft>
              <a:buSzPct val="100000"/>
              <a:buChar char="•"/>
            </a:pPr>
            <a:r>
              <a:rPr lang="es-CL" sz="1200" noProof="0" dirty="0">
                <a:solidFill>
                  <a:srgbClr val="2D3748"/>
                </a:solidFill>
                <a:latin typeface="Calibri" pitchFamily="34" charset="0"/>
                <a:ea typeface="Calibri" pitchFamily="34" charset="-122"/>
                <a:cs typeface="Calibri" pitchFamily="34" charset="-120"/>
              </a:rPr>
              <a:t>Inversión privada (hogares y firmas): variable, responde al ahorro con amortiguación.</a:t>
            </a:r>
            <a:endParaRPr lang="es-CL" sz="1200" noProof="0" dirty="0"/>
          </a:p>
          <a:p>
            <a:pPr marL="0" indent="0" algn="l">
              <a:spcAft>
                <a:spcPts val="400"/>
              </a:spcAft>
              <a:buNone/>
            </a:pPr>
            <a:r>
              <a:rPr lang="es-CL" sz="400" noProof="0" dirty="0">
                <a:solidFill>
                  <a:srgbClr val="2D3748"/>
                </a:solidFill>
                <a:latin typeface="Calibri" pitchFamily="34" charset="0"/>
                <a:ea typeface="Calibri" pitchFamily="34" charset="-122"/>
                <a:cs typeface="Calibri" pitchFamily="34" charset="-120"/>
              </a:rPr>
              <a:t> </a:t>
            </a:r>
            <a:endParaRPr lang="es-CL" sz="1200" noProof="0" dirty="0"/>
          </a:p>
          <a:p>
            <a:pPr marL="0" indent="0" algn="l">
              <a:spcAft>
                <a:spcPts val="400"/>
              </a:spcAft>
              <a:buNone/>
            </a:pPr>
            <a:r>
              <a:rPr lang="es-CL" sz="1400" b="1" noProof="0" dirty="0">
                <a:solidFill>
                  <a:srgbClr val="C2562E"/>
                </a:solidFill>
                <a:latin typeface="Calibri" pitchFamily="34" charset="0"/>
                <a:ea typeface="Calibri" pitchFamily="34" charset="-122"/>
                <a:cs typeface="Calibri" pitchFamily="34" charset="-120"/>
              </a:rPr>
              <a:t>η = 0.5</a:t>
            </a:r>
            <a:endParaRPr lang="es-CL" sz="1200" noProof="0" dirty="0"/>
          </a:p>
          <a:p>
            <a:pPr marL="0" indent="0" algn="l">
              <a:spcAft>
                <a:spcPts val="400"/>
              </a:spcAft>
              <a:buNone/>
            </a:pPr>
            <a:r>
              <a:rPr lang="es-CL" sz="1100" noProof="0" dirty="0">
                <a:solidFill>
                  <a:srgbClr val="2D3748"/>
                </a:solidFill>
                <a:latin typeface="Calibri" pitchFamily="34" charset="0"/>
                <a:ea typeface="Calibri" pitchFamily="34" charset="-122"/>
                <a:cs typeface="Calibri" pitchFamily="34" charset="-120"/>
              </a:rPr>
              <a:t>Parámetro de amortiguación. Con este valor, la inversión privada responde al ahorro con elasticidad menor que uno.</a:t>
            </a:r>
            <a:endParaRPr lang="es-CL" sz="1200" noProof="0" dirty="0"/>
          </a:p>
        </p:txBody>
      </p:sp>
      <p:sp>
        <p:nvSpPr>
          <p:cNvPr id="16" name="Text 14"/>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Cierre macroeconómico</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Sin esto, los resultados no se interpretan correctamente.</a:t>
            </a:r>
            <a:endParaRPr lang="es-CL" sz="1300" noProof="0" dirty="0"/>
          </a:p>
        </p:txBody>
      </p:sp>
      <p:sp>
        <p:nvSpPr>
          <p:cNvPr id="6" name="Shape 4"/>
          <p:cNvSpPr/>
          <p:nvPr/>
        </p:nvSpPr>
        <p:spPr>
          <a:xfrm>
            <a:off x="640080" y="1563716"/>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86868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1</a:t>
            </a:r>
            <a:endParaRPr lang="es-CL" sz="1800" noProof="0" dirty="0"/>
          </a:p>
        </p:txBody>
      </p:sp>
      <p:sp>
        <p:nvSpPr>
          <p:cNvPr id="9" name="Text 7"/>
          <p:cNvSpPr/>
          <p:nvPr/>
        </p:nvSpPr>
        <p:spPr>
          <a:xfrm>
            <a:off x="82296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Curva salarial </a:t>
            </a:r>
            <a:r>
              <a:rPr lang="es-CL" sz="1300" b="1" noProof="0" dirty="0" err="1">
                <a:solidFill>
                  <a:srgbClr val="1E2761"/>
                </a:solidFill>
                <a:latin typeface="Cambria" pitchFamily="34" charset="0"/>
                <a:ea typeface="Cambria" pitchFamily="34" charset="-122"/>
                <a:cs typeface="Cambria" pitchFamily="34" charset="-120"/>
              </a:rPr>
              <a:t>Blanchflower</a:t>
            </a:r>
            <a:r>
              <a:rPr lang="es-CL" sz="1300" b="1" noProof="0" dirty="0">
                <a:solidFill>
                  <a:srgbClr val="1E2761"/>
                </a:solidFill>
                <a:latin typeface="Cambria" pitchFamily="34" charset="0"/>
                <a:ea typeface="Cambria" pitchFamily="34" charset="-122"/>
                <a:cs typeface="Cambria" pitchFamily="34" charset="-120"/>
              </a:rPr>
              <a:t>–Oswald</a:t>
            </a:r>
            <a:endParaRPr lang="es-CL" sz="1300" noProof="0" dirty="0"/>
          </a:p>
        </p:txBody>
      </p:sp>
      <mc:AlternateContent xmlns:mc="http://schemas.openxmlformats.org/markup-compatibility/2006" xmlns:a14="http://schemas.microsoft.com/office/drawing/2010/main">
        <mc:Choice Requires="a14">
          <p:sp>
            <p:nvSpPr>
              <p:cNvPr id="10" name="Text 8"/>
              <p:cNvSpPr/>
              <p:nvPr/>
            </p:nvSpPr>
            <p:spPr>
              <a:xfrm>
                <a:off x="82296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r>
                        <a:rPr lang="es-CL" sz="1100" b="0" i="1" noProof="0" smtClean="0">
                          <a:solidFill>
                            <a:srgbClr val="2D3748"/>
                          </a:solidFill>
                          <a:latin typeface="Cambria Math" panose="02040503050406030204" pitchFamily="18" charset="0"/>
                          <a:ea typeface="Calibri" pitchFamily="34" charset="-122"/>
                          <a:cs typeface="Calibri" pitchFamily="34" charset="-120"/>
                        </a:rPr>
                        <m:t>𝑤</m:t>
                      </m:r>
                      <m:r>
                        <a:rPr lang="es-CL" sz="1100" b="0" i="1" noProof="0" smtClean="0">
                          <a:solidFill>
                            <a:srgbClr val="2D3748"/>
                          </a:solidFill>
                          <a:latin typeface="Cambria Math" panose="02040503050406030204" pitchFamily="18" charset="0"/>
                          <a:ea typeface="Calibri" pitchFamily="34" charset="-122"/>
                          <a:cs typeface="Calibri" pitchFamily="34" charset="-120"/>
                        </a:rPr>
                        <m:t>=</m:t>
                      </m:r>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𝑤</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𝑝𝑜𝑡</m:t>
                          </m:r>
                        </m:sup>
                      </m:sSup>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d>
                            <m:d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dPr>
                            <m:e>
                              <m:f>
                                <m:f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fPr>
                                <m:num>
                                  <m:r>
                                    <a:rPr lang="es-CL" sz="1100" b="0" i="1" noProof="0" smtClean="0">
                                      <a:solidFill>
                                        <a:srgbClr val="2D3748"/>
                                      </a:solidFill>
                                      <a:latin typeface="Cambria Math" panose="02040503050406030204" pitchFamily="18" charset="0"/>
                                      <a:ea typeface="Calibri" pitchFamily="34" charset="-122"/>
                                      <a:cs typeface="Calibri" pitchFamily="34" charset="-120"/>
                                    </a:rPr>
                                    <m:t>𝐿𝐷</m:t>
                                  </m:r>
                                </m:num>
                                <m:den>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𝐿</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𝐹𝑂𝑅𝐶𝐸</m:t>
                                      </m:r>
                                    </m:sup>
                                  </m:sSup>
                                </m:den>
                              </m:f>
                            </m:e>
                          </m:d>
                        </m:e>
                        <m:sup>
                          <m:r>
                            <a:rPr lang="es-CL" sz="1100" b="0" i="1" noProof="0" smtClean="0">
                              <a:solidFill>
                                <a:srgbClr val="2D3748"/>
                              </a:solidFill>
                              <a:latin typeface="Cambria Math" panose="02040503050406030204" pitchFamily="18" charset="0"/>
                              <a:ea typeface="Cambria Math" panose="02040503050406030204" pitchFamily="18" charset="0"/>
                              <a:cs typeface="Calibri" pitchFamily="34" charset="-120"/>
                            </a:rPr>
                            <m:t>𝜙</m:t>
                          </m:r>
                        </m:sup>
                      </m:sSup>
                    </m:oMath>
                  </m:oMathPara>
                </a14:m>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φ = 0.1</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Sustituye el supuesto de pleno empleo.</a:t>
                </a:r>
              </a:p>
              <a:p>
                <a:pPr marL="0" indent="0" algn="l">
                  <a:buNone/>
                </a:pPr>
                <a:r>
                  <a:rPr lang="es-CL" sz="1100" noProof="0" dirty="0"/>
                  <a:t>Con LD como demanda agregada de trabajo y </a:t>
                </a:r>
                <a14:m>
                  <m:oMath xmlns:m="http://schemas.openxmlformats.org/officeDocument/2006/math">
                    <m:sSup>
                      <m:sSupPr>
                        <m:ctrlPr>
                          <a:rPr lang="es-CL" sz="1100" i="1" noProof="0" smtClean="0">
                            <a:latin typeface="Cambria Math" panose="02040503050406030204" pitchFamily="18" charset="0"/>
                          </a:rPr>
                        </m:ctrlPr>
                      </m:sSupPr>
                      <m:e>
                        <m:r>
                          <a:rPr lang="es-CL" sz="1100" b="0" i="1" noProof="0" smtClean="0">
                            <a:latin typeface="Cambria Math" panose="02040503050406030204" pitchFamily="18" charset="0"/>
                          </a:rPr>
                          <m:t>𝐿</m:t>
                        </m:r>
                      </m:e>
                      <m:sup>
                        <m:r>
                          <a:rPr lang="es-CL" sz="1100" b="0" i="1" noProof="0" smtClean="0">
                            <a:latin typeface="Cambria Math" panose="02040503050406030204" pitchFamily="18" charset="0"/>
                          </a:rPr>
                          <m:t>𝐹𝑂𝑅𝐶𝐸</m:t>
                        </m:r>
                      </m:sup>
                    </m:sSup>
                  </m:oMath>
                </a14:m>
                <a:r>
                  <a:rPr lang="es-CL" sz="1100" noProof="0" dirty="0"/>
                  <a:t> como la fuerza laboral exógena</a:t>
                </a:r>
              </a:p>
            </p:txBody>
          </p:sp>
        </mc:Choice>
        <mc:Fallback xmlns="">
          <p:sp>
            <p:nvSpPr>
              <p:cNvPr id="10" name="Text 8"/>
              <p:cNvSpPr>
                <a:spLocks noRot="1" noChangeAspect="1" noMove="1" noResize="1" noEditPoints="1" noAdjustHandles="1" noChangeArrowheads="1" noChangeShapeType="1" noTextEdit="1"/>
              </p:cNvSpPr>
              <p:nvPr/>
            </p:nvSpPr>
            <p:spPr>
              <a:xfrm>
                <a:off x="822960" y="3246120"/>
                <a:ext cx="2331720" cy="2103120"/>
              </a:xfrm>
              <a:prstGeom prst="rect">
                <a:avLst/>
              </a:prstGeom>
              <a:blipFill>
                <a:blip r:embed="rId3"/>
                <a:stretch>
                  <a:fillRect l="-3655" t="-290" r="-522"/>
                </a:stretch>
              </a:blipFill>
              <a:ln/>
            </p:spPr>
            <p:txBody>
              <a:bodyPr/>
              <a:lstStyle/>
              <a:p>
                <a:r>
                  <a:rPr lang="es-CL">
                    <a:noFill/>
                  </a:rPr>
                  <a:t> </a:t>
                </a:r>
              </a:p>
            </p:txBody>
          </p:sp>
        </mc:Fallback>
      </mc:AlternateContent>
      <p:sp>
        <p:nvSpPr>
          <p:cNvPr id="11" name="Shape 9"/>
          <p:cNvSpPr/>
          <p:nvPr/>
        </p:nvSpPr>
        <p:spPr>
          <a:xfrm>
            <a:off x="3474720" y="1554480"/>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370332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13" name="Text 11"/>
          <p:cNvSpPr/>
          <p:nvPr/>
        </p:nvSpPr>
        <p:spPr>
          <a:xfrm>
            <a:off x="370332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2</a:t>
            </a:r>
            <a:endParaRPr lang="es-CL" sz="1800" noProof="0" dirty="0"/>
          </a:p>
        </p:txBody>
      </p:sp>
      <p:sp>
        <p:nvSpPr>
          <p:cNvPr id="14" name="Text 12"/>
          <p:cNvSpPr/>
          <p:nvPr/>
        </p:nvSpPr>
        <p:spPr>
          <a:xfrm>
            <a:off x="365760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Desempleo endógeno</a:t>
            </a:r>
            <a:endParaRPr lang="es-CL" sz="1300" noProof="0" dirty="0"/>
          </a:p>
        </p:txBody>
      </p:sp>
      <mc:AlternateContent xmlns:mc="http://schemas.openxmlformats.org/markup-compatibility/2006" xmlns:a14="http://schemas.microsoft.com/office/drawing/2010/main">
        <mc:Choice Requires="a14">
          <p:sp>
            <p:nvSpPr>
              <p:cNvPr id="15" name="Text 13"/>
              <p:cNvSpPr/>
              <p:nvPr/>
            </p:nvSpPr>
            <p:spPr>
              <a:xfrm>
                <a:off x="365760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r>
                        <a:rPr lang="es-CL" sz="1100" b="0" i="1" noProof="0" smtClean="0">
                          <a:solidFill>
                            <a:srgbClr val="2D3748"/>
                          </a:solidFill>
                          <a:latin typeface="Cambria Math" panose="02040503050406030204" pitchFamily="18" charset="0"/>
                          <a:ea typeface="Calibri" pitchFamily="34" charset="-122"/>
                          <a:cs typeface="Calibri" pitchFamily="34" charset="-120"/>
                        </a:rPr>
                        <m:t>𝑢</m:t>
                      </m:r>
                      <m:r>
                        <a:rPr lang="es-CL" sz="1100" b="0" i="1" noProof="0" smtClean="0">
                          <a:solidFill>
                            <a:srgbClr val="2D3748"/>
                          </a:solidFill>
                          <a:latin typeface="Cambria Math" panose="02040503050406030204" pitchFamily="18" charset="0"/>
                          <a:ea typeface="Calibri" pitchFamily="34" charset="-122"/>
                          <a:cs typeface="Calibri" pitchFamily="34" charset="-120"/>
                        </a:rPr>
                        <m:t>=</m:t>
                      </m:r>
                      <m:f>
                        <m:f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fPr>
                        <m:num>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𝐿</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𝐹𝑂𝑅𝐶𝐸</m:t>
                              </m:r>
                            </m:sup>
                          </m:sSup>
                          <m:r>
                            <a:rPr lang="es-CL" sz="1100" b="0" i="1" noProof="0" smtClean="0">
                              <a:solidFill>
                                <a:srgbClr val="2D3748"/>
                              </a:solidFill>
                              <a:latin typeface="Cambria Math" panose="02040503050406030204" pitchFamily="18" charset="0"/>
                              <a:ea typeface="Calibri" pitchFamily="34" charset="-122"/>
                              <a:cs typeface="Calibri" pitchFamily="34" charset="-120"/>
                            </a:rPr>
                            <m:t>−</m:t>
                          </m:r>
                          <m:r>
                            <a:rPr lang="es-CL" sz="1100" b="0" i="1" noProof="0" smtClean="0">
                              <a:solidFill>
                                <a:srgbClr val="2D3748"/>
                              </a:solidFill>
                              <a:latin typeface="Cambria Math" panose="02040503050406030204" pitchFamily="18" charset="0"/>
                              <a:ea typeface="Calibri" pitchFamily="34" charset="-122"/>
                              <a:cs typeface="Calibri" pitchFamily="34" charset="-120"/>
                            </a:rPr>
                            <m:t>𝐿𝐷</m:t>
                          </m:r>
                        </m:num>
                        <m:den>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𝐿</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𝐹𝑂𝑅𝐶𝐸</m:t>
                              </m:r>
                            </m:sup>
                          </m:sSup>
                        </m:den>
                      </m:f>
                    </m:oMath>
                  </m:oMathPara>
                </a14:m>
                <a:endParaRPr lang="es-CL" sz="1100" noProof="0" dirty="0"/>
              </a:p>
              <a:p>
                <a:pPr marL="0" indent="0" algn="l">
                  <a:buNone/>
                </a:pPr>
                <a:r>
                  <a:rPr lang="es-CL" sz="1100" noProof="0">
                    <a:solidFill>
                      <a:srgbClr val="2D3748"/>
                    </a:solidFill>
                    <a:latin typeface="Calibri" pitchFamily="34" charset="0"/>
                    <a:ea typeface="Calibri" pitchFamily="34" charset="-122"/>
                    <a:cs typeface="Calibri" pitchFamily="34" charset="-120"/>
                  </a:rPr>
                  <a:t>Base 7,6%, 9,9% y 7,8% </a:t>
                </a:r>
                <a:r>
                  <a:rPr lang="es-CL" sz="1100" noProof="0" dirty="0">
                    <a:solidFill>
                      <a:srgbClr val="2D3748"/>
                    </a:solidFill>
                    <a:latin typeface="Calibri" pitchFamily="34" charset="0"/>
                    <a:ea typeface="Calibri" pitchFamily="34" charset="-122"/>
                    <a:cs typeface="Calibri" pitchFamily="34" charset="-120"/>
                  </a:rPr>
                  <a:t>para los 3 tipos de trabajo.</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Los choques se absorben en empleo + salarios.</a:t>
                </a:r>
                <a:endParaRPr lang="es-CL" sz="1100" noProof="0" dirty="0"/>
              </a:p>
            </p:txBody>
          </p:sp>
        </mc:Choice>
        <mc:Fallback xmlns="">
          <p:sp>
            <p:nvSpPr>
              <p:cNvPr id="15" name="Text 13"/>
              <p:cNvSpPr>
                <a:spLocks noRot="1" noChangeAspect="1" noMove="1" noResize="1" noEditPoints="1" noAdjustHandles="1" noChangeArrowheads="1" noChangeShapeType="1" noTextEdit="1"/>
              </p:cNvSpPr>
              <p:nvPr/>
            </p:nvSpPr>
            <p:spPr>
              <a:xfrm>
                <a:off x="3657600" y="3246120"/>
                <a:ext cx="2331720" cy="2103120"/>
              </a:xfrm>
              <a:prstGeom prst="rect">
                <a:avLst/>
              </a:prstGeom>
              <a:blipFill>
                <a:blip r:embed="rId4"/>
                <a:stretch>
                  <a:fillRect l="-3655"/>
                </a:stretch>
              </a:blipFill>
              <a:ln/>
            </p:spPr>
            <p:txBody>
              <a:bodyPr/>
              <a:lstStyle/>
              <a:p>
                <a:r>
                  <a:rPr lang="es-CL">
                    <a:noFill/>
                  </a:rPr>
                  <a:t> </a:t>
                </a:r>
              </a:p>
            </p:txBody>
          </p:sp>
        </mc:Fallback>
      </mc:AlternateContent>
      <p:sp>
        <p:nvSpPr>
          <p:cNvPr id="16" name="Shape 14"/>
          <p:cNvSpPr/>
          <p:nvPr/>
        </p:nvSpPr>
        <p:spPr>
          <a:xfrm>
            <a:off x="6309360" y="1554480"/>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17" name="Shape 15"/>
          <p:cNvSpPr/>
          <p:nvPr/>
        </p:nvSpPr>
        <p:spPr>
          <a:xfrm>
            <a:off x="653796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18" name="Text 16"/>
          <p:cNvSpPr/>
          <p:nvPr/>
        </p:nvSpPr>
        <p:spPr>
          <a:xfrm>
            <a:off x="653796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3</a:t>
            </a:r>
            <a:endParaRPr lang="es-CL" sz="1800" noProof="0" dirty="0"/>
          </a:p>
        </p:txBody>
      </p:sp>
      <p:sp>
        <p:nvSpPr>
          <p:cNvPr id="19" name="Text 17"/>
          <p:cNvSpPr/>
          <p:nvPr/>
        </p:nvSpPr>
        <p:spPr>
          <a:xfrm>
            <a:off x="649224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Ahorro externo fijo</a:t>
            </a:r>
            <a:endParaRPr lang="es-CL" sz="1300" noProof="0" dirty="0"/>
          </a:p>
        </p:txBody>
      </p:sp>
      <mc:AlternateContent xmlns:mc="http://schemas.openxmlformats.org/markup-compatibility/2006" xmlns:a14="http://schemas.microsoft.com/office/drawing/2010/main">
        <mc:Choice Requires="a14">
          <p:sp>
            <p:nvSpPr>
              <p:cNvPr id="20" name="Text 18"/>
              <p:cNvSpPr/>
              <p:nvPr/>
            </p:nvSpPr>
            <p:spPr>
              <a:xfrm>
                <a:off x="649224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𝑆𝐴𝑉</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𝐸𝑋𝑇</m:t>
                          </m:r>
                        </m:sup>
                      </m:sSup>
                      <m:r>
                        <a:rPr lang="es-CL" sz="1100" b="0" i="1" noProof="0" smtClean="0">
                          <a:solidFill>
                            <a:srgbClr val="2D3748"/>
                          </a:solidFill>
                          <a:latin typeface="Cambria Math" panose="02040503050406030204" pitchFamily="18" charset="0"/>
                          <a:ea typeface="Calibri" pitchFamily="34" charset="-122"/>
                          <a:cs typeface="Calibri" pitchFamily="34" charset="-120"/>
                        </a:rPr>
                        <m:t>=</m:t>
                      </m:r>
                      <m:sSubSup>
                        <m:sSub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bSupPr>
                        <m:e>
                          <m:r>
                            <a:rPr lang="es-CL" sz="1100" b="0" i="1" noProof="0" smtClean="0">
                              <a:solidFill>
                                <a:srgbClr val="2D3748"/>
                              </a:solidFill>
                              <a:latin typeface="Cambria Math" panose="02040503050406030204" pitchFamily="18" charset="0"/>
                              <a:ea typeface="Calibri" pitchFamily="34" charset="-122"/>
                              <a:cs typeface="Calibri" pitchFamily="34" charset="-120"/>
                            </a:rPr>
                            <m:t>𝑆𝐴𝑉</m:t>
                          </m:r>
                        </m:e>
                        <m:sub>
                          <m:r>
                            <a:rPr lang="es-CL" sz="1100" b="0" i="1" noProof="0" smtClean="0">
                              <a:solidFill>
                                <a:srgbClr val="2D3748"/>
                              </a:solidFill>
                              <a:latin typeface="Cambria Math" panose="02040503050406030204" pitchFamily="18" charset="0"/>
                              <a:ea typeface="Calibri" pitchFamily="34" charset="-122"/>
                              <a:cs typeface="Calibri" pitchFamily="34" charset="-120"/>
                            </a:rPr>
                            <m:t>𝑡𝑎𝑟𝑔𝑒𝑡</m:t>
                          </m:r>
                        </m:sub>
                        <m:sup>
                          <m:r>
                            <a:rPr lang="es-CL" sz="1100" b="0" i="1" noProof="0" smtClean="0">
                              <a:solidFill>
                                <a:srgbClr val="2D3748"/>
                              </a:solidFill>
                              <a:latin typeface="Cambria Math" panose="02040503050406030204" pitchFamily="18" charset="0"/>
                              <a:ea typeface="Calibri" pitchFamily="34" charset="-122"/>
                              <a:cs typeface="Calibri" pitchFamily="34" charset="-120"/>
                            </a:rPr>
                            <m:t>𝐸𝑋𝑇</m:t>
                          </m:r>
                        </m:sup>
                      </m:sSubSup>
                    </m:oMath>
                  </m:oMathPara>
                </a14:m>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Tipo de cambio real endógeno.</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Ajuste vía precios relativos.</a:t>
                </a:r>
                <a:endParaRPr lang="es-CL" sz="1100" noProof="0" dirty="0"/>
              </a:p>
            </p:txBody>
          </p:sp>
        </mc:Choice>
        <mc:Fallback xmlns="">
          <p:sp>
            <p:nvSpPr>
              <p:cNvPr id="20" name="Text 18"/>
              <p:cNvSpPr>
                <a:spLocks noRot="1" noChangeAspect="1" noMove="1" noResize="1" noEditPoints="1" noAdjustHandles="1" noChangeArrowheads="1" noChangeShapeType="1" noTextEdit="1"/>
              </p:cNvSpPr>
              <p:nvPr/>
            </p:nvSpPr>
            <p:spPr>
              <a:xfrm>
                <a:off x="6492240" y="3246120"/>
                <a:ext cx="2331720" cy="2103120"/>
              </a:xfrm>
              <a:prstGeom prst="rect">
                <a:avLst/>
              </a:prstGeom>
              <a:blipFill>
                <a:blip r:embed="rId5"/>
                <a:stretch>
                  <a:fillRect l="-3655"/>
                </a:stretch>
              </a:blipFill>
              <a:ln/>
            </p:spPr>
            <p:txBody>
              <a:bodyPr/>
              <a:lstStyle/>
              <a:p>
                <a:r>
                  <a:rPr lang="es-CL">
                    <a:noFill/>
                  </a:rPr>
                  <a:t> </a:t>
                </a:r>
              </a:p>
            </p:txBody>
          </p:sp>
        </mc:Fallback>
      </mc:AlternateContent>
      <p:sp>
        <p:nvSpPr>
          <p:cNvPr id="21" name="Shape 19"/>
          <p:cNvSpPr/>
          <p:nvPr/>
        </p:nvSpPr>
        <p:spPr>
          <a:xfrm>
            <a:off x="9144000" y="1554480"/>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22" name="Shape 20"/>
          <p:cNvSpPr/>
          <p:nvPr/>
        </p:nvSpPr>
        <p:spPr>
          <a:xfrm>
            <a:off x="937260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23" name="Text 21"/>
          <p:cNvSpPr/>
          <p:nvPr/>
        </p:nvSpPr>
        <p:spPr>
          <a:xfrm>
            <a:off x="937260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4</a:t>
            </a:r>
            <a:endParaRPr lang="es-CL" sz="1800" noProof="0" dirty="0"/>
          </a:p>
        </p:txBody>
      </p:sp>
      <p:sp>
        <p:nvSpPr>
          <p:cNvPr id="24" name="Text 22"/>
          <p:cNvSpPr/>
          <p:nvPr/>
        </p:nvSpPr>
        <p:spPr>
          <a:xfrm>
            <a:off x="932688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Capital pleno empleo</a:t>
            </a:r>
            <a:endParaRPr lang="es-CL" sz="1300" noProof="0" dirty="0"/>
          </a:p>
        </p:txBody>
      </p:sp>
      <mc:AlternateContent xmlns:mc="http://schemas.openxmlformats.org/markup-compatibility/2006" xmlns:a14="http://schemas.microsoft.com/office/drawing/2010/main">
        <mc:Choice Requires="a14">
          <p:sp>
            <p:nvSpPr>
              <p:cNvPr id="25" name="Text 23"/>
              <p:cNvSpPr/>
              <p:nvPr/>
            </p:nvSpPr>
            <p:spPr>
              <a:xfrm>
                <a:off x="9326880" y="3246120"/>
                <a:ext cx="2331720" cy="210312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 </a:t>
                </a:r>
                <a14:m>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𝐾</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𝑇𝑂𝑇</m:t>
                        </m:r>
                      </m:sup>
                    </m:sSup>
                    <m:r>
                      <a:rPr lang="es-CL" sz="1100" b="0" i="1" noProof="0" smtClean="0">
                        <a:solidFill>
                          <a:srgbClr val="2D3748"/>
                        </a:solidFill>
                        <a:latin typeface="Cambria Math" panose="02040503050406030204" pitchFamily="18" charset="0"/>
                        <a:ea typeface="Calibri" pitchFamily="34" charset="-122"/>
                        <a:cs typeface="Calibri" pitchFamily="34" charset="-120"/>
                      </a:rPr>
                      <m:t>=</m:t>
                    </m:r>
                    <m:nary>
                      <m:naryPr>
                        <m:chr m:val="∑"/>
                        <m:supHide m:val="on"/>
                        <m:ctrlPr>
                          <a:rPr lang="es-CL" sz="1100" b="0" i="1" noProof="0" smtClean="0">
                            <a:solidFill>
                              <a:srgbClr val="2D3748"/>
                            </a:solidFill>
                            <a:latin typeface="Cambria Math" panose="02040503050406030204" pitchFamily="18" charset="0"/>
                            <a:ea typeface="Calibri" pitchFamily="34" charset="-122"/>
                            <a:cs typeface="Calibri" pitchFamily="34" charset="-120"/>
                          </a:rPr>
                        </m:ctrlPr>
                      </m:naryPr>
                      <m:sub>
                        <m:r>
                          <m:rPr>
                            <m:brk m:alnAt="7"/>
                          </m:rPr>
                          <a:rPr lang="es-CL" sz="1100" b="0" i="1" noProof="0" smtClean="0">
                            <a:solidFill>
                              <a:srgbClr val="2D3748"/>
                            </a:solidFill>
                            <a:latin typeface="Cambria Math" panose="02040503050406030204" pitchFamily="18" charset="0"/>
                            <a:ea typeface="Calibri" pitchFamily="34" charset="-122"/>
                            <a:cs typeface="Calibri" pitchFamily="34" charset="-120"/>
                          </a:rPr>
                          <m:t>𝑠</m:t>
                        </m:r>
                        <m:r>
                          <a:rPr lang="es-CL" sz="1100" b="0" i="1" noProof="0" smtClean="0">
                            <a:solidFill>
                              <a:srgbClr val="2D3748"/>
                            </a:solidFill>
                            <a:latin typeface="Cambria Math" panose="02040503050406030204" pitchFamily="18" charset="0"/>
                            <a:ea typeface="Cambria Math" panose="02040503050406030204" pitchFamily="18" charset="0"/>
                            <a:cs typeface="Calibri" pitchFamily="34" charset="-120"/>
                          </a:rPr>
                          <m:t>∈</m:t>
                        </m:r>
                        <m:r>
                          <a:rPr lang="es-CL" sz="1100" b="0" i="1" noProof="0" smtClean="0">
                            <a:solidFill>
                              <a:srgbClr val="2D3748"/>
                            </a:solidFill>
                            <a:latin typeface="Cambria Math" panose="02040503050406030204" pitchFamily="18" charset="0"/>
                            <a:ea typeface="Cambria Math" panose="02040503050406030204" pitchFamily="18" charset="0"/>
                            <a:cs typeface="Calibri" pitchFamily="34" charset="-120"/>
                          </a:rPr>
                          <m:t>𝑆𝐸𝐶𝑇𝑂𝑅𝐸𝑆</m:t>
                        </m:r>
                      </m:sub>
                      <m:sup/>
                      <m:e>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𝐾</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𝑠</m:t>
                            </m:r>
                          </m:sup>
                        </m:sSup>
                      </m:e>
                    </m:nary>
                  </m:oMath>
                </a14:m>
                <a:r>
                  <a:rPr lang="es-CL" sz="1100" noProof="0" dirty="0">
                    <a:solidFill>
                      <a:srgbClr val="2D3748"/>
                    </a:solidFill>
                    <a:latin typeface="Calibri" pitchFamily="34" charset="0"/>
                    <a:ea typeface="Calibri" pitchFamily="34" charset="-122"/>
                    <a:cs typeface="Calibri" pitchFamily="34" charset="-120"/>
                  </a:rPr>
                  <a:t> </a:t>
                </a:r>
                <a:endParaRPr lang="es-CL" sz="1100" noProof="0" dirty="0"/>
              </a:p>
              <a:p>
                <a:pPr marL="0" indent="0" algn="l">
                  <a:buNone/>
                </a:pPr>
                <a:endParaRPr lang="es-CL" sz="1100" noProof="0" dirty="0">
                  <a:solidFill>
                    <a:srgbClr val="2D3748"/>
                  </a:solidFill>
                  <a:latin typeface="Calibri" pitchFamily="34" charset="0"/>
                  <a:ea typeface="Calibri" pitchFamily="34" charset="-122"/>
                  <a:cs typeface="Calibri" pitchFamily="34" charset="-120"/>
                </a:endParaRPr>
              </a:p>
              <a:p>
                <a:pPr marL="0" indent="0" algn="l">
                  <a:buNone/>
                </a:pPr>
                <a14:m>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𝑝</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𝑘</m:t>
                        </m:r>
                      </m:sup>
                    </m:sSup>
                  </m:oMath>
                </a14:m>
                <a:r>
                  <a:rPr lang="es-CL" sz="1100" noProof="0" dirty="0">
                    <a:solidFill>
                      <a:srgbClr val="2D3748"/>
                    </a:solidFill>
                    <a:latin typeface="Calibri" pitchFamily="34" charset="0"/>
                    <a:ea typeface="Calibri" pitchFamily="34" charset="-122"/>
                    <a:cs typeface="Calibri" pitchFamily="34" charset="-120"/>
                  </a:rPr>
                  <a:t> es el precio de escasez del factor.</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Numerario nominal exógeno.</a:t>
                </a:r>
                <a:endParaRPr lang="es-CL" sz="1100" noProof="0" dirty="0"/>
              </a:p>
            </p:txBody>
          </p:sp>
        </mc:Choice>
        <mc:Fallback xmlns="">
          <p:sp>
            <p:nvSpPr>
              <p:cNvPr id="25" name="Text 23"/>
              <p:cNvSpPr>
                <a:spLocks noRot="1" noChangeAspect="1" noMove="1" noResize="1" noEditPoints="1" noAdjustHandles="1" noChangeArrowheads="1" noChangeShapeType="1" noTextEdit="1"/>
              </p:cNvSpPr>
              <p:nvPr/>
            </p:nvSpPr>
            <p:spPr>
              <a:xfrm>
                <a:off x="9326880" y="3246120"/>
                <a:ext cx="2331720" cy="2103120"/>
              </a:xfrm>
              <a:prstGeom prst="rect">
                <a:avLst/>
              </a:prstGeom>
              <a:blipFill>
                <a:blip r:embed="rId6"/>
                <a:stretch>
                  <a:fillRect l="-3655" t="-13913"/>
                </a:stretch>
              </a:blipFill>
              <a:ln/>
            </p:spPr>
            <p:txBody>
              <a:bodyPr/>
              <a:lstStyle/>
              <a:p>
                <a:r>
                  <a:rPr lang="es-CL">
                    <a:noFill/>
                  </a:rPr>
                  <a:t> </a:t>
                </a:r>
              </a:p>
            </p:txBody>
          </p:sp>
        </mc:Fallback>
      </mc:AlternateContent>
      <p:sp>
        <p:nvSpPr>
          <p:cNvPr id="26" name="Shape 24"/>
          <p:cNvSpPr/>
          <p:nvPr/>
        </p:nvSpPr>
        <p:spPr>
          <a:xfrm>
            <a:off x="640080" y="5623560"/>
            <a:ext cx="11155680" cy="685800"/>
          </a:xfrm>
          <a:prstGeom prst="rect">
            <a:avLst/>
          </a:prstGeom>
          <a:solidFill>
            <a:srgbClr val="1E2761"/>
          </a:solidFill>
          <a:ln w="12700">
            <a:solidFill>
              <a:srgbClr val="1E2761"/>
            </a:solidFill>
            <a:prstDash val="solid"/>
          </a:ln>
        </p:spPr>
        <p:txBody>
          <a:bodyPr/>
          <a:lstStyle/>
          <a:p>
            <a:endParaRPr lang="es-CL" noProof="0" dirty="0"/>
          </a:p>
        </p:txBody>
      </p:sp>
      <p:sp>
        <p:nvSpPr>
          <p:cNvPr id="27" name="Text 25"/>
          <p:cNvSpPr/>
          <p:nvPr/>
        </p:nvSpPr>
        <p:spPr>
          <a:xfrm>
            <a:off x="868680" y="5623560"/>
            <a:ext cx="10789920" cy="685800"/>
          </a:xfrm>
          <a:prstGeom prst="rect">
            <a:avLst/>
          </a:prstGeom>
          <a:noFill/>
          <a:ln/>
        </p:spPr>
        <p:txBody>
          <a:bodyPr wrap="square" lIns="0" tIns="0" rIns="0" bIns="0" rtlCol="0" anchor="ctr"/>
          <a:lstStyle/>
          <a:p>
            <a:pPr marL="0" indent="0" algn="l">
              <a:buNone/>
            </a:pPr>
            <a:r>
              <a:rPr lang="es-CL" sz="1200" b="1" noProof="0" dirty="0">
                <a:solidFill>
                  <a:srgbClr val="D4A82A"/>
                </a:solidFill>
                <a:latin typeface="Calibri" pitchFamily="34" charset="0"/>
                <a:ea typeface="Calibri" pitchFamily="34" charset="-122"/>
                <a:cs typeface="Calibri" pitchFamily="34" charset="-120"/>
              </a:rPr>
              <a:t>Consecuencia: </a:t>
            </a:r>
            <a:r>
              <a:rPr lang="es-CL" sz="1200" noProof="0" dirty="0">
                <a:solidFill>
                  <a:srgbClr val="FFFFFF"/>
                </a:solidFill>
                <a:latin typeface="Calibri" pitchFamily="34" charset="0"/>
                <a:ea typeface="Calibri" pitchFamily="34" charset="-122"/>
                <a:cs typeface="Calibri" pitchFamily="34" charset="-120"/>
              </a:rPr>
              <a:t>los shocks tributarios no se absorben aumentando financiamiento externo; aparecen necesariamente en empleo, precios relativos y balance comercial.</a:t>
            </a:r>
            <a:endParaRPr lang="es-CL" sz="1200" noProof="0" dirty="0"/>
          </a:p>
        </p:txBody>
      </p:sp>
      <p:sp>
        <p:nvSpPr>
          <p:cNvPr id="28" name="Text 26"/>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84101" y="329629"/>
            <a:ext cx="11247120" cy="548640"/>
          </a:xfrm>
          <a:prstGeom prst="rect">
            <a:avLst/>
          </a:prstGeom>
          <a:noFill/>
          <a:ln/>
        </p:spPr>
        <p:txBody>
          <a:bodyPr wrap="square" lIns="0" tIns="0" rIns="0" bIns="0" rtlCol="0" anchor="ctr"/>
          <a:lstStyle/>
          <a:p>
            <a:pPr marL="0" indent="0">
              <a:buNone/>
            </a:pPr>
            <a:r>
              <a:rPr lang="es-CL" sz="2400" b="1" noProof="0" dirty="0">
                <a:solidFill>
                  <a:srgbClr val="141B4D"/>
                </a:solidFill>
                <a:latin typeface="Cambria" pitchFamily="34" charset="0"/>
                <a:ea typeface="Cambria" pitchFamily="34" charset="-122"/>
                <a:cs typeface="Cambria" pitchFamily="34" charset="-120"/>
              </a:rPr>
              <a:t>Metodología de evaluación del impacto fiscal</a:t>
            </a:r>
            <a:endParaRPr lang="es-CL" sz="2400" noProof="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s-CL" sz="1400" i="1" noProof="0" dirty="0">
                <a:solidFill>
                  <a:srgbClr val="5B6472"/>
                </a:solidFill>
                <a:latin typeface="Calibri" pitchFamily="34" charset="0"/>
                <a:ea typeface="Calibri" pitchFamily="34" charset="-122"/>
                <a:cs typeface="Calibri" pitchFamily="34" charset="-120"/>
              </a:rPr>
              <a:t>Descomposición de la recaudación en efecto tasa, efecto base real y efecto precio</a:t>
            </a:r>
            <a:endParaRPr lang="es-CL" sz="1400" noProof="0" dirty="0"/>
          </a:p>
        </p:txBody>
      </p:sp>
      <p:sp>
        <p:nvSpPr>
          <p:cNvPr id="4" name="Shape 2"/>
          <p:cNvSpPr/>
          <p:nvPr/>
        </p:nvSpPr>
        <p:spPr>
          <a:xfrm>
            <a:off x="457200" y="1298448"/>
            <a:ext cx="11247120" cy="1120153"/>
          </a:xfrm>
          <a:prstGeom prst="roundRect">
            <a:avLst>
              <a:gd name="adj" fmla="val 9412"/>
            </a:avLst>
          </a:prstGeom>
          <a:solidFill>
            <a:srgbClr val="1E2761"/>
          </a:solidFill>
          <a:ln/>
        </p:spPr>
        <p:txBody>
          <a:bodyPr/>
          <a:lstStyle/>
          <a:p>
            <a:endParaRPr lang="es-CL" noProof="0" dirty="0"/>
          </a:p>
        </p:txBody>
      </p:sp>
      <mc:AlternateContent xmlns:mc="http://schemas.openxmlformats.org/markup-compatibility/2006" xmlns:a14="http://schemas.microsoft.com/office/drawing/2010/main">
        <mc:Choice Requires="a14">
          <p:sp>
            <p:nvSpPr>
              <p:cNvPr id="5" name="Text 3"/>
              <p:cNvSpPr/>
              <p:nvPr/>
            </p:nvSpPr>
            <p:spPr>
              <a:xfrm>
                <a:off x="685800" y="1418516"/>
                <a:ext cx="10789920" cy="777240"/>
              </a:xfrm>
              <a:prstGeom prst="rect">
                <a:avLst/>
              </a:prstGeom>
              <a:noFill/>
              <a:ln/>
            </p:spPr>
            <p:txBody>
              <a:bodyPr wrap="square" lIns="0" tIns="0" rIns="0" bIns="0" rtlCol="0" anchor="ctr"/>
              <a:lstStyle/>
              <a:p>
                <a:pPr>
                  <a:lnSpc>
                    <a:spcPct val="110000"/>
                  </a:lnSpc>
                </a:pPr>
                <a:r>
                  <a:rPr lang="es-CL" sz="1400" b="1" noProof="0" dirty="0">
                    <a:solidFill>
                      <a:srgbClr val="C9A227"/>
                    </a:solidFill>
                    <a:latin typeface="Calibri" pitchFamily="34" charset="0"/>
                    <a:ea typeface="Calibri" pitchFamily="34" charset="-122"/>
                    <a:cs typeface="Calibri" pitchFamily="34" charset="-120"/>
                  </a:rPr>
                  <a:t>Dada la recaudación de impuesto </a:t>
                </a:r>
                <a:r>
                  <a:rPr lang="es-CL" sz="1400" b="1" i="1" noProof="0" dirty="0">
                    <a:solidFill>
                      <a:srgbClr val="C9A227"/>
                    </a:solidFill>
                    <a:latin typeface="Calibri" pitchFamily="34" charset="0"/>
                    <a:ea typeface="Calibri" pitchFamily="34" charset="-122"/>
                    <a:cs typeface="Calibri" pitchFamily="34" charset="-120"/>
                  </a:rPr>
                  <a:t>i</a:t>
                </a:r>
                <a:r>
                  <a:rPr lang="es-CL" sz="1400" b="1" noProof="0" dirty="0">
                    <a:solidFill>
                      <a:srgbClr val="C9A227"/>
                    </a:solidFill>
                    <a:latin typeface="Calibri" pitchFamily="34" charset="0"/>
                    <a:ea typeface="Calibri" pitchFamily="34" charset="-122"/>
                    <a:cs typeface="Calibri" pitchFamily="34" charset="-120"/>
                  </a:rPr>
                  <a:t>: </a:t>
                </a:r>
                <a14:m>
                  <m:oMath xmlns:m="http://schemas.openxmlformats.org/officeDocument/2006/math">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libri" pitchFamily="34" charset="-122"/>
                            <a:cs typeface="Calibri" pitchFamily="34" charset="-120"/>
                          </a:rPr>
                          <m:t>𝑹</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Sub>
                    <m:r>
                      <a:rPr lang="es-CL" sz="1400" b="1" i="1" noProof="0" smtClean="0">
                        <a:solidFill>
                          <a:srgbClr val="C9A227"/>
                        </a:solidFill>
                        <a:latin typeface="Cambria Math" panose="02040503050406030204" pitchFamily="18" charset="0"/>
                        <a:ea typeface="Calibri" pitchFamily="34" charset="-122"/>
                        <a:cs typeface="Calibri" pitchFamily="34" charset="-120"/>
                      </a:rPr>
                      <m:t>=</m:t>
                    </m:r>
                    <m:nary>
                      <m:naryPr>
                        <m:chr m:val="∑"/>
                        <m:supHide m:val="on"/>
                        <m:ctrlPr>
                          <a:rPr lang="es-CL" sz="1400" b="1" i="1" noProof="0" smtClean="0">
                            <a:solidFill>
                              <a:srgbClr val="C9A227"/>
                            </a:solidFill>
                            <a:latin typeface="Cambria Math" panose="02040503050406030204" pitchFamily="18" charset="0"/>
                            <a:ea typeface="Calibri" pitchFamily="34" charset="-122"/>
                            <a:cs typeface="Calibri" pitchFamily="34" charset="-120"/>
                          </a:rPr>
                        </m:ctrlPr>
                      </m:naryPr>
                      <m:sub>
                        <m:r>
                          <m:rPr>
                            <m:brk m:alnAt="7"/>
                          </m:rPr>
                          <a:rPr lang="es-CL" sz="1400" b="1" i="1" noProof="0" smtClean="0">
                            <a:solidFill>
                              <a:srgbClr val="C9A227"/>
                            </a:solidFill>
                            <a:latin typeface="Cambria Math" panose="02040503050406030204" pitchFamily="18" charset="0"/>
                            <a:ea typeface="Calibri" pitchFamily="34" charset="-122"/>
                            <a:cs typeface="Calibri" pitchFamily="34" charset="-120"/>
                          </a:rPr>
                          <m:t>𝒋</m:t>
                        </m:r>
                      </m:sub>
                      <m:sup/>
                      <m:e>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mbria Math" panose="02040503050406030204" pitchFamily="18" charset="0"/>
                                <a:cs typeface="Calibri" pitchFamily="34" charset="-120"/>
                              </a:rPr>
                              <m:t>𝝉</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𝒊𝒋</m:t>
                            </m:r>
                          </m:sub>
                        </m:sSub>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libri" pitchFamily="34" charset="-122"/>
                                <a:cs typeface="Calibri" pitchFamily="34" charset="-120"/>
                              </a:rPr>
                              <m:t>𝑷</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𝒊𝒋</m:t>
                            </m:r>
                          </m:sub>
                        </m:sSub>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libri" pitchFamily="34" charset="-122"/>
                                <a:cs typeface="Calibri" pitchFamily="34" charset="-120"/>
                              </a:rPr>
                              <m:t>𝑸</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𝒊𝒋</m:t>
                            </m:r>
                          </m:sub>
                        </m:sSub>
                      </m:e>
                    </m:nary>
                  </m:oMath>
                </a14:m>
                <a:endParaRPr lang="es-CL" sz="1400" b="1" noProof="0" dirty="0">
                  <a:solidFill>
                    <a:srgbClr val="C9A227"/>
                  </a:solidFill>
                  <a:latin typeface="Calibri" pitchFamily="34" charset="0"/>
                  <a:ea typeface="Calibri" pitchFamily="34" charset="-122"/>
                  <a:cs typeface="Calibri" pitchFamily="34" charset="-120"/>
                </a:endParaRPr>
              </a:p>
              <a:p>
                <a:pPr marL="0" indent="0">
                  <a:lnSpc>
                    <a:spcPct val="110000"/>
                  </a:lnSpc>
                  <a:buNone/>
                </a:pPr>
                <a:endParaRPr lang="es-CL" sz="1400" b="1" noProof="0" dirty="0">
                  <a:solidFill>
                    <a:srgbClr val="C9A227"/>
                  </a:solidFill>
                  <a:latin typeface="Calibri" pitchFamily="34" charset="0"/>
                  <a:ea typeface="Calibri" pitchFamily="34" charset="-122"/>
                  <a:cs typeface="Calibri" pitchFamily="34" charset="-120"/>
                </a:endParaRPr>
              </a:p>
              <a:p>
                <a:pPr marL="0" indent="0">
                  <a:lnSpc>
                    <a:spcPct val="110000"/>
                  </a:lnSpc>
                  <a:buNone/>
                </a:pPr>
                <a:r>
                  <a:rPr lang="es-CL" sz="1400" b="1" noProof="0" dirty="0">
                    <a:solidFill>
                      <a:srgbClr val="C9A227"/>
                    </a:solidFill>
                    <a:latin typeface="Calibri" pitchFamily="34" charset="0"/>
                    <a:ea typeface="Calibri" pitchFamily="34" charset="-122"/>
                    <a:cs typeface="Calibri" pitchFamily="34" charset="-120"/>
                  </a:rPr>
                  <a:t>Métrica de impacto:  </a:t>
                </a:r>
                <a14:m>
                  <m:oMath xmlns:m="http://schemas.openxmlformats.org/officeDocument/2006/math">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mbria Math" panose="02040503050406030204" pitchFamily="18" charset="0"/>
                            <a:cs typeface="Calibri" pitchFamily="34" charset="-120"/>
                          </a:rPr>
                          <m:t>∆</m:t>
                        </m:r>
                        <m:r>
                          <a:rPr lang="es-CL" sz="1400" b="1" i="1" noProof="0" smtClean="0">
                            <a:solidFill>
                              <a:srgbClr val="C9A227"/>
                            </a:solidFill>
                            <a:latin typeface="Cambria Math" panose="02040503050406030204" pitchFamily="18" charset="0"/>
                            <a:ea typeface="Cambria Math" panose="02040503050406030204" pitchFamily="18" charset="0"/>
                            <a:cs typeface="Calibri" pitchFamily="34" charset="-120"/>
                          </a:rPr>
                          <m:t>𝒓</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Sub>
                    <m:r>
                      <a:rPr lang="es-CL" sz="1400" b="1" i="1" noProof="0" smtClean="0">
                        <a:solidFill>
                          <a:srgbClr val="C9A227"/>
                        </a:solidFill>
                        <a:latin typeface="Cambria Math" panose="02040503050406030204" pitchFamily="18" charset="0"/>
                        <a:ea typeface="Calibri" pitchFamily="34" charset="-122"/>
                        <a:cs typeface="Calibri" pitchFamily="34" charset="-120"/>
                      </a:rPr>
                      <m:t>=</m:t>
                    </m:r>
                    <m:r>
                      <a:rPr lang="es-CL" sz="1400" b="1" i="1" noProof="0" smtClean="0">
                        <a:solidFill>
                          <a:srgbClr val="C9A227"/>
                        </a:solidFill>
                        <a:latin typeface="Cambria Math" panose="02040503050406030204" pitchFamily="18" charset="0"/>
                        <a:ea typeface="Calibri" pitchFamily="34" charset="-122"/>
                        <a:cs typeface="Calibri" pitchFamily="34" charset="-120"/>
                      </a:rPr>
                      <m:t>𝟏𝟎𝟎</m:t>
                    </m:r>
                    <m:f>
                      <m:f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fPr>
                      <m:num>
                        <m:sSubSup>
                          <m:sSubSup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SupPr>
                          <m:e>
                            <m:r>
                              <a:rPr lang="es-CL" sz="1400" b="1" i="1" noProof="0" smtClean="0">
                                <a:solidFill>
                                  <a:srgbClr val="C9A227"/>
                                </a:solidFill>
                                <a:latin typeface="Cambria Math" panose="02040503050406030204" pitchFamily="18" charset="0"/>
                                <a:ea typeface="Calibri" pitchFamily="34" charset="-122"/>
                                <a:cs typeface="Calibri" pitchFamily="34" charset="-120"/>
                              </a:rPr>
                              <m:t>𝑹</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up>
                            <m:r>
                              <a:rPr lang="es-CL" sz="1400" b="1" i="1" noProof="0" smtClean="0">
                                <a:solidFill>
                                  <a:srgbClr val="C9A227"/>
                                </a:solidFill>
                                <a:latin typeface="Cambria Math" panose="02040503050406030204" pitchFamily="18" charset="0"/>
                                <a:ea typeface="Calibri" pitchFamily="34" charset="-122"/>
                                <a:cs typeface="Calibri" pitchFamily="34" charset="-120"/>
                              </a:rPr>
                              <m:t>𝒔</m:t>
                            </m:r>
                          </m:sup>
                        </m:sSubSup>
                        <m:r>
                          <a:rPr lang="es-CL" sz="1400" b="1" i="1" noProof="0" smtClean="0">
                            <a:solidFill>
                              <a:srgbClr val="C9A227"/>
                            </a:solidFill>
                            <a:latin typeface="Cambria Math" panose="02040503050406030204" pitchFamily="18" charset="0"/>
                            <a:ea typeface="Calibri" pitchFamily="34" charset="-122"/>
                            <a:cs typeface="Calibri" pitchFamily="34" charset="-120"/>
                          </a:rPr>
                          <m:t>−</m:t>
                        </m:r>
                        <m:sSubSup>
                          <m:sSubSup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SupPr>
                          <m:e>
                            <m:r>
                              <a:rPr lang="es-CL" sz="1400" b="1" i="1" noProof="0" smtClean="0">
                                <a:solidFill>
                                  <a:srgbClr val="C9A227"/>
                                </a:solidFill>
                                <a:latin typeface="Cambria Math" panose="02040503050406030204" pitchFamily="18" charset="0"/>
                                <a:ea typeface="Calibri" pitchFamily="34" charset="-122"/>
                                <a:cs typeface="Calibri" pitchFamily="34" charset="-120"/>
                              </a:rPr>
                              <m:t>𝑹</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up>
                            <m:r>
                              <a:rPr lang="es-CL" sz="1400" b="1" i="1" noProof="0" smtClean="0">
                                <a:solidFill>
                                  <a:srgbClr val="C9A227"/>
                                </a:solidFill>
                                <a:latin typeface="Cambria Math" panose="02040503050406030204" pitchFamily="18" charset="0"/>
                                <a:ea typeface="Calibri" pitchFamily="34" charset="-122"/>
                                <a:cs typeface="Calibri" pitchFamily="34" charset="-120"/>
                              </a:rPr>
                              <m:t>𝒃</m:t>
                            </m:r>
                          </m:sup>
                        </m:sSubSup>
                      </m:num>
                      <m:den>
                        <m:sSubSup>
                          <m:sSubSup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SupPr>
                          <m:e>
                            <m:r>
                              <a:rPr lang="es-CL" sz="1400" b="1" i="1" noProof="0" smtClean="0">
                                <a:solidFill>
                                  <a:srgbClr val="C9A227"/>
                                </a:solidFill>
                                <a:latin typeface="Cambria Math" panose="02040503050406030204" pitchFamily="18" charset="0"/>
                                <a:ea typeface="Calibri" pitchFamily="34" charset="-122"/>
                                <a:cs typeface="Calibri" pitchFamily="34" charset="-120"/>
                              </a:rPr>
                              <m:t>𝑷𝑰𝑩</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𝒏𝒐𝒎</m:t>
                            </m:r>
                          </m:sub>
                          <m:sup>
                            <m:r>
                              <a:rPr lang="es-CL" sz="1400" b="1" i="1" noProof="0" smtClean="0">
                                <a:solidFill>
                                  <a:srgbClr val="C9A227"/>
                                </a:solidFill>
                                <a:latin typeface="Cambria Math" panose="02040503050406030204" pitchFamily="18" charset="0"/>
                                <a:ea typeface="Calibri" pitchFamily="34" charset="-122"/>
                                <a:cs typeface="Calibri" pitchFamily="34" charset="-120"/>
                              </a:rPr>
                              <m:t>𝒃</m:t>
                            </m:r>
                          </m:sup>
                        </m:sSubSup>
                      </m:den>
                    </m:f>
                  </m:oMath>
                </a14:m>
                <a:r>
                  <a:rPr lang="es-CL" sz="1400" b="1" noProof="0" dirty="0">
                    <a:solidFill>
                      <a:srgbClr val="C9A227"/>
                    </a:solidFill>
                    <a:latin typeface="Calibri" pitchFamily="34" charset="0"/>
                    <a:ea typeface="Calibri" pitchFamily="34" charset="-122"/>
                    <a:cs typeface="Calibri" pitchFamily="34" charset="-120"/>
                  </a:rPr>
                  <a:t> </a:t>
                </a:r>
                <a:r>
                  <a:rPr lang="es-CL" sz="1200" i="1" noProof="0" dirty="0">
                    <a:solidFill>
                      <a:srgbClr val="CADCFC"/>
                    </a:solidFill>
                    <a:latin typeface="Calibri" pitchFamily="34" charset="0"/>
                    <a:ea typeface="Calibri" pitchFamily="34" charset="-122"/>
                    <a:cs typeface="Calibri" pitchFamily="34" charset="-120"/>
                  </a:rPr>
                  <a:t>→ variación de recaudación del instrumento i, en puntos del PIB nominal base (denominador fijo).</a:t>
                </a:r>
                <a:endParaRPr lang="es-CL" sz="1400" noProof="0" dirty="0"/>
              </a:p>
            </p:txBody>
          </p:sp>
        </mc:Choice>
        <mc:Fallback xmlns="">
          <p:sp>
            <p:nvSpPr>
              <p:cNvPr id="5" name="Text 3"/>
              <p:cNvSpPr>
                <a:spLocks noRot="1" noChangeAspect="1" noMove="1" noResize="1" noEditPoints="1" noAdjustHandles="1" noChangeArrowheads="1" noChangeShapeType="1" noTextEdit="1"/>
              </p:cNvSpPr>
              <p:nvPr/>
            </p:nvSpPr>
            <p:spPr>
              <a:xfrm>
                <a:off x="685800" y="1418516"/>
                <a:ext cx="10789920" cy="777240"/>
              </a:xfrm>
              <a:prstGeom prst="rect">
                <a:avLst/>
              </a:prstGeom>
              <a:blipFill>
                <a:blip r:embed="rId3"/>
                <a:stretch>
                  <a:fillRect l="-1017" t="-52756" b="-14173"/>
                </a:stretch>
              </a:blipFill>
              <a:ln/>
            </p:spPr>
            <p:txBody>
              <a:bodyPr/>
              <a:lstStyle/>
              <a:p>
                <a:r>
                  <a:rPr lang="es-CL">
                    <a:noFill/>
                  </a:rPr>
                  <a:t> </a:t>
                </a:r>
              </a:p>
            </p:txBody>
          </p:sp>
        </mc:Fallback>
      </mc:AlternateContent>
      <p:sp>
        <p:nvSpPr>
          <p:cNvPr id="6" name="Shape 4"/>
          <p:cNvSpPr/>
          <p:nvPr/>
        </p:nvSpPr>
        <p:spPr>
          <a:xfrm>
            <a:off x="457200" y="2701620"/>
            <a:ext cx="3520440" cy="2027382"/>
          </a:xfrm>
          <a:prstGeom prst="roundRect">
            <a:avLst>
              <a:gd name="adj" fmla="val 3529"/>
            </a:avLst>
          </a:prstGeom>
          <a:solidFill>
            <a:srgbClr val="F7F8FC"/>
          </a:solidFill>
          <a:ln w="15875">
            <a:solidFill>
              <a:srgbClr val="1E2761"/>
            </a:solidFill>
            <a:prstDash val="solid"/>
          </a:ln>
          <a:effectLst>
            <a:outerShdw blurRad="76200" dist="25400" dir="5400000" algn="bl" rotWithShape="0">
              <a:srgbClr val="1E2761">
                <a:alpha val="18000"/>
              </a:srgbClr>
            </a:outerShdw>
          </a:effectLst>
        </p:spPr>
        <p:txBody>
          <a:bodyPr/>
          <a:lstStyle/>
          <a:p>
            <a:endParaRPr lang="es-CL" noProof="0" dirty="0"/>
          </a:p>
        </p:txBody>
      </p:sp>
      <p:sp>
        <p:nvSpPr>
          <p:cNvPr id="7" name="Shape 5"/>
          <p:cNvSpPr/>
          <p:nvPr/>
        </p:nvSpPr>
        <p:spPr>
          <a:xfrm>
            <a:off x="685800" y="2902788"/>
            <a:ext cx="3063240" cy="384048"/>
          </a:xfrm>
          <a:prstGeom prst="roundRect">
            <a:avLst>
              <a:gd name="adj" fmla="val 50000"/>
            </a:avLst>
          </a:prstGeom>
          <a:solidFill>
            <a:srgbClr val="1E2761"/>
          </a:solidFill>
          <a:ln/>
        </p:spPr>
        <p:txBody>
          <a:bodyPr/>
          <a:lstStyle/>
          <a:p>
            <a:endParaRPr lang="es-CL" noProof="0" dirty="0"/>
          </a:p>
        </p:txBody>
      </p:sp>
      <p:sp>
        <p:nvSpPr>
          <p:cNvPr id="8" name="Text 6"/>
          <p:cNvSpPr/>
          <p:nvPr/>
        </p:nvSpPr>
        <p:spPr>
          <a:xfrm>
            <a:off x="685800" y="2902788"/>
            <a:ext cx="3063240" cy="384048"/>
          </a:xfrm>
          <a:prstGeom prst="rect">
            <a:avLst/>
          </a:prstGeom>
          <a:noFill/>
          <a:ln/>
        </p:spPr>
        <p:txBody>
          <a:bodyPr wrap="square" lIns="0" tIns="0" rIns="0" bIns="0" rtlCol="0" anchor="ctr"/>
          <a:lstStyle/>
          <a:p>
            <a:pPr marL="0" indent="0" algn="ctr">
              <a:buNone/>
            </a:pPr>
            <a:r>
              <a:rPr lang="es-CL" sz="1300" b="1" noProof="0" dirty="0">
                <a:solidFill>
                  <a:srgbClr val="FFFFFF"/>
                </a:solidFill>
                <a:latin typeface="Calibri" pitchFamily="34" charset="0"/>
                <a:ea typeface="Calibri" pitchFamily="34" charset="-122"/>
                <a:cs typeface="Calibri" pitchFamily="34" charset="-120"/>
              </a:rPr>
              <a:t>EFECTO TASA</a:t>
            </a:r>
            <a:endParaRPr lang="es-CL" sz="1300" noProof="0" dirty="0"/>
          </a:p>
        </p:txBody>
      </p:sp>
      <mc:AlternateContent xmlns:mc="http://schemas.openxmlformats.org/markup-compatibility/2006" xmlns:a14="http://schemas.microsoft.com/office/drawing/2010/main">
        <mc:Choice Requires="a14">
          <p:sp>
            <p:nvSpPr>
              <p:cNvPr id="9" name="Text 7"/>
              <p:cNvSpPr/>
              <p:nvPr/>
            </p:nvSpPr>
            <p:spPr>
              <a:xfrm>
                <a:off x="685800" y="3414852"/>
                <a:ext cx="306324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s-CL" sz="1450" b="1" i="1" noProof="0" smtClean="0">
                              <a:solidFill>
                                <a:srgbClr val="141B4D"/>
                              </a:solidFill>
                              <a:latin typeface="Cambria Math" panose="02040503050406030204" pitchFamily="18" charset="0"/>
                              <a:ea typeface="Cambria" pitchFamily="34" charset="-122"/>
                            </a:rPr>
                          </m:ctrlPr>
                        </m:sSubSupPr>
                        <m:e>
                          <m:r>
                            <a:rPr lang="es-CL" sz="1450" b="1" i="1" noProof="0" smtClean="0">
                              <a:solidFill>
                                <a:srgbClr val="141B4D"/>
                              </a:solidFill>
                              <a:latin typeface="Cambria Math" panose="02040503050406030204" pitchFamily="18" charset="0"/>
                              <a:ea typeface="Cambria" pitchFamily="34" charset="-122"/>
                            </a:rPr>
                            <m:t>𝑬</m:t>
                          </m:r>
                        </m:e>
                        <m:sub>
                          <m:r>
                            <a:rPr lang="es-CL" sz="1450" b="1" i="1" noProof="0" smtClean="0">
                              <a:solidFill>
                                <a:srgbClr val="141B4D"/>
                              </a:solidFill>
                              <a:latin typeface="Cambria Math" panose="02040503050406030204" pitchFamily="18" charset="0"/>
                              <a:ea typeface="Cambria" pitchFamily="34" charset="-122"/>
                            </a:rPr>
                            <m:t>𝒊</m:t>
                          </m:r>
                        </m:sub>
                        <m:sup>
                          <m:r>
                            <a:rPr lang="es-CL" sz="1450" b="1" i="1" noProof="0" smtClean="0">
                              <a:solidFill>
                                <a:srgbClr val="141B4D"/>
                              </a:solidFill>
                              <a:latin typeface="Cambria Math" panose="02040503050406030204" pitchFamily="18" charset="0"/>
                              <a:ea typeface="Cambria" pitchFamily="34" charset="-122"/>
                            </a:rPr>
                            <m:t>𝒕𝒂𝒔𝒂</m:t>
                          </m:r>
                        </m:sup>
                      </m:sSubSup>
                      <m:r>
                        <a:rPr lang="es-CL" sz="1450" b="1" i="1" noProof="0" smtClean="0">
                          <a:solidFill>
                            <a:srgbClr val="141B4D"/>
                          </a:solidFill>
                          <a:latin typeface="Cambria Math" panose="02040503050406030204" pitchFamily="18" charset="0"/>
                          <a:ea typeface="Cambria" pitchFamily="34" charset="-122"/>
                        </a:rPr>
                        <m:t>=</m:t>
                      </m:r>
                      <m:nary>
                        <m:naryPr>
                          <m:chr m:val="∑"/>
                          <m:supHide m:val="on"/>
                          <m:ctrlPr>
                            <a:rPr lang="es-CL" sz="1450" b="1" i="1" noProof="0" smtClean="0">
                              <a:solidFill>
                                <a:srgbClr val="141B4D"/>
                              </a:solidFill>
                              <a:latin typeface="Cambria Math" panose="02040503050406030204" pitchFamily="18" charset="0"/>
                              <a:ea typeface="Cambria" pitchFamily="34" charset="-122"/>
                            </a:rPr>
                          </m:ctrlPr>
                        </m:naryPr>
                        <m:sub>
                          <m:r>
                            <m:rPr>
                              <m:brk m:alnAt="7"/>
                            </m:rPr>
                            <a:rPr lang="es-CL" sz="1450" b="1" i="1" noProof="0" smtClean="0">
                              <a:solidFill>
                                <a:srgbClr val="141B4D"/>
                              </a:solidFill>
                              <a:latin typeface="Cambria Math" panose="02040503050406030204" pitchFamily="18" charset="0"/>
                              <a:ea typeface="Cambria" pitchFamily="34" charset="-122"/>
                            </a:rPr>
                            <m:t>𝒋</m:t>
                          </m:r>
                        </m:sub>
                        <m:sup/>
                        <m:e>
                          <m:r>
                            <a:rPr lang="es-CL" sz="1450" b="1" i="1" noProof="0" smtClean="0">
                              <a:solidFill>
                                <a:srgbClr val="141B4D"/>
                              </a:solidFill>
                              <a:latin typeface="Cambria Math" panose="02040503050406030204" pitchFamily="18" charset="0"/>
                              <a:ea typeface="Cambria Math" panose="02040503050406030204" pitchFamily="18" charset="0"/>
                            </a:rPr>
                            <m:t>∆</m:t>
                          </m:r>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r>
                                <a:rPr lang="es-CL" sz="1450" b="1" i="1" noProof="0" smtClean="0">
                                  <a:solidFill>
                                    <a:srgbClr val="141B4D"/>
                                  </a:solidFill>
                                  <a:latin typeface="Cambria Math" panose="02040503050406030204" pitchFamily="18" charset="0"/>
                                  <a:ea typeface="Cambria Math" panose="02040503050406030204" pitchFamily="18" charset="0"/>
                                </a:rPr>
                                <m:t>𝝉</m:t>
                              </m:r>
                            </m:e>
                            <m:sub>
                              <m:r>
                                <a:rPr lang="es-CL" sz="1450" b="1" i="1" noProof="0" smtClean="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smtClean="0">
                                      <a:solidFill>
                                        <a:srgbClr val="141B4D"/>
                                      </a:solidFill>
                                      <a:latin typeface="Cambria Math" panose="02040503050406030204" pitchFamily="18" charset="0"/>
                                      <a:ea typeface="Cambria Math" panose="02040503050406030204" pitchFamily="18" charset="0"/>
                                    </a:rPr>
                                    <m:t>𝑷</m:t>
                                  </m:r>
                                </m:e>
                              </m:acc>
                            </m:e>
                            <m:sub>
                              <m:r>
                                <a:rPr lang="es-CL" sz="1450" b="1" i="1" noProof="0" smtClean="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a:solidFill>
                                        <a:srgbClr val="141B4D"/>
                                      </a:solidFill>
                                      <a:latin typeface="Cambria Math" panose="02040503050406030204" pitchFamily="18" charset="0"/>
                                      <a:ea typeface="Cambria Math" panose="02040503050406030204" pitchFamily="18" charset="0"/>
                                    </a:rPr>
                                    <m:t>𝑸</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e>
                      </m:nary>
                    </m:oMath>
                  </m:oMathPara>
                </a14:m>
                <a:endParaRPr lang="es-CL" sz="1450" noProof="0" dirty="0"/>
              </a:p>
            </p:txBody>
          </p:sp>
        </mc:Choice>
        <mc:Fallback xmlns="">
          <p:sp>
            <p:nvSpPr>
              <p:cNvPr id="9" name="Text 7"/>
              <p:cNvSpPr>
                <a:spLocks noRot="1" noChangeAspect="1" noMove="1" noResize="1" noEditPoints="1" noAdjustHandles="1" noChangeArrowheads="1" noChangeShapeType="1" noTextEdit="1"/>
              </p:cNvSpPr>
              <p:nvPr/>
            </p:nvSpPr>
            <p:spPr>
              <a:xfrm>
                <a:off x="685800" y="3414852"/>
                <a:ext cx="3063240" cy="457200"/>
              </a:xfrm>
              <a:prstGeom prst="rect">
                <a:avLst/>
              </a:prstGeom>
              <a:blipFill>
                <a:blip r:embed="rId4"/>
                <a:stretch>
                  <a:fillRect t="-185333" b="-248000"/>
                </a:stretch>
              </a:blipFill>
              <a:ln/>
            </p:spPr>
            <p:txBody>
              <a:bodyPr/>
              <a:lstStyle/>
              <a:p>
                <a:r>
                  <a:rPr lang="es-CL">
                    <a:noFill/>
                  </a:rPr>
                  <a:t> </a:t>
                </a:r>
              </a:p>
            </p:txBody>
          </p:sp>
        </mc:Fallback>
      </mc:AlternateContent>
      <p:sp>
        <p:nvSpPr>
          <p:cNvPr id="10" name="Text 8"/>
          <p:cNvSpPr/>
          <p:nvPr/>
        </p:nvSpPr>
        <p:spPr>
          <a:xfrm>
            <a:off x="685800" y="3908628"/>
            <a:ext cx="3063240" cy="960120"/>
          </a:xfrm>
          <a:prstGeom prst="rect">
            <a:avLst/>
          </a:prstGeom>
          <a:noFill/>
          <a:ln/>
        </p:spPr>
        <p:txBody>
          <a:bodyPr wrap="square" lIns="0" tIns="0" rIns="0" bIns="0" rtlCol="0" anchor="t"/>
          <a:lstStyle/>
          <a:p>
            <a:pPr marL="0" indent="0" algn="l">
              <a:lnSpc>
                <a:spcPct val="115000"/>
              </a:lnSpc>
              <a:buNone/>
            </a:pPr>
            <a:r>
              <a:rPr lang="es-CL" sz="1150" noProof="0" dirty="0">
                <a:solidFill>
                  <a:srgbClr val="5B6472"/>
                </a:solidFill>
                <a:latin typeface="Calibri" pitchFamily="34" charset="0"/>
                <a:ea typeface="Calibri" pitchFamily="34" charset="-122"/>
                <a:cs typeface="Calibri" pitchFamily="34" charset="-120"/>
              </a:rPr>
              <a:t>Rendimiento mecánico del cambio de tasa, manteniendo fijas la valoración y la base real. Es el punto de comparación con una estimación estática.</a:t>
            </a:r>
            <a:endParaRPr lang="es-CL" sz="1150" noProof="0" dirty="0"/>
          </a:p>
        </p:txBody>
      </p:sp>
      <p:sp>
        <p:nvSpPr>
          <p:cNvPr id="11" name="Shape 9"/>
          <p:cNvSpPr/>
          <p:nvPr/>
        </p:nvSpPr>
        <p:spPr>
          <a:xfrm>
            <a:off x="4297680" y="2701620"/>
            <a:ext cx="3520440" cy="2027382"/>
          </a:xfrm>
          <a:prstGeom prst="roundRect">
            <a:avLst>
              <a:gd name="adj" fmla="val 3529"/>
            </a:avLst>
          </a:prstGeom>
          <a:solidFill>
            <a:srgbClr val="F7F8FC"/>
          </a:solidFill>
          <a:ln w="15875">
            <a:solidFill>
              <a:srgbClr val="2C4A8C"/>
            </a:solidFill>
            <a:prstDash val="solid"/>
          </a:ln>
          <a:effectLst>
            <a:outerShdw blurRad="76200" dist="25400" dir="5400000" algn="bl" rotWithShape="0">
              <a:srgbClr val="1E2761">
                <a:alpha val="18000"/>
              </a:srgbClr>
            </a:outerShdw>
          </a:effectLst>
        </p:spPr>
        <p:txBody>
          <a:bodyPr/>
          <a:lstStyle/>
          <a:p>
            <a:endParaRPr lang="es-CL" noProof="0" dirty="0"/>
          </a:p>
        </p:txBody>
      </p:sp>
      <p:sp>
        <p:nvSpPr>
          <p:cNvPr id="12" name="Shape 10"/>
          <p:cNvSpPr/>
          <p:nvPr/>
        </p:nvSpPr>
        <p:spPr>
          <a:xfrm>
            <a:off x="4526280" y="2902788"/>
            <a:ext cx="3063240" cy="384048"/>
          </a:xfrm>
          <a:prstGeom prst="roundRect">
            <a:avLst>
              <a:gd name="adj" fmla="val 50000"/>
            </a:avLst>
          </a:prstGeom>
          <a:solidFill>
            <a:srgbClr val="2C4A8C"/>
          </a:solidFill>
          <a:ln/>
        </p:spPr>
        <p:txBody>
          <a:bodyPr/>
          <a:lstStyle/>
          <a:p>
            <a:endParaRPr lang="es-CL" noProof="0" dirty="0"/>
          </a:p>
        </p:txBody>
      </p:sp>
      <p:sp>
        <p:nvSpPr>
          <p:cNvPr id="13" name="Text 11"/>
          <p:cNvSpPr/>
          <p:nvPr/>
        </p:nvSpPr>
        <p:spPr>
          <a:xfrm>
            <a:off x="4526280" y="2902788"/>
            <a:ext cx="3063240" cy="384048"/>
          </a:xfrm>
          <a:prstGeom prst="rect">
            <a:avLst/>
          </a:prstGeom>
          <a:noFill/>
          <a:ln/>
        </p:spPr>
        <p:txBody>
          <a:bodyPr wrap="square" lIns="0" tIns="0" rIns="0" bIns="0" rtlCol="0" anchor="ctr"/>
          <a:lstStyle/>
          <a:p>
            <a:pPr marL="0" indent="0" algn="ctr">
              <a:buNone/>
            </a:pPr>
            <a:r>
              <a:rPr lang="es-CL" sz="1300" b="1" noProof="0" dirty="0">
                <a:solidFill>
                  <a:srgbClr val="FFFFFF"/>
                </a:solidFill>
                <a:latin typeface="Calibri" pitchFamily="34" charset="0"/>
                <a:ea typeface="Calibri" pitchFamily="34" charset="-122"/>
                <a:cs typeface="Calibri" pitchFamily="34" charset="-120"/>
              </a:rPr>
              <a:t>EFECTO BASE</a:t>
            </a:r>
            <a:endParaRPr lang="es-CL" sz="1300" noProof="0" dirty="0"/>
          </a:p>
        </p:txBody>
      </p:sp>
      <mc:AlternateContent xmlns:mc="http://schemas.openxmlformats.org/markup-compatibility/2006" xmlns:a14="http://schemas.microsoft.com/office/drawing/2010/main">
        <mc:Choice Requires="a14">
          <p:sp>
            <p:nvSpPr>
              <p:cNvPr id="14" name="Text 12"/>
              <p:cNvSpPr/>
              <p:nvPr/>
            </p:nvSpPr>
            <p:spPr>
              <a:xfrm>
                <a:off x="4526280" y="3414852"/>
                <a:ext cx="306324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s-CL" sz="1450" b="1" i="1" noProof="0" smtClean="0">
                              <a:solidFill>
                                <a:srgbClr val="141B4D"/>
                              </a:solidFill>
                              <a:latin typeface="Cambria Math" panose="02040503050406030204" pitchFamily="18" charset="0"/>
                              <a:ea typeface="Cambria" pitchFamily="34" charset="-122"/>
                            </a:rPr>
                          </m:ctrlPr>
                        </m:sSubSupPr>
                        <m:e>
                          <m:r>
                            <a:rPr lang="es-CL" sz="1450" b="1" i="1" noProof="0">
                              <a:solidFill>
                                <a:srgbClr val="141B4D"/>
                              </a:solidFill>
                              <a:latin typeface="Cambria Math" panose="02040503050406030204" pitchFamily="18" charset="0"/>
                              <a:ea typeface="Cambria" pitchFamily="34" charset="-122"/>
                            </a:rPr>
                            <m:t>𝑬</m:t>
                          </m:r>
                        </m:e>
                        <m:sub>
                          <m:r>
                            <a:rPr lang="es-CL" sz="1450" b="1" i="1" noProof="0">
                              <a:solidFill>
                                <a:srgbClr val="141B4D"/>
                              </a:solidFill>
                              <a:latin typeface="Cambria Math" panose="02040503050406030204" pitchFamily="18" charset="0"/>
                              <a:ea typeface="Cambria" pitchFamily="34" charset="-122"/>
                            </a:rPr>
                            <m:t>𝒊</m:t>
                          </m:r>
                        </m:sub>
                        <m:sup>
                          <m:r>
                            <a:rPr lang="es-CL" sz="1450" b="1" i="1" noProof="0" smtClean="0">
                              <a:solidFill>
                                <a:srgbClr val="141B4D"/>
                              </a:solidFill>
                              <a:latin typeface="Cambria Math" panose="02040503050406030204" pitchFamily="18" charset="0"/>
                              <a:ea typeface="Cambria" pitchFamily="34" charset="-122"/>
                            </a:rPr>
                            <m:t>𝒃𝒂𝒔𝒆</m:t>
                          </m:r>
                        </m:sup>
                      </m:sSubSup>
                      <m:r>
                        <a:rPr lang="es-CL" sz="1450" b="1" i="1" noProof="0">
                          <a:solidFill>
                            <a:srgbClr val="141B4D"/>
                          </a:solidFill>
                          <a:latin typeface="Cambria Math" panose="02040503050406030204" pitchFamily="18" charset="0"/>
                          <a:ea typeface="Cambria" pitchFamily="34" charset="-122"/>
                        </a:rPr>
                        <m:t>=</m:t>
                      </m:r>
                      <m:nary>
                        <m:naryPr>
                          <m:chr m:val="∑"/>
                          <m:supHide m:val="on"/>
                          <m:ctrlPr>
                            <a:rPr lang="es-CL" sz="1450" b="1" i="1" noProof="0" smtClean="0">
                              <a:solidFill>
                                <a:srgbClr val="141B4D"/>
                              </a:solidFill>
                              <a:latin typeface="Cambria Math" panose="02040503050406030204" pitchFamily="18" charset="0"/>
                              <a:ea typeface="Cambria" pitchFamily="34" charset="-122"/>
                            </a:rPr>
                          </m:ctrlPr>
                        </m:naryPr>
                        <m:sub>
                          <m:r>
                            <m:rPr>
                              <m:brk m:alnAt="7"/>
                            </m:rPr>
                            <a:rPr lang="es-CL" sz="1450" b="1" i="1" noProof="0">
                              <a:solidFill>
                                <a:srgbClr val="141B4D"/>
                              </a:solidFill>
                              <a:latin typeface="Cambria Math" panose="02040503050406030204" pitchFamily="18" charset="0"/>
                              <a:ea typeface="Cambria" pitchFamily="34" charset="-122"/>
                            </a:rPr>
                            <m:t>𝒋</m:t>
                          </m:r>
                        </m:sub>
                        <m:sup/>
                        <m:e>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smtClean="0">
                                      <a:solidFill>
                                        <a:srgbClr val="141B4D"/>
                                      </a:solidFill>
                                      <a:latin typeface="Cambria Math" panose="02040503050406030204" pitchFamily="18" charset="0"/>
                                      <a:ea typeface="Cambria Math" panose="02040503050406030204" pitchFamily="18" charset="0"/>
                                    </a:rPr>
                                    <m:t>𝝉</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a:solidFill>
                                        <a:srgbClr val="141B4D"/>
                                      </a:solidFill>
                                      <a:latin typeface="Cambria Math" panose="02040503050406030204" pitchFamily="18" charset="0"/>
                                      <a:ea typeface="Cambria Math" panose="02040503050406030204" pitchFamily="18" charset="0"/>
                                    </a:rPr>
                                    <m:t>𝑷</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r>
                                <a:rPr lang="es-CL" sz="1450" b="1" i="1" noProof="0">
                                  <a:solidFill>
                                    <a:srgbClr val="141B4D"/>
                                  </a:solidFill>
                                  <a:latin typeface="Cambria Math" panose="02040503050406030204" pitchFamily="18" charset="0"/>
                                  <a:ea typeface="Cambria Math" panose="02040503050406030204" pitchFamily="18" charset="0"/>
                                </a:rPr>
                                <m:t>𝑸</m:t>
                              </m:r>
                            </m:e>
                            <m:sub>
                              <m:r>
                                <a:rPr lang="es-CL" sz="1450" b="1" i="1" noProof="0">
                                  <a:solidFill>
                                    <a:srgbClr val="141B4D"/>
                                  </a:solidFill>
                                  <a:latin typeface="Cambria Math" panose="02040503050406030204" pitchFamily="18" charset="0"/>
                                  <a:ea typeface="Cambria Math" panose="02040503050406030204" pitchFamily="18" charset="0"/>
                                </a:rPr>
                                <m:t>𝒊𝒋</m:t>
                              </m:r>
                            </m:sub>
                          </m:sSub>
                        </m:e>
                      </m:nary>
                    </m:oMath>
                  </m:oMathPara>
                </a14:m>
                <a:endParaRPr lang="es-CL" sz="1450" noProof="0" dirty="0"/>
              </a:p>
            </p:txBody>
          </p:sp>
        </mc:Choice>
        <mc:Fallback xmlns="">
          <p:sp>
            <p:nvSpPr>
              <p:cNvPr id="14" name="Text 12"/>
              <p:cNvSpPr>
                <a:spLocks noRot="1" noChangeAspect="1" noMove="1" noResize="1" noEditPoints="1" noAdjustHandles="1" noChangeArrowheads="1" noChangeShapeType="1" noTextEdit="1"/>
              </p:cNvSpPr>
              <p:nvPr/>
            </p:nvSpPr>
            <p:spPr>
              <a:xfrm>
                <a:off x="4526280" y="3414852"/>
                <a:ext cx="3063240" cy="457200"/>
              </a:xfrm>
              <a:prstGeom prst="rect">
                <a:avLst/>
              </a:prstGeom>
              <a:blipFill>
                <a:blip r:embed="rId5"/>
                <a:stretch>
                  <a:fillRect t="-185333" b="-248000"/>
                </a:stretch>
              </a:blipFill>
              <a:ln/>
            </p:spPr>
            <p:txBody>
              <a:bodyPr/>
              <a:lstStyle/>
              <a:p>
                <a:r>
                  <a:rPr lang="es-CL">
                    <a:noFill/>
                  </a:rPr>
                  <a:t> </a:t>
                </a:r>
              </a:p>
            </p:txBody>
          </p:sp>
        </mc:Fallback>
      </mc:AlternateContent>
      <p:sp>
        <p:nvSpPr>
          <p:cNvPr id="15" name="Text 13"/>
          <p:cNvSpPr/>
          <p:nvPr/>
        </p:nvSpPr>
        <p:spPr>
          <a:xfrm>
            <a:off x="4526280" y="3908628"/>
            <a:ext cx="3063240" cy="960120"/>
          </a:xfrm>
          <a:prstGeom prst="rect">
            <a:avLst/>
          </a:prstGeom>
          <a:noFill/>
          <a:ln/>
        </p:spPr>
        <p:txBody>
          <a:bodyPr wrap="square" lIns="0" tIns="0" rIns="0" bIns="0" rtlCol="0" anchor="t"/>
          <a:lstStyle/>
          <a:p>
            <a:pPr marL="0" indent="0" algn="l">
              <a:lnSpc>
                <a:spcPct val="115000"/>
              </a:lnSpc>
              <a:buNone/>
            </a:pPr>
            <a:r>
              <a:rPr lang="es-CL" sz="1150" noProof="0" dirty="0">
                <a:solidFill>
                  <a:srgbClr val="5B6472"/>
                </a:solidFill>
                <a:latin typeface="Calibri" pitchFamily="34" charset="0"/>
                <a:ea typeface="Calibri" pitchFamily="34" charset="-122"/>
                <a:cs typeface="Calibri" pitchFamily="34" charset="-120"/>
              </a:rPr>
              <a:t>Respuesta de cantidades inducida por el nuevo equilibrio: cambios en consumo, producción, empleo o importaciones.</a:t>
            </a:r>
            <a:endParaRPr lang="es-CL" sz="1150" noProof="0" dirty="0"/>
          </a:p>
        </p:txBody>
      </p:sp>
      <p:sp>
        <p:nvSpPr>
          <p:cNvPr id="16" name="Shape 14"/>
          <p:cNvSpPr/>
          <p:nvPr/>
        </p:nvSpPr>
        <p:spPr>
          <a:xfrm>
            <a:off x="8138160" y="2701620"/>
            <a:ext cx="3520440" cy="2027382"/>
          </a:xfrm>
          <a:prstGeom prst="roundRect">
            <a:avLst>
              <a:gd name="adj" fmla="val 3529"/>
            </a:avLst>
          </a:prstGeom>
          <a:solidFill>
            <a:srgbClr val="F7F8FC"/>
          </a:solidFill>
          <a:ln w="15875">
            <a:solidFill>
              <a:srgbClr val="3E6BB8"/>
            </a:solidFill>
            <a:prstDash val="solid"/>
          </a:ln>
          <a:effectLst>
            <a:outerShdw blurRad="76200" dist="25400" dir="5400000" algn="bl" rotWithShape="0">
              <a:srgbClr val="1E2761">
                <a:alpha val="18000"/>
              </a:srgbClr>
            </a:outerShdw>
          </a:effectLst>
        </p:spPr>
        <p:txBody>
          <a:bodyPr/>
          <a:lstStyle/>
          <a:p>
            <a:endParaRPr lang="es-CL" noProof="0" dirty="0"/>
          </a:p>
        </p:txBody>
      </p:sp>
      <p:sp>
        <p:nvSpPr>
          <p:cNvPr id="17" name="Shape 15"/>
          <p:cNvSpPr/>
          <p:nvPr/>
        </p:nvSpPr>
        <p:spPr>
          <a:xfrm>
            <a:off x="8366760" y="2902788"/>
            <a:ext cx="3063240" cy="384048"/>
          </a:xfrm>
          <a:prstGeom prst="roundRect">
            <a:avLst>
              <a:gd name="adj" fmla="val 50000"/>
            </a:avLst>
          </a:prstGeom>
          <a:solidFill>
            <a:srgbClr val="3E6BB8"/>
          </a:solidFill>
          <a:ln/>
        </p:spPr>
        <p:txBody>
          <a:bodyPr/>
          <a:lstStyle/>
          <a:p>
            <a:endParaRPr lang="es-CL" noProof="0" dirty="0"/>
          </a:p>
        </p:txBody>
      </p:sp>
      <p:sp>
        <p:nvSpPr>
          <p:cNvPr id="18" name="Text 16"/>
          <p:cNvSpPr/>
          <p:nvPr/>
        </p:nvSpPr>
        <p:spPr>
          <a:xfrm>
            <a:off x="8366760" y="2902788"/>
            <a:ext cx="3063240" cy="384048"/>
          </a:xfrm>
          <a:prstGeom prst="rect">
            <a:avLst/>
          </a:prstGeom>
          <a:noFill/>
          <a:ln/>
        </p:spPr>
        <p:txBody>
          <a:bodyPr wrap="square" lIns="0" tIns="0" rIns="0" bIns="0" rtlCol="0" anchor="ctr"/>
          <a:lstStyle/>
          <a:p>
            <a:pPr marL="0" indent="0" algn="ctr">
              <a:buNone/>
            </a:pPr>
            <a:r>
              <a:rPr lang="es-CL" sz="1300" b="1" noProof="0" dirty="0">
                <a:solidFill>
                  <a:srgbClr val="FFFFFF"/>
                </a:solidFill>
                <a:latin typeface="Calibri" pitchFamily="34" charset="0"/>
                <a:ea typeface="Calibri" pitchFamily="34" charset="-122"/>
                <a:cs typeface="Calibri" pitchFamily="34" charset="-120"/>
              </a:rPr>
              <a:t>EFECTO PRECIO</a:t>
            </a:r>
            <a:endParaRPr lang="es-CL" sz="1300" noProof="0" dirty="0"/>
          </a:p>
        </p:txBody>
      </p:sp>
      <mc:AlternateContent xmlns:mc="http://schemas.openxmlformats.org/markup-compatibility/2006" xmlns:a14="http://schemas.microsoft.com/office/drawing/2010/main">
        <mc:Choice Requires="a14">
          <p:sp>
            <p:nvSpPr>
              <p:cNvPr id="19" name="Text 17"/>
              <p:cNvSpPr/>
              <p:nvPr/>
            </p:nvSpPr>
            <p:spPr>
              <a:xfrm>
                <a:off x="8366760" y="3414852"/>
                <a:ext cx="306324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s-CL" sz="1450" b="1" i="1" noProof="0" smtClean="0">
                              <a:solidFill>
                                <a:srgbClr val="141B4D"/>
                              </a:solidFill>
                              <a:latin typeface="Cambria Math" panose="02040503050406030204" pitchFamily="18" charset="0"/>
                              <a:ea typeface="Cambria" pitchFamily="34" charset="-122"/>
                            </a:rPr>
                          </m:ctrlPr>
                        </m:sSubSupPr>
                        <m:e>
                          <m:r>
                            <a:rPr lang="es-CL" sz="1450" b="1" i="1" noProof="0">
                              <a:solidFill>
                                <a:srgbClr val="141B4D"/>
                              </a:solidFill>
                              <a:latin typeface="Cambria Math" panose="02040503050406030204" pitchFamily="18" charset="0"/>
                              <a:ea typeface="Cambria" pitchFamily="34" charset="-122"/>
                            </a:rPr>
                            <m:t>𝑬</m:t>
                          </m:r>
                        </m:e>
                        <m:sub>
                          <m:r>
                            <a:rPr lang="es-CL" sz="1450" b="1" i="1" noProof="0">
                              <a:solidFill>
                                <a:srgbClr val="141B4D"/>
                              </a:solidFill>
                              <a:latin typeface="Cambria Math" panose="02040503050406030204" pitchFamily="18" charset="0"/>
                              <a:ea typeface="Cambria" pitchFamily="34" charset="-122"/>
                            </a:rPr>
                            <m:t>𝒊</m:t>
                          </m:r>
                        </m:sub>
                        <m:sup>
                          <m:r>
                            <a:rPr lang="es-CL" sz="1450" b="1" i="1" noProof="0" smtClean="0">
                              <a:solidFill>
                                <a:srgbClr val="141B4D"/>
                              </a:solidFill>
                              <a:latin typeface="Cambria Math" panose="02040503050406030204" pitchFamily="18" charset="0"/>
                              <a:ea typeface="Cambria" pitchFamily="34" charset="-122"/>
                            </a:rPr>
                            <m:t>𝒑𝒓𝒆𝒄𝒊𝒐</m:t>
                          </m:r>
                        </m:sup>
                      </m:sSubSup>
                      <m:r>
                        <a:rPr lang="es-CL" sz="1450" b="1" i="1" noProof="0">
                          <a:solidFill>
                            <a:srgbClr val="141B4D"/>
                          </a:solidFill>
                          <a:latin typeface="Cambria Math" panose="02040503050406030204" pitchFamily="18" charset="0"/>
                          <a:ea typeface="Cambria" pitchFamily="34" charset="-122"/>
                        </a:rPr>
                        <m:t>=</m:t>
                      </m:r>
                      <m:nary>
                        <m:naryPr>
                          <m:chr m:val="∑"/>
                          <m:supHide m:val="on"/>
                          <m:ctrlPr>
                            <a:rPr lang="es-CL" sz="1450" b="1" i="1" noProof="0" smtClean="0">
                              <a:solidFill>
                                <a:srgbClr val="141B4D"/>
                              </a:solidFill>
                              <a:latin typeface="Cambria Math" panose="02040503050406030204" pitchFamily="18" charset="0"/>
                              <a:ea typeface="Cambria" pitchFamily="34" charset="-122"/>
                            </a:rPr>
                          </m:ctrlPr>
                        </m:naryPr>
                        <m:sub>
                          <m:r>
                            <m:rPr>
                              <m:brk m:alnAt="7"/>
                            </m:rPr>
                            <a:rPr lang="es-CL" sz="1450" b="1" i="1" noProof="0">
                              <a:solidFill>
                                <a:srgbClr val="141B4D"/>
                              </a:solidFill>
                              <a:latin typeface="Cambria Math" panose="02040503050406030204" pitchFamily="18" charset="0"/>
                              <a:ea typeface="Cambria" pitchFamily="34" charset="-122"/>
                            </a:rPr>
                            <m:t>𝒋</m:t>
                          </m:r>
                        </m:sub>
                        <m:sup/>
                        <m:e>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smtClean="0">
                                      <a:solidFill>
                                        <a:srgbClr val="141B4D"/>
                                      </a:solidFill>
                                      <a:latin typeface="Cambria Math" panose="02040503050406030204" pitchFamily="18" charset="0"/>
                                      <a:ea typeface="Cambria Math" panose="02040503050406030204" pitchFamily="18" charset="0"/>
                                    </a:rPr>
                                    <m:t>𝝉</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r>
                                <a:rPr lang="es-CL" sz="1450" b="1" i="1" noProof="0">
                                  <a:solidFill>
                                    <a:srgbClr val="141B4D"/>
                                  </a:solidFill>
                                  <a:latin typeface="Cambria Math" panose="02040503050406030204" pitchFamily="18" charset="0"/>
                                  <a:ea typeface="Cambria Math" panose="02040503050406030204" pitchFamily="18" charset="0"/>
                                </a:rPr>
                                <m:t>𝑷</m:t>
                              </m:r>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a:solidFill>
                                        <a:srgbClr val="141B4D"/>
                                      </a:solidFill>
                                      <a:latin typeface="Cambria Math" panose="02040503050406030204" pitchFamily="18" charset="0"/>
                                      <a:ea typeface="Cambria Math" panose="02040503050406030204" pitchFamily="18" charset="0"/>
                                    </a:rPr>
                                    <m:t>𝑸</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e>
                      </m:nary>
                    </m:oMath>
                  </m:oMathPara>
                </a14:m>
                <a:endParaRPr lang="es-CL" sz="1450" noProof="0" dirty="0"/>
              </a:p>
            </p:txBody>
          </p:sp>
        </mc:Choice>
        <mc:Fallback xmlns="">
          <p:sp>
            <p:nvSpPr>
              <p:cNvPr id="19" name="Text 17"/>
              <p:cNvSpPr>
                <a:spLocks noRot="1" noChangeAspect="1" noMove="1" noResize="1" noEditPoints="1" noAdjustHandles="1" noChangeArrowheads="1" noChangeShapeType="1" noTextEdit="1"/>
              </p:cNvSpPr>
              <p:nvPr/>
            </p:nvSpPr>
            <p:spPr>
              <a:xfrm>
                <a:off x="8366760" y="3414852"/>
                <a:ext cx="3063240" cy="457200"/>
              </a:xfrm>
              <a:prstGeom prst="rect">
                <a:avLst/>
              </a:prstGeom>
              <a:blipFill>
                <a:blip r:embed="rId6"/>
                <a:stretch>
                  <a:fillRect t="-185333" b="-248000"/>
                </a:stretch>
              </a:blipFill>
              <a:ln/>
            </p:spPr>
            <p:txBody>
              <a:bodyPr/>
              <a:lstStyle/>
              <a:p>
                <a:r>
                  <a:rPr lang="es-CL">
                    <a:noFill/>
                  </a:rPr>
                  <a:t> </a:t>
                </a:r>
              </a:p>
            </p:txBody>
          </p:sp>
        </mc:Fallback>
      </mc:AlternateContent>
      <p:sp>
        <p:nvSpPr>
          <p:cNvPr id="20" name="Text 18"/>
          <p:cNvSpPr/>
          <p:nvPr/>
        </p:nvSpPr>
        <p:spPr>
          <a:xfrm>
            <a:off x="8366760" y="3908628"/>
            <a:ext cx="3063240" cy="960120"/>
          </a:xfrm>
          <a:prstGeom prst="rect">
            <a:avLst/>
          </a:prstGeom>
          <a:noFill/>
          <a:ln/>
        </p:spPr>
        <p:txBody>
          <a:bodyPr wrap="square" lIns="0" tIns="0" rIns="0" bIns="0" rtlCol="0" anchor="t"/>
          <a:lstStyle/>
          <a:p>
            <a:pPr marL="0" indent="0" algn="l">
              <a:lnSpc>
                <a:spcPct val="115000"/>
              </a:lnSpc>
              <a:buNone/>
            </a:pPr>
            <a:r>
              <a:rPr lang="es-CL" sz="1150" noProof="0" dirty="0">
                <a:solidFill>
                  <a:srgbClr val="5B6472"/>
                </a:solidFill>
                <a:latin typeface="Calibri" pitchFamily="34" charset="0"/>
                <a:ea typeface="Calibri" pitchFamily="34" charset="-122"/>
                <a:cs typeface="Calibri" pitchFamily="34" charset="-120"/>
              </a:rPr>
              <a:t>Revaloración nominal de la base por movimientos de precios relativos, salarios, retorno del capital o tipo de cambio. Depende del numerario.</a:t>
            </a:r>
            <a:endParaRPr lang="es-CL" sz="1150" noProof="0" dirty="0"/>
          </a:p>
        </p:txBody>
      </p:sp>
      <p:sp>
        <p:nvSpPr>
          <p:cNvPr id="21" name="Shape 19"/>
          <p:cNvSpPr/>
          <p:nvPr/>
        </p:nvSpPr>
        <p:spPr>
          <a:xfrm>
            <a:off x="457200" y="4828032"/>
            <a:ext cx="11247120" cy="566928"/>
          </a:xfrm>
          <a:prstGeom prst="roundRect">
            <a:avLst>
              <a:gd name="adj" fmla="val 12903"/>
            </a:avLst>
          </a:prstGeom>
          <a:solidFill>
            <a:srgbClr val="CADCFC"/>
          </a:solidFill>
          <a:ln/>
        </p:spPr>
        <p:txBody>
          <a:bodyPr/>
          <a:lstStyle/>
          <a:p>
            <a:endParaRPr lang="es-CL" noProof="0" dirty="0"/>
          </a:p>
        </p:txBody>
      </p:sp>
      <mc:AlternateContent xmlns:mc="http://schemas.openxmlformats.org/markup-compatibility/2006" xmlns:a14="http://schemas.microsoft.com/office/drawing/2010/main">
        <mc:Choice Requires="a14">
          <p:sp>
            <p:nvSpPr>
              <p:cNvPr id="22" name="Text 20"/>
              <p:cNvSpPr/>
              <p:nvPr/>
            </p:nvSpPr>
            <p:spPr>
              <a:xfrm>
                <a:off x="685800" y="4828032"/>
                <a:ext cx="10789920" cy="566928"/>
              </a:xfrm>
              <a:prstGeom prst="rect">
                <a:avLst/>
              </a:prstGeom>
              <a:noFill/>
              <a:ln/>
            </p:spPr>
            <p:txBody>
              <a:bodyPr wrap="square" lIns="0" tIns="0" rIns="0" bIns="0" rtlCol="0" anchor="ctr"/>
              <a:lstStyle/>
              <a:p>
                <a:r>
                  <a:rPr lang="es-CL" sz="1350" b="1" noProof="0" dirty="0">
                    <a:solidFill>
                      <a:srgbClr val="141B4D"/>
                    </a:solidFill>
                    <a:latin typeface="Calibri" pitchFamily="34" charset="0"/>
                    <a:ea typeface="Calibri" pitchFamily="34" charset="-122"/>
                    <a:cs typeface="Calibri" pitchFamily="34" charset="-120"/>
                  </a:rPr>
                  <a:t>Identidad de cierre: </a:t>
                </a:r>
                <a14:m>
                  <m:oMath xmlns:m="http://schemas.openxmlformats.org/officeDocument/2006/math">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𝚫</m:t>
                    </m:r>
                    <m:sSub>
                      <m:sSubPr>
                        <m:ctrlP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ctrlPr>
                      </m:sSubPr>
                      <m:e>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𝑹</m:t>
                        </m:r>
                      </m:e>
                      <m:sub>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𝒊</m:t>
                        </m:r>
                      </m:sub>
                    </m:sSub>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m:t>
                    </m:r>
                    <m:sSubSup>
                      <m:sSubSupPr>
                        <m:ctrlP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ctrlPr>
                      </m:sSubSupPr>
                      <m:e>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𝑬</m:t>
                        </m:r>
                      </m:e>
                      <m:sub>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𝒊</m:t>
                        </m:r>
                      </m:sub>
                      <m:sup>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𝒕𝒂𝒔𝒂</m:t>
                        </m:r>
                      </m:sup>
                    </m:sSubSup>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m:t>
                    </m:r>
                    <m:sSubSup>
                      <m:sSubSupPr>
                        <m:ctrlPr>
                          <a:rPr lang="es-CL" sz="1350" b="1" i="1">
                            <a:solidFill>
                              <a:srgbClr val="141B4D"/>
                            </a:solidFill>
                            <a:latin typeface="Cambria Math" panose="02040503050406030204" pitchFamily="18" charset="0"/>
                            <a:ea typeface="Cambria Math" panose="02040503050406030204" pitchFamily="18" charset="0"/>
                            <a:cs typeface="Calibri" pitchFamily="34" charset="-120"/>
                          </a:rPr>
                        </m:ctrlPr>
                      </m:sSubSupPr>
                      <m:e>
                        <m:r>
                          <a:rPr lang="es-CL" sz="1350" b="1" i="1">
                            <a:solidFill>
                              <a:srgbClr val="141B4D"/>
                            </a:solidFill>
                            <a:latin typeface="Cambria Math" panose="02040503050406030204" pitchFamily="18" charset="0"/>
                            <a:ea typeface="Cambria Math" panose="02040503050406030204" pitchFamily="18" charset="0"/>
                            <a:cs typeface="Calibri" pitchFamily="34" charset="-120"/>
                          </a:rPr>
                          <m:t>𝑬</m:t>
                        </m:r>
                      </m:e>
                      <m:sub>
                        <m:r>
                          <a:rPr lang="es-CL" sz="1350" b="1" i="1">
                            <a:solidFill>
                              <a:srgbClr val="141B4D"/>
                            </a:solidFill>
                            <a:latin typeface="Cambria Math" panose="02040503050406030204" pitchFamily="18" charset="0"/>
                            <a:ea typeface="Cambria Math" panose="02040503050406030204" pitchFamily="18" charset="0"/>
                            <a:cs typeface="Calibri" pitchFamily="34" charset="-120"/>
                          </a:rPr>
                          <m:t>𝒊</m:t>
                        </m:r>
                      </m:sub>
                      <m: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𝒑𝒓𝒆𝒄𝒊𝒐</m:t>
                        </m:r>
                      </m:sup>
                    </m:sSub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m:t>
                    </m:r>
                    <m:sSubSup>
                      <m:sSubSupPr>
                        <m:ctrlPr>
                          <a:rPr lang="es-CL" sz="1350" b="1" i="1">
                            <a:solidFill>
                              <a:srgbClr val="141B4D"/>
                            </a:solidFill>
                            <a:latin typeface="Cambria Math" panose="02040503050406030204" pitchFamily="18" charset="0"/>
                            <a:ea typeface="Cambria Math" panose="02040503050406030204" pitchFamily="18" charset="0"/>
                            <a:cs typeface="Calibri" pitchFamily="34" charset="-120"/>
                          </a:rPr>
                        </m:ctrlPr>
                      </m:sSubSupPr>
                      <m:e>
                        <m:r>
                          <a:rPr lang="es-CL" sz="1350" b="1" i="1">
                            <a:solidFill>
                              <a:srgbClr val="141B4D"/>
                            </a:solidFill>
                            <a:latin typeface="Cambria Math" panose="02040503050406030204" pitchFamily="18" charset="0"/>
                            <a:ea typeface="Cambria Math" panose="02040503050406030204" pitchFamily="18" charset="0"/>
                            <a:cs typeface="Calibri" pitchFamily="34" charset="-120"/>
                          </a:rPr>
                          <m:t>𝑬</m:t>
                        </m:r>
                      </m:e>
                      <m:sub>
                        <m:r>
                          <a:rPr lang="es-CL" sz="1350" b="1" i="1">
                            <a:solidFill>
                              <a:srgbClr val="141B4D"/>
                            </a:solidFill>
                            <a:latin typeface="Cambria Math" panose="02040503050406030204" pitchFamily="18" charset="0"/>
                            <a:ea typeface="Cambria Math" panose="02040503050406030204" pitchFamily="18" charset="0"/>
                            <a:cs typeface="Calibri" pitchFamily="34" charset="-120"/>
                          </a:rPr>
                          <m:t>𝒊</m:t>
                        </m:r>
                      </m:sub>
                      <m: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𝒃𝒂𝒔𝒆</m:t>
                        </m:r>
                      </m:sup>
                    </m:sSub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m:t>
                    </m:r>
                    <m:sSub>
                      <m:sSubPr>
                        <m:ctrlP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ctrlPr>
                      </m:sSubPr>
                      <m:e>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𝜺</m:t>
                        </m:r>
                      </m:e>
                      <m:sub>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𝒊</m:t>
                        </m:r>
                      </m:sub>
                    </m:sSub>
                  </m:oMath>
                </a14:m>
                <a:r>
                  <a:rPr lang="es-CL" sz="1350" b="1" noProof="0" dirty="0">
                    <a:solidFill>
                      <a:srgbClr val="141B4D"/>
                    </a:solidFill>
                    <a:latin typeface="Calibri" pitchFamily="34" charset="0"/>
                    <a:ea typeface="Calibri" pitchFamily="34" charset="-122"/>
                    <a:cs typeface="Calibri" pitchFamily="34" charset="-120"/>
                  </a:rPr>
                  <a:t> </a:t>
                </a:r>
                <a:r>
                  <a:rPr lang="es-CL" sz="1150" i="1" noProof="0" dirty="0">
                    <a:solidFill>
                      <a:srgbClr val="141B4D"/>
                    </a:solidFill>
                    <a:latin typeface="Calibri" pitchFamily="34" charset="0"/>
                    <a:ea typeface="Calibri" pitchFamily="34" charset="-122"/>
                    <a:cs typeface="Calibri" pitchFamily="34" charset="-120"/>
                  </a:rPr>
                  <a:t>(εᵢ: residuo de interacción)</a:t>
                </a:r>
                <a:endParaRPr lang="es-CL" sz="1350" noProof="0" dirty="0"/>
              </a:p>
            </p:txBody>
          </p:sp>
        </mc:Choice>
        <mc:Fallback xmlns="">
          <p:sp>
            <p:nvSpPr>
              <p:cNvPr id="22" name="Text 20"/>
              <p:cNvSpPr>
                <a:spLocks noRot="1" noChangeAspect="1" noMove="1" noResize="1" noEditPoints="1" noAdjustHandles="1" noChangeArrowheads="1" noChangeShapeType="1" noTextEdit="1"/>
              </p:cNvSpPr>
              <p:nvPr/>
            </p:nvSpPr>
            <p:spPr>
              <a:xfrm>
                <a:off x="685800" y="4828032"/>
                <a:ext cx="10789920" cy="566928"/>
              </a:xfrm>
              <a:prstGeom prst="rect">
                <a:avLst/>
              </a:prstGeom>
              <a:blipFill>
                <a:blip r:embed="rId7"/>
                <a:stretch>
                  <a:fillRect l="-1017"/>
                </a:stretch>
              </a:blipFill>
              <a:ln/>
            </p:spPr>
            <p:txBody>
              <a:bodyPr/>
              <a:lstStyle/>
              <a:p>
                <a:r>
                  <a:rPr lang="es-CL">
                    <a:noFill/>
                  </a:rPr>
                  <a:t> </a:t>
                </a:r>
              </a:p>
            </p:txBody>
          </p:sp>
        </mc:Fallback>
      </mc:AlternateContent>
      <p:sp>
        <p:nvSpPr>
          <p:cNvPr id="23" name="Text 21"/>
          <p:cNvSpPr/>
          <p:nvPr/>
        </p:nvSpPr>
        <p:spPr>
          <a:xfrm>
            <a:off x="457200" y="5486400"/>
            <a:ext cx="11247120" cy="1051560"/>
          </a:xfrm>
          <a:prstGeom prst="rect">
            <a:avLst/>
          </a:prstGeom>
          <a:noFill/>
          <a:ln/>
        </p:spPr>
        <p:txBody>
          <a:bodyPr wrap="square" lIns="0" tIns="0" rIns="0" bIns="0" rtlCol="0" anchor="t"/>
          <a:lstStyle/>
          <a:p>
            <a:pPr marL="0" indent="0">
              <a:lnSpc>
                <a:spcPct val="120000"/>
              </a:lnSpc>
              <a:buNone/>
            </a:pPr>
            <a:r>
              <a:rPr lang="es-CL" sz="1150" b="1" noProof="0" dirty="0">
                <a:solidFill>
                  <a:srgbClr val="1E2761"/>
                </a:solidFill>
                <a:latin typeface="Calibri" pitchFamily="34" charset="0"/>
                <a:ea typeface="Calibri" pitchFamily="34" charset="-122"/>
                <a:cs typeface="Calibri" pitchFamily="34" charset="-120"/>
              </a:rPr>
              <a:t>Efecto tasa + base </a:t>
            </a:r>
            <a:r>
              <a:rPr lang="es-CL" sz="1150" noProof="0" dirty="0">
                <a:solidFill>
                  <a:srgbClr val="5B6472"/>
                </a:solidFill>
                <a:latin typeface="Calibri" pitchFamily="34" charset="0"/>
                <a:ea typeface="Calibri" pitchFamily="34" charset="-122"/>
                <a:cs typeface="Calibri" pitchFamily="34" charset="-120"/>
              </a:rPr>
              <a:t>= impacto fiscal atribuible a la política y a la respuesta real de las bases (excluye revaloración nominal). </a:t>
            </a:r>
            <a:r>
              <a:rPr lang="es-CL" sz="1150" b="1" noProof="0" dirty="0">
                <a:solidFill>
                  <a:srgbClr val="1E2761"/>
                </a:solidFill>
                <a:latin typeface="Calibri" pitchFamily="34" charset="0"/>
                <a:ea typeface="Calibri" pitchFamily="34" charset="-122"/>
                <a:cs typeface="Calibri" pitchFamily="34" charset="-120"/>
              </a:rPr>
              <a:t>Por instrumento: </a:t>
            </a:r>
            <a:r>
              <a:rPr lang="es-CL" sz="1150" noProof="0" dirty="0">
                <a:solidFill>
                  <a:srgbClr val="5B6472"/>
                </a:solidFill>
                <a:latin typeface="Calibri" pitchFamily="34" charset="0"/>
                <a:ea typeface="Calibri" pitchFamily="34" charset="-122"/>
                <a:cs typeface="Calibri" pitchFamily="34" charset="-120"/>
              </a:rPr>
              <a:t>IVA → precio compuesto / absorción gravada · IDPC → retorno del capital / capital corporativo (base fija) · PIT → precios de factores / capital y empleo de hogares · </a:t>
            </a:r>
            <a:r>
              <a:rPr lang="es-CL" sz="1150" noProof="0" dirty="0" err="1">
                <a:solidFill>
                  <a:srgbClr val="5B6472"/>
                </a:solidFill>
                <a:latin typeface="Calibri" pitchFamily="34" charset="0"/>
                <a:ea typeface="Calibri" pitchFamily="34" charset="-122"/>
                <a:cs typeface="Calibri" pitchFamily="34" charset="-120"/>
              </a:rPr>
              <a:t>Prod</a:t>
            </a:r>
            <a:r>
              <a:rPr lang="es-CL" sz="1150" noProof="0" dirty="0">
                <a:solidFill>
                  <a:srgbClr val="5B6472"/>
                </a:solidFill>
                <a:latin typeface="Calibri" pitchFamily="34" charset="0"/>
                <a:ea typeface="Calibri" pitchFamily="34" charset="-122"/>
                <a:cs typeface="Calibri" pitchFamily="34" charset="-120"/>
              </a:rPr>
              <a:t>. y específicos → índice de precios sectorial / producción implícita · Aranceles → tipo de cambio / importaciones a precios mundiales.</a:t>
            </a:r>
            <a:endParaRPr lang="es-CL" sz="1150" noProof="0" dirty="0"/>
          </a:p>
        </p:txBody>
      </p:sp>
      <p:sp>
        <p:nvSpPr>
          <p:cNvPr id="25" name="Shape 0">
            <a:extLst>
              <a:ext uri="{FF2B5EF4-FFF2-40B4-BE49-F238E27FC236}">
                <a16:creationId xmlns:a16="http://schemas.microsoft.com/office/drawing/2014/main" id="{572854A8-D61E-FA94-9A95-6F40C2A80C8F}"/>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Shock 1: Aumento del IVA (+1%)</a:t>
            </a:r>
            <a:endParaRPr lang="es-CL" sz="2400" noProof="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noProof="0" dirty="0"/>
          </a:p>
        </p:txBody>
      </p:sp>
      <p:sp>
        <p:nvSpPr>
          <p:cNvPr id="6" name="Shape 4"/>
          <p:cNvSpPr/>
          <p:nvPr/>
        </p:nvSpPr>
        <p:spPr>
          <a:xfrm>
            <a:off x="640080" y="1280160"/>
            <a:ext cx="73152" cy="5029200"/>
          </a:xfrm>
          <a:prstGeom prst="rect">
            <a:avLst/>
          </a:prstGeom>
          <a:solidFill>
            <a:srgbClr val="C2562E"/>
          </a:solidFill>
          <a:ln w="12700">
            <a:solidFill>
              <a:srgbClr val="C2562E"/>
            </a:solidFill>
            <a:prstDash val="solid"/>
          </a:ln>
        </p:spPr>
        <p:txBody>
          <a:bodyPr/>
          <a:lstStyle/>
          <a:p>
            <a:endParaRPr lang="es-CL" noProof="0" dirty="0"/>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Mecanismo de transmisión</a:t>
            </a:r>
            <a:endParaRPr lang="es-CL" sz="1500" noProof="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Precio al consumidor (</a:t>
            </a:r>
            <a:r>
              <a:rPr lang="es-CL" sz="1200" noProof="0" dirty="0" err="1">
                <a:solidFill>
                  <a:srgbClr val="2D3748"/>
                </a:solidFill>
                <a:latin typeface="Calibri" pitchFamily="34" charset="0"/>
                <a:ea typeface="Calibri" pitchFamily="34" charset="-122"/>
                <a:cs typeface="Calibri" pitchFamily="34" charset="-120"/>
              </a:rPr>
              <a:t>p_c</a:t>
            </a:r>
            <a:r>
              <a:rPr lang="es-CL" sz="1200" noProof="0" dirty="0">
                <a:solidFill>
                  <a:srgbClr val="2D3748"/>
                </a:solidFill>
                <a:latin typeface="Calibri" pitchFamily="34" charset="0"/>
                <a:ea typeface="Calibri" pitchFamily="34" charset="-122"/>
                <a:cs typeface="Calibri" pitchFamily="34" charset="-120"/>
              </a:rPr>
              <a:t>)</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Ingreso real → ↓ consumo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Absorción interna → ↓ importaciones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Producción → ↓ empleo / salarios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Presión externa → ajuste cambiario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Exportaciones (efecto secundario)</a:t>
            </a:r>
            <a:endParaRPr lang="es-CL" sz="1200" noProof="0" dirty="0"/>
          </a:p>
          <a:p>
            <a:pPr marL="342900" indent="-342900" algn="l">
              <a:spcAft>
                <a:spcPts val="500"/>
              </a:spcAft>
              <a:buSzPct val="100000"/>
              <a:buChar char="•"/>
            </a:pPr>
            <a:r>
              <a:rPr lang="es-CL" sz="1200" b="1" noProof="0" dirty="0">
                <a:solidFill>
                  <a:srgbClr val="2F7D58"/>
                </a:solidFill>
                <a:latin typeface="Calibri" pitchFamily="34" charset="0"/>
                <a:ea typeface="Calibri" pitchFamily="34" charset="-122"/>
                <a:cs typeface="Calibri" pitchFamily="34" charset="-120"/>
              </a:rPr>
              <a:t>↑ Recaudación IVA directa</a:t>
            </a:r>
            <a:endParaRPr lang="es-CL" sz="1200" noProof="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Resultados agregados</a:t>
            </a:r>
            <a:endParaRPr lang="es-CL" sz="1500" noProof="0" dirty="0"/>
          </a:p>
        </p:txBody>
      </p:sp>
      <p:graphicFrame>
        <p:nvGraphicFramePr>
          <p:cNvPr id="17" name="Table 0"/>
          <p:cNvGraphicFramePr>
            <a:graphicFrameLocks noGrp="1"/>
          </p:cNvGraphicFramePr>
          <p:nvPr>
            <p:extLst>
              <p:ext uri="{D42A27DB-BD31-4B8C-83A1-F6EECF244321}">
                <p14:modId xmlns:p14="http://schemas.microsoft.com/office/powerpoint/2010/main" val="2231248395"/>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3022578564"/>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819052671"/>
                    </a:ext>
                  </a:extLst>
                </a:gridCol>
              </a:tblGrid>
              <a:tr h="411480">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Variable</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Cambio</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PIB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−0.1176%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Consumo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−0.1385%</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Inversión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−0.0713%</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Exportaciones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−0.1441%</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Importaciones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−0.0934%</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Desempleo (media)</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+0.45 </a:t>
                      </a:r>
                      <a:r>
                        <a:rPr lang="es-CL" sz="1100" noProof="0" dirty="0" err="1">
                          <a:solidFill>
                            <a:srgbClr val="2D3748"/>
                          </a:solidFill>
                          <a:latin typeface="Calibri" pitchFamily="34" charset="0"/>
                          <a:ea typeface="Calibri" pitchFamily="34" charset="-122"/>
                          <a:cs typeface="Calibri" pitchFamily="34" charset="-120"/>
                        </a:rPr>
                        <a:t>pp</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s-CL" sz="1100" noProof="0" dirty="0">
                          <a:latin typeface="Calibri" charset="0"/>
                          <a:ea typeface="Calibri" charset="0"/>
                          <a:cs typeface="Calibri" charset="0"/>
                        </a:rPr>
                        <a:t>IVA</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latin typeface="Calibri" charset="0"/>
                          <a:ea typeface="Calibri" charset="0"/>
                          <a:cs typeface="Calibri" charset="0"/>
                        </a:rPr>
                        <a:t>+</a:t>
                      </a:r>
                      <a:r>
                        <a:rPr lang="es-CL" sz="1100" kern="1200" noProof="0" dirty="0">
                          <a:solidFill>
                            <a:srgbClr val="2D3748"/>
                          </a:solidFill>
                          <a:latin typeface="Calibri" pitchFamily="34" charset="0"/>
                          <a:ea typeface="Calibri" pitchFamily="34" charset="-122"/>
                          <a:cs typeface="Calibri" pitchFamily="34" charset="-120"/>
                        </a:rPr>
                        <a:t>0.381 </a:t>
                      </a:r>
                      <a:r>
                        <a:rPr lang="es-CL" sz="1100" kern="1200" noProof="0" dirty="0" err="1">
                          <a:solidFill>
                            <a:srgbClr val="2D3748"/>
                          </a:solidFill>
                          <a:latin typeface="Calibri" pitchFamily="34" charset="0"/>
                          <a:ea typeface="Calibri" pitchFamily="34" charset="-122"/>
                          <a:cs typeface="Calibri" pitchFamily="34" charset="-120"/>
                        </a:rPr>
                        <a:t>pp</a:t>
                      </a:r>
                      <a:r>
                        <a:rPr lang="es-CL" sz="1100" kern="1200" noProof="0" dirty="0">
                          <a:solidFill>
                            <a:srgbClr val="2D3748"/>
                          </a:solidFill>
                          <a:latin typeface="Calibri" pitchFamily="34" charset="0"/>
                          <a:ea typeface="Calibri" pitchFamily="34" charset="-122"/>
                          <a:cs typeface="Calibri" pitchFamily="34" charset="-120"/>
                        </a:rPr>
                        <a:t>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1792938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Recaudación total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+0.3238 </a:t>
                      </a:r>
                      <a:r>
                        <a:rPr lang="es-CL" sz="1100" noProof="0" dirty="0" err="1">
                          <a:solidFill>
                            <a:srgbClr val="2D3748"/>
                          </a:solidFill>
                          <a:latin typeface="Calibri" pitchFamily="34" charset="0"/>
                          <a:ea typeface="Calibri" pitchFamily="34" charset="-122"/>
                          <a:cs typeface="Calibri" pitchFamily="34" charset="-120"/>
                        </a:rPr>
                        <a:t>pp</a:t>
                      </a:r>
                      <a:r>
                        <a:rPr lang="es-CL" sz="1100" noProof="0" dirty="0">
                          <a:solidFill>
                            <a:srgbClr val="2D3748"/>
                          </a:solidFill>
                          <a:latin typeface="Calibri" pitchFamily="34" charset="0"/>
                          <a:ea typeface="Calibri" pitchFamily="34" charset="-122"/>
                          <a:cs typeface="Calibri" pitchFamily="34" charset="-120"/>
                        </a:rPr>
                        <a:t>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noProof="0" dirty="0"/>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s-CL" sz="1100" b="1" noProof="0" dirty="0">
                <a:solidFill>
                  <a:srgbClr val="D4A82A"/>
                </a:solidFill>
                <a:latin typeface="Calibri" pitchFamily="34" charset="0"/>
                <a:ea typeface="Calibri" pitchFamily="34" charset="-122"/>
                <a:cs typeface="Calibri" pitchFamily="34" charset="-120"/>
              </a:rPr>
              <a:t>Lectura: </a:t>
            </a:r>
            <a:r>
              <a:rPr lang="es-CL" sz="1100" noProof="0" dirty="0">
                <a:solidFill>
                  <a:srgbClr val="FFFFFF"/>
                </a:solidFill>
                <a:latin typeface="Calibri" pitchFamily="34" charset="0"/>
                <a:ea typeface="Calibri" pitchFamily="34" charset="-122"/>
                <a:cs typeface="Calibri" pitchFamily="34" charset="-120"/>
              </a:rPr>
              <a:t>compresión moderada de absorción interna y ajuste externo vía precios relativos. La recaudación neta apenas sube porque la base se contrae.</a:t>
            </a:r>
            <a:endParaRPr lang="es-CL" sz="1100" noProof="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Fuente: Tablas 2-4 del </a:t>
            </a:r>
            <a:r>
              <a:rPr lang="es-CL" sz="900" noProof="0" dirty="0" err="1">
                <a:solidFill>
                  <a:srgbClr val="64748B"/>
                </a:solidFill>
                <a:latin typeface="Calibri" pitchFamily="34" charset="0"/>
                <a:ea typeface="Calibri" pitchFamily="34" charset="-122"/>
                <a:cs typeface="Calibri" pitchFamily="34" charset="-120"/>
              </a:rPr>
              <a:t>paper</a:t>
            </a:r>
            <a:r>
              <a:rPr lang="es-CL" sz="900" noProof="0" dirty="0">
                <a:solidFill>
                  <a:srgbClr val="64748B"/>
                </a:solidFill>
                <a:latin typeface="Calibri" pitchFamily="34" charset="0"/>
                <a:ea typeface="Calibri" pitchFamily="34" charset="-122"/>
                <a:cs typeface="Calibri" pitchFamily="34" charset="-120"/>
              </a:rPr>
              <a:t> técnico</a:t>
            </a:r>
            <a:endParaRPr lang="es-CL" sz="9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Shock 2: Disminución del IDPC (−1%)</a:t>
            </a:r>
            <a:endParaRPr lang="es-CL" sz="2400" noProof="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noProof="0" dirty="0"/>
          </a:p>
        </p:txBody>
      </p:sp>
      <p:sp>
        <p:nvSpPr>
          <p:cNvPr id="6" name="Shape 4"/>
          <p:cNvSpPr/>
          <p:nvPr/>
        </p:nvSpPr>
        <p:spPr>
          <a:xfrm>
            <a:off x="640080" y="1280160"/>
            <a:ext cx="73152" cy="5029200"/>
          </a:xfrm>
          <a:prstGeom prst="rect">
            <a:avLst/>
          </a:prstGeom>
          <a:solidFill>
            <a:srgbClr val="2F7D58"/>
          </a:solidFill>
          <a:ln w="12700">
            <a:solidFill>
              <a:srgbClr val="2F7D58"/>
            </a:solidFill>
            <a:prstDash val="solid"/>
          </a:ln>
        </p:spPr>
        <p:txBody>
          <a:bodyPr/>
          <a:lstStyle/>
          <a:p>
            <a:endParaRPr lang="es-CL" noProof="0" dirty="0"/>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Mecanismo de transmisión</a:t>
            </a:r>
            <a:endParaRPr lang="es-CL" sz="1500" noProof="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Ingreso neto de firmas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Canal A: ↑ dividendos → ↑ consumo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Canal B: ↑ ahorro corporativo → ↑ inversión</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Capital (K) y ↑ producción</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Importaciones (presión externa)</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Saldo comercial se deteriora</a:t>
            </a:r>
            <a:endParaRPr lang="es-CL" sz="1200" noProof="0" dirty="0"/>
          </a:p>
          <a:p>
            <a:pPr marL="342900" indent="-342900" algn="l">
              <a:spcAft>
                <a:spcPts val="500"/>
              </a:spcAft>
              <a:buSzPct val="100000"/>
              <a:buChar char="•"/>
            </a:pPr>
            <a:r>
              <a:rPr lang="es-CL" sz="1200" b="1" noProof="0" dirty="0">
                <a:solidFill>
                  <a:srgbClr val="C2562E"/>
                </a:solidFill>
                <a:latin typeface="Calibri" pitchFamily="34" charset="0"/>
                <a:ea typeface="Calibri" pitchFamily="34" charset="-122"/>
                <a:cs typeface="Calibri" pitchFamily="34" charset="-120"/>
              </a:rPr>
              <a:t>↓ Recaudación neta total</a:t>
            </a:r>
            <a:endParaRPr lang="es-CL" sz="1200" noProof="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Resultados agregados</a:t>
            </a:r>
            <a:endParaRPr lang="es-CL" sz="1500" noProof="0" dirty="0"/>
          </a:p>
        </p:txBody>
      </p:sp>
      <p:graphicFrame>
        <p:nvGraphicFramePr>
          <p:cNvPr id="19" name="Table 0"/>
          <p:cNvGraphicFramePr>
            <a:graphicFrameLocks noGrp="1"/>
          </p:cNvGraphicFramePr>
          <p:nvPr>
            <p:extLst>
              <p:ext uri="{D42A27DB-BD31-4B8C-83A1-F6EECF244321}">
                <p14:modId xmlns:p14="http://schemas.microsoft.com/office/powerpoint/2010/main" val="3780244891"/>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3657076276"/>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1923648597"/>
                    </a:ext>
                  </a:extLst>
                </a:gridCol>
              </a:tblGrid>
              <a:tr h="411480">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Variable</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Cambio</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PIB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+0.1454%</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Consumo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+0.0975%</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Inversión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+0.3792%</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Exportaciones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+0.0546%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Importaciones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+0.0766%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Desempleo (media)</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−0.32 </a:t>
                      </a:r>
                      <a:r>
                        <a:rPr lang="es-CL" sz="1100" noProof="0" dirty="0" err="1">
                          <a:solidFill>
                            <a:srgbClr val="2D3748"/>
                          </a:solidFill>
                          <a:latin typeface="Calibri" pitchFamily="34" charset="0"/>
                          <a:ea typeface="Calibri" pitchFamily="34" charset="-122"/>
                          <a:cs typeface="Calibri" pitchFamily="34" charset="-120"/>
                        </a:rPr>
                        <a:t>pp</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s-CL" sz="1100" noProof="0" dirty="0">
                          <a:latin typeface="Calibri" charset="0"/>
                          <a:ea typeface="Calibri" charset="0"/>
                          <a:cs typeface="Calibri" charset="0"/>
                        </a:rPr>
                        <a:t>IDPC/FIT</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latin typeface="Calibri" charset="0"/>
                          <a:ea typeface="Calibri" charset="0"/>
                          <a:cs typeface="Calibri" charset="0"/>
                        </a:rPr>
                        <a:t>-0.1618 </a:t>
                      </a:r>
                      <a:r>
                        <a:rPr lang="es-CL" sz="1100" noProof="0" dirty="0" err="1">
                          <a:latin typeface="Calibri" charset="0"/>
                          <a:ea typeface="Calibri" charset="0"/>
                          <a:cs typeface="Calibri" charset="0"/>
                        </a:rPr>
                        <a:t>pp</a:t>
                      </a:r>
                      <a:r>
                        <a:rPr lang="es-CL" sz="1100" noProof="0" dirty="0">
                          <a:latin typeface="Calibri" charset="0"/>
                          <a:ea typeface="Calibri" charset="0"/>
                          <a:cs typeface="Calibri" charset="0"/>
                        </a:rPr>
                        <a:t>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923082425"/>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Recaudación total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−0.1408 </a:t>
                      </a:r>
                      <a:r>
                        <a:rPr lang="es-CL" sz="1100" noProof="0" dirty="0" err="1">
                          <a:solidFill>
                            <a:srgbClr val="2D3748"/>
                          </a:solidFill>
                          <a:latin typeface="Calibri" pitchFamily="34" charset="0"/>
                          <a:ea typeface="Calibri" pitchFamily="34" charset="-122"/>
                          <a:cs typeface="Calibri" pitchFamily="34" charset="-120"/>
                        </a:rPr>
                        <a:t>pp</a:t>
                      </a:r>
                      <a:r>
                        <a:rPr lang="es-CL" sz="1100" noProof="0" dirty="0">
                          <a:solidFill>
                            <a:srgbClr val="2D3748"/>
                          </a:solidFill>
                          <a:latin typeface="Calibri" pitchFamily="34" charset="0"/>
                          <a:ea typeface="Calibri" pitchFamily="34" charset="-122"/>
                          <a:cs typeface="Calibri" pitchFamily="34" charset="-120"/>
                        </a:rPr>
                        <a:t>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noProof="0" dirty="0"/>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s-CL" sz="1100" b="1" noProof="0" dirty="0">
                <a:solidFill>
                  <a:srgbClr val="D4A82A"/>
                </a:solidFill>
                <a:latin typeface="Calibri" pitchFamily="34" charset="0"/>
                <a:ea typeface="Calibri" pitchFamily="34" charset="-122"/>
                <a:cs typeface="Calibri" pitchFamily="34" charset="-120"/>
              </a:rPr>
              <a:t>Lectura: </a:t>
            </a:r>
            <a:r>
              <a:rPr lang="es-CL" sz="1100" noProof="0" dirty="0">
                <a:solidFill>
                  <a:srgbClr val="FFFFFF"/>
                </a:solidFill>
                <a:latin typeface="Calibri" pitchFamily="34" charset="0"/>
                <a:ea typeface="Calibri" pitchFamily="34" charset="-122"/>
                <a:cs typeface="Calibri" pitchFamily="34" charset="-120"/>
              </a:rPr>
              <a:t>expansión moderada de actividad e inversión, pero a costa de menor recaudación neta y deterioro del balance comercial.</a:t>
            </a:r>
            <a:endParaRPr lang="es-CL" sz="1100" noProof="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Fuente: Tablas 12-16 del </a:t>
            </a:r>
            <a:r>
              <a:rPr lang="es-CL" sz="900" noProof="0" dirty="0" err="1">
                <a:solidFill>
                  <a:srgbClr val="64748B"/>
                </a:solidFill>
                <a:latin typeface="Calibri" pitchFamily="34" charset="0"/>
                <a:ea typeface="Calibri" pitchFamily="34" charset="-122"/>
                <a:cs typeface="Calibri" pitchFamily="34" charset="-120"/>
              </a:rPr>
              <a:t>paper</a:t>
            </a:r>
            <a:r>
              <a:rPr lang="es-CL" sz="900" noProof="0" dirty="0">
                <a:solidFill>
                  <a:srgbClr val="64748B"/>
                </a:solidFill>
                <a:latin typeface="Calibri" pitchFamily="34" charset="0"/>
                <a:ea typeface="Calibri" pitchFamily="34" charset="-122"/>
                <a:cs typeface="Calibri" pitchFamily="34" charset="-120"/>
              </a:rPr>
              <a:t> técnico. Implementación: factor (1 − 0.615 · 0.01/0.27)</a:t>
            </a:r>
            <a:endParaRPr lang="es-CL" sz="9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Shock 3: Aumento del PIT (+10%)</a:t>
            </a:r>
            <a:endParaRPr lang="es-CL" sz="2400" noProof="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noProof="0" dirty="0"/>
          </a:p>
        </p:txBody>
      </p:sp>
      <p:sp>
        <p:nvSpPr>
          <p:cNvPr id="6" name="Shape 4"/>
          <p:cNvSpPr/>
          <p:nvPr/>
        </p:nvSpPr>
        <p:spPr>
          <a:xfrm>
            <a:off x="640080" y="1280160"/>
            <a:ext cx="73152" cy="5029200"/>
          </a:xfrm>
          <a:prstGeom prst="rect">
            <a:avLst/>
          </a:prstGeom>
          <a:solidFill>
            <a:srgbClr val="C2562E"/>
          </a:solidFill>
          <a:ln w="12700">
            <a:solidFill>
              <a:srgbClr val="C2562E"/>
            </a:solidFill>
            <a:prstDash val="solid"/>
          </a:ln>
        </p:spPr>
        <p:txBody>
          <a:bodyPr/>
          <a:lstStyle/>
          <a:p>
            <a:endParaRPr lang="es-CL" noProof="0" dirty="0"/>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Mecanismo de transmisión</a:t>
            </a:r>
            <a:endParaRPr lang="es-CL" sz="1500" noProof="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Ingreso disponible hogares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Consumo + ↓ ahorro privado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Inversión privada (canal ahorro)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Producción → ↓ empleo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Importaciones y exportaciones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Saldo comercial se deteriora</a:t>
            </a:r>
            <a:endParaRPr lang="es-CL" sz="1200" noProof="0" dirty="0"/>
          </a:p>
          <a:p>
            <a:pPr marL="342900" indent="-342900" algn="l">
              <a:spcAft>
                <a:spcPts val="500"/>
              </a:spcAft>
              <a:buSzPct val="100000"/>
              <a:buChar char="•"/>
            </a:pPr>
            <a:r>
              <a:rPr lang="es-CL" sz="1200" b="1" noProof="0" dirty="0">
                <a:solidFill>
                  <a:srgbClr val="2F7D58"/>
                </a:solidFill>
                <a:latin typeface="Calibri" pitchFamily="34" charset="0"/>
                <a:ea typeface="Calibri" pitchFamily="34" charset="-122"/>
                <a:cs typeface="Calibri" pitchFamily="34" charset="-120"/>
              </a:rPr>
              <a:t>↑ Recaudación PIT (canal directo dominante)</a:t>
            </a:r>
            <a:endParaRPr lang="es-CL" sz="1200" noProof="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Resultados agregados</a:t>
            </a:r>
            <a:endParaRPr lang="es-CL" sz="1500" noProof="0" dirty="0"/>
          </a:p>
        </p:txBody>
      </p:sp>
      <p:graphicFrame>
        <p:nvGraphicFramePr>
          <p:cNvPr id="18" name="Table 0"/>
          <p:cNvGraphicFramePr>
            <a:graphicFrameLocks noGrp="1"/>
          </p:cNvGraphicFramePr>
          <p:nvPr>
            <p:extLst>
              <p:ext uri="{D42A27DB-BD31-4B8C-83A1-F6EECF244321}">
                <p14:modId xmlns:p14="http://schemas.microsoft.com/office/powerpoint/2010/main" val="1424386408"/>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1605630098"/>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3900350181"/>
                    </a:ext>
                  </a:extLst>
                </a:gridCol>
              </a:tblGrid>
              <a:tr h="411480">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Variable</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Cambio</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PIB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−0.3889%</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Consumo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−0.5258%</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Inversión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−0.1676%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Exportaciones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−0.2223%</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Importaciones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−0.1284%</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Desempleo (media)</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+0.82 </a:t>
                      </a:r>
                      <a:r>
                        <a:rPr lang="es-CL" sz="1100" noProof="0" dirty="0" err="1">
                          <a:solidFill>
                            <a:srgbClr val="2D3748"/>
                          </a:solidFill>
                          <a:latin typeface="Calibri" pitchFamily="34" charset="0"/>
                          <a:ea typeface="Calibri" pitchFamily="34" charset="-122"/>
                          <a:cs typeface="Calibri" pitchFamily="34" charset="-120"/>
                        </a:rPr>
                        <a:t>pp</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s-CL" sz="1100" noProof="0" dirty="0">
                          <a:latin typeface="Calibri" charset="0"/>
                          <a:ea typeface="Calibri" charset="0"/>
                          <a:cs typeface="Calibri" charset="0"/>
                        </a:rPr>
                        <a:t>PIT</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latin typeface="Calibri" charset="0"/>
                          <a:ea typeface="Calibri" charset="0"/>
                          <a:cs typeface="Calibri" charset="0"/>
                        </a:rPr>
                        <a:t>+0.1676 </a:t>
                      </a:r>
                      <a:r>
                        <a:rPr lang="es-CL" sz="1100" noProof="0" dirty="0" err="1">
                          <a:latin typeface="Calibri" charset="0"/>
                          <a:ea typeface="Calibri" charset="0"/>
                          <a:cs typeface="Calibri" charset="0"/>
                        </a:rPr>
                        <a:t>pp</a:t>
                      </a:r>
                      <a:r>
                        <a:rPr lang="es-CL" sz="1100" noProof="0" dirty="0">
                          <a:latin typeface="Calibri" charset="0"/>
                          <a:ea typeface="Calibri" charset="0"/>
                          <a:cs typeface="Calibri" charset="0"/>
                        </a:rPr>
                        <a:t>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2238441698"/>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Recaudación total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+0.1264 </a:t>
                      </a:r>
                      <a:r>
                        <a:rPr lang="es-CL" sz="1100" noProof="0" dirty="0" err="1">
                          <a:solidFill>
                            <a:srgbClr val="2D3748"/>
                          </a:solidFill>
                          <a:latin typeface="Calibri" pitchFamily="34" charset="0"/>
                          <a:ea typeface="Calibri" pitchFamily="34" charset="-122"/>
                          <a:cs typeface="Calibri" pitchFamily="34" charset="-120"/>
                        </a:rPr>
                        <a:t>pp</a:t>
                      </a:r>
                      <a:r>
                        <a:rPr lang="es-CL" sz="1100" noProof="0" dirty="0">
                          <a:solidFill>
                            <a:srgbClr val="2D3748"/>
                          </a:solidFill>
                          <a:latin typeface="Calibri" pitchFamily="34" charset="0"/>
                          <a:ea typeface="Calibri" pitchFamily="34" charset="-122"/>
                          <a:cs typeface="Calibri" pitchFamily="34" charset="-120"/>
                        </a:rPr>
                        <a:t>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noProof="0" dirty="0"/>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s-CL" sz="1100" b="1" noProof="0" dirty="0">
                <a:solidFill>
                  <a:srgbClr val="D4A82A"/>
                </a:solidFill>
                <a:latin typeface="Calibri" pitchFamily="34" charset="0"/>
                <a:ea typeface="Calibri" pitchFamily="34" charset="-122"/>
                <a:cs typeface="Calibri" pitchFamily="34" charset="-120"/>
              </a:rPr>
              <a:t>Lectura: </a:t>
            </a:r>
            <a:r>
              <a:rPr lang="es-CL" sz="1100" noProof="0" dirty="0">
                <a:solidFill>
                  <a:srgbClr val="FFFFFF"/>
                </a:solidFill>
                <a:latin typeface="Calibri" pitchFamily="34" charset="0"/>
                <a:ea typeface="Calibri" pitchFamily="34" charset="-122"/>
                <a:cs typeface="Calibri" pitchFamily="34" charset="-120"/>
              </a:rPr>
              <a:t>compresión visible de la demanda interna y del empleo. Es el shock con mayor efecto contractivo sobre PIB, consumo y empleo entre los tres evaluados.</a:t>
            </a:r>
            <a:endParaRPr lang="es-CL" sz="1100" noProof="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Fuente: Tablas 7-11 del </a:t>
            </a:r>
            <a:r>
              <a:rPr lang="es-CL" sz="900" noProof="0" dirty="0" err="1">
                <a:solidFill>
                  <a:srgbClr val="64748B"/>
                </a:solidFill>
                <a:latin typeface="Calibri" pitchFamily="34" charset="0"/>
                <a:ea typeface="Calibri" pitchFamily="34" charset="-122"/>
                <a:cs typeface="Calibri" pitchFamily="34" charset="-120"/>
              </a:rPr>
              <a:t>paper</a:t>
            </a:r>
            <a:r>
              <a:rPr lang="es-CL" sz="900" noProof="0" dirty="0">
                <a:solidFill>
                  <a:srgbClr val="64748B"/>
                </a:solidFill>
                <a:latin typeface="Calibri" pitchFamily="34" charset="0"/>
                <a:ea typeface="Calibri" pitchFamily="34" charset="-122"/>
                <a:cs typeface="Calibri" pitchFamily="34" charset="-120"/>
              </a:rPr>
              <a:t> técnico</a:t>
            </a:r>
            <a:endParaRPr lang="es-CL" sz="9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Limitaciones de esta versión</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Lo que el modelo no captura es tan importante como lo que sí captura.</a:t>
            </a:r>
            <a:endParaRPr lang="es-CL" sz="1300" noProof="0" dirty="0"/>
          </a:p>
        </p:txBody>
      </p:sp>
      <p:sp>
        <p:nvSpPr>
          <p:cNvPr id="6" name="Shape 4"/>
          <p:cNvSpPr/>
          <p:nvPr/>
        </p:nvSpPr>
        <p:spPr>
          <a:xfrm>
            <a:off x="2606040" y="146304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2606040" y="146304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8" name="Text 6"/>
          <p:cNvSpPr/>
          <p:nvPr/>
        </p:nvSpPr>
        <p:spPr>
          <a:xfrm>
            <a:off x="2788920" y="160020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ESTÁTICO</a:t>
            </a:r>
            <a:endParaRPr lang="es-CL" sz="1200" noProof="0" dirty="0"/>
          </a:p>
        </p:txBody>
      </p:sp>
      <p:sp>
        <p:nvSpPr>
          <p:cNvPr id="9" name="Text 7"/>
          <p:cNvSpPr/>
          <p:nvPr/>
        </p:nvSpPr>
        <p:spPr>
          <a:xfrm>
            <a:off x="2788920" y="19659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No hay dinámica de transición ni acumulación de capital. Solo estática comparativa.</a:t>
            </a:r>
            <a:endParaRPr lang="es-CL" sz="1100" noProof="0" dirty="0"/>
          </a:p>
        </p:txBody>
      </p:sp>
      <p:sp>
        <p:nvSpPr>
          <p:cNvPr id="10" name="Shape 8"/>
          <p:cNvSpPr/>
          <p:nvPr/>
        </p:nvSpPr>
        <p:spPr>
          <a:xfrm>
            <a:off x="6400800" y="146304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6400800" y="146304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12" name="Text 10"/>
          <p:cNvSpPr/>
          <p:nvPr/>
        </p:nvSpPr>
        <p:spPr>
          <a:xfrm>
            <a:off x="6583680" y="160020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HOGAR ÚNICO</a:t>
            </a:r>
            <a:endParaRPr lang="es-CL" sz="1200" noProof="0" dirty="0"/>
          </a:p>
        </p:txBody>
      </p:sp>
      <p:sp>
        <p:nvSpPr>
          <p:cNvPr id="13" name="Text 11"/>
          <p:cNvSpPr/>
          <p:nvPr/>
        </p:nvSpPr>
        <p:spPr>
          <a:xfrm>
            <a:off x="6583680" y="19659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Hogar representativo: no permite análisis distributivo ni heterogeneidad por quintiles.</a:t>
            </a:r>
            <a:endParaRPr lang="es-CL" sz="1100" noProof="0" dirty="0"/>
          </a:p>
        </p:txBody>
      </p:sp>
      <p:sp>
        <p:nvSpPr>
          <p:cNvPr id="16" name="Text 14"/>
          <p:cNvSpPr/>
          <p:nvPr/>
        </p:nvSpPr>
        <p:spPr>
          <a:xfrm>
            <a:off x="8412480" y="1691640"/>
            <a:ext cx="3291840" cy="365760"/>
          </a:xfrm>
          <a:prstGeom prst="rect">
            <a:avLst/>
          </a:prstGeom>
          <a:noFill/>
          <a:ln/>
        </p:spPr>
        <p:txBody>
          <a:bodyPr wrap="square" lIns="0" tIns="0" rIns="0" bIns="0" rtlCol="0" anchor="ctr"/>
          <a:lstStyle/>
          <a:p>
            <a:pPr marL="0" indent="0" algn="l">
              <a:buNone/>
            </a:pPr>
            <a:endParaRPr lang="es-CL" sz="1200" noProof="0" dirty="0"/>
          </a:p>
        </p:txBody>
      </p:sp>
      <p:sp>
        <p:nvSpPr>
          <p:cNvPr id="18" name="Shape 16"/>
          <p:cNvSpPr/>
          <p:nvPr/>
        </p:nvSpPr>
        <p:spPr>
          <a:xfrm>
            <a:off x="640080" y="320040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640080" y="320040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20" name="Text 18"/>
          <p:cNvSpPr/>
          <p:nvPr/>
        </p:nvSpPr>
        <p:spPr>
          <a:xfrm>
            <a:off x="822960" y="333756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MERCADO LABORAL</a:t>
            </a:r>
            <a:endParaRPr lang="es-CL" sz="1200" noProof="0" dirty="0"/>
          </a:p>
        </p:txBody>
      </p:sp>
      <p:sp>
        <p:nvSpPr>
          <p:cNvPr id="21" name="Text 19"/>
          <p:cNvSpPr/>
          <p:nvPr/>
        </p:nvSpPr>
        <p:spPr>
          <a:xfrm>
            <a:off x="822960" y="37033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Tres tipos de trabajo, pero sin informalidad explícita ni rigideces adicionales.</a:t>
            </a:r>
            <a:endParaRPr lang="es-CL" sz="1100" noProof="0" dirty="0"/>
          </a:p>
        </p:txBody>
      </p:sp>
      <p:sp>
        <p:nvSpPr>
          <p:cNvPr id="22" name="Shape 20"/>
          <p:cNvSpPr/>
          <p:nvPr/>
        </p:nvSpPr>
        <p:spPr>
          <a:xfrm>
            <a:off x="4434840" y="320040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23" name="Shape 21"/>
          <p:cNvSpPr/>
          <p:nvPr/>
        </p:nvSpPr>
        <p:spPr>
          <a:xfrm>
            <a:off x="4434840" y="320040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24" name="Text 22"/>
          <p:cNvSpPr/>
          <p:nvPr/>
        </p:nvSpPr>
        <p:spPr>
          <a:xfrm>
            <a:off x="4617720" y="333756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ELASTICIDADES</a:t>
            </a:r>
            <a:endParaRPr lang="es-CL" sz="1200" noProof="0" dirty="0"/>
          </a:p>
        </p:txBody>
      </p:sp>
      <p:sp>
        <p:nvSpPr>
          <p:cNvPr id="25" name="Text 23"/>
          <p:cNvSpPr/>
          <p:nvPr/>
        </p:nvSpPr>
        <p:spPr>
          <a:xfrm>
            <a:off x="4617720" y="37033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Resultados sensibles a ω, </a:t>
            </a:r>
            <a:r>
              <a:rPr lang="es-CL" sz="1100" noProof="0" dirty="0" err="1">
                <a:solidFill>
                  <a:srgbClr val="2D3748"/>
                </a:solidFill>
                <a:latin typeface="Calibri" pitchFamily="34" charset="0"/>
                <a:ea typeface="Calibri" pitchFamily="34" charset="-122"/>
                <a:cs typeface="Calibri" pitchFamily="34" charset="-120"/>
              </a:rPr>
              <a:t>σ_q</a:t>
            </a:r>
            <a:r>
              <a:rPr lang="es-CL" sz="1100" noProof="0" dirty="0">
                <a:solidFill>
                  <a:srgbClr val="2D3748"/>
                </a:solidFill>
                <a:latin typeface="Calibri" pitchFamily="34" charset="0"/>
                <a:ea typeface="Calibri" pitchFamily="34" charset="-122"/>
                <a:cs typeface="Calibri" pitchFamily="34" charset="-120"/>
              </a:rPr>
              <a:t>, </a:t>
            </a:r>
            <a:r>
              <a:rPr lang="es-CL" sz="1100" noProof="0" dirty="0" err="1">
                <a:solidFill>
                  <a:srgbClr val="2D3748"/>
                </a:solidFill>
                <a:latin typeface="Calibri" pitchFamily="34" charset="0"/>
                <a:ea typeface="Calibri" pitchFamily="34" charset="-122"/>
                <a:cs typeface="Calibri" pitchFamily="34" charset="-120"/>
              </a:rPr>
              <a:t>σ_t</a:t>
            </a:r>
            <a:r>
              <a:rPr lang="es-CL" sz="1100" noProof="0" dirty="0">
                <a:solidFill>
                  <a:srgbClr val="2D3748"/>
                </a:solidFill>
                <a:latin typeface="Calibri" pitchFamily="34" charset="0"/>
                <a:ea typeface="Calibri" pitchFamily="34" charset="-122"/>
                <a:cs typeface="Calibri" pitchFamily="34" charset="-120"/>
              </a:rPr>
              <a:t>, ϕ, η. Conviene reportar rangos, no solo el valor central.</a:t>
            </a:r>
            <a:endParaRPr lang="es-CL" sz="1100" noProof="0" dirty="0"/>
          </a:p>
        </p:txBody>
      </p:sp>
      <p:sp>
        <p:nvSpPr>
          <p:cNvPr id="26" name="Shape 24"/>
          <p:cNvSpPr/>
          <p:nvPr/>
        </p:nvSpPr>
        <p:spPr>
          <a:xfrm>
            <a:off x="8229600" y="320040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27" name="Shape 25"/>
          <p:cNvSpPr/>
          <p:nvPr/>
        </p:nvSpPr>
        <p:spPr>
          <a:xfrm>
            <a:off x="8229600" y="320040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28" name="Text 26"/>
          <p:cNvSpPr/>
          <p:nvPr/>
        </p:nvSpPr>
        <p:spPr>
          <a:xfrm>
            <a:off x="8412480" y="333756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POLÍTICA MONETARIA</a:t>
            </a:r>
            <a:endParaRPr lang="es-CL" sz="1200" noProof="0" dirty="0"/>
          </a:p>
        </p:txBody>
      </p:sp>
      <p:sp>
        <p:nvSpPr>
          <p:cNvPr id="29" name="Text 27"/>
          <p:cNvSpPr/>
          <p:nvPr/>
        </p:nvSpPr>
        <p:spPr>
          <a:xfrm>
            <a:off x="8412480" y="37033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No hay dinero ni precios nominales: el modelo está calibrado en flujos reales.</a:t>
            </a:r>
            <a:endParaRPr lang="es-CL" sz="1100" noProof="0" dirty="0"/>
          </a:p>
        </p:txBody>
      </p:sp>
      <p:sp>
        <p:nvSpPr>
          <p:cNvPr id="30" name="Shape 28"/>
          <p:cNvSpPr/>
          <p:nvPr/>
        </p:nvSpPr>
        <p:spPr>
          <a:xfrm>
            <a:off x="640080" y="5303520"/>
            <a:ext cx="11155680" cy="1005840"/>
          </a:xfrm>
          <a:prstGeom prst="rect">
            <a:avLst/>
          </a:prstGeom>
          <a:solidFill>
            <a:srgbClr val="1E2761"/>
          </a:solidFill>
          <a:ln w="12700">
            <a:solidFill>
              <a:srgbClr val="1E2761"/>
            </a:solidFill>
            <a:prstDash val="solid"/>
          </a:ln>
        </p:spPr>
        <p:txBody>
          <a:bodyPr/>
          <a:lstStyle/>
          <a:p>
            <a:endParaRPr lang="es-CL" noProof="0" dirty="0"/>
          </a:p>
        </p:txBody>
      </p:sp>
      <p:sp>
        <p:nvSpPr>
          <p:cNvPr id="31" name="Text 29"/>
          <p:cNvSpPr/>
          <p:nvPr/>
        </p:nvSpPr>
        <p:spPr>
          <a:xfrm>
            <a:off x="868680" y="5349240"/>
            <a:ext cx="10789920" cy="914400"/>
          </a:xfrm>
          <a:prstGeom prst="rect">
            <a:avLst/>
          </a:prstGeom>
          <a:noFill/>
          <a:ln/>
        </p:spPr>
        <p:txBody>
          <a:bodyPr wrap="square" lIns="0" tIns="0" rIns="0" bIns="0" rtlCol="0" anchor="ctr"/>
          <a:lstStyle/>
          <a:p>
            <a:pPr marL="0" indent="0" algn="l">
              <a:buNone/>
            </a:pPr>
            <a:r>
              <a:rPr lang="es-CL" sz="1200" b="1" noProof="0" dirty="0">
                <a:solidFill>
                  <a:srgbClr val="D4A82A"/>
                </a:solidFill>
                <a:latin typeface="Calibri" pitchFamily="34" charset="0"/>
                <a:ea typeface="Calibri" pitchFamily="34" charset="-122"/>
                <a:cs typeface="Calibri" pitchFamily="34" charset="-120"/>
              </a:rPr>
              <a:t>Sobre Elasticidades: </a:t>
            </a:r>
            <a:r>
              <a:rPr lang="es-CL" sz="1200" noProof="0" dirty="0">
                <a:solidFill>
                  <a:srgbClr val="FFFFFF"/>
                </a:solidFill>
                <a:latin typeface="Calibri" pitchFamily="34" charset="0"/>
                <a:ea typeface="Calibri" pitchFamily="34" charset="-122"/>
                <a:cs typeface="Calibri" pitchFamily="34" charset="-120"/>
              </a:rPr>
              <a:t>el análisis de sensibilidad ya está parcialmente implementado en </a:t>
            </a:r>
            <a:r>
              <a:rPr lang="es-CL" sz="1200" noProof="0" dirty="0" err="1">
                <a:solidFill>
                  <a:srgbClr val="FFFFFF"/>
                </a:solidFill>
                <a:latin typeface="Calibri" pitchFamily="34" charset="0"/>
                <a:ea typeface="Calibri" pitchFamily="34" charset="-122"/>
                <a:cs typeface="Calibri" pitchFamily="34" charset="-120"/>
              </a:rPr>
              <a:t>sens_analysis.Rmd</a:t>
            </a:r>
            <a:r>
              <a:rPr lang="es-CL" sz="1200" noProof="0" dirty="0">
                <a:solidFill>
                  <a:srgbClr val="FFFFFF"/>
                </a:solidFill>
                <a:latin typeface="Calibri" pitchFamily="34" charset="0"/>
                <a:ea typeface="Calibri" pitchFamily="34" charset="-122"/>
                <a:cs typeface="Calibri" pitchFamily="34" charset="-120"/>
              </a:rPr>
              <a:t> con LHS (N=128), OAT y PRCC, siguiendo Marino et al. (2008) y Harrison &amp; Vinod (1992).</a:t>
            </a:r>
            <a:endParaRPr lang="es-CL" sz="1200" noProof="0" dirty="0"/>
          </a:p>
        </p:txBody>
      </p:sp>
      <p:sp>
        <p:nvSpPr>
          <p:cNvPr id="32" name="Text 3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Extensiones y próximos pasos</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Hoja de ruta a partir de las recomendaciones del </a:t>
            </a:r>
            <a:r>
              <a:rPr lang="es-CL" sz="1300" i="1" noProof="0" dirty="0" err="1">
                <a:solidFill>
                  <a:srgbClr val="64748B"/>
                </a:solidFill>
                <a:latin typeface="Calibri" pitchFamily="34" charset="0"/>
                <a:ea typeface="Calibri" pitchFamily="34" charset="-122"/>
                <a:cs typeface="Calibri" pitchFamily="34" charset="-120"/>
              </a:rPr>
              <a:t>paper</a:t>
            </a:r>
            <a:r>
              <a:rPr lang="es-CL" sz="1300" i="1" noProof="0" dirty="0">
                <a:solidFill>
                  <a:srgbClr val="64748B"/>
                </a:solidFill>
                <a:latin typeface="Calibri" pitchFamily="34" charset="0"/>
                <a:ea typeface="Calibri" pitchFamily="34" charset="-122"/>
                <a:cs typeface="Calibri" pitchFamily="34" charset="-120"/>
              </a:rPr>
              <a:t> (Sección 5).</a:t>
            </a:r>
            <a:endParaRPr lang="es-CL" sz="1300" noProof="0" dirty="0"/>
          </a:p>
        </p:txBody>
      </p:sp>
      <p:sp>
        <p:nvSpPr>
          <p:cNvPr id="6" name="Shape 4"/>
          <p:cNvSpPr/>
          <p:nvPr/>
        </p:nvSpPr>
        <p:spPr>
          <a:xfrm>
            <a:off x="640080" y="155448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141732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64592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Sensibilidad paramétrica completa</a:t>
            </a:r>
            <a:endParaRPr lang="es-CL" sz="1300" noProof="0" dirty="0"/>
          </a:p>
        </p:txBody>
      </p:sp>
      <p:sp>
        <p:nvSpPr>
          <p:cNvPr id="9" name="Shape 7"/>
          <p:cNvSpPr/>
          <p:nvPr/>
        </p:nvSpPr>
        <p:spPr>
          <a:xfrm>
            <a:off x="4754880" y="1691640"/>
            <a:ext cx="1188720" cy="320040"/>
          </a:xfrm>
          <a:prstGeom prst="rect">
            <a:avLst/>
          </a:prstGeom>
          <a:solidFill>
            <a:srgbClr val="D4A82A"/>
          </a:solidFill>
          <a:ln w="12700">
            <a:solidFill>
              <a:srgbClr val="D4A82A"/>
            </a:solidFill>
            <a:prstDash val="solid"/>
          </a:ln>
        </p:spPr>
        <p:txBody>
          <a:bodyPr/>
          <a:lstStyle/>
          <a:p>
            <a:endParaRPr lang="es-CL" noProof="0" dirty="0"/>
          </a:p>
        </p:txBody>
      </p:sp>
      <p:sp>
        <p:nvSpPr>
          <p:cNvPr id="10" name="Text 8"/>
          <p:cNvSpPr/>
          <p:nvPr/>
        </p:nvSpPr>
        <p:spPr>
          <a:xfrm>
            <a:off x="4754880" y="169164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En progreso</a:t>
            </a:r>
            <a:endParaRPr lang="es-CL" sz="900" noProof="0" dirty="0"/>
          </a:p>
        </p:txBody>
      </p:sp>
      <p:sp>
        <p:nvSpPr>
          <p:cNvPr id="11" name="Text 9"/>
          <p:cNvSpPr/>
          <p:nvPr/>
        </p:nvSpPr>
        <p:spPr>
          <a:xfrm>
            <a:off x="868680" y="205740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OAT + Tornado + LHS + PRCC ya implementados. Cuantifica robustez de signo y magnitud frente a elasticidades.</a:t>
            </a:r>
            <a:endParaRPr lang="es-CL" sz="1100" noProof="0" dirty="0"/>
          </a:p>
        </p:txBody>
      </p:sp>
      <p:sp>
        <p:nvSpPr>
          <p:cNvPr id="12" name="Shape 10"/>
          <p:cNvSpPr/>
          <p:nvPr/>
        </p:nvSpPr>
        <p:spPr>
          <a:xfrm>
            <a:off x="6263640" y="155448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13" name="Shape 11"/>
          <p:cNvSpPr/>
          <p:nvPr/>
        </p:nvSpPr>
        <p:spPr>
          <a:xfrm>
            <a:off x="6263640" y="1554480"/>
            <a:ext cx="73152" cy="1417320"/>
          </a:xfrm>
          <a:prstGeom prst="rect">
            <a:avLst/>
          </a:prstGeom>
          <a:solidFill>
            <a:srgbClr val="C2562E"/>
          </a:solidFill>
          <a:ln w="12700">
            <a:solidFill>
              <a:srgbClr val="C2562E"/>
            </a:solidFill>
            <a:prstDash val="solid"/>
          </a:ln>
        </p:spPr>
        <p:txBody>
          <a:bodyPr/>
          <a:lstStyle/>
          <a:p>
            <a:endParaRPr lang="es-CL" noProof="0" dirty="0"/>
          </a:p>
        </p:txBody>
      </p:sp>
      <p:sp>
        <p:nvSpPr>
          <p:cNvPr id="14" name="Text 12"/>
          <p:cNvSpPr/>
          <p:nvPr/>
        </p:nvSpPr>
        <p:spPr>
          <a:xfrm>
            <a:off x="6492240" y="164592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Hogares heterogéneos</a:t>
            </a:r>
            <a:endParaRPr lang="es-CL" sz="1300" noProof="0" dirty="0"/>
          </a:p>
        </p:txBody>
      </p:sp>
      <p:sp>
        <p:nvSpPr>
          <p:cNvPr id="15" name="Shape 13"/>
          <p:cNvSpPr/>
          <p:nvPr/>
        </p:nvSpPr>
        <p:spPr>
          <a:xfrm>
            <a:off x="10378440" y="1691640"/>
            <a:ext cx="1188720" cy="320040"/>
          </a:xfrm>
          <a:prstGeom prst="rect">
            <a:avLst/>
          </a:prstGeom>
          <a:solidFill>
            <a:srgbClr val="C2562E"/>
          </a:solidFill>
          <a:ln w="12700">
            <a:solidFill>
              <a:srgbClr val="C2562E"/>
            </a:solidFill>
            <a:prstDash val="solid"/>
          </a:ln>
        </p:spPr>
        <p:txBody>
          <a:bodyPr/>
          <a:lstStyle/>
          <a:p>
            <a:endParaRPr lang="es-CL" noProof="0" dirty="0"/>
          </a:p>
        </p:txBody>
      </p:sp>
      <p:sp>
        <p:nvSpPr>
          <p:cNvPr id="16" name="Text 14"/>
          <p:cNvSpPr/>
          <p:nvPr/>
        </p:nvSpPr>
        <p:spPr>
          <a:xfrm>
            <a:off x="10378440" y="169164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Prioritario</a:t>
            </a:r>
            <a:endParaRPr lang="es-CL" sz="900" noProof="0" dirty="0"/>
          </a:p>
        </p:txBody>
      </p:sp>
      <p:sp>
        <p:nvSpPr>
          <p:cNvPr id="17" name="Text 15"/>
          <p:cNvSpPr/>
          <p:nvPr/>
        </p:nvSpPr>
        <p:spPr>
          <a:xfrm>
            <a:off x="6492240" y="205740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Desagregación por quintiles o deciles de ingreso para análisis distributivo de las reformas.</a:t>
            </a:r>
            <a:endParaRPr lang="es-CL" sz="1100" noProof="0" dirty="0"/>
          </a:p>
        </p:txBody>
      </p:sp>
      <p:sp>
        <p:nvSpPr>
          <p:cNvPr id="18" name="Shape 16"/>
          <p:cNvSpPr/>
          <p:nvPr/>
        </p:nvSpPr>
        <p:spPr>
          <a:xfrm>
            <a:off x="640080" y="310896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640080" y="3108960"/>
            <a:ext cx="73152" cy="1417320"/>
          </a:xfrm>
          <a:prstGeom prst="rect">
            <a:avLst/>
          </a:prstGeom>
          <a:solidFill>
            <a:srgbClr val="4A6FA5"/>
          </a:solidFill>
          <a:ln w="12700">
            <a:solidFill>
              <a:srgbClr val="4A6FA5"/>
            </a:solidFill>
            <a:prstDash val="solid"/>
          </a:ln>
        </p:spPr>
        <p:txBody>
          <a:bodyPr/>
          <a:lstStyle/>
          <a:p>
            <a:endParaRPr lang="es-CL" noProof="0" dirty="0"/>
          </a:p>
        </p:txBody>
      </p:sp>
      <p:sp>
        <p:nvSpPr>
          <p:cNvPr id="20" name="Text 18"/>
          <p:cNvSpPr/>
          <p:nvPr/>
        </p:nvSpPr>
        <p:spPr>
          <a:xfrm>
            <a:off x="868680" y="320040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Mayor desagregación sectorial y de productos</a:t>
            </a:r>
            <a:endParaRPr lang="es-CL" sz="1300" noProof="0" dirty="0"/>
          </a:p>
        </p:txBody>
      </p:sp>
      <p:sp>
        <p:nvSpPr>
          <p:cNvPr id="21" name="Shape 19"/>
          <p:cNvSpPr/>
          <p:nvPr/>
        </p:nvSpPr>
        <p:spPr>
          <a:xfrm>
            <a:off x="4754880" y="3246120"/>
            <a:ext cx="1188720" cy="320040"/>
          </a:xfrm>
          <a:prstGeom prst="rect">
            <a:avLst/>
          </a:prstGeom>
          <a:solidFill>
            <a:srgbClr val="4A6FA5"/>
          </a:solidFill>
          <a:ln w="12700">
            <a:solidFill>
              <a:srgbClr val="4A6FA5"/>
            </a:solidFill>
            <a:prstDash val="solid"/>
          </a:ln>
        </p:spPr>
        <p:txBody>
          <a:bodyPr/>
          <a:lstStyle/>
          <a:p>
            <a:endParaRPr lang="es-CL" noProof="0" dirty="0"/>
          </a:p>
        </p:txBody>
      </p:sp>
      <p:sp>
        <p:nvSpPr>
          <p:cNvPr id="22" name="Text 20"/>
          <p:cNvSpPr/>
          <p:nvPr/>
        </p:nvSpPr>
        <p:spPr>
          <a:xfrm>
            <a:off x="4754880" y="324612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Medio plazo</a:t>
            </a:r>
            <a:endParaRPr lang="es-CL" sz="900" noProof="0" dirty="0"/>
          </a:p>
        </p:txBody>
      </p:sp>
      <p:sp>
        <p:nvSpPr>
          <p:cNvPr id="23" name="Text 21"/>
          <p:cNvSpPr/>
          <p:nvPr/>
        </p:nvSpPr>
        <p:spPr>
          <a:xfrm>
            <a:off x="868680" y="361188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Subdividir manufactura, energía y servicios para capturar mejor la heterogeneidad sectorial.</a:t>
            </a:r>
            <a:endParaRPr lang="es-CL" sz="1100" noProof="0" dirty="0"/>
          </a:p>
        </p:txBody>
      </p:sp>
      <p:sp>
        <p:nvSpPr>
          <p:cNvPr id="24" name="Shape 22"/>
          <p:cNvSpPr/>
          <p:nvPr/>
        </p:nvSpPr>
        <p:spPr>
          <a:xfrm>
            <a:off x="6263640" y="310896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25" name="Shape 23"/>
          <p:cNvSpPr/>
          <p:nvPr/>
        </p:nvSpPr>
        <p:spPr>
          <a:xfrm>
            <a:off x="6263640" y="3108960"/>
            <a:ext cx="73152" cy="1417320"/>
          </a:xfrm>
          <a:prstGeom prst="rect">
            <a:avLst/>
          </a:prstGeom>
          <a:solidFill>
            <a:srgbClr val="4A6FA5"/>
          </a:solidFill>
          <a:ln w="12700">
            <a:solidFill>
              <a:srgbClr val="4A6FA5"/>
            </a:solidFill>
            <a:prstDash val="solid"/>
          </a:ln>
        </p:spPr>
        <p:txBody>
          <a:bodyPr/>
          <a:lstStyle/>
          <a:p>
            <a:endParaRPr lang="es-CL" noProof="0" dirty="0"/>
          </a:p>
        </p:txBody>
      </p:sp>
      <p:sp>
        <p:nvSpPr>
          <p:cNvPr id="26" name="Text 24"/>
          <p:cNvSpPr/>
          <p:nvPr/>
        </p:nvSpPr>
        <p:spPr>
          <a:xfrm>
            <a:off x="6492240" y="320040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Estructura tributaria más detallada</a:t>
            </a:r>
            <a:endParaRPr lang="es-CL" sz="1300" noProof="0" dirty="0"/>
          </a:p>
        </p:txBody>
      </p:sp>
      <p:sp>
        <p:nvSpPr>
          <p:cNvPr id="27" name="Shape 25"/>
          <p:cNvSpPr/>
          <p:nvPr/>
        </p:nvSpPr>
        <p:spPr>
          <a:xfrm>
            <a:off x="10378440" y="3246120"/>
            <a:ext cx="1188720" cy="320040"/>
          </a:xfrm>
          <a:prstGeom prst="rect">
            <a:avLst/>
          </a:prstGeom>
          <a:solidFill>
            <a:srgbClr val="4A6FA5"/>
          </a:solidFill>
          <a:ln w="12700">
            <a:solidFill>
              <a:srgbClr val="4A6FA5"/>
            </a:solidFill>
            <a:prstDash val="solid"/>
          </a:ln>
        </p:spPr>
        <p:txBody>
          <a:bodyPr/>
          <a:lstStyle/>
          <a:p>
            <a:endParaRPr lang="es-CL" noProof="0" dirty="0"/>
          </a:p>
        </p:txBody>
      </p:sp>
      <p:sp>
        <p:nvSpPr>
          <p:cNvPr id="28" name="Text 26"/>
          <p:cNvSpPr/>
          <p:nvPr/>
        </p:nvSpPr>
        <p:spPr>
          <a:xfrm>
            <a:off x="10378440" y="324612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Medio plazo</a:t>
            </a:r>
            <a:endParaRPr lang="es-CL" sz="900" noProof="0" dirty="0"/>
          </a:p>
        </p:txBody>
      </p:sp>
      <p:sp>
        <p:nvSpPr>
          <p:cNvPr id="29" name="Text 27"/>
          <p:cNvSpPr/>
          <p:nvPr/>
        </p:nvSpPr>
        <p:spPr>
          <a:xfrm>
            <a:off x="6492240" y="361188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Diferenciar tasas efectivas y reglas dentro de cada instrumento (IVA con exenciones, PIT progresivo, etc.).</a:t>
            </a:r>
            <a:endParaRPr lang="es-CL" sz="1100" noProof="0" dirty="0"/>
          </a:p>
        </p:txBody>
      </p:sp>
      <p:sp>
        <p:nvSpPr>
          <p:cNvPr id="30" name="Shape 28"/>
          <p:cNvSpPr/>
          <p:nvPr/>
        </p:nvSpPr>
        <p:spPr>
          <a:xfrm>
            <a:off x="640080" y="466344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31" name="Shape 29"/>
          <p:cNvSpPr/>
          <p:nvPr/>
        </p:nvSpPr>
        <p:spPr>
          <a:xfrm>
            <a:off x="640080" y="4663440"/>
            <a:ext cx="73152" cy="1417320"/>
          </a:xfrm>
          <a:prstGeom prst="rect">
            <a:avLst/>
          </a:prstGeom>
          <a:solidFill>
            <a:srgbClr val="1E2761"/>
          </a:solidFill>
          <a:ln w="12700">
            <a:solidFill>
              <a:srgbClr val="1E2761"/>
            </a:solidFill>
            <a:prstDash val="solid"/>
          </a:ln>
        </p:spPr>
        <p:txBody>
          <a:bodyPr/>
          <a:lstStyle/>
          <a:p>
            <a:endParaRPr lang="es-CL" noProof="0" dirty="0"/>
          </a:p>
        </p:txBody>
      </p:sp>
      <p:sp>
        <p:nvSpPr>
          <p:cNvPr id="32" name="Text 30"/>
          <p:cNvSpPr/>
          <p:nvPr/>
        </p:nvSpPr>
        <p:spPr>
          <a:xfrm>
            <a:off x="868680" y="475488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Mercado laboral con informalidad</a:t>
            </a:r>
            <a:endParaRPr lang="es-CL" sz="1300" noProof="0" dirty="0"/>
          </a:p>
        </p:txBody>
      </p:sp>
      <p:sp>
        <p:nvSpPr>
          <p:cNvPr id="33" name="Shape 31"/>
          <p:cNvSpPr/>
          <p:nvPr/>
        </p:nvSpPr>
        <p:spPr>
          <a:xfrm>
            <a:off x="4754880" y="4800600"/>
            <a:ext cx="1188720" cy="320040"/>
          </a:xfrm>
          <a:prstGeom prst="rect">
            <a:avLst/>
          </a:prstGeom>
          <a:solidFill>
            <a:srgbClr val="1E2761"/>
          </a:solidFill>
          <a:ln w="12700">
            <a:solidFill>
              <a:srgbClr val="1E2761"/>
            </a:solidFill>
            <a:prstDash val="solid"/>
          </a:ln>
        </p:spPr>
        <p:txBody>
          <a:bodyPr/>
          <a:lstStyle/>
          <a:p>
            <a:endParaRPr lang="es-CL" noProof="0" dirty="0"/>
          </a:p>
        </p:txBody>
      </p:sp>
      <p:sp>
        <p:nvSpPr>
          <p:cNvPr id="34" name="Text 32"/>
          <p:cNvSpPr/>
          <p:nvPr/>
        </p:nvSpPr>
        <p:spPr>
          <a:xfrm>
            <a:off x="4754880" y="480060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Largo plazo</a:t>
            </a:r>
            <a:endParaRPr lang="es-CL" sz="900" noProof="0" dirty="0"/>
          </a:p>
        </p:txBody>
      </p:sp>
      <p:sp>
        <p:nvSpPr>
          <p:cNvPr id="35" name="Text 33"/>
          <p:cNvSpPr/>
          <p:nvPr/>
        </p:nvSpPr>
        <p:spPr>
          <a:xfrm>
            <a:off x="868680" y="516636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Incorporar segmentación formal-informal y rigideces adicionales (salario mínimo, costos de despido).</a:t>
            </a:r>
            <a:endParaRPr lang="es-CL" sz="1100" noProof="0" dirty="0"/>
          </a:p>
        </p:txBody>
      </p:sp>
      <p:sp>
        <p:nvSpPr>
          <p:cNvPr id="36" name="Shape 34"/>
          <p:cNvSpPr/>
          <p:nvPr/>
        </p:nvSpPr>
        <p:spPr>
          <a:xfrm>
            <a:off x="6263640" y="466344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37" name="Shape 35"/>
          <p:cNvSpPr/>
          <p:nvPr/>
        </p:nvSpPr>
        <p:spPr>
          <a:xfrm>
            <a:off x="6263640" y="4663440"/>
            <a:ext cx="73152" cy="1417320"/>
          </a:xfrm>
          <a:prstGeom prst="rect">
            <a:avLst/>
          </a:prstGeom>
          <a:solidFill>
            <a:srgbClr val="1E2761"/>
          </a:solidFill>
          <a:ln w="12700">
            <a:solidFill>
              <a:srgbClr val="1E2761"/>
            </a:solidFill>
            <a:prstDash val="solid"/>
          </a:ln>
        </p:spPr>
        <p:txBody>
          <a:bodyPr/>
          <a:lstStyle/>
          <a:p>
            <a:endParaRPr lang="es-CL" noProof="0" dirty="0"/>
          </a:p>
        </p:txBody>
      </p:sp>
      <p:sp>
        <p:nvSpPr>
          <p:cNvPr id="38" name="Text 36"/>
          <p:cNvSpPr/>
          <p:nvPr/>
        </p:nvSpPr>
        <p:spPr>
          <a:xfrm>
            <a:off x="6492240" y="475488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Versión dinámica</a:t>
            </a:r>
            <a:endParaRPr lang="es-CL" sz="1300" noProof="0" dirty="0"/>
          </a:p>
        </p:txBody>
      </p:sp>
      <p:sp>
        <p:nvSpPr>
          <p:cNvPr id="39" name="Shape 37"/>
          <p:cNvSpPr/>
          <p:nvPr/>
        </p:nvSpPr>
        <p:spPr>
          <a:xfrm>
            <a:off x="10378440" y="4800600"/>
            <a:ext cx="1188720" cy="320040"/>
          </a:xfrm>
          <a:prstGeom prst="rect">
            <a:avLst/>
          </a:prstGeom>
          <a:solidFill>
            <a:srgbClr val="1E2761"/>
          </a:solidFill>
          <a:ln w="12700">
            <a:solidFill>
              <a:srgbClr val="1E2761"/>
            </a:solidFill>
            <a:prstDash val="solid"/>
          </a:ln>
        </p:spPr>
        <p:txBody>
          <a:bodyPr/>
          <a:lstStyle/>
          <a:p>
            <a:endParaRPr lang="es-CL" noProof="0" dirty="0"/>
          </a:p>
        </p:txBody>
      </p:sp>
      <p:sp>
        <p:nvSpPr>
          <p:cNvPr id="40" name="Text 38"/>
          <p:cNvSpPr/>
          <p:nvPr/>
        </p:nvSpPr>
        <p:spPr>
          <a:xfrm>
            <a:off x="10378440" y="480060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Largo plazo</a:t>
            </a:r>
            <a:endParaRPr lang="es-CL" sz="900" noProof="0" dirty="0"/>
          </a:p>
        </p:txBody>
      </p:sp>
      <p:sp>
        <p:nvSpPr>
          <p:cNvPr id="41" name="Text 39"/>
          <p:cNvSpPr/>
          <p:nvPr/>
        </p:nvSpPr>
        <p:spPr>
          <a:xfrm>
            <a:off x="6492240" y="516636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Pasar de comparativa estática a un MEGC dinámico con acumulación de capital.</a:t>
            </a:r>
            <a:endParaRPr lang="es-CL" sz="1100" noProof="0" dirty="0"/>
          </a:p>
        </p:txBody>
      </p:sp>
      <p:sp>
        <p:nvSpPr>
          <p:cNvPr id="42" name="Text 4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Productos y comercio exterior (1/2)</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Dos etapas en cada producto: transformación CET → agregación Armington.</a:t>
            </a:r>
            <a:endParaRPr lang="es-CL" sz="1300" noProof="0" dirty="0"/>
          </a:p>
        </p:txBody>
      </p:sp>
      <p:sp>
        <p:nvSpPr>
          <p:cNvPr id="6" name="Shape 4"/>
          <p:cNvSpPr/>
          <p:nvPr/>
        </p:nvSpPr>
        <p:spPr>
          <a:xfrm>
            <a:off x="640080" y="1575874"/>
            <a:ext cx="5394960" cy="292608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p:cNvSpPr/>
          <p:nvPr/>
        </p:nvSpPr>
        <p:spPr>
          <a:xfrm>
            <a:off x="868680" y="1691640"/>
            <a:ext cx="493776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1 · CET</a:t>
            </a:r>
            <a:endParaRPr lang="es-CL" sz="2000" noProof="0" dirty="0"/>
          </a:p>
        </p:txBody>
      </p:sp>
      <p:sp>
        <p:nvSpPr>
          <p:cNvPr id="8" name="Text 6"/>
          <p:cNvSpPr/>
          <p:nvPr/>
        </p:nvSpPr>
        <p:spPr>
          <a:xfrm>
            <a:off x="868680" y="2194560"/>
            <a:ext cx="493776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Asignación producción → ventas domésticas / exportaciones</a:t>
            </a:r>
            <a:endParaRPr lang="es-CL" sz="1200" noProof="0" dirty="0"/>
          </a:p>
        </p:txBody>
      </p:sp>
      <mc:AlternateContent xmlns:mc="http://schemas.openxmlformats.org/markup-compatibility/2006" xmlns:a14="http://schemas.microsoft.com/office/drawing/2010/main">
        <mc:Choice Requires="a14">
          <p:sp>
            <p:nvSpPr>
              <p:cNvPr id="10" name="Text 8"/>
              <p:cNvSpPr/>
              <p:nvPr/>
            </p:nvSpPr>
            <p:spPr>
              <a:xfrm>
                <a:off x="868680" y="3291840"/>
                <a:ext cx="4937760" cy="2926080"/>
              </a:xfrm>
              <a:prstGeom prst="rect">
                <a:avLst/>
              </a:prstGeom>
              <a:noFill/>
              <a:ln/>
            </p:spPr>
            <p:txBody>
              <a:bodyPr wrap="square" lIns="0" tIns="0" rIns="0" bIns="0" rtlCol="0" anchor="t"/>
              <a:lstStyle/>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𝑍</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oferta total del productor</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𝐷𝑆</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ventas domésticas</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𝐸𝑋</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exportaciones</a:t>
                </a:r>
                <a:endParaRPr lang="es-CL" sz="1100" noProof="0" dirty="0"/>
              </a:p>
              <a:p>
                <a:pPr marL="342900" indent="-342900" algn="l">
                  <a:spcAft>
                    <a:spcPts val="500"/>
                  </a:spcAft>
                  <a:buSzPct val="100000"/>
                  <a:buChar char="•"/>
                </a:pPr>
                <a14:m>
                  <m:oMath xmlns:m="http://schemas.openxmlformats.org/officeDocument/2006/math">
                    <m:sSub>
                      <m:sSubPr>
                        <m:ctrlPr>
                          <a:rPr lang="es-CL" sz="1100" b="1" i="1" noProof="0" smtClean="0">
                            <a:solidFill>
                              <a:srgbClr val="D4A82A"/>
                            </a:solidFill>
                            <a:latin typeface="Cambria Math" panose="02040503050406030204" pitchFamily="18" charset="0"/>
                            <a:ea typeface="Calibri" pitchFamily="34" charset="-122"/>
                            <a:cs typeface="Calibri" pitchFamily="34" charset="-120"/>
                          </a:rPr>
                        </m:ctrlPr>
                      </m:sSubPr>
                      <m:e>
                        <m:r>
                          <a:rPr lang="es-CL" sz="1100" b="1" i="1" noProof="0" smtClean="0">
                            <a:solidFill>
                              <a:srgbClr val="D4A82A"/>
                            </a:solidFill>
                            <a:latin typeface="Cambria Math" panose="02040503050406030204" pitchFamily="18" charset="0"/>
                            <a:ea typeface="Cambria Math" panose="02040503050406030204" pitchFamily="18" charset="0"/>
                            <a:cs typeface="Calibri" pitchFamily="34" charset="-120"/>
                          </a:rPr>
                          <m:t>𝝈</m:t>
                        </m:r>
                      </m:e>
                      <m:sub>
                        <m:r>
                          <a:rPr lang="es-CL" sz="1100" b="1" i="1" noProof="0" smtClean="0">
                            <a:solidFill>
                              <a:srgbClr val="D4A82A"/>
                            </a:solidFill>
                            <a:latin typeface="Cambria Math" panose="02040503050406030204" pitchFamily="18" charset="0"/>
                            <a:ea typeface="Calibri" pitchFamily="34" charset="-122"/>
                            <a:cs typeface="Calibri" pitchFamily="34" charset="-120"/>
                          </a:rPr>
                          <m:t>𝒕</m:t>
                        </m:r>
                      </m:sub>
                    </m:sSub>
                  </m:oMath>
                </a14:m>
                <a:r>
                  <a:rPr lang="es-CL" sz="1100" b="1" noProof="0" dirty="0">
                    <a:solidFill>
                      <a:srgbClr val="D4A82A"/>
                    </a:solidFill>
                    <a:latin typeface="Calibri" pitchFamily="34" charset="0"/>
                    <a:ea typeface="Calibri" pitchFamily="34" charset="-122"/>
                    <a:cs typeface="Calibri" pitchFamily="34" charset="-120"/>
                  </a:rPr>
                  <a:t> = 1.5 (elasticidad de transformación)</a:t>
                </a:r>
                <a:endParaRPr lang="es-CL" sz="1100" noProof="0" dirty="0"/>
              </a:p>
              <a:p>
                <a:pPr marL="342900" indent="-342900">
                  <a:spcAft>
                    <a:spcPts val="500"/>
                  </a:spcAft>
                  <a:buSzPct val="100000"/>
                  <a:buChar char="•"/>
                </a:pPr>
                <a:r>
                  <a:rPr lang="es-CL" sz="1100" noProof="0" dirty="0">
                    <a:solidFill>
                      <a:srgbClr val="FFFFFF"/>
                    </a:solidFill>
                    <a:latin typeface="Calibri" pitchFamily="34" charset="0"/>
                    <a:ea typeface="Calibri" pitchFamily="34" charset="-122"/>
                    <a:cs typeface="Calibri" pitchFamily="34" charset="-120"/>
                  </a:rPr>
                  <a:t>Bienes no exportables: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i="1" noProof="0">
                            <a:solidFill>
                              <a:srgbClr val="FFFFFF"/>
                            </a:solidFill>
                            <a:latin typeface="Cambria Math" panose="02040503050406030204" pitchFamily="18" charset="0"/>
                            <a:ea typeface="Calibri" pitchFamily="34" charset="-122"/>
                            <a:cs typeface="Calibri" pitchFamily="34" charset="-120"/>
                          </a:rPr>
                          <m:t>𝐷𝑆</m:t>
                        </m:r>
                      </m:e>
                      <m:sup>
                        <m:r>
                          <a:rPr lang="es-CL" sz="1100" i="1" noProof="0">
                            <a:solidFill>
                              <a:srgbClr val="FFFFFF"/>
                            </a:solidFill>
                            <a:latin typeface="Cambria Math" panose="02040503050406030204" pitchFamily="18" charset="0"/>
                            <a:ea typeface="Calibri" pitchFamily="34" charset="-122"/>
                            <a:cs typeface="Calibri" pitchFamily="34" charset="-120"/>
                          </a:rPr>
                          <m:t>𝑝</m:t>
                        </m:r>
                      </m:sup>
                    </m:sSup>
                    <m:r>
                      <a:rPr lang="es-CL" sz="1100" i="1" noProof="0">
                        <a:solidFill>
                          <a:srgbClr val="FFFFFF"/>
                        </a:solidFill>
                        <a:latin typeface="Cambria Math" panose="02040503050406030204" pitchFamily="18" charset="0"/>
                        <a:ea typeface="Calibri" pitchFamily="34" charset="-122"/>
                        <a:cs typeface="Calibri" pitchFamily="34" charset="-120"/>
                      </a:rPr>
                      <m:t> </m:t>
                    </m:r>
                  </m:oMath>
                </a14:m>
                <a:r>
                  <a:rPr lang="es-CL" sz="1100" noProof="0" dirty="0">
                    <a:solidFill>
                      <a:srgbClr val="FFFFFF"/>
                    </a:solidFill>
                    <a:latin typeface="Calibri" pitchFamily="34" charset="0"/>
                    <a:ea typeface="Calibri" pitchFamily="34" charset="-122"/>
                    <a:cs typeface="Calibri" pitchFamily="34" charset="-120"/>
                  </a:rPr>
                  <a:t>=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i="1" noProof="0">
                            <a:solidFill>
                              <a:srgbClr val="FFFFFF"/>
                            </a:solidFill>
                            <a:latin typeface="Cambria Math" panose="02040503050406030204" pitchFamily="18" charset="0"/>
                            <a:ea typeface="Calibri" pitchFamily="34" charset="-122"/>
                            <a:cs typeface="Calibri" pitchFamily="34" charset="-120"/>
                          </a:rPr>
                          <m:t>𝑍</m:t>
                        </m:r>
                      </m:e>
                      <m:sup>
                        <m:r>
                          <a:rPr lang="es-CL" sz="1100" i="1" noProof="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i="1" noProof="0">
                            <a:solidFill>
                              <a:srgbClr val="FFFFFF"/>
                            </a:solidFill>
                            <a:latin typeface="Cambria Math" panose="02040503050406030204" pitchFamily="18" charset="0"/>
                            <a:ea typeface="Calibri" pitchFamily="34" charset="-122"/>
                            <a:cs typeface="Calibri" pitchFamily="34" charset="-120"/>
                          </a:rPr>
                          <m:t>𝐸𝑋</m:t>
                        </m:r>
                      </m:e>
                      <m:sup>
                        <m:r>
                          <a:rPr lang="es-CL" sz="1100" i="1" noProof="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 0 (construcción, </a:t>
                </a:r>
                <a:r>
                  <a:rPr lang="es-CL" sz="1100" noProof="0" dirty="0" err="1">
                    <a:solidFill>
                      <a:srgbClr val="FFFFFF"/>
                    </a:solidFill>
                    <a:latin typeface="Calibri" pitchFamily="34" charset="0"/>
                    <a:ea typeface="Calibri" pitchFamily="34" charset="-122"/>
                    <a:cs typeface="Calibri" pitchFamily="34" charset="-120"/>
                  </a:rPr>
                  <a:t>adm</a:t>
                </a:r>
                <a:r>
                  <a:rPr lang="es-CL" sz="1100" noProof="0" dirty="0">
                    <a:solidFill>
                      <a:srgbClr val="FFFFFF"/>
                    </a:solidFill>
                    <a:latin typeface="Calibri" pitchFamily="34" charset="0"/>
                    <a:ea typeface="Calibri" pitchFamily="34" charset="-122"/>
                    <a:cs typeface="Calibri" pitchFamily="34" charset="-120"/>
                  </a:rPr>
                  <a:t>. pública, otros)</a:t>
                </a:r>
                <a:endParaRPr lang="es-CL" sz="1100" noProof="0" dirty="0"/>
              </a:p>
            </p:txBody>
          </p:sp>
        </mc:Choice>
        <mc:Fallback xmlns="">
          <p:sp>
            <p:nvSpPr>
              <p:cNvPr id="10" name="Text 8"/>
              <p:cNvSpPr>
                <a:spLocks noRot="1" noChangeAspect="1" noMove="1" noResize="1" noEditPoints="1" noAdjustHandles="1" noChangeArrowheads="1" noChangeShapeType="1" noTextEdit="1"/>
              </p:cNvSpPr>
              <p:nvPr/>
            </p:nvSpPr>
            <p:spPr>
              <a:xfrm>
                <a:off x="868680" y="3291840"/>
                <a:ext cx="4937760" cy="2926080"/>
              </a:xfrm>
              <a:prstGeom prst="rect">
                <a:avLst/>
              </a:prstGeom>
              <a:blipFill>
                <a:blip r:embed="rId3"/>
                <a:stretch>
                  <a:fillRect l="-1852" t="-1458"/>
                </a:stretch>
              </a:blipFill>
              <a:ln/>
            </p:spPr>
            <p:txBody>
              <a:bodyPr/>
              <a:lstStyle/>
              <a:p>
                <a:r>
                  <a:rPr lang="es-CL">
                    <a:noFill/>
                  </a:rPr>
                  <a:t> </a:t>
                </a:r>
              </a:p>
            </p:txBody>
          </p:sp>
        </mc:Fallback>
      </mc:AlternateContent>
      <p:sp>
        <p:nvSpPr>
          <p:cNvPr id="11" name="Shape 9"/>
          <p:cNvSpPr/>
          <p:nvPr/>
        </p:nvSpPr>
        <p:spPr>
          <a:xfrm>
            <a:off x="6263640" y="1554480"/>
            <a:ext cx="5440680" cy="2947474"/>
          </a:xfrm>
          <a:prstGeom prst="rect">
            <a:avLst/>
          </a:prstGeom>
          <a:solidFill>
            <a:srgbClr val="4A6FA5"/>
          </a:solidFill>
          <a:ln w="12700">
            <a:solidFill>
              <a:srgbClr val="4A6FA5"/>
            </a:solidFill>
            <a:prstDash val="solid"/>
          </a:ln>
        </p:spPr>
        <p:txBody>
          <a:bodyPr/>
          <a:lstStyle/>
          <a:p>
            <a:endParaRPr lang="es-CL" noProof="0" dirty="0"/>
          </a:p>
        </p:txBody>
      </p:sp>
      <p:sp>
        <p:nvSpPr>
          <p:cNvPr id="12" name="Text 10"/>
          <p:cNvSpPr/>
          <p:nvPr/>
        </p:nvSpPr>
        <p:spPr>
          <a:xfrm>
            <a:off x="6492240" y="1691640"/>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2 · Armington</a:t>
            </a:r>
            <a:endParaRPr lang="es-CL" sz="2000" noProof="0" dirty="0"/>
          </a:p>
        </p:txBody>
      </p:sp>
      <p:sp>
        <p:nvSpPr>
          <p:cNvPr id="13" name="Text 11"/>
          <p:cNvSpPr/>
          <p:nvPr/>
        </p:nvSpPr>
        <p:spPr>
          <a:xfrm>
            <a:off x="6492240" y="2194560"/>
            <a:ext cx="512064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Agregación doméstico + importado → bien compuesto</a:t>
            </a:r>
            <a:endParaRPr lang="es-CL" sz="1200" noProof="0" dirty="0"/>
          </a:p>
        </p:txBody>
      </p:sp>
      <mc:AlternateContent xmlns:mc="http://schemas.openxmlformats.org/markup-compatibility/2006" xmlns:a14="http://schemas.microsoft.com/office/drawing/2010/main">
        <mc:Choice Requires="a14">
          <p:sp>
            <p:nvSpPr>
              <p:cNvPr id="15" name="Text 13"/>
              <p:cNvSpPr/>
              <p:nvPr/>
            </p:nvSpPr>
            <p:spPr>
              <a:xfrm>
                <a:off x="6492240" y="3291840"/>
                <a:ext cx="5120640" cy="2926080"/>
              </a:xfrm>
              <a:prstGeom prst="rect">
                <a:avLst/>
              </a:prstGeom>
              <a:noFill/>
              <a:ln/>
            </p:spPr>
            <p:txBody>
              <a:bodyPr wrap="square" lIns="0" tIns="0" rIns="0" bIns="0" rtlCol="0" anchor="t"/>
              <a:lstStyle/>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𝑄</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bien compuesto (lo que ven hogares, gobierno, sectores)</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𝐷𝐷</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𝐷𝑆</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parte doméstica del Armington = ventas internas del CET</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𝑀</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importaciones</a:t>
                </a:r>
                <a:endParaRPr lang="es-CL" sz="1100" noProof="0" dirty="0"/>
              </a:p>
              <a:p>
                <a:pPr marL="342900" indent="-342900" algn="l">
                  <a:spcAft>
                    <a:spcPts val="500"/>
                  </a:spcAft>
                  <a:buSzPct val="100000"/>
                  <a:buChar char="•"/>
                </a:pPr>
                <a14:m>
                  <m:oMath xmlns:m="http://schemas.openxmlformats.org/officeDocument/2006/math">
                    <m:sSub>
                      <m:sSubPr>
                        <m:ctrlPr>
                          <a:rPr lang="es-CL" sz="1100" b="1" i="1" noProof="0" smtClean="0">
                            <a:solidFill>
                              <a:srgbClr val="D4A82A"/>
                            </a:solidFill>
                            <a:latin typeface="Cambria Math" panose="02040503050406030204" pitchFamily="18" charset="0"/>
                            <a:ea typeface="Calibri" pitchFamily="34" charset="-122"/>
                            <a:cs typeface="Calibri" pitchFamily="34" charset="-120"/>
                          </a:rPr>
                        </m:ctrlPr>
                      </m:sSubPr>
                      <m:e>
                        <m:r>
                          <a:rPr lang="es-CL" sz="1100" b="1" i="1" noProof="0" smtClean="0">
                            <a:solidFill>
                              <a:srgbClr val="D4A82A"/>
                            </a:solidFill>
                            <a:latin typeface="Cambria Math" panose="02040503050406030204" pitchFamily="18" charset="0"/>
                            <a:ea typeface="Cambria Math" panose="02040503050406030204" pitchFamily="18" charset="0"/>
                            <a:cs typeface="Calibri" pitchFamily="34" charset="-120"/>
                          </a:rPr>
                          <m:t>𝝈</m:t>
                        </m:r>
                      </m:e>
                      <m:sub>
                        <m:r>
                          <a:rPr lang="es-CL" sz="1100" b="1" i="1" noProof="0" smtClean="0">
                            <a:solidFill>
                              <a:srgbClr val="D4A82A"/>
                            </a:solidFill>
                            <a:latin typeface="Cambria Math" panose="02040503050406030204" pitchFamily="18" charset="0"/>
                            <a:ea typeface="Calibri" pitchFamily="34" charset="-122"/>
                            <a:cs typeface="Calibri" pitchFamily="34" charset="-120"/>
                          </a:rPr>
                          <m:t>𝒕</m:t>
                        </m:r>
                      </m:sub>
                    </m:sSub>
                  </m:oMath>
                </a14:m>
                <a:r>
                  <a:rPr lang="es-CL" sz="1100" b="1" noProof="0" dirty="0">
                    <a:solidFill>
                      <a:srgbClr val="D4A82A"/>
                    </a:solidFill>
                    <a:latin typeface="Calibri" pitchFamily="34" charset="0"/>
                    <a:ea typeface="Calibri" pitchFamily="34" charset="-122"/>
                    <a:cs typeface="Calibri" pitchFamily="34" charset="-120"/>
                  </a:rPr>
                  <a:t> = 2.0 (elasticidad de Armington)</a:t>
                </a:r>
                <a:endParaRPr lang="es-CL" sz="1100" noProof="0" dirty="0"/>
              </a:p>
              <a:p>
                <a:pPr marL="342900" indent="-342900" algn="l">
                  <a:spcAft>
                    <a:spcPts val="500"/>
                  </a:spcAft>
                  <a:buSzPct val="100000"/>
                  <a:buChar char="•"/>
                </a:pPr>
                <a:r>
                  <a:rPr lang="es-CL" sz="1100" noProof="0" dirty="0">
                    <a:solidFill>
                      <a:srgbClr val="FFFFFF"/>
                    </a:solidFill>
                    <a:latin typeface="Calibri" pitchFamily="34" charset="0"/>
                    <a:ea typeface="Calibri" pitchFamily="34" charset="-122"/>
                    <a:cs typeface="Calibri" pitchFamily="34" charset="-120"/>
                  </a:rPr>
                  <a:t>Parámetros </a:t>
                </a:r>
                <a14:m>
                  <m:oMath xmlns:m="http://schemas.openxmlformats.org/officeDocument/2006/math">
                    <m:sSubSup>
                      <m:sSub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bSupPr>
                      <m:e>
                        <m:r>
                          <a:rPr lang="es-CL" sz="1100" i="1" noProof="0" smtClean="0">
                            <a:solidFill>
                              <a:srgbClr val="FFFFFF"/>
                            </a:solidFill>
                            <a:latin typeface="Cambria Math" panose="02040503050406030204" pitchFamily="18" charset="0"/>
                            <a:ea typeface="Cambria Math" panose="02040503050406030204" pitchFamily="18" charset="0"/>
                            <a:cs typeface="Calibri" pitchFamily="34" charset="-120"/>
                          </a:rPr>
                          <m:t>𝛿</m:t>
                        </m:r>
                      </m:e>
                      <m:sub>
                        <m:r>
                          <a:rPr lang="es-CL" sz="1100" b="0" i="1" noProof="0" smtClean="0">
                            <a:solidFill>
                              <a:srgbClr val="FFFFFF"/>
                            </a:solidFill>
                            <a:latin typeface="Cambria Math" panose="02040503050406030204" pitchFamily="18" charset="0"/>
                            <a:ea typeface="Calibri" pitchFamily="34" charset="-122"/>
                            <a:cs typeface="Calibri" pitchFamily="34" charset="-120"/>
                          </a:rPr>
                          <m:t>𝑚</m:t>
                        </m:r>
                      </m:sub>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bSup>
                  </m:oMath>
                </a14:m>
                <a:r>
                  <a:rPr lang="es-CL" sz="1100" noProof="0" dirty="0">
                    <a:solidFill>
                      <a:srgbClr val="FFFFFF"/>
                    </a:solidFill>
                    <a:latin typeface="Calibri" pitchFamily="34" charset="0"/>
                    <a:ea typeface="Calibri" pitchFamily="34" charset="-122"/>
                    <a:cs typeface="Calibri" pitchFamily="34" charset="-120"/>
                  </a:rPr>
                  <a:t>, </a:t>
                </a:r>
                <a14:m>
                  <m:oMath xmlns:m="http://schemas.openxmlformats.org/officeDocument/2006/math">
                    <m:sSubSup>
                      <m:sSub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bSupPr>
                      <m:e>
                        <m:r>
                          <a:rPr lang="es-CL" sz="1100" i="1" noProof="0" smtClean="0">
                            <a:solidFill>
                              <a:srgbClr val="FFFFFF"/>
                            </a:solidFill>
                            <a:latin typeface="Cambria Math" panose="02040503050406030204" pitchFamily="18" charset="0"/>
                            <a:ea typeface="Cambria Math" panose="02040503050406030204" pitchFamily="18" charset="0"/>
                            <a:cs typeface="Calibri" pitchFamily="34" charset="-120"/>
                          </a:rPr>
                          <m:t>𝛾</m:t>
                        </m:r>
                      </m:e>
                      <m:sub>
                        <m:r>
                          <a:rPr lang="es-CL" sz="1100" b="0" i="1" noProof="0" smtClean="0">
                            <a:solidFill>
                              <a:srgbClr val="FFFFFF"/>
                            </a:solidFill>
                            <a:latin typeface="Cambria Math" panose="02040503050406030204" pitchFamily="18" charset="0"/>
                            <a:ea typeface="Calibri" pitchFamily="34" charset="-122"/>
                            <a:cs typeface="Calibri" pitchFamily="34" charset="-120"/>
                          </a:rPr>
                          <m:t>𝑒</m:t>
                        </m:r>
                      </m:sub>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bSup>
                  </m:oMath>
                </a14:m>
                <a:r>
                  <a:rPr lang="es-CL" sz="1100" noProof="0" dirty="0">
                    <a:solidFill>
                      <a:srgbClr val="FFFFFF"/>
                    </a:solidFill>
                    <a:latin typeface="Calibri" pitchFamily="34" charset="0"/>
                    <a:ea typeface="Calibri" pitchFamily="34" charset="-122"/>
                    <a:cs typeface="Calibri" pitchFamily="34" charset="-120"/>
                  </a:rPr>
                  <a:t> calibrados de las participaciones SAM</a:t>
                </a:r>
                <a:endParaRPr lang="es-CL" sz="1100" noProof="0" dirty="0"/>
              </a:p>
            </p:txBody>
          </p:sp>
        </mc:Choice>
        <mc:Fallback xmlns="">
          <p:sp>
            <p:nvSpPr>
              <p:cNvPr id="15" name="Text 13"/>
              <p:cNvSpPr>
                <a:spLocks noRot="1" noChangeAspect="1" noMove="1" noResize="1" noEditPoints="1" noAdjustHandles="1" noChangeArrowheads="1" noChangeShapeType="1" noTextEdit="1"/>
              </p:cNvSpPr>
              <p:nvPr/>
            </p:nvSpPr>
            <p:spPr>
              <a:xfrm>
                <a:off x="6492240" y="3291840"/>
                <a:ext cx="5120640" cy="2926080"/>
              </a:xfrm>
              <a:prstGeom prst="rect">
                <a:avLst/>
              </a:prstGeom>
              <a:blipFill>
                <a:blip r:embed="rId4"/>
                <a:stretch>
                  <a:fillRect l="-1667" t="-1458"/>
                </a:stretch>
              </a:blipFill>
              <a:ln/>
            </p:spPr>
            <p:txBody>
              <a:bodyPr/>
              <a:lstStyle/>
              <a:p>
                <a:r>
                  <a:rPr lang="es-CL">
                    <a:noFill/>
                  </a:rPr>
                  <a:t> </a:t>
                </a:r>
              </a:p>
            </p:txBody>
          </p:sp>
        </mc:Fallback>
      </mc:AlternateContent>
      <p:sp>
        <p:nvSpPr>
          <p:cNvPr id="16" name="Text 14"/>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EA67242-A408-B386-93C9-08025039B6F9}"/>
                  </a:ext>
                </a:extLst>
              </p:cNvPr>
              <p:cNvSpPr txBox="1"/>
              <p:nvPr/>
            </p:nvSpPr>
            <p:spPr>
              <a:xfrm>
                <a:off x="868680" y="2581891"/>
                <a:ext cx="4776692" cy="4399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1400" i="1" noProof="0" smtClean="0">
                              <a:solidFill>
                                <a:schemeClr val="bg1"/>
                              </a:solidFill>
                              <a:latin typeface="Cambria Math" panose="02040503050406030204" pitchFamily="18" charset="0"/>
                            </a:rPr>
                          </m:ctrlPr>
                        </m:sSupPr>
                        <m:e>
                          <m:r>
                            <a:rPr lang="es-CL" sz="1400" b="0" i="1" noProof="0" smtClean="0">
                              <a:solidFill>
                                <a:schemeClr val="bg1"/>
                              </a:solidFill>
                              <a:latin typeface="Cambria Math" panose="02040503050406030204" pitchFamily="18" charset="0"/>
                            </a:rPr>
                            <m:t>𝑍</m:t>
                          </m:r>
                        </m:e>
                        <m:sup>
                          <m:r>
                            <a:rPr lang="es-CL" sz="1400" b="0" i="1" noProof="0" smtClean="0">
                              <a:solidFill>
                                <a:schemeClr val="bg1"/>
                              </a:solidFill>
                              <a:latin typeface="Cambria Math" panose="02040503050406030204" pitchFamily="18" charset="0"/>
                            </a:rPr>
                            <m:t>𝑝</m:t>
                          </m:r>
                        </m:sup>
                      </m:sSup>
                      <m:r>
                        <a:rPr lang="es-CL" sz="1400" b="0" i="1" noProof="0" smtClean="0">
                          <a:solidFill>
                            <a:schemeClr val="bg1"/>
                          </a:solidFill>
                          <a:latin typeface="Cambria Math" panose="02040503050406030204" pitchFamily="18" charset="0"/>
                        </a:rPr>
                        <m:t>=</m:t>
                      </m:r>
                      <m:sSubSup>
                        <m:sSubSupPr>
                          <m:ctrlPr>
                            <a:rPr lang="es-CL" sz="1400" b="0" i="1" noProof="0" smtClean="0">
                              <a:solidFill>
                                <a:schemeClr val="bg1"/>
                              </a:solidFill>
                              <a:latin typeface="Cambria Math" panose="02040503050406030204" pitchFamily="18" charset="0"/>
                            </a:rPr>
                          </m:ctrlPr>
                        </m:sSubSupPr>
                        <m:e>
                          <m:r>
                            <a:rPr lang="es-CL" sz="1400" b="0" i="1" noProof="0" smtClean="0">
                              <a:solidFill>
                                <a:schemeClr val="bg1"/>
                              </a:solidFill>
                              <a:latin typeface="Cambria Math" panose="02040503050406030204" pitchFamily="18" charset="0"/>
                            </a:rPr>
                            <m:t>𝑎</m:t>
                          </m:r>
                        </m:e>
                        <m:sub>
                          <m:r>
                            <a:rPr lang="es-CL" sz="1400" b="0" i="1" noProof="0" smtClean="0">
                              <a:solidFill>
                                <a:schemeClr val="bg1"/>
                              </a:solidFill>
                              <a:latin typeface="Cambria Math" panose="02040503050406030204" pitchFamily="18" charset="0"/>
                            </a:rPr>
                            <m:t>𝑡</m:t>
                          </m:r>
                        </m:sub>
                        <m:sup>
                          <m:r>
                            <a:rPr lang="es-CL" sz="1400" b="0" i="1" noProof="0" smtClean="0">
                              <a:solidFill>
                                <a:schemeClr val="bg1"/>
                              </a:solidFill>
                              <a:latin typeface="Cambria Math" panose="02040503050406030204" pitchFamily="18" charset="0"/>
                            </a:rPr>
                            <m:t>𝑝</m:t>
                          </m:r>
                        </m:sup>
                      </m:sSubSup>
                      <m:sSup>
                        <m:sSupPr>
                          <m:ctrlPr>
                            <a:rPr lang="es-CL" sz="1400" b="0" i="1" noProof="0" smtClean="0">
                              <a:solidFill>
                                <a:schemeClr val="bg1"/>
                              </a:solidFill>
                              <a:latin typeface="Cambria Math" panose="02040503050406030204" pitchFamily="18" charset="0"/>
                            </a:rPr>
                          </m:ctrlPr>
                        </m:sSupPr>
                        <m:e>
                          <m:d>
                            <m:dPr>
                              <m:begChr m:val="["/>
                              <m:endChr m:val="]"/>
                              <m:ctrlPr>
                                <a:rPr lang="es-CL" sz="1400" i="1" noProof="0">
                                  <a:solidFill>
                                    <a:schemeClr val="bg1"/>
                                  </a:solidFill>
                                  <a:latin typeface="Cambria Math" panose="02040503050406030204" pitchFamily="18" charset="0"/>
                                </a:rPr>
                              </m:ctrlPr>
                            </m:dPr>
                            <m:e>
                              <m:sSubSup>
                                <m:sSubSupPr>
                                  <m:ctrlPr>
                                    <a:rPr lang="es-CL" sz="1400" i="1" noProof="0">
                                      <a:solidFill>
                                        <a:schemeClr val="bg1"/>
                                      </a:solidFill>
                                      <a:latin typeface="Cambria Math" panose="02040503050406030204" pitchFamily="18" charset="0"/>
                                    </a:rPr>
                                  </m:ctrlPr>
                                </m:sSubSupPr>
                                <m:e>
                                  <m:r>
                                    <a:rPr lang="es-CL" sz="1400" i="1" noProof="0">
                                      <a:solidFill>
                                        <a:schemeClr val="bg1"/>
                                      </a:solidFill>
                                      <a:latin typeface="Cambria Math" panose="02040503050406030204" pitchFamily="18" charset="0"/>
                                      <a:ea typeface="Cambria Math" panose="02040503050406030204" pitchFamily="18" charset="0"/>
                                    </a:rPr>
                                    <m:t>𝛾</m:t>
                                  </m:r>
                                </m:e>
                                <m:sub>
                                  <m:r>
                                    <a:rPr lang="es-CL" sz="1400" i="1" noProof="0">
                                      <a:solidFill>
                                        <a:schemeClr val="bg1"/>
                                      </a:solidFill>
                                      <a:latin typeface="Cambria Math" panose="02040503050406030204" pitchFamily="18" charset="0"/>
                                    </a:rPr>
                                    <m:t>𝑒</m:t>
                                  </m:r>
                                </m:sub>
                                <m:sup>
                                  <m:r>
                                    <a:rPr lang="es-CL" sz="1400" i="1" noProof="0">
                                      <a:solidFill>
                                        <a:schemeClr val="bg1"/>
                                      </a:solidFill>
                                      <a:latin typeface="Cambria Math" panose="02040503050406030204" pitchFamily="18" charset="0"/>
                                    </a:rPr>
                                    <m:t>𝑝</m:t>
                                  </m:r>
                                </m:sup>
                              </m:sSubSup>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i="1" noProof="0">
                                              <a:solidFill>
                                                <a:schemeClr val="bg1"/>
                                              </a:solidFill>
                                              <a:latin typeface="Cambria Math" panose="02040503050406030204" pitchFamily="18" charset="0"/>
                                            </a:rPr>
                                            <m:t>𝐸𝑋</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i="1" noProof="0">
                                      <a:solidFill>
                                        <a:schemeClr val="bg1"/>
                                      </a:solidFill>
                                      <a:latin typeface="Cambria Math" panose="02040503050406030204" pitchFamily="18" charset="0"/>
                                      <a:ea typeface="Cambria Math" panose="02040503050406030204" pitchFamily="18" charset="0"/>
                                    </a:rPr>
                                    <m:t>𝑡</m:t>
                                  </m:r>
                                </m:sup>
                              </m:sSup>
                              <m:r>
                                <a:rPr lang="es-CL" sz="1400" i="1" noProof="0">
                                  <a:solidFill>
                                    <a:schemeClr val="bg1"/>
                                  </a:solidFill>
                                  <a:latin typeface="Cambria Math" panose="02040503050406030204" pitchFamily="18" charset="0"/>
                                </a:rPr>
                                <m:t>+</m:t>
                              </m:r>
                              <m:d>
                                <m:dPr>
                                  <m:ctrlPr>
                                    <a:rPr lang="es-CL" sz="1400" i="1" noProof="0">
                                      <a:solidFill>
                                        <a:schemeClr val="bg1"/>
                                      </a:solidFill>
                                      <a:latin typeface="Cambria Math" panose="02040503050406030204" pitchFamily="18" charset="0"/>
                                    </a:rPr>
                                  </m:ctrlPr>
                                </m:dPr>
                                <m:e>
                                  <m:r>
                                    <a:rPr lang="es-CL" sz="1400" i="1" noProof="0">
                                      <a:solidFill>
                                        <a:schemeClr val="bg1"/>
                                      </a:solidFill>
                                      <a:latin typeface="Cambria Math" panose="02040503050406030204" pitchFamily="18" charset="0"/>
                                    </a:rPr>
                                    <m:t>1−</m:t>
                                  </m:r>
                                  <m:sSubSup>
                                    <m:sSubSupPr>
                                      <m:ctrlPr>
                                        <a:rPr lang="es-CL" sz="1400" i="1" noProof="0">
                                          <a:solidFill>
                                            <a:schemeClr val="bg1"/>
                                          </a:solidFill>
                                          <a:latin typeface="Cambria Math" panose="02040503050406030204" pitchFamily="18" charset="0"/>
                                        </a:rPr>
                                      </m:ctrlPr>
                                    </m:sSubSupPr>
                                    <m:e>
                                      <m:r>
                                        <a:rPr lang="es-CL" sz="1400" i="1" noProof="0">
                                          <a:solidFill>
                                            <a:schemeClr val="bg1"/>
                                          </a:solidFill>
                                          <a:latin typeface="Cambria Math" panose="02040503050406030204" pitchFamily="18" charset="0"/>
                                          <a:ea typeface="Cambria Math" panose="02040503050406030204" pitchFamily="18" charset="0"/>
                                        </a:rPr>
                                        <m:t>𝛾</m:t>
                                      </m:r>
                                    </m:e>
                                    <m:sub>
                                      <m:r>
                                        <a:rPr lang="es-CL" sz="1400" i="1" noProof="0">
                                          <a:solidFill>
                                            <a:schemeClr val="bg1"/>
                                          </a:solidFill>
                                          <a:latin typeface="Cambria Math" panose="02040503050406030204" pitchFamily="18" charset="0"/>
                                        </a:rPr>
                                        <m:t>𝑒</m:t>
                                      </m:r>
                                    </m:sub>
                                    <m:sup>
                                      <m:r>
                                        <a:rPr lang="es-CL" sz="1400" i="1" noProof="0">
                                          <a:solidFill>
                                            <a:schemeClr val="bg1"/>
                                          </a:solidFill>
                                          <a:latin typeface="Cambria Math" panose="02040503050406030204" pitchFamily="18" charset="0"/>
                                        </a:rPr>
                                        <m:t>𝑝</m:t>
                                      </m:r>
                                    </m:sup>
                                  </m:sSubSup>
                                </m:e>
                              </m:d>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i="1" noProof="0">
                                              <a:solidFill>
                                                <a:schemeClr val="bg1"/>
                                              </a:solidFill>
                                              <a:latin typeface="Cambria Math" panose="02040503050406030204" pitchFamily="18" charset="0"/>
                                            </a:rPr>
                                            <m:t>𝐷𝑆</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i="1" noProof="0">
                                      <a:solidFill>
                                        <a:schemeClr val="bg1"/>
                                      </a:solidFill>
                                      <a:latin typeface="Cambria Math" panose="02040503050406030204" pitchFamily="18" charset="0"/>
                                      <a:ea typeface="Cambria Math" panose="02040503050406030204" pitchFamily="18" charset="0"/>
                                    </a:rPr>
                                    <m:t>𝑡</m:t>
                                  </m:r>
                                </m:sup>
                              </m:sSup>
                            </m:e>
                          </m:d>
                          <m:r>
                            <m:rPr>
                              <m:nor/>
                            </m:rPr>
                            <a:rPr lang="es-CL" sz="1400" noProof="0">
                              <a:solidFill>
                                <a:schemeClr val="bg1"/>
                              </a:solidFill>
                            </a:rPr>
                            <m:t> </m:t>
                          </m:r>
                        </m:e>
                        <m:sup>
                          <m:f>
                            <m:fPr>
                              <m:type m:val="skw"/>
                              <m:ctrlPr>
                                <a:rPr lang="es-CL" sz="1400" b="0" i="1" noProof="0" smtClean="0">
                                  <a:solidFill>
                                    <a:schemeClr val="bg1"/>
                                  </a:solidFill>
                                  <a:latin typeface="Cambria Math" panose="02040503050406030204" pitchFamily="18" charset="0"/>
                                </a:rPr>
                              </m:ctrlPr>
                            </m:fPr>
                            <m:num>
                              <m:r>
                                <a:rPr lang="es-CL" sz="1400" b="0" i="1" noProof="0" smtClean="0">
                                  <a:solidFill>
                                    <a:schemeClr val="bg1"/>
                                  </a:solidFill>
                                  <a:latin typeface="Cambria Math" panose="02040503050406030204" pitchFamily="18" charset="0"/>
                                </a:rPr>
                                <m:t>1</m:t>
                              </m:r>
                            </m:num>
                            <m:den>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𝑡</m:t>
                              </m:r>
                            </m:den>
                          </m:f>
                        </m:sup>
                      </m:sSup>
                      <m:r>
                        <a:rPr lang="es-CL" sz="1400" b="0" i="1" noProof="0" smtClean="0">
                          <a:solidFill>
                            <a:schemeClr val="bg1"/>
                          </a:solidFill>
                          <a:latin typeface="Cambria Math" panose="02040503050406030204" pitchFamily="18" charset="0"/>
                        </a:rPr>
                        <m:t> ,  </m:t>
                      </m:r>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𝑡</m:t>
                      </m:r>
                      <m:r>
                        <a:rPr lang="es-CL" sz="1400" b="0" i="1" noProof="0" smtClean="0">
                          <a:solidFill>
                            <a:schemeClr val="bg1"/>
                          </a:solidFill>
                          <a:latin typeface="Cambria Math" panose="02040503050406030204" pitchFamily="18" charset="0"/>
                          <a:ea typeface="Cambria Math" panose="02040503050406030204" pitchFamily="18" charset="0"/>
                        </a:rPr>
                        <m:t>=</m:t>
                      </m:r>
                      <m:f>
                        <m:fPr>
                          <m:ctrlPr>
                            <a:rPr lang="es-CL" sz="1400" b="0" i="1" noProof="0" smtClean="0">
                              <a:solidFill>
                                <a:schemeClr val="bg1"/>
                              </a:solidFill>
                              <a:latin typeface="Cambria Math" panose="02040503050406030204" pitchFamily="18" charset="0"/>
                              <a:ea typeface="Cambria Math" panose="02040503050406030204" pitchFamily="18" charset="0"/>
                            </a:rPr>
                          </m:ctrlPr>
                        </m:fPr>
                        <m:num>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𝑡</m:t>
                              </m:r>
                            </m:sub>
                          </m:sSub>
                          <m:r>
                            <a:rPr lang="es-CL" sz="1400" b="0" i="1" noProof="0" smtClean="0">
                              <a:solidFill>
                                <a:schemeClr val="bg1"/>
                              </a:solidFill>
                              <a:latin typeface="Cambria Math" panose="02040503050406030204" pitchFamily="18" charset="0"/>
                              <a:ea typeface="Cambria Math" panose="02040503050406030204" pitchFamily="18" charset="0"/>
                            </a:rPr>
                            <m:t>+1</m:t>
                          </m:r>
                        </m:num>
                        <m:den>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𝑡</m:t>
                              </m:r>
                            </m:sub>
                          </m:sSub>
                        </m:den>
                      </m:f>
                    </m:oMath>
                  </m:oMathPara>
                </a14:m>
                <a:endParaRPr lang="es-CL" sz="1400" noProof="0" dirty="0">
                  <a:solidFill>
                    <a:schemeClr val="bg1"/>
                  </a:solidFill>
                </a:endParaRPr>
              </a:p>
            </p:txBody>
          </p:sp>
        </mc:Choice>
        <mc:Fallback xmlns="">
          <p:sp>
            <p:nvSpPr>
              <p:cNvPr id="17" name="CuadroTexto 16">
                <a:extLst>
                  <a:ext uri="{FF2B5EF4-FFF2-40B4-BE49-F238E27FC236}">
                    <a16:creationId xmlns:a16="http://schemas.microsoft.com/office/drawing/2014/main" id="{BEA67242-A408-B386-93C9-08025039B6F9}"/>
                  </a:ext>
                </a:extLst>
              </p:cNvPr>
              <p:cNvSpPr txBox="1">
                <a:spLocks noRot="1" noChangeAspect="1" noMove="1" noResize="1" noEditPoints="1" noAdjustHandles="1" noChangeArrowheads="1" noChangeShapeType="1" noTextEdit="1"/>
              </p:cNvSpPr>
              <p:nvPr/>
            </p:nvSpPr>
            <p:spPr>
              <a:xfrm>
                <a:off x="868680" y="2581891"/>
                <a:ext cx="4776692" cy="439929"/>
              </a:xfrm>
              <a:prstGeom prst="rect">
                <a:avLst/>
              </a:prstGeom>
              <a:blipFill>
                <a:blip r:embed="rId5"/>
                <a:stretch>
                  <a:fillRect l="-383" t="-63889" r="-255" b="-7083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69F2D64-B934-94C5-E3AB-43F03CFF1748}"/>
                  </a:ext>
                </a:extLst>
              </p:cNvPr>
              <p:cNvSpPr txBox="1"/>
              <p:nvPr/>
            </p:nvSpPr>
            <p:spPr>
              <a:xfrm>
                <a:off x="6492240" y="2431796"/>
                <a:ext cx="4902432" cy="4701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1400" i="1" noProof="0" smtClean="0">
                              <a:solidFill>
                                <a:schemeClr val="bg1"/>
                              </a:solidFill>
                              <a:latin typeface="Cambria Math" panose="02040503050406030204" pitchFamily="18" charset="0"/>
                            </a:rPr>
                          </m:ctrlPr>
                        </m:sSupPr>
                        <m:e>
                          <m:r>
                            <a:rPr lang="es-CL" sz="1400" b="0" i="1" noProof="0" smtClean="0">
                              <a:solidFill>
                                <a:schemeClr val="bg1"/>
                              </a:solidFill>
                              <a:latin typeface="Cambria Math" panose="02040503050406030204" pitchFamily="18" charset="0"/>
                            </a:rPr>
                            <m:t>𝑄</m:t>
                          </m:r>
                        </m:e>
                        <m:sup>
                          <m:r>
                            <a:rPr lang="es-CL" sz="1400" b="0" i="1" noProof="0" smtClean="0">
                              <a:solidFill>
                                <a:schemeClr val="bg1"/>
                              </a:solidFill>
                              <a:latin typeface="Cambria Math" panose="02040503050406030204" pitchFamily="18" charset="0"/>
                            </a:rPr>
                            <m:t>𝑝</m:t>
                          </m:r>
                        </m:sup>
                      </m:sSup>
                      <m:r>
                        <a:rPr lang="es-CL" sz="1400" b="0" i="1" noProof="0" smtClean="0">
                          <a:solidFill>
                            <a:schemeClr val="bg1"/>
                          </a:solidFill>
                          <a:latin typeface="Cambria Math" panose="02040503050406030204" pitchFamily="18" charset="0"/>
                        </a:rPr>
                        <m:t>=</m:t>
                      </m:r>
                      <m:sSubSup>
                        <m:sSubSupPr>
                          <m:ctrlPr>
                            <a:rPr lang="es-CL" sz="1400" b="0" i="1" noProof="0" smtClean="0">
                              <a:solidFill>
                                <a:schemeClr val="bg1"/>
                              </a:solidFill>
                              <a:latin typeface="Cambria Math" panose="02040503050406030204" pitchFamily="18" charset="0"/>
                            </a:rPr>
                          </m:ctrlPr>
                        </m:sSubSupPr>
                        <m:e>
                          <m:r>
                            <a:rPr lang="es-CL" sz="1400" b="0" i="1" noProof="0" smtClean="0">
                              <a:solidFill>
                                <a:schemeClr val="bg1"/>
                              </a:solidFill>
                              <a:latin typeface="Cambria Math" panose="02040503050406030204" pitchFamily="18" charset="0"/>
                            </a:rPr>
                            <m:t>𝑎</m:t>
                          </m:r>
                        </m:e>
                        <m:sub>
                          <m:r>
                            <a:rPr lang="es-CL" sz="1400" b="0" i="1" noProof="0" smtClean="0">
                              <a:solidFill>
                                <a:schemeClr val="bg1"/>
                              </a:solidFill>
                              <a:latin typeface="Cambria Math" panose="02040503050406030204" pitchFamily="18" charset="0"/>
                            </a:rPr>
                            <m:t>𝑞</m:t>
                          </m:r>
                        </m:sub>
                        <m:sup>
                          <m:r>
                            <a:rPr lang="es-CL" sz="1400" b="0" i="1" noProof="0" smtClean="0">
                              <a:solidFill>
                                <a:schemeClr val="bg1"/>
                              </a:solidFill>
                              <a:latin typeface="Cambria Math" panose="02040503050406030204" pitchFamily="18" charset="0"/>
                            </a:rPr>
                            <m:t>𝑝</m:t>
                          </m:r>
                        </m:sup>
                      </m:sSubSup>
                      <m:sSup>
                        <m:sSupPr>
                          <m:ctrlPr>
                            <a:rPr lang="es-CL" sz="1400" b="0" i="1" noProof="0" smtClean="0">
                              <a:solidFill>
                                <a:schemeClr val="bg1"/>
                              </a:solidFill>
                              <a:latin typeface="Cambria Math" panose="02040503050406030204" pitchFamily="18" charset="0"/>
                            </a:rPr>
                          </m:ctrlPr>
                        </m:sSupPr>
                        <m:e>
                          <m:d>
                            <m:dPr>
                              <m:begChr m:val="["/>
                              <m:endChr m:val="]"/>
                              <m:ctrlPr>
                                <a:rPr lang="es-CL" sz="1400" i="1" noProof="0">
                                  <a:solidFill>
                                    <a:schemeClr val="bg1"/>
                                  </a:solidFill>
                                  <a:latin typeface="Cambria Math" panose="02040503050406030204" pitchFamily="18" charset="0"/>
                                </a:rPr>
                              </m:ctrlPr>
                            </m:dPr>
                            <m:e>
                              <m:sSubSup>
                                <m:sSubSupPr>
                                  <m:ctrlPr>
                                    <a:rPr lang="es-CL" sz="1400" i="1" noProof="0">
                                      <a:solidFill>
                                        <a:schemeClr val="bg1"/>
                                      </a:solidFill>
                                      <a:latin typeface="Cambria Math" panose="02040503050406030204" pitchFamily="18" charset="0"/>
                                    </a:rPr>
                                  </m:ctrlPr>
                                </m:sSubSupPr>
                                <m:e>
                                  <m:r>
                                    <a:rPr lang="es-CL" sz="1400" i="1" noProof="0" smtClean="0">
                                      <a:solidFill>
                                        <a:schemeClr val="bg1"/>
                                      </a:solidFill>
                                      <a:latin typeface="Cambria Math" panose="02040503050406030204" pitchFamily="18" charset="0"/>
                                      <a:ea typeface="Cambria Math" panose="02040503050406030204" pitchFamily="18" charset="0"/>
                                    </a:rPr>
                                    <m:t>𝛿</m:t>
                                  </m:r>
                                </m:e>
                                <m:sub>
                                  <m:r>
                                    <a:rPr lang="es-CL" sz="1400" b="0" i="1" noProof="0" smtClean="0">
                                      <a:solidFill>
                                        <a:schemeClr val="bg1"/>
                                      </a:solidFill>
                                      <a:latin typeface="Cambria Math" panose="02040503050406030204" pitchFamily="18" charset="0"/>
                                    </a:rPr>
                                    <m:t>𝑚</m:t>
                                  </m:r>
                                </m:sub>
                                <m:sup>
                                  <m:r>
                                    <a:rPr lang="es-CL" sz="1400" i="1" noProof="0">
                                      <a:solidFill>
                                        <a:schemeClr val="bg1"/>
                                      </a:solidFill>
                                      <a:latin typeface="Cambria Math" panose="02040503050406030204" pitchFamily="18" charset="0"/>
                                    </a:rPr>
                                    <m:t>𝑝</m:t>
                                  </m:r>
                                </m:sup>
                              </m:sSubSup>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b="0" i="1" noProof="0" smtClean="0">
                                              <a:solidFill>
                                                <a:schemeClr val="bg1"/>
                                              </a:solidFill>
                                              <a:latin typeface="Cambria Math" panose="02040503050406030204" pitchFamily="18" charset="0"/>
                                            </a:rPr>
                                            <m:t>𝑀</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sup>
                              </m:sSup>
                              <m:r>
                                <a:rPr lang="es-CL" sz="1400" i="1" noProof="0">
                                  <a:solidFill>
                                    <a:schemeClr val="bg1"/>
                                  </a:solidFill>
                                  <a:latin typeface="Cambria Math" panose="02040503050406030204" pitchFamily="18" charset="0"/>
                                </a:rPr>
                                <m:t>+</m:t>
                              </m:r>
                              <m:d>
                                <m:dPr>
                                  <m:ctrlPr>
                                    <a:rPr lang="es-CL" sz="1400" i="1" noProof="0">
                                      <a:solidFill>
                                        <a:schemeClr val="bg1"/>
                                      </a:solidFill>
                                      <a:latin typeface="Cambria Math" panose="02040503050406030204" pitchFamily="18" charset="0"/>
                                    </a:rPr>
                                  </m:ctrlPr>
                                </m:dPr>
                                <m:e>
                                  <m:r>
                                    <a:rPr lang="es-CL" sz="1400" i="1" noProof="0">
                                      <a:solidFill>
                                        <a:schemeClr val="bg1"/>
                                      </a:solidFill>
                                      <a:latin typeface="Cambria Math" panose="02040503050406030204" pitchFamily="18" charset="0"/>
                                    </a:rPr>
                                    <m:t>1−</m:t>
                                  </m:r>
                                  <m:sSubSup>
                                    <m:sSubSupPr>
                                      <m:ctrlPr>
                                        <a:rPr lang="es-CL" sz="1400" i="1" noProof="0">
                                          <a:solidFill>
                                            <a:schemeClr val="bg1"/>
                                          </a:solidFill>
                                          <a:latin typeface="Cambria Math" panose="02040503050406030204" pitchFamily="18" charset="0"/>
                                        </a:rPr>
                                      </m:ctrlPr>
                                    </m:sSubSupPr>
                                    <m:e>
                                      <m:r>
                                        <a:rPr lang="es-CL" sz="1400" i="1" noProof="0" smtClean="0">
                                          <a:solidFill>
                                            <a:schemeClr val="bg1"/>
                                          </a:solidFill>
                                          <a:latin typeface="Cambria Math" panose="02040503050406030204" pitchFamily="18" charset="0"/>
                                          <a:ea typeface="Cambria Math" panose="02040503050406030204" pitchFamily="18" charset="0"/>
                                        </a:rPr>
                                        <m:t>𝛿</m:t>
                                      </m:r>
                                    </m:e>
                                    <m:sub>
                                      <m:r>
                                        <a:rPr lang="es-CL" sz="1400" b="0" i="1" noProof="0" smtClean="0">
                                          <a:solidFill>
                                            <a:schemeClr val="bg1"/>
                                          </a:solidFill>
                                          <a:latin typeface="Cambria Math" panose="02040503050406030204" pitchFamily="18" charset="0"/>
                                        </a:rPr>
                                        <m:t>𝑚</m:t>
                                      </m:r>
                                    </m:sub>
                                    <m:sup>
                                      <m:r>
                                        <a:rPr lang="es-CL" sz="1400" i="1" noProof="0">
                                          <a:solidFill>
                                            <a:schemeClr val="bg1"/>
                                          </a:solidFill>
                                          <a:latin typeface="Cambria Math" panose="02040503050406030204" pitchFamily="18" charset="0"/>
                                        </a:rPr>
                                        <m:t>𝑝</m:t>
                                      </m:r>
                                    </m:sup>
                                  </m:sSubSup>
                                </m:e>
                              </m:d>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i="1" noProof="0">
                                              <a:solidFill>
                                                <a:schemeClr val="bg1"/>
                                              </a:solidFill>
                                              <a:latin typeface="Cambria Math" panose="02040503050406030204" pitchFamily="18" charset="0"/>
                                            </a:rPr>
                                            <m:t>𝐷</m:t>
                                          </m:r>
                                          <m:r>
                                            <a:rPr lang="es-CL" sz="1400" b="0" i="1" noProof="0" smtClean="0">
                                              <a:solidFill>
                                                <a:schemeClr val="bg1"/>
                                              </a:solidFill>
                                              <a:latin typeface="Cambria Math" panose="02040503050406030204" pitchFamily="18" charset="0"/>
                                            </a:rPr>
                                            <m:t>𝐷</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sup>
                              </m:sSup>
                            </m:e>
                          </m:d>
                          <m:r>
                            <m:rPr>
                              <m:nor/>
                            </m:rPr>
                            <a:rPr lang="es-CL" sz="1400" noProof="0">
                              <a:solidFill>
                                <a:schemeClr val="bg1"/>
                              </a:solidFill>
                            </a:rPr>
                            <m:t> </m:t>
                          </m:r>
                        </m:e>
                        <m:sup>
                          <m:f>
                            <m:fPr>
                              <m:type m:val="skw"/>
                              <m:ctrlPr>
                                <a:rPr lang="es-CL" sz="1400" b="0" i="1" noProof="0" smtClean="0">
                                  <a:solidFill>
                                    <a:schemeClr val="bg1"/>
                                  </a:solidFill>
                                  <a:latin typeface="Cambria Math" panose="02040503050406030204" pitchFamily="18" charset="0"/>
                                </a:rPr>
                              </m:ctrlPr>
                            </m:fPr>
                            <m:num>
                              <m:r>
                                <a:rPr lang="es-CL" sz="1400" b="0" i="1" noProof="0" smtClean="0">
                                  <a:solidFill>
                                    <a:schemeClr val="bg1"/>
                                  </a:solidFill>
                                  <a:latin typeface="Cambria Math" panose="02040503050406030204" pitchFamily="18" charset="0"/>
                                </a:rPr>
                                <m:t>1</m:t>
                              </m:r>
                            </m:num>
                            <m:den>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den>
                          </m:f>
                        </m:sup>
                      </m:sSup>
                      <m:r>
                        <a:rPr lang="es-CL" sz="1400" b="0" i="1" noProof="0" smtClean="0">
                          <a:solidFill>
                            <a:schemeClr val="bg1"/>
                          </a:solidFill>
                          <a:latin typeface="Cambria Math" panose="02040503050406030204" pitchFamily="18" charset="0"/>
                        </a:rPr>
                        <m:t> ,  </m:t>
                      </m:r>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r>
                        <a:rPr lang="es-CL" sz="1400" b="0" i="1" noProof="0" smtClean="0">
                          <a:solidFill>
                            <a:schemeClr val="bg1"/>
                          </a:solidFill>
                          <a:latin typeface="Cambria Math" panose="02040503050406030204" pitchFamily="18" charset="0"/>
                          <a:ea typeface="Cambria Math" panose="02040503050406030204" pitchFamily="18" charset="0"/>
                        </a:rPr>
                        <m:t>=</m:t>
                      </m:r>
                      <m:f>
                        <m:fPr>
                          <m:ctrlPr>
                            <a:rPr lang="es-CL" sz="1400" b="0" i="1" noProof="0" smtClean="0">
                              <a:solidFill>
                                <a:schemeClr val="bg1"/>
                              </a:solidFill>
                              <a:latin typeface="Cambria Math" panose="02040503050406030204" pitchFamily="18" charset="0"/>
                              <a:ea typeface="Cambria Math" panose="02040503050406030204" pitchFamily="18" charset="0"/>
                            </a:rPr>
                          </m:ctrlPr>
                        </m:fPr>
                        <m:num>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𝑞</m:t>
                              </m:r>
                            </m:sub>
                          </m:sSub>
                          <m:r>
                            <a:rPr lang="es-CL" sz="1400" b="0" i="1" noProof="0" smtClean="0">
                              <a:solidFill>
                                <a:schemeClr val="bg1"/>
                              </a:solidFill>
                              <a:latin typeface="Cambria Math" panose="02040503050406030204" pitchFamily="18" charset="0"/>
                              <a:ea typeface="Cambria Math" panose="02040503050406030204" pitchFamily="18" charset="0"/>
                            </a:rPr>
                            <m:t>+1</m:t>
                          </m:r>
                        </m:num>
                        <m:den>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𝑞</m:t>
                              </m:r>
                            </m:sub>
                          </m:sSub>
                        </m:den>
                      </m:f>
                    </m:oMath>
                  </m:oMathPara>
                </a14:m>
                <a:endParaRPr lang="es-CL" sz="1400" noProof="0" dirty="0">
                  <a:solidFill>
                    <a:schemeClr val="bg1"/>
                  </a:solidFill>
                </a:endParaRPr>
              </a:p>
            </p:txBody>
          </p:sp>
        </mc:Choice>
        <mc:Fallback xmlns="">
          <p:sp>
            <p:nvSpPr>
              <p:cNvPr id="18" name="CuadroTexto 17">
                <a:extLst>
                  <a:ext uri="{FF2B5EF4-FFF2-40B4-BE49-F238E27FC236}">
                    <a16:creationId xmlns:a16="http://schemas.microsoft.com/office/drawing/2014/main" id="{469F2D64-B934-94C5-E3AB-43F03CFF1748}"/>
                  </a:ext>
                </a:extLst>
              </p:cNvPr>
              <p:cNvSpPr txBox="1">
                <a:spLocks noRot="1" noChangeAspect="1" noMove="1" noResize="1" noEditPoints="1" noAdjustHandles="1" noChangeArrowheads="1" noChangeShapeType="1" noTextEdit="1"/>
              </p:cNvSpPr>
              <p:nvPr/>
            </p:nvSpPr>
            <p:spPr>
              <a:xfrm>
                <a:off x="6492240" y="2431796"/>
                <a:ext cx="4902432" cy="470193"/>
              </a:xfrm>
              <a:prstGeom prst="rect">
                <a:avLst/>
              </a:prstGeom>
              <a:blipFill>
                <a:blip r:embed="rId6"/>
                <a:stretch>
                  <a:fillRect l="-746" t="-55844" r="-373" b="-63636"/>
                </a:stretch>
              </a:blipFill>
            </p:spPr>
            <p:txBody>
              <a:bodyPr/>
              <a:lstStyle/>
              <a:p>
                <a:r>
                  <a:rPr lang="es-CL">
                    <a:noFill/>
                  </a:rPr>
                  <a:t> </a:t>
                </a:r>
              </a:p>
            </p:txBody>
          </p:sp>
        </mc:Fallback>
      </mc:AlternateContent>
      <p:sp>
        <p:nvSpPr>
          <p:cNvPr id="19" name="Shape 9">
            <a:extLst>
              <a:ext uri="{FF2B5EF4-FFF2-40B4-BE49-F238E27FC236}">
                <a16:creationId xmlns:a16="http://schemas.microsoft.com/office/drawing/2014/main" id="{68A62162-E6DF-2FEF-037F-CCC44922A5C3}"/>
              </a:ext>
            </a:extLst>
          </p:cNvPr>
          <p:cNvSpPr/>
          <p:nvPr/>
        </p:nvSpPr>
        <p:spPr>
          <a:xfrm>
            <a:off x="750498" y="4706228"/>
            <a:ext cx="10953822" cy="1642814"/>
          </a:xfrm>
          <a:prstGeom prst="rect">
            <a:avLst/>
          </a:prstGeom>
          <a:solidFill>
            <a:srgbClr val="4A6FA5"/>
          </a:solidFill>
          <a:ln w="12700">
            <a:solidFill>
              <a:srgbClr val="4A6FA5"/>
            </a:solidFill>
            <a:prstDash val="solid"/>
          </a:ln>
        </p:spPr>
        <p:txBody>
          <a:bodyPr/>
          <a:lstStyle/>
          <a:p>
            <a:endParaRPr lang="es-CL" noProof="0" dirty="0"/>
          </a:p>
        </p:txBody>
      </p:sp>
      <p:sp>
        <p:nvSpPr>
          <p:cNvPr id="20" name="Text 10">
            <a:extLst>
              <a:ext uri="{FF2B5EF4-FFF2-40B4-BE49-F238E27FC236}">
                <a16:creationId xmlns:a16="http://schemas.microsoft.com/office/drawing/2014/main" id="{D3D7E3BA-597C-12BE-2D49-EB650D722C87}"/>
              </a:ext>
            </a:extLst>
          </p:cNvPr>
          <p:cNvSpPr/>
          <p:nvPr/>
        </p:nvSpPr>
        <p:spPr>
          <a:xfrm>
            <a:off x="914400" y="4754880"/>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Absorción Doméstica </a:t>
            </a:r>
            <a:endParaRPr lang="es-CL" sz="2000" noProof="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16A8327C-0602-E6FD-E572-7E5F9CC26100}"/>
                  </a:ext>
                </a:extLst>
              </p:cNvPr>
              <p:cNvSpPr txBox="1"/>
              <p:nvPr/>
            </p:nvSpPr>
            <p:spPr>
              <a:xfrm>
                <a:off x="1026282" y="5304751"/>
                <a:ext cx="5351658" cy="672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𝑇𝐷</m:t>
                          </m:r>
                          <m:r>
                            <a:rPr lang="es-CL" b="0" i="1" noProof="0" smtClean="0">
                              <a:solidFill>
                                <a:schemeClr val="bg1"/>
                              </a:solidFill>
                              <a:latin typeface="Cambria Math" panose="02040503050406030204" pitchFamily="18" charset="0"/>
                            </a:rPr>
                            <m:t>_</m:t>
                          </m:r>
                          <m:r>
                            <a:rPr lang="es-CL" b="0" i="1" noProof="0" smtClean="0">
                              <a:solidFill>
                                <a:schemeClr val="bg1"/>
                              </a:solidFill>
                              <a:latin typeface="Cambria Math" panose="02040503050406030204" pitchFamily="18" charset="0"/>
                            </a:rPr>
                            <m:t>𝐷𝑜𝑚</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𝐷</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𝐺𝐺</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𝐼</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𝑉𝐴𝑅𝐸𝑋𝐼𝑆</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𝑠</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𝑆𝐸𝐶</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𝑋</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𝑠</m:t>
                              </m:r>
                            </m:sup>
                          </m:sSup>
                        </m:e>
                      </m:nary>
                    </m:oMath>
                  </m:oMathPara>
                </a14:m>
                <a:endParaRPr lang="es-CL" noProof="0" dirty="0">
                  <a:solidFill>
                    <a:schemeClr val="bg1"/>
                  </a:solidFill>
                </a:endParaRPr>
              </a:p>
            </p:txBody>
          </p:sp>
        </mc:Choice>
        <mc:Fallback xmlns="">
          <p:sp>
            <p:nvSpPr>
              <p:cNvPr id="21" name="CuadroTexto 20">
                <a:extLst>
                  <a:ext uri="{FF2B5EF4-FFF2-40B4-BE49-F238E27FC236}">
                    <a16:creationId xmlns:a16="http://schemas.microsoft.com/office/drawing/2014/main" id="{16A8327C-0602-E6FD-E572-7E5F9CC26100}"/>
                  </a:ext>
                </a:extLst>
              </p:cNvPr>
              <p:cNvSpPr txBox="1">
                <a:spLocks noRot="1" noChangeAspect="1" noMove="1" noResize="1" noEditPoints="1" noAdjustHandles="1" noChangeArrowheads="1" noChangeShapeType="1" noTextEdit="1"/>
              </p:cNvSpPr>
              <p:nvPr/>
            </p:nvSpPr>
            <p:spPr>
              <a:xfrm>
                <a:off x="1026282" y="5304751"/>
                <a:ext cx="5351658" cy="672492"/>
              </a:xfrm>
              <a:prstGeom prst="rect">
                <a:avLst/>
              </a:prstGeom>
              <a:blipFill>
                <a:blip r:embed="rId7"/>
                <a:stretch>
                  <a:fillRect/>
                </a:stretch>
              </a:blipFill>
            </p:spPr>
            <p:txBody>
              <a:bodyPr/>
              <a:lstStyle/>
              <a:p>
                <a:r>
                  <a:rPr lang="es-CL">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Productos y comercio exterior (2/2)</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Identidades tributarias y vínculo con precios externos.</a:t>
            </a:r>
            <a:endParaRPr lang="es-CL" sz="1300" noProof="0" dirty="0"/>
          </a:p>
        </p:txBody>
      </p:sp>
      <p:sp>
        <p:nvSpPr>
          <p:cNvPr id="7" name="Shape 5"/>
          <p:cNvSpPr/>
          <p:nvPr/>
        </p:nvSpPr>
        <p:spPr>
          <a:xfrm>
            <a:off x="640080" y="155448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9" name="Text 7"/>
          <p:cNvSpPr/>
          <p:nvPr/>
        </p:nvSpPr>
        <p:spPr>
          <a:xfrm>
            <a:off x="868680" y="2194560"/>
            <a:ext cx="10607040" cy="1645920"/>
          </a:xfrm>
          <a:prstGeom prst="rect">
            <a:avLst/>
          </a:prstGeom>
          <a:noFill/>
          <a:ln/>
        </p:spPr>
        <p:txBody>
          <a:bodyPr wrap="square" lIns="0" tIns="0" rIns="0" bIns="0" rtlCol="0" anchor="t"/>
          <a:lstStyle/>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p:txBody>
      </p:sp>
      <p:sp>
        <p:nvSpPr>
          <p:cNvPr id="10" name="Shape 8"/>
          <p:cNvSpPr/>
          <p:nvPr/>
        </p:nvSpPr>
        <p:spPr>
          <a:xfrm>
            <a:off x="640080" y="4114800"/>
            <a:ext cx="11064240" cy="2194560"/>
          </a:xfrm>
          <a:prstGeom prst="rect">
            <a:avLst/>
          </a:prstGeom>
          <a:solidFill>
            <a:srgbClr val="1E2761"/>
          </a:solidFill>
          <a:ln w="12700">
            <a:solidFill>
              <a:srgbClr val="1E2761"/>
            </a:solidFill>
            <a:prstDash val="solid"/>
          </a:ln>
        </p:spPr>
        <p:txBody>
          <a:bodyPr/>
          <a:lstStyle/>
          <a:p>
            <a:endParaRPr lang="es-CL" noProof="0" dirty="0"/>
          </a:p>
        </p:txBody>
      </p:sp>
      <p:sp>
        <p:nvSpPr>
          <p:cNvPr id="11" name="Text 9"/>
          <p:cNvSpPr/>
          <p:nvPr/>
        </p:nvSpPr>
        <p:spPr>
          <a:xfrm>
            <a:off x="868680" y="4251960"/>
            <a:ext cx="10607040" cy="365760"/>
          </a:xfrm>
          <a:prstGeom prst="rect">
            <a:avLst/>
          </a:prstGeom>
          <a:noFill/>
          <a:ln/>
        </p:spPr>
        <p:txBody>
          <a:bodyPr wrap="square" lIns="0" tIns="0" rIns="0" bIns="0" rtlCol="0" anchor="ctr"/>
          <a:lstStyle/>
          <a:p>
            <a:pPr marL="0" indent="0" algn="l">
              <a:buNone/>
            </a:pPr>
            <a:r>
              <a:rPr lang="es-CL" sz="1400" b="1" noProof="0" dirty="0">
                <a:solidFill>
                  <a:srgbClr val="D4A82A"/>
                </a:solidFill>
                <a:latin typeface="Cambria" pitchFamily="34" charset="0"/>
                <a:ea typeface="Cambria" pitchFamily="34" charset="-122"/>
                <a:cs typeface="Cambria" pitchFamily="34" charset="-120"/>
              </a:rPr>
              <a:t>Implicación importante</a:t>
            </a:r>
            <a:endParaRPr lang="es-CL" sz="1400" noProof="0" dirty="0"/>
          </a:p>
        </p:txBody>
      </p:sp>
      <mc:AlternateContent xmlns:mc="http://schemas.openxmlformats.org/markup-compatibility/2006" xmlns:a14="http://schemas.microsoft.com/office/drawing/2010/main">
        <mc:Choice Requires="a14">
          <p:sp>
            <p:nvSpPr>
              <p:cNvPr id="12" name="Text 10"/>
              <p:cNvSpPr/>
              <p:nvPr/>
            </p:nvSpPr>
            <p:spPr>
              <a:xfrm>
                <a:off x="868680" y="4663440"/>
                <a:ext cx="10607040" cy="1554480"/>
              </a:xfrm>
              <a:prstGeom prst="rect">
                <a:avLst/>
              </a:prstGeom>
              <a:noFill/>
              <a:ln/>
            </p:spPr>
            <p:txBody>
              <a:bodyPr wrap="square" lIns="0" tIns="0" rIns="0" bIns="0" rtlCol="0" anchor="t"/>
              <a:lstStyle/>
              <a:p>
                <a:pPr marL="0" indent="0" algn="l">
                  <a:buNone/>
                </a:pPr>
                <a:r>
                  <a:rPr lang="es-CL" sz="1200" noProof="0" dirty="0">
                    <a:solidFill>
                      <a:srgbClr val="FFFFFF"/>
                    </a:solidFill>
                    <a:latin typeface="Calibri" pitchFamily="34" charset="0"/>
                    <a:ea typeface="Calibri" pitchFamily="34" charset="-122"/>
                    <a:cs typeface="Calibri" pitchFamily="34" charset="-120"/>
                  </a:rPr>
                  <a:t>El tipo de cambio real (</a:t>
                </a:r>
                <a:r>
                  <a:rPr lang="es-CL" sz="1200" noProof="0" dirty="0" err="1">
                    <a:solidFill>
                      <a:srgbClr val="FFFFFF"/>
                    </a:solidFill>
                    <a:latin typeface="Calibri" pitchFamily="34" charset="0"/>
                    <a:ea typeface="Calibri" pitchFamily="34" charset="-122"/>
                    <a:cs typeface="Calibri" pitchFamily="34" charset="-120"/>
                  </a:rPr>
                  <a:t>exr</a:t>
                </a:r>
                <a:r>
                  <a:rPr lang="es-CL" sz="1200" noProof="0" dirty="0">
                    <a:solidFill>
                      <a:srgbClr val="FFFFFF"/>
                    </a:solidFill>
                    <a:latin typeface="Calibri" pitchFamily="34" charset="0"/>
                    <a:ea typeface="Calibri" pitchFamily="34" charset="-122"/>
                    <a:cs typeface="Calibri" pitchFamily="34" charset="-120"/>
                  </a:rPr>
                  <a:t>) es </a:t>
                </a:r>
                <a:r>
                  <a:rPr lang="es-CL" sz="1200" b="1" noProof="0" dirty="0">
                    <a:solidFill>
                      <a:srgbClr val="D4A82A"/>
                    </a:solidFill>
                    <a:latin typeface="Calibri" pitchFamily="34" charset="0"/>
                    <a:ea typeface="Calibri" pitchFamily="34" charset="-122"/>
                    <a:cs typeface="Calibri" pitchFamily="34" charset="-120"/>
                  </a:rPr>
                  <a:t>endógeno</a:t>
                </a:r>
                <a:r>
                  <a:rPr lang="es-CL" sz="1200" noProof="0" dirty="0">
                    <a:solidFill>
                      <a:srgbClr val="FFFFFF"/>
                    </a:solidFill>
                    <a:latin typeface="Calibri" pitchFamily="34" charset="0"/>
                    <a:ea typeface="Calibri" pitchFamily="34" charset="-122"/>
                    <a:cs typeface="Calibri" pitchFamily="34" charset="-120"/>
                  </a:rPr>
                  <a:t> en esta versión del modelo. Esto significa que los precios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𝑝𝑚</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importación),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𝑝𝑒</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exportación),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𝑝𝑑</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doméstico) y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compuesto) transmiten el ajuste necesario para compatibilizar el equilibrio comercial con un nivel </a:t>
                </a:r>
                <a:r>
                  <a:rPr lang="es-CL" sz="1200" b="1" noProof="0" dirty="0">
                    <a:solidFill>
                      <a:srgbClr val="D4A82A"/>
                    </a:solidFill>
                    <a:latin typeface="Calibri" pitchFamily="34" charset="0"/>
                    <a:ea typeface="Calibri" pitchFamily="34" charset="-122"/>
                    <a:cs typeface="Calibri" pitchFamily="34" charset="-120"/>
                  </a:rPr>
                  <a:t>fijo de ahorro externo</a:t>
                </a:r>
                <a:r>
                  <a:rPr lang="es-CL" sz="1200" noProof="0" dirty="0">
                    <a:solidFill>
                      <a:srgbClr val="FFFFFF"/>
                    </a:solidFill>
                    <a:latin typeface="Calibri" pitchFamily="34" charset="0"/>
                    <a:ea typeface="Calibri" pitchFamily="34" charset="-122"/>
                    <a:cs typeface="Calibri" pitchFamily="34" charset="-120"/>
                  </a:rPr>
                  <a:t>.</a:t>
                </a:r>
                <a:endParaRPr lang="es-CL" sz="1200" noProof="0" dirty="0"/>
              </a:p>
              <a:p>
                <a:pPr marL="0" indent="0" algn="l">
                  <a:buNone/>
                </a:pPr>
                <a:r>
                  <a:rPr lang="es-CL" sz="600" noProof="0" dirty="0">
                    <a:solidFill>
                      <a:srgbClr val="000000"/>
                    </a:solidFill>
                    <a:latin typeface="Calibri" pitchFamily="34" charset="0"/>
                    <a:ea typeface="Calibri" pitchFamily="34" charset="-122"/>
                    <a:cs typeface="Calibri" pitchFamily="34" charset="-120"/>
                  </a:rPr>
                  <a:t> </a:t>
                </a:r>
                <a:endParaRPr lang="es-CL" sz="1200" noProof="0" dirty="0"/>
              </a:p>
              <a:p>
                <a:pPr marL="0" indent="0" algn="l">
                  <a:buNone/>
                </a:pPr>
                <a:r>
                  <a:rPr lang="es-CL" sz="1200" noProof="0" dirty="0">
                    <a:solidFill>
                      <a:srgbClr val="FFFFFF"/>
                    </a:solidFill>
                    <a:latin typeface="Calibri" pitchFamily="34" charset="0"/>
                    <a:ea typeface="Calibri" pitchFamily="34" charset="-122"/>
                    <a:cs typeface="Calibri" pitchFamily="34" charset="-120"/>
                  </a:rPr>
                  <a:t>Los choques tributarios se absorben vía precios relativos (competitividad y términos de intercambio), no vía financiamiento externo. Esta elección de cierre es decisiva para la lectura de los resultados.</a:t>
                </a:r>
                <a:endParaRPr lang="es-CL" sz="1200" noProof="0" dirty="0"/>
              </a:p>
            </p:txBody>
          </p:sp>
        </mc:Choice>
        <mc:Fallback xmlns="">
          <p:sp>
            <p:nvSpPr>
              <p:cNvPr id="12" name="Text 10"/>
              <p:cNvSpPr>
                <a:spLocks noRot="1" noChangeAspect="1" noMove="1" noResize="1" noEditPoints="1" noAdjustHandles="1" noChangeArrowheads="1" noChangeShapeType="1" noTextEdit="1"/>
              </p:cNvSpPr>
              <p:nvPr/>
            </p:nvSpPr>
            <p:spPr>
              <a:xfrm>
                <a:off x="868680" y="4663440"/>
                <a:ext cx="10607040" cy="1554480"/>
              </a:xfrm>
              <a:prstGeom prst="rect">
                <a:avLst/>
              </a:prstGeom>
              <a:blipFill>
                <a:blip r:embed="rId3"/>
                <a:stretch>
                  <a:fillRect l="-920" t="-3137" r="-977"/>
                </a:stretch>
              </a:blipFill>
              <a:ln/>
            </p:spPr>
            <p:txBody>
              <a:bodyPr/>
              <a:lstStyle/>
              <a:p>
                <a:r>
                  <a:rPr lang="es-CL">
                    <a:noFill/>
                  </a:rPr>
                  <a:t> </a:t>
                </a:r>
              </a:p>
            </p:txBody>
          </p:sp>
        </mc:Fallback>
      </mc:AlternateContent>
      <p:sp>
        <p:nvSpPr>
          <p:cNvPr id="13" name="Text 11"/>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grpSp>
        <p:nvGrpSpPr>
          <p:cNvPr id="17" name="Grupo 16">
            <a:extLst>
              <a:ext uri="{FF2B5EF4-FFF2-40B4-BE49-F238E27FC236}">
                <a16:creationId xmlns:a16="http://schemas.microsoft.com/office/drawing/2014/main" id="{7D937B21-6C08-07EB-AE80-7C06F091F7E0}"/>
              </a:ext>
            </a:extLst>
          </p:cNvPr>
          <p:cNvGrpSpPr/>
          <p:nvPr/>
        </p:nvGrpSpPr>
        <p:grpSpPr>
          <a:xfrm>
            <a:off x="640080" y="1554480"/>
            <a:ext cx="11064240" cy="2286000"/>
            <a:chOff x="640080" y="1554480"/>
            <a:chExt cx="11064240" cy="2286000"/>
          </a:xfrm>
        </p:grpSpPr>
        <p:sp>
          <p:nvSpPr>
            <p:cNvPr id="6" name="Shape 4"/>
            <p:cNvSpPr/>
            <p:nvPr/>
          </p:nvSpPr>
          <p:spPr>
            <a:xfrm>
              <a:off x="640080" y="1554480"/>
              <a:ext cx="11064240" cy="2286000"/>
            </a:xfrm>
            <a:prstGeom prst="rect">
              <a:avLst/>
            </a:prstGeom>
            <a:solidFill>
              <a:srgbClr val="F5F7FA"/>
            </a:solidFill>
            <a:ln w="9525">
              <a:solidFill>
                <a:srgbClr val="E2E8F0"/>
              </a:solidFill>
              <a:prstDash val="solid"/>
            </a:ln>
          </p:spPr>
          <p:txBody>
            <a:bodyPr/>
            <a:lstStyle/>
            <a:p>
              <a:endParaRPr lang="es-CL" noProof="0" dirty="0"/>
            </a:p>
          </p:txBody>
        </p:sp>
        <p:sp>
          <p:nvSpPr>
            <p:cNvPr id="8" name="Text 6"/>
            <p:cNvSpPr/>
            <p:nvPr/>
          </p:nvSpPr>
          <p:spPr>
            <a:xfrm>
              <a:off x="868680" y="1691640"/>
              <a:ext cx="10607040" cy="4114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Recaudación indirecta y vínculo de precios</a:t>
              </a:r>
              <a:endParaRPr lang="es-CL" sz="1600" noProof="0" dirty="0"/>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4B8F725-07F4-B1C1-47C8-0974A1883D56}"/>
                    </a:ext>
                  </a:extLst>
                </p:cNvPr>
                <p:cNvSpPr txBox="1"/>
                <p:nvPr/>
              </p:nvSpPr>
              <p:spPr>
                <a:xfrm>
                  <a:off x="868680" y="2290902"/>
                  <a:ext cx="26266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𝑉𝐴𝑇</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𝑣𝑎𝑡</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𝑇𝐷</m:t>
                            </m:r>
                            <m:r>
                              <a:rPr lang="es-CL" b="0" i="1" noProof="0" smtClean="0">
                                <a:latin typeface="Cambria Math" panose="02040503050406030204" pitchFamily="18" charset="0"/>
                              </a:rPr>
                              <m:t>_</m:t>
                            </m:r>
                            <m:r>
                              <a:rPr lang="es-CL" b="0" i="1" noProof="0" smtClean="0">
                                <a:latin typeface="Cambria Math" panose="02040503050406030204" pitchFamily="18" charset="0"/>
                              </a:rPr>
                              <m:t>𝐷𝑜𝑚</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14" name="CuadroTexto 13">
                  <a:extLst>
                    <a:ext uri="{FF2B5EF4-FFF2-40B4-BE49-F238E27FC236}">
                      <a16:creationId xmlns:a16="http://schemas.microsoft.com/office/drawing/2014/main" id="{E4B8F725-07F4-B1C1-47C8-0974A1883D56}"/>
                    </a:ext>
                  </a:extLst>
                </p:cNvPr>
                <p:cNvSpPr txBox="1">
                  <a:spLocks noRot="1" noChangeAspect="1" noMove="1" noResize="1" noEditPoints="1" noAdjustHandles="1" noChangeArrowheads="1" noChangeShapeType="1" noTextEdit="1"/>
                </p:cNvSpPr>
                <p:nvPr/>
              </p:nvSpPr>
              <p:spPr>
                <a:xfrm>
                  <a:off x="868680" y="2290902"/>
                  <a:ext cx="2626681" cy="276999"/>
                </a:xfrm>
                <a:prstGeom prst="rect">
                  <a:avLst/>
                </a:prstGeom>
                <a:blipFill>
                  <a:blip r:embed="rId4"/>
                  <a:stretch>
                    <a:fillRect l="-1860" r="-465" b="-26667"/>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1210838B-5F17-656A-7595-7E6CFE0760CC}"/>
                    </a:ext>
                  </a:extLst>
                </p:cNvPr>
                <p:cNvSpPr txBox="1"/>
                <p:nvPr/>
              </p:nvSpPr>
              <p:spPr>
                <a:xfrm>
                  <a:off x="868680" y="2636481"/>
                  <a:ext cx="41962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𝐴𝑅𝐴𝑁𝐶𝐸𝐿</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𝑡𝑎𝑟</m:t>
                            </m:r>
                            <m:r>
                              <a:rPr lang="es-CL" b="0" i="1" noProof="0" smtClean="0">
                                <a:latin typeface="Cambria Math" panose="02040503050406030204" pitchFamily="18" charset="0"/>
                              </a:rPr>
                              <m:t>_</m:t>
                            </m:r>
                            <m:r>
                              <a:rPr lang="es-CL" b="0" i="1" noProof="0" smtClean="0">
                                <a:latin typeface="Cambria Math" panose="02040503050406030204" pitchFamily="18" charset="0"/>
                              </a:rPr>
                              <m:t>𝑟𝑎𝑡𝑒</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𝑒𝑥𝑟</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𝑀</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15" name="CuadroTexto 14">
                  <a:extLst>
                    <a:ext uri="{FF2B5EF4-FFF2-40B4-BE49-F238E27FC236}">
                      <a16:creationId xmlns:a16="http://schemas.microsoft.com/office/drawing/2014/main" id="{1210838B-5F17-656A-7595-7E6CFE0760CC}"/>
                    </a:ext>
                  </a:extLst>
                </p:cNvPr>
                <p:cNvSpPr txBox="1">
                  <a:spLocks noRot="1" noChangeAspect="1" noMove="1" noResize="1" noEditPoints="1" noAdjustHandles="1" noChangeArrowheads="1" noChangeShapeType="1" noTextEdit="1"/>
                </p:cNvSpPr>
                <p:nvPr/>
              </p:nvSpPr>
              <p:spPr>
                <a:xfrm>
                  <a:off x="868680" y="2636481"/>
                  <a:ext cx="4196277" cy="276999"/>
                </a:xfrm>
                <a:prstGeom prst="rect">
                  <a:avLst/>
                </a:prstGeom>
                <a:blipFill>
                  <a:blip r:embed="rId5"/>
                  <a:stretch>
                    <a:fillRect l="-872" t="-2174" b="-32609"/>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BB9A514-65DB-4FBF-5B76-DD85116D3CED}"/>
                    </a:ext>
                  </a:extLst>
                </p:cNvPr>
                <p:cNvSpPr txBox="1"/>
                <p:nvPr/>
              </p:nvSpPr>
              <p:spPr>
                <a:xfrm>
                  <a:off x="822960" y="2982060"/>
                  <a:ext cx="65218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𝑝𝑚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𝑒𝑥𝑟</m:t>
                        </m:r>
                        <m:d>
                          <m:dPr>
                            <m:ctrlPr>
                              <a:rPr lang="es-CL" b="0" i="1" noProof="0" smtClean="0">
                                <a:latin typeface="Cambria Math" panose="02040503050406030204" pitchFamily="18" charset="0"/>
                              </a:rPr>
                            </m:ctrlPr>
                          </m:dPr>
                          <m:e>
                            <m:r>
                              <a:rPr lang="es-CL" b="0" i="1" noProof="0" smtClean="0">
                                <a:latin typeface="Cambria Math" panose="02040503050406030204" pitchFamily="18" charset="0"/>
                              </a:rPr>
                              <m:t>1+</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𝑡𝑎𝑥</m:t>
                                </m:r>
                                <m:r>
                                  <a:rPr lang="es-CL" b="0" i="1" noProof="0" smtClean="0">
                                    <a:latin typeface="Cambria Math" panose="02040503050406030204" pitchFamily="18" charset="0"/>
                                  </a:rPr>
                                  <m:t>_</m:t>
                                </m:r>
                                <m:r>
                                  <a:rPr lang="es-CL" b="0" i="1" noProof="0" smtClean="0">
                                    <a:latin typeface="Cambria Math" panose="02040503050406030204" pitchFamily="18" charset="0"/>
                                  </a:rPr>
                                  <m:t>𝑟𝑎𝑡𝑒</m:t>
                                </m:r>
                              </m:e>
                              <m:sup>
                                <m:r>
                                  <a:rPr lang="es-CL" b="0" i="1" noProof="0" smtClean="0">
                                    <a:latin typeface="Cambria Math" panose="02040503050406030204" pitchFamily="18" charset="0"/>
                                  </a:rPr>
                                  <m:t>𝑝</m:t>
                                </m:r>
                              </m:sup>
                            </m:sSup>
                          </m:e>
                        </m:d>
                        <m:r>
                          <a:rPr lang="es-CL" b="0" i="1" noProof="0" smtClean="0">
                            <a:latin typeface="Cambria Math" panose="02040503050406030204" pitchFamily="18" charset="0"/>
                          </a:rPr>
                          <m:t> ,     </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𝑝𝑒</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𝑝𝑤𝑜𝑟𝑙𝑑𝑒</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𝑒𝑥𝑟</m:t>
                        </m:r>
                      </m:oMath>
                    </m:oMathPara>
                  </a14:m>
                  <a:endParaRPr lang="es-CL" noProof="0" dirty="0"/>
                </a:p>
              </p:txBody>
            </p:sp>
          </mc:Choice>
          <mc:Fallback xmlns="">
            <p:sp>
              <p:nvSpPr>
                <p:cNvPr id="16" name="CuadroTexto 15">
                  <a:extLst>
                    <a:ext uri="{FF2B5EF4-FFF2-40B4-BE49-F238E27FC236}">
                      <a16:creationId xmlns:a16="http://schemas.microsoft.com/office/drawing/2014/main" id="{9BB9A514-65DB-4FBF-5B76-DD85116D3CED}"/>
                    </a:ext>
                  </a:extLst>
                </p:cNvPr>
                <p:cNvSpPr txBox="1">
                  <a:spLocks noRot="1" noChangeAspect="1" noMove="1" noResize="1" noEditPoints="1" noAdjustHandles="1" noChangeArrowheads="1" noChangeShapeType="1" noTextEdit="1"/>
                </p:cNvSpPr>
                <p:nvPr/>
              </p:nvSpPr>
              <p:spPr>
                <a:xfrm>
                  <a:off x="822960" y="2982060"/>
                  <a:ext cx="6521850" cy="276999"/>
                </a:xfrm>
                <a:prstGeom prst="rect">
                  <a:avLst/>
                </a:prstGeom>
                <a:blipFill>
                  <a:blip r:embed="rId6"/>
                  <a:stretch>
                    <a:fillRect l="-467" t="-2174" r="-93" b="-32609"/>
                  </a:stretch>
                </a:blipFill>
              </p:spPr>
              <p:txBody>
                <a:bodyPr/>
                <a:lstStyle/>
                <a:p>
                  <a:r>
                    <a:rPr lang="es-CL">
                      <a:noFill/>
                    </a:rPr>
                    <a:t> </a:t>
                  </a:r>
                </a:p>
              </p:txBody>
            </p:sp>
          </mc:Fallback>
        </mc:AlternateContent>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2046</TotalTime>
  <Words>3712</Words>
  <Application>Microsoft Office PowerPoint</Application>
  <PresentationFormat>Panorámica</PresentationFormat>
  <Paragraphs>493</Paragraphs>
  <Slides>24</Slides>
  <Notes>24</Notes>
  <HiddenSlides>2</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Arial</vt:lpstr>
      <vt:lpstr>Calibri</vt:lpstr>
      <vt:lpstr>Cambria</vt:lpstr>
      <vt:lpstr>Cambria Math</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MEGC de 12 sectores para Chile</dc:title>
  <dc:subject>PptxGenJS Presentation</dc:subject>
  <dc:creator>Departamento de Estudios Económicos y Tributarios, SII</dc:creator>
  <cp:lastModifiedBy>Francisco Javier Henriquez Palacios</cp:lastModifiedBy>
  <cp:revision>82</cp:revision>
  <cp:lastPrinted>2026-06-15T19:27:08Z</cp:lastPrinted>
  <dcterms:created xsi:type="dcterms:W3CDTF">2026-05-27T16:46:57Z</dcterms:created>
  <dcterms:modified xsi:type="dcterms:W3CDTF">2026-07-23T12:28:29Z</dcterms:modified>
</cp:coreProperties>
</file>