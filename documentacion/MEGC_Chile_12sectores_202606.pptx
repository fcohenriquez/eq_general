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1.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81" r:id="rId9"/>
    <p:sldId id="279"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6" r:id="rId23"/>
    <p:sldId id="277" r:id="rId24"/>
    <p:sldId id="278" r:id="rId25"/>
  </p:sldIdLst>
  <p:sldSz cx="12192000" cy="6858000"/>
  <p:notesSz cx="7010400" cy="9296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43" autoAdjust="0"/>
    <p:restoredTop sz="94610"/>
  </p:normalViewPr>
  <p:slideViewPr>
    <p:cSldViewPr snapToGrid="0" snapToObjects="1">
      <p:cViewPr varScale="1">
        <p:scale>
          <a:sx n="104" d="100"/>
          <a:sy n="104" d="100"/>
        </p:scale>
        <p:origin x="582"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200" b="0" i="0" u="none" strike="noStrike">
                <a:solidFill>
                  <a:srgbClr val="1E2761"/>
                </a:solidFill>
                <a:latin typeface="Arial"/>
              </a:defRPr>
            </a:pPr>
            <a:r>
              <a:rPr lang="es-CL" sz="1200" b="0" i="0" u="none" strike="noStrike">
                <a:solidFill>
                  <a:srgbClr val="1E2761"/>
                </a:solidFill>
                <a:latin typeface="Arial"/>
              </a:rPr>
              <a:t>Variación % en variables reales por shock</a:t>
            </a:r>
          </a:p>
        </c:rich>
      </c:tx>
      <c:overlay val="0"/>
    </c:title>
    <c:autoTitleDeleted val="0"/>
    <c:plotArea>
      <c:layout/>
      <c:barChart>
        <c:barDir val="col"/>
        <c:grouping val="clustered"/>
        <c:varyColors val="0"/>
        <c:ser>
          <c:idx val="0"/>
          <c:order val="0"/>
          <c:tx>
            <c:strRef>
              <c:f>Sheet1!$B$1</c:f>
              <c:strCache>
                <c:ptCount val="1"/>
                <c:pt idx="0">
                  <c:v>IVA (+1%)</c:v>
                </c:pt>
              </c:strCache>
            </c:strRef>
          </c:tx>
          <c:spPr>
            <a:solidFill>
              <a:srgbClr val="C2562E"/>
            </a:solidFill>
            <a:effectLst/>
          </c:spPr>
          <c:invertIfNegative val="0"/>
          <c:cat>
            <c:strRef>
              <c:f>Sheet1!$A$2:$A$6</c:f>
              <c:strCache>
                <c:ptCount val="5"/>
                <c:pt idx="0">
                  <c:v>PIB real</c:v>
                </c:pt>
                <c:pt idx="1">
                  <c:v>Consumo</c:v>
                </c:pt>
                <c:pt idx="2">
                  <c:v>Inversión</c:v>
                </c:pt>
                <c:pt idx="3">
                  <c:v>Exportaciones</c:v>
                </c:pt>
                <c:pt idx="4">
                  <c:v>Importaciones</c:v>
                </c:pt>
              </c:strCache>
            </c:strRef>
          </c:cat>
          <c:val>
            <c:numRef>
              <c:f>Sheet1!$B$2:$B$6</c:f>
              <c:numCache>
                <c:formatCode>General</c:formatCode>
                <c:ptCount val="5"/>
                <c:pt idx="0">
                  <c:v>-0.1176</c:v>
                </c:pt>
                <c:pt idx="1">
                  <c:v>-0.13850000000000001</c:v>
                </c:pt>
                <c:pt idx="2">
                  <c:v>-7.1300000000000002E-2</c:v>
                </c:pt>
                <c:pt idx="3">
                  <c:v>-0.14410000000000001</c:v>
                </c:pt>
                <c:pt idx="4">
                  <c:v>-9.3399999999999997E-2</c:v>
                </c:pt>
              </c:numCache>
            </c:numRef>
          </c:val>
          <c:extLst>
            <c:ext xmlns:c16="http://schemas.microsoft.com/office/drawing/2014/chart" uri="{C3380CC4-5D6E-409C-BE32-E72D297353CC}">
              <c16:uniqueId val="{00000000-F739-4A94-B427-EB16D2DC60EA}"/>
            </c:ext>
          </c:extLst>
        </c:ser>
        <c:ser>
          <c:idx val="1"/>
          <c:order val="1"/>
          <c:tx>
            <c:strRef>
              <c:f>Sheet1!$C$1</c:f>
              <c:strCache>
                <c:ptCount val="1"/>
                <c:pt idx="0">
                  <c:v>PIT (+10%)</c:v>
                </c:pt>
              </c:strCache>
            </c:strRef>
          </c:tx>
          <c:spPr>
            <a:solidFill>
              <a:srgbClr val="1E2761"/>
            </a:solidFill>
            <a:effectLst/>
          </c:spPr>
          <c:invertIfNegative val="0"/>
          <c:cat>
            <c:strRef>
              <c:f>Sheet1!$A$2:$A$6</c:f>
              <c:strCache>
                <c:ptCount val="5"/>
                <c:pt idx="0">
                  <c:v>PIB real</c:v>
                </c:pt>
                <c:pt idx="1">
                  <c:v>Consumo</c:v>
                </c:pt>
                <c:pt idx="2">
                  <c:v>Inversión</c:v>
                </c:pt>
                <c:pt idx="3">
                  <c:v>Exportaciones</c:v>
                </c:pt>
                <c:pt idx="4">
                  <c:v>Importaciones</c:v>
                </c:pt>
              </c:strCache>
            </c:strRef>
          </c:cat>
          <c:val>
            <c:numRef>
              <c:f>Sheet1!$C$2:$C$6</c:f>
              <c:numCache>
                <c:formatCode>General</c:formatCode>
                <c:ptCount val="5"/>
                <c:pt idx="0">
                  <c:v>-0.38890000000000002</c:v>
                </c:pt>
                <c:pt idx="1">
                  <c:v>-0.52580000000000005</c:v>
                </c:pt>
                <c:pt idx="2">
                  <c:v>-0.1676</c:v>
                </c:pt>
                <c:pt idx="3">
                  <c:v>-0.2223</c:v>
                </c:pt>
                <c:pt idx="4">
                  <c:v>-0.12839999999999999</c:v>
                </c:pt>
              </c:numCache>
            </c:numRef>
          </c:val>
          <c:extLst>
            <c:ext xmlns:c16="http://schemas.microsoft.com/office/drawing/2014/chart" uri="{C3380CC4-5D6E-409C-BE32-E72D297353CC}">
              <c16:uniqueId val="{00000001-F739-4A94-B427-EB16D2DC60EA}"/>
            </c:ext>
          </c:extLst>
        </c:ser>
        <c:ser>
          <c:idx val="2"/>
          <c:order val="2"/>
          <c:tx>
            <c:strRef>
              <c:f>Sheet1!$D$1</c:f>
              <c:strCache>
                <c:ptCount val="1"/>
                <c:pt idx="0">
                  <c:v>IDPC (−1%)</c:v>
                </c:pt>
              </c:strCache>
            </c:strRef>
          </c:tx>
          <c:spPr>
            <a:solidFill>
              <a:srgbClr val="2F7D58"/>
            </a:solidFill>
            <a:effectLst/>
          </c:spPr>
          <c:invertIfNegative val="0"/>
          <c:cat>
            <c:strRef>
              <c:f>Sheet1!$A$2:$A$6</c:f>
              <c:strCache>
                <c:ptCount val="5"/>
                <c:pt idx="0">
                  <c:v>PIB real</c:v>
                </c:pt>
                <c:pt idx="1">
                  <c:v>Consumo</c:v>
                </c:pt>
                <c:pt idx="2">
                  <c:v>Inversión</c:v>
                </c:pt>
                <c:pt idx="3">
                  <c:v>Exportaciones</c:v>
                </c:pt>
                <c:pt idx="4">
                  <c:v>Importaciones</c:v>
                </c:pt>
              </c:strCache>
            </c:strRef>
          </c:cat>
          <c:val>
            <c:numRef>
              <c:f>Sheet1!$D$2:$D$6</c:f>
              <c:numCache>
                <c:formatCode>General</c:formatCode>
                <c:ptCount val="5"/>
                <c:pt idx="0">
                  <c:v>0.1454</c:v>
                </c:pt>
                <c:pt idx="1">
                  <c:v>9.7500000000000003E-2</c:v>
                </c:pt>
                <c:pt idx="2">
                  <c:v>0.37919999999999998</c:v>
                </c:pt>
                <c:pt idx="3">
                  <c:v>5.4600000000000003E-2</c:v>
                </c:pt>
                <c:pt idx="4">
                  <c:v>7.6600000000000001E-2</c:v>
                </c:pt>
              </c:numCache>
            </c:numRef>
          </c:val>
          <c:extLst>
            <c:ext xmlns:c16="http://schemas.microsoft.com/office/drawing/2014/chart" uri="{C3380CC4-5D6E-409C-BE32-E72D297353CC}">
              <c16:uniqueId val="{00000002-F739-4A94-B427-EB16D2DC60EA}"/>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D374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2D374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59708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DAC9C-F613-FFB7-D23D-268B1DD19C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D3222D-4682-1C04-1D2B-A866C30AB9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7D5A64-C95E-7E77-D3FA-5EA743294F3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E0A9888-6D5A-6B45-DA0A-CBF5AA9B84FE}"/>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362913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49729-162A-F7D4-414D-5D824099F2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333378-3FEA-FF2F-5BA4-3ABCB637CF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38E66E-452C-80FB-026E-5E6826866A5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569386D-410C-EFC2-DD80-BA4DCAE3E45F}"/>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0774068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s-CL" b="1" dirty="0"/>
                  <a:t>1. Elasticidad de sustitución constante (y parametrizable)</a:t>
                </a:r>
              </a:p>
              <a:p>
                <a:r>
                  <a:rPr lang="es-CL" dirty="0"/>
                  <a:t>La elasticidad de sustitución entre cualquier par de bienes es constante e igual a σ = 1/(1−ρ), donde ρ es el parámetro de sustitución. Esto permite calibrar directamente el grado de complementariedad o sustituibilidad a partir de datos empíricos, algo muy útil en modelos CGE.</a:t>
                </a:r>
              </a:p>
              <a:p>
                <a:r>
                  <a:rPr lang="es-CL" b="1" dirty="0"/>
                  <a:t>2. Generalidad: engloba casos límite importantes</a:t>
                </a:r>
              </a:p>
              <a:p>
                <a:r>
                  <a:rPr lang="es-CL" dirty="0"/>
                  <a:t>Variando σ (o ρ), la CES anida formas funcionales clásicas:</a:t>
                </a:r>
              </a:p>
              <a:p>
                <a:r>
                  <a:rPr lang="es-CL" dirty="0" err="1"/>
                  <a:t>σρForma</a:t>
                </a:r>
                <a:r>
                  <a:rPr lang="es-CL" dirty="0"/>
                  <a:t> resultante→ 0→ −∞</a:t>
                </a:r>
                <a:r>
                  <a:rPr lang="es-CL" dirty="0" err="1"/>
                  <a:t>Leontief</a:t>
                </a:r>
                <a:r>
                  <a:rPr lang="es-CL" dirty="0"/>
                  <a:t> (complementos perfectos)= 1→ 0Cobb-Douglas→ ∞→ 1Lineal (sustitutos perfectos)</a:t>
                </a:r>
              </a:p>
              <a:p>
                <a:r>
                  <a:rPr lang="es-CL" dirty="0"/>
                  <a:t>Esta anidación la convierte en una familia flexible que permite testear hipótesis sobre preferencias simplemente ajustando un parámetro.</a:t>
                </a:r>
              </a:p>
              <a:p>
                <a:r>
                  <a:rPr lang="es-CL" b="1" dirty="0"/>
                  <a:t>3. Homotecia</a:t>
                </a:r>
              </a:p>
              <a:p>
                <a:r>
                  <a:rPr lang="es-CL" dirty="0"/>
                  <a:t>La CES es homotética: las curvas de indiferencia son expansiones radiales unas de otras. Esto implica que las participaciones del gasto en cada bien no dependen del nivel de ingreso, solo de los precios relativos, lo que simplifica enormemente la demanda </a:t>
                </a:r>
                <a:r>
                  <a:rPr lang="es-CL" dirty="0" err="1"/>
                  <a:t>marshalliana</a:t>
                </a:r>
                <a:r>
                  <a:rPr lang="es-CL" dirty="0"/>
                  <a:t> y permite separar efectos precio de efectos ingreso de forma limpia.</a:t>
                </a:r>
              </a:p>
              <a:p>
                <a:r>
                  <a:rPr lang="es-CL" b="1" dirty="0"/>
                  <a:t>4. Regularidad (satisface los axiomas de preferencias)</a:t>
                </a:r>
              </a:p>
              <a:p>
                <a:r>
                  <a:rPr lang="es-CL" dirty="0"/>
                  <a:t>Bajo condiciones estándar (ρ &lt; 1, participaciones positivas), la CES es:</a:t>
                </a:r>
              </a:p>
              <a:p>
                <a:r>
                  <a:rPr lang="es-CL" b="1" dirty="0"/>
                  <a:t>Monótona creciente</a:t>
                </a:r>
                <a:r>
                  <a:rPr lang="es-CL" dirty="0"/>
                  <a:t> en todos los bienes</a:t>
                </a:r>
              </a:p>
              <a:p>
                <a:r>
                  <a:rPr lang="es-CL" b="1" dirty="0" err="1"/>
                  <a:t>Cuasi-cóncava</a:t>
                </a:r>
                <a:r>
                  <a:rPr lang="es-CL" dirty="0"/>
                  <a:t> → las curvas de indiferencia son convexas al origen</a:t>
                </a:r>
              </a:p>
              <a:p>
                <a:r>
                  <a:rPr lang="es-CL" b="1" dirty="0"/>
                  <a:t>Continua y diferenciable</a:t>
                </a:r>
                <a:r>
                  <a:rPr lang="es-CL" dirty="0"/>
                  <a:t> → permite aplicar cálculo para obtener demandas óptimas</a:t>
                </a:r>
              </a:p>
              <a:p>
                <a:r>
                  <a:rPr lang="es-CL" b="1" dirty="0"/>
                  <a:t>5. Demandas </a:t>
                </a:r>
                <a:r>
                  <a:rPr lang="es-CL" b="1" dirty="0" err="1"/>
                  <a:t>marshallianas</a:t>
                </a:r>
                <a:r>
                  <a:rPr lang="es-CL" b="1" dirty="0"/>
                  <a:t> cerradas y elegantes</a:t>
                </a:r>
              </a:p>
              <a:p>
                <a:r>
                  <a:rPr lang="es-CL" dirty="0"/>
                  <a:t>La maximización de utilidad CES sujeta a una restricción presupuestaria produce demandas de la forma:</a:t>
                </a:r>
              </a:p>
              <a:p>
                <a:pPr/>
                <a14:m>
                  <m:oMathPara xmlns:m="http://schemas.openxmlformats.org/officeDocument/2006/math">
                    <m:oMathParaPr>
                      <m:jc m:val="centerGroup"/>
                    </m:oMathParaPr>
                    <m:oMath xmlns:m="http://schemas.openxmlformats.org/officeDocument/2006/math">
                      <m:sSub>
                        <m:sSubPr>
                          <m:ctrlPr>
                            <a:rPr lang="es-CL" sz="1200" i="1" kern="1200">
                              <a:solidFill>
                                <a:schemeClr val="tx1"/>
                              </a:solidFill>
                              <a:latin typeface="Cambria Math" panose="02040503050406030204" pitchFamily="18" charset="0"/>
                              <a:ea typeface="+mn-ea"/>
                              <a:cs typeface="+mn-cs"/>
                            </a:rPr>
                          </m:ctrlPr>
                        </m:sSubPr>
                        <m:e>
                          <m:r>
                            <a:rPr lang="es-CL" sz="1200" i="1" kern="1200">
                              <a:solidFill>
                                <a:schemeClr val="tx1"/>
                              </a:solidFill>
                              <a:latin typeface="Cambria Math" panose="02040503050406030204" pitchFamily="18" charset="0"/>
                              <a:ea typeface="+mn-ea"/>
                              <a:cs typeface="+mn-cs"/>
                            </a:rPr>
                            <m:t>𝑥</m:t>
                          </m:r>
                        </m:e>
                        <m:sub>
                          <m:r>
                            <a:rPr lang="es-CL" sz="1200" i="1" kern="1200">
                              <a:solidFill>
                                <a:schemeClr val="tx1"/>
                              </a:solidFill>
                              <a:latin typeface="Cambria Math" panose="02040503050406030204" pitchFamily="18" charset="0"/>
                              <a:ea typeface="+mn-ea"/>
                              <a:cs typeface="+mn-cs"/>
                            </a:rPr>
                            <m:t>𝑖</m:t>
                          </m:r>
                        </m:sub>
                      </m:sSub>
                      <m:r>
                        <a:rPr lang="es-CL" sz="1200" i="0" kern="1200">
                          <a:solidFill>
                            <a:schemeClr val="tx1"/>
                          </a:solidFill>
                          <a:latin typeface="Cambria Math" panose="02040503050406030204" pitchFamily="18" charset="0"/>
                          <a:ea typeface="+mn-ea"/>
                          <a:cs typeface="+mn-cs"/>
                        </a:rPr>
                        <m:t>=</m:t>
                      </m:r>
                      <m:f>
                        <m:fPr>
                          <m:ctrlPr>
                            <a:rPr lang="es-CL" sz="1200" i="1" kern="1200">
                              <a:solidFill>
                                <a:schemeClr val="tx1"/>
                              </a:solidFill>
                              <a:latin typeface="Cambria Math" panose="02040503050406030204" pitchFamily="18" charset="0"/>
                              <a:ea typeface="+mn-ea"/>
                              <a:cs typeface="+mn-cs"/>
                            </a:rPr>
                          </m:ctrlPr>
                        </m:fPr>
                        <m:num>
                          <m:sSubSup>
                            <m:sSubSupPr>
                              <m:ctrlPr>
                                <a:rPr lang="es-CL" sz="1200" i="1" kern="1200">
                                  <a:solidFill>
                                    <a:schemeClr val="tx1"/>
                                  </a:solidFill>
                                  <a:latin typeface="Cambria Math" panose="02040503050406030204" pitchFamily="18" charset="0"/>
                                  <a:ea typeface="+mn-ea"/>
                                  <a:cs typeface="+mn-cs"/>
                                </a:rPr>
                              </m:ctrlPr>
                            </m:sSubSupPr>
                            <m:e>
                              <m:r>
                                <a:rPr lang="es-CL" sz="1200" i="1" kern="1200">
                                  <a:solidFill>
                                    <a:schemeClr val="tx1"/>
                                  </a:solidFill>
                                  <a:latin typeface="Cambria Math" panose="02040503050406030204" pitchFamily="18" charset="0"/>
                                  <a:ea typeface="+mn-ea"/>
                                  <a:cs typeface="+mn-cs"/>
                                </a:rPr>
                                <m:t>𝛼</m:t>
                              </m:r>
                            </m:e>
                            <m:sub>
                              <m:r>
                                <a:rPr lang="es-CL" sz="1200" i="1" kern="1200">
                                  <a:solidFill>
                                    <a:schemeClr val="tx1"/>
                                  </a:solidFill>
                                  <a:latin typeface="Cambria Math" panose="02040503050406030204" pitchFamily="18" charset="0"/>
                                  <a:ea typeface="+mn-ea"/>
                                  <a:cs typeface="+mn-cs"/>
                                </a:rPr>
                                <m:t>𝑖</m:t>
                              </m:r>
                            </m:sub>
                            <m:sup>
                              <m:r>
                                <a:rPr lang="es-CL" sz="1200" i="1" kern="1200">
                                  <a:solidFill>
                                    <a:schemeClr val="tx1"/>
                                  </a:solidFill>
                                  <a:latin typeface="Cambria Math" panose="02040503050406030204" pitchFamily="18" charset="0"/>
                                  <a:ea typeface="+mn-ea"/>
                                  <a:cs typeface="+mn-cs"/>
                                </a:rPr>
                                <m:t>𝜎</m:t>
                              </m:r>
                            </m:sup>
                          </m:sSubSup>
                          <m:r>
                            <m:rPr>
                              <m:nor/>
                            </m:rPr>
                            <a:rPr lang="es-CL" sz="1200" b="0" i="1" kern="1200">
                              <a:solidFill>
                                <a:schemeClr val="tx1"/>
                              </a:solidFill>
                              <a:latin typeface="+mn-lt"/>
                              <a:ea typeface="+mn-ea"/>
                              <a:cs typeface="+mn-cs"/>
                            </a:rPr>
                            <m:t> </m:t>
                          </m:r>
                          <m:sSubSup>
                            <m:sSubSupPr>
                              <m:ctrlPr>
                                <a:rPr lang="es-CL" sz="1200" b="0" i="1" kern="1200">
                                  <a:solidFill>
                                    <a:schemeClr val="tx1"/>
                                  </a:solidFill>
                                  <a:latin typeface="Cambria Math" panose="02040503050406030204" pitchFamily="18" charset="0"/>
                                  <a:ea typeface="+mn-ea"/>
                                  <a:cs typeface="+mn-cs"/>
                                </a:rPr>
                              </m:ctrlPr>
                            </m:sSubSupPr>
                            <m:e>
                              <m:r>
                                <a:rPr lang="es-CL" sz="1200" b="0" i="1" kern="1200">
                                  <a:solidFill>
                                    <a:schemeClr val="tx1"/>
                                  </a:solidFill>
                                  <a:latin typeface="Cambria Math" panose="02040503050406030204" pitchFamily="18" charset="0"/>
                                  <a:ea typeface="+mn-ea"/>
                                  <a:cs typeface="+mn-cs"/>
                                </a:rPr>
                                <m:t>𝑝</m:t>
                              </m:r>
                            </m:e>
                            <m:sub>
                              <m:r>
                                <a:rPr lang="es-CL" sz="1200" b="0" i="1" kern="1200">
                                  <a:solidFill>
                                    <a:schemeClr val="tx1"/>
                                  </a:solidFill>
                                  <a:latin typeface="Cambria Math" panose="02040503050406030204" pitchFamily="18" charset="0"/>
                                  <a:ea typeface="+mn-ea"/>
                                  <a:cs typeface="+mn-cs"/>
                                </a:rPr>
                                <m:t>𝑖</m:t>
                              </m:r>
                            </m:sub>
                            <m:sup>
                              <m:r>
                                <a:rPr lang="es-CL" sz="1200" b="0" i="0" kern="1200">
                                  <a:solidFill>
                                    <a:schemeClr val="tx1"/>
                                  </a:solidFill>
                                  <a:latin typeface="Cambria Math" panose="02040503050406030204" pitchFamily="18" charset="0"/>
                                  <a:ea typeface="+mn-ea"/>
                                  <a:cs typeface="+mn-cs"/>
                                </a:rPr>
                                <m:t>−</m:t>
                              </m:r>
                              <m:r>
                                <a:rPr lang="es-CL" sz="1200" b="0" i="1" kern="1200">
                                  <a:solidFill>
                                    <a:schemeClr val="tx1"/>
                                  </a:solidFill>
                                  <a:latin typeface="Cambria Math" panose="02040503050406030204" pitchFamily="18" charset="0"/>
                                  <a:ea typeface="+mn-ea"/>
                                  <a:cs typeface="+mn-cs"/>
                                </a:rPr>
                                <m:t>𝜎</m:t>
                              </m:r>
                            </m:sup>
                          </m:sSubSup>
                        </m:num>
                        <m:den>
                          <m:nary>
                            <m:naryPr>
                              <m:chr m:val="∑"/>
                              <m:grow m:val="on"/>
                              <m:supHide m:val="on"/>
                              <m:ctrlPr>
                                <a:rPr lang="es-CL" sz="1200" b="0" i="1" kern="1200">
                                  <a:solidFill>
                                    <a:schemeClr val="tx1"/>
                                  </a:solidFill>
                                  <a:latin typeface="Cambria Math" panose="02040503050406030204" pitchFamily="18" charset="0"/>
                                  <a:ea typeface="+mn-ea"/>
                                  <a:cs typeface="+mn-cs"/>
                                </a:rPr>
                              </m:ctrlPr>
                            </m:naryPr>
                            <m:sub>
                              <m:r>
                                <a:rPr lang="es-CL" sz="1200" b="0" i="1" kern="1200">
                                  <a:solidFill>
                                    <a:schemeClr val="tx1"/>
                                  </a:solidFill>
                                  <a:latin typeface="Cambria Math" panose="02040503050406030204" pitchFamily="18" charset="0"/>
                                  <a:ea typeface="+mn-ea"/>
                                  <a:cs typeface="+mn-cs"/>
                                </a:rPr>
                                <m:t>𝑗</m:t>
                              </m:r>
                            </m:sub>
                            <m:sup/>
                            <m:e>
                              <m:sSubSup>
                                <m:sSubSupPr>
                                  <m:ctrlPr>
                                    <a:rPr lang="es-CL" sz="1200" b="0" i="1" kern="1200">
                                      <a:solidFill>
                                        <a:schemeClr val="tx1"/>
                                      </a:solidFill>
                                      <a:latin typeface="Cambria Math" panose="02040503050406030204" pitchFamily="18" charset="0"/>
                                      <a:ea typeface="+mn-ea"/>
                                      <a:cs typeface="+mn-cs"/>
                                    </a:rPr>
                                  </m:ctrlPr>
                                </m:sSubSupPr>
                                <m:e>
                                  <m:r>
                                    <a:rPr lang="es-CL" sz="1200" b="0" i="1" kern="1200">
                                      <a:solidFill>
                                        <a:schemeClr val="tx1"/>
                                      </a:solidFill>
                                      <a:latin typeface="Cambria Math" panose="02040503050406030204" pitchFamily="18" charset="0"/>
                                      <a:ea typeface="+mn-ea"/>
                                      <a:cs typeface="+mn-cs"/>
                                    </a:rPr>
                                    <m:t>𝛼</m:t>
                                  </m:r>
                                </m:e>
                                <m:sub>
                                  <m:r>
                                    <a:rPr lang="es-CL" sz="1200" b="0" i="1" kern="1200">
                                      <a:solidFill>
                                        <a:schemeClr val="tx1"/>
                                      </a:solidFill>
                                      <a:latin typeface="Cambria Math" panose="02040503050406030204" pitchFamily="18" charset="0"/>
                                      <a:ea typeface="+mn-ea"/>
                                      <a:cs typeface="+mn-cs"/>
                                    </a:rPr>
                                    <m:t>𝑗</m:t>
                                  </m:r>
                                </m:sub>
                                <m:sup>
                                  <m:r>
                                    <a:rPr lang="es-CL" sz="1200" b="0" i="1" kern="1200">
                                      <a:solidFill>
                                        <a:schemeClr val="tx1"/>
                                      </a:solidFill>
                                      <a:latin typeface="Cambria Math" panose="02040503050406030204" pitchFamily="18" charset="0"/>
                                      <a:ea typeface="+mn-ea"/>
                                      <a:cs typeface="+mn-cs"/>
                                    </a:rPr>
                                    <m:t>𝜎</m:t>
                                  </m:r>
                                </m:sup>
                              </m:sSubSup>
                            </m:e>
                          </m:nary>
                          <m:r>
                            <m:rPr>
                              <m:nor/>
                            </m:rPr>
                            <a:rPr lang="es-CL" sz="1200" b="0" i="1" kern="1200">
                              <a:solidFill>
                                <a:schemeClr val="tx1"/>
                              </a:solidFill>
                              <a:latin typeface="+mn-lt"/>
                              <a:ea typeface="+mn-ea"/>
                              <a:cs typeface="+mn-cs"/>
                            </a:rPr>
                            <m:t> </m:t>
                          </m:r>
                          <m:sSubSup>
                            <m:sSubSupPr>
                              <m:ctrlPr>
                                <a:rPr lang="es-CL" sz="1200" b="0" i="1" kern="1200">
                                  <a:solidFill>
                                    <a:schemeClr val="tx1"/>
                                  </a:solidFill>
                                  <a:latin typeface="Cambria Math" panose="02040503050406030204" pitchFamily="18" charset="0"/>
                                  <a:ea typeface="+mn-ea"/>
                                  <a:cs typeface="+mn-cs"/>
                                </a:rPr>
                              </m:ctrlPr>
                            </m:sSubSupPr>
                            <m:e>
                              <m:r>
                                <a:rPr lang="es-CL" sz="1200" b="0" i="1" kern="1200">
                                  <a:solidFill>
                                    <a:schemeClr val="tx1"/>
                                  </a:solidFill>
                                  <a:latin typeface="Cambria Math" panose="02040503050406030204" pitchFamily="18" charset="0"/>
                                  <a:ea typeface="+mn-ea"/>
                                  <a:cs typeface="+mn-cs"/>
                                </a:rPr>
                                <m:t>𝑝</m:t>
                              </m:r>
                            </m:e>
                            <m:sub>
                              <m:r>
                                <a:rPr lang="es-CL" sz="1200" b="0" i="1" kern="1200">
                                  <a:solidFill>
                                    <a:schemeClr val="tx1"/>
                                  </a:solidFill>
                                  <a:latin typeface="Cambria Math" panose="02040503050406030204" pitchFamily="18" charset="0"/>
                                  <a:ea typeface="+mn-ea"/>
                                  <a:cs typeface="+mn-cs"/>
                                </a:rPr>
                                <m:t>𝑗</m:t>
                              </m:r>
                            </m:sub>
                            <m:sup>
                              <m:r>
                                <a:rPr lang="es-CL" sz="1200" b="0" i="0" kern="1200">
                                  <a:solidFill>
                                    <a:schemeClr val="tx1"/>
                                  </a:solidFill>
                                  <a:latin typeface="Cambria Math" panose="02040503050406030204" pitchFamily="18" charset="0"/>
                                  <a:ea typeface="+mn-ea"/>
                                  <a:cs typeface="+mn-cs"/>
                                </a:rPr>
                                <m:t>1−</m:t>
                              </m:r>
                              <m:r>
                                <a:rPr lang="es-CL" sz="1200" b="0" i="1" kern="1200">
                                  <a:solidFill>
                                    <a:schemeClr val="tx1"/>
                                  </a:solidFill>
                                  <a:latin typeface="Cambria Math" panose="02040503050406030204" pitchFamily="18" charset="0"/>
                                  <a:ea typeface="+mn-ea"/>
                                  <a:cs typeface="+mn-cs"/>
                                </a:rPr>
                                <m:t>𝜎</m:t>
                              </m:r>
                            </m:sup>
                          </m:sSubSup>
                        </m:den>
                      </m:f>
                      <m:r>
                        <a:rPr lang="es-CL" sz="1200" b="0" i="0" kern="1200">
                          <a:solidFill>
                            <a:schemeClr val="tx1"/>
                          </a:solidFill>
                          <a:latin typeface="Cambria Math" panose="02040503050406030204" pitchFamily="18" charset="0"/>
                          <a:ea typeface="+mn-ea"/>
                          <a:cs typeface="+mn-cs"/>
                        </a:rPr>
                        <m:t>⋅</m:t>
                      </m:r>
                      <m:r>
                        <a:rPr lang="es-CL" sz="1200" b="0" i="1" kern="1200">
                          <a:solidFill>
                            <a:schemeClr val="tx1"/>
                          </a:solidFill>
                          <a:latin typeface="Cambria Math" panose="02040503050406030204" pitchFamily="18" charset="0"/>
                          <a:ea typeface="+mn-ea"/>
                          <a:cs typeface="+mn-cs"/>
                        </a:rPr>
                        <m:t>𝐼</m:t>
                      </m:r>
                    </m:oMath>
                  </m:oMathPara>
                </a14:m>
                <a:endParaRPr lang="es-CL" b="0" dirty="0"/>
              </a:p>
              <a:p>
                <a:r>
                  <a:rPr lang="es-CL" dirty="0"/>
                  <a:t>donde los shares de gasto dependen solo de precios relativos y parámetros de distribución α_i. Esto facilita la calibración con datos de cuentas nacionales o encuestas.</a:t>
                </a:r>
              </a:p>
              <a:p>
                <a:r>
                  <a:rPr lang="es-CL" b="1" dirty="0"/>
                  <a:t>6. Separabilidad (en versiones anidadas)</a:t>
                </a:r>
              </a:p>
              <a:p>
                <a:r>
                  <a:rPr lang="es-CL" dirty="0"/>
                  <a:t>La CES puede construirse de forma </a:t>
                </a:r>
                <a:r>
                  <a:rPr lang="es-CL" b="1" dirty="0"/>
                  <a:t>anidada</a:t>
                </a:r>
                <a:r>
                  <a:rPr lang="es-CL" dirty="0"/>
                  <a:t> (</a:t>
                </a:r>
                <a:r>
                  <a:rPr lang="es-CL" i="1" dirty="0" err="1"/>
                  <a:t>nested</a:t>
                </a:r>
                <a:r>
                  <a:rPr lang="es-CL" i="1" dirty="0"/>
                  <a:t> CES</a:t>
                </a:r>
                <a:r>
                  <a:rPr lang="es-CL" dirty="0"/>
                  <a:t>), permitiendo modelar distintas elasticidades de sustitución entre grupos de bienes (</a:t>
                </a:r>
                <a:r>
                  <a:rPr lang="es-CL" dirty="0" err="1"/>
                  <a:t>ej</a:t>
                </a:r>
                <a:r>
                  <a:rPr lang="es-CL" dirty="0"/>
                  <a:t>: bienes domésticos vs. importados con la Armington, o bienes de consumo vs. ocio). Esta estructura es el corazón de la mayoría de los modelos CGE modernos.</a:t>
                </a:r>
              </a:p>
              <a:p>
                <a:r>
                  <a:rPr lang="es-CL" b="1" dirty="0"/>
                  <a:t>7. Facilidad de calibración</a:t>
                </a:r>
              </a:p>
              <a:p>
                <a:r>
                  <a:rPr lang="es-CL" dirty="0"/>
                  <a:t>Los parámetros de distribución α_i se pueden recuperar directamente de los </a:t>
                </a:r>
                <a:r>
                  <a:rPr lang="es-CL" b="1" dirty="0"/>
                  <a:t>shares de gasto observados</a:t>
                </a:r>
                <a:r>
                  <a:rPr lang="es-CL" dirty="0"/>
                  <a:t> en el año base, sin necesidad de estimación econométrica, lo que la hace muy práctica para modelos basados en una SAM.</a:t>
                </a:r>
              </a:p>
              <a:p>
                <a:endParaRPr lang="en-US" dirty="0"/>
              </a:p>
            </p:txBody>
          </p:sp>
        </mc:Choice>
        <mc:Fallback xmlns="">
          <p:sp>
            <p:nvSpPr>
              <p:cNvPr id="3" name="Notes Placeholder 2"/>
              <p:cNvSpPr>
                <a:spLocks noGrp="1"/>
              </p:cNvSpPr>
              <p:nvPr>
                <p:ph type="body" idx="1"/>
              </p:nvPr>
            </p:nvSpPr>
            <p:spPr/>
            <p:txBody>
              <a:bodyPr/>
              <a:lstStyle/>
              <a:p>
                <a:r>
                  <a:rPr lang="es-CL" b="1" dirty="0"/>
                  <a:t>1. Elasticidad de sustitución constante (y parametrizable)</a:t>
                </a:r>
              </a:p>
              <a:p>
                <a:r>
                  <a:rPr lang="es-CL" dirty="0"/>
                  <a:t>La elasticidad de sustitución entre cualquier par de bienes es constante e igual a σ = 1/(1−ρ), donde ρ es el parámetro de sustitución. Esto permite calibrar directamente el grado de complementariedad o sustituibilidad a partir de datos empíricos, algo muy útil en modelos CGE.</a:t>
                </a:r>
              </a:p>
              <a:p>
                <a:r>
                  <a:rPr lang="es-CL" b="1" dirty="0"/>
                  <a:t>2. Generalidad: engloba casos límite importantes</a:t>
                </a:r>
              </a:p>
              <a:p>
                <a:r>
                  <a:rPr lang="es-CL" dirty="0"/>
                  <a:t>Variando σ (o ρ), la CES anida formas funcionales clásicas:</a:t>
                </a:r>
              </a:p>
              <a:p>
                <a:r>
                  <a:rPr lang="es-CL" dirty="0" err="1"/>
                  <a:t>σρForma</a:t>
                </a:r>
                <a:r>
                  <a:rPr lang="es-CL" dirty="0"/>
                  <a:t> resultante→ 0→ −∞</a:t>
                </a:r>
                <a:r>
                  <a:rPr lang="es-CL" dirty="0" err="1"/>
                  <a:t>Leontief</a:t>
                </a:r>
                <a:r>
                  <a:rPr lang="es-CL" dirty="0"/>
                  <a:t> (complementos perfectos)= 1→ 0Cobb-Douglas→ ∞→ 1Lineal (sustitutos perfectos)</a:t>
                </a:r>
              </a:p>
              <a:p>
                <a:r>
                  <a:rPr lang="es-CL" dirty="0"/>
                  <a:t>Esta anidación la convierte en una familia flexible que permite testear hipótesis sobre preferencias simplemente ajustando un parámetro.</a:t>
                </a:r>
              </a:p>
              <a:p>
                <a:r>
                  <a:rPr lang="es-CL" b="1" dirty="0"/>
                  <a:t>3. Homotecia</a:t>
                </a:r>
              </a:p>
              <a:p>
                <a:r>
                  <a:rPr lang="es-CL" dirty="0"/>
                  <a:t>La CES es homotética: las curvas de indiferencia son expansiones radiales unas de otras. Esto implica que las participaciones del gasto en cada bien no dependen del nivel de ingreso, solo de los precios relativos, lo que simplifica enormemente la demanda </a:t>
                </a:r>
                <a:r>
                  <a:rPr lang="es-CL" dirty="0" err="1"/>
                  <a:t>marshalliana</a:t>
                </a:r>
                <a:r>
                  <a:rPr lang="es-CL" dirty="0"/>
                  <a:t> y permite separar efectos precio de efectos ingreso de forma limpia.</a:t>
                </a:r>
              </a:p>
              <a:p>
                <a:r>
                  <a:rPr lang="es-CL" b="1" dirty="0"/>
                  <a:t>4. Regularidad (satisface los axiomas de preferencias)</a:t>
                </a:r>
              </a:p>
              <a:p>
                <a:r>
                  <a:rPr lang="es-CL" dirty="0"/>
                  <a:t>Bajo condiciones estándar (ρ &lt; 1, participaciones positivas), la CES es:</a:t>
                </a:r>
              </a:p>
              <a:p>
                <a:r>
                  <a:rPr lang="es-CL" b="1" dirty="0"/>
                  <a:t>Monótona creciente</a:t>
                </a:r>
                <a:r>
                  <a:rPr lang="es-CL" dirty="0"/>
                  <a:t> en todos los bienes</a:t>
                </a:r>
              </a:p>
              <a:p>
                <a:r>
                  <a:rPr lang="es-CL" b="1" dirty="0" err="1"/>
                  <a:t>Cuasi-cóncava</a:t>
                </a:r>
                <a:r>
                  <a:rPr lang="es-CL" dirty="0"/>
                  <a:t> → las curvas de indiferencia son convexas al origen</a:t>
                </a:r>
              </a:p>
              <a:p>
                <a:r>
                  <a:rPr lang="es-CL" b="1" dirty="0"/>
                  <a:t>Continua y diferenciable</a:t>
                </a:r>
                <a:r>
                  <a:rPr lang="es-CL" dirty="0"/>
                  <a:t> → permite aplicar cálculo para obtener demandas óptimas</a:t>
                </a:r>
              </a:p>
              <a:p>
                <a:r>
                  <a:rPr lang="es-CL" b="1" dirty="0"/>
                  <a:t>5. Demandas </a:t>
                </a:r>
                <a:r>
                  <a:rPr lang="es-CL" b="1" dirty="0" err="1"/>
                  <a:t>marshallianas</a:t>
                </a:r>
                <a:r>
                  <a:rPr lang="es-CL" b="1" dirty="0"/>
                  <a:t> cerradas y elegantes</a:t>
                </a:r>
              </a:p>
              <a:p>
                <a:r>
                  <a:rPr lang="es-CL" dirty="0"/>
                  <a:t>La maximización de utilidad CES sujeta a una restricción presupuestaria produce demandas de la forma:</a:t>
                </a:r>
              </a:p>
              <a:p>
                <a:r>
                  <a:rPr lang="es-CL" sz="1200" i="0" kern="1200">
                    <a:solidFill>
                      <a:schemeClr val="tx1"/>
                    </a:solidFill>
                    <a:latin typeface="+mn-lt"/>
                    <a:ea typeface="+mn-ea"/>
                    <a:cs typeface="+mn-cs"/>
                  </a:rPr>
                  <a:t>𝑥_𝑖=(𝛼_𝑖^𝜎</a:t>
                </a:r>
                <a:r>
                  <a:rPr lang="es-CL" sz="1200" b="0" i="0" kern="1200">
                    <a:solidFill>
                      <a:schemeClr val="tx1"/>
                    </a:solidFill>
                    <a:latin typeface="+mn-lt"/>
                    <a:ea typeface="+mn-ea"/>
                    <a:cs typeface="+mn-cs"/>
                  </a:rPr>
                  <a:t> " " 𝑝_𝑖^(−𝜎))/(∑128_𝑗▒𝛼_𝑗^𝜎  " " 𝑝_𝑗^(1−𝜎) )⋅𝐼</a:t>
                </a:r>
                <a:endParaRPr lang="es-CL" b="0" dirty="0"/>
              </a:p>
              <a:p>
                <a:r>
                  <a:rPr lang="es-CL" dirty="0"/>
                  <a:t>donde los shares de gasto dependen solo de precios relativos y parámetros de distribución α_i. Esto facilita la calibración con datos de cuentas nacionales o encuestas.</a:t>
                </a:r>
              </a:p>
              <a:p>
                <a:r>
                  <a:rPr lang="es-CL" b="1" dirty="0"/>
                  <a:t>6. Separabilidad (en versiones anidadas)</a:t>
                </a:r>
              </a:p>
              <a:p>
                <a:r>
                  <a:rPr lang="es-CL" dirty="0"/>
                  <a:t>La CES puede construirse de forma </a:t>
                </a:r>
                <a:r>
                  <a:rPr lang="es-CL" b="1" dirty="0"/>
                  <a:t>anidada</a:t>
                </a:r>
                <a:r>
                  <a:rPr lang="es-CL" dirty="0"/>
                  <a:t> (</a:t>
                </a:r>
                <a:r>
                  <a:rPr lang="es-CL" i="1" dirty="0" err="1"/>
                  <a:t>nested</a:t>
                </a:r>
                <a:r>
                  <a:rPr lang="es-CL" i="1" dirty="0"/>
                  <a:t> CES</a:t>
                </a:r>
                <a:r>
                  <a:rPr lang="es-CL" dirty="0"/>
                  <a:t>), permitiendo modelar distintas elasticidades de sustitución entre grupos de bienes (</a:t>
                </a:r>
                <a:r>
                  <a:rPr lang="es-CL" dirty="0" err="1"/>
                  <a:t>ej</a:t>
                </a:r>
                <a:r>
                  <a:rPr lang="es-CL" dirty="0"/>
                  <a:t>: bienes domésticos vs. importados con la Armington, o bienes de consumo vs. ocio). Esta estructura es el corazón de la mayoría de los modelos CGE modernos.</a:t>
                </a:r>
              </a:p>
              <a:p>
                <a:r>
                  <a:rPr lang="es-CL" b="1" dirty="0"/>
                  <a:t>7. Facilidad de calibración</a:t>
                </a:r>
              </a:p>
              <a:p>
                <a:r>
                  <a:rPr lang="es-CL" dirty="0"/>
                  <a:t>Los parámetros de distribución α_i se pueden recuperar directamente de los </a:t>
                </a:r>
                <a:r>
                  <a:rPr lang="es-CL" b="1" dirty="0"/>
                  <a:t>shares de gasto observados</a:t>
                </a:r>
                <a:r>
                  <a:rPr lang="es-CL" dirty="0"/>
                  <a:t> en el año base, sin necesidad de estimación econométrica, lo que la hace muy práctica para modelos basados en una SAM.</a:t>
                </a:r>
              </a:p>
              <a:p>
                <a:endParaRPr lang="en-US" dirty="0"/>
              </a:p>
            </p:txBody>
          </p:sp>
        </mc:Fallback>
      </mc:AlternateContent>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L" sz="1200" b="0" i="0" u="none" strike="noStrike" kern="1200" baseline="0" dirty="0">
                <a:solidFill>
                  <a:schemeClr val="tx1"/>
                </a:solidFill>
                <a:latin typeface="+mn-lt"/>
                <a:ea typeface="+mn-ea"/>
                <a:cs typeface="+mn-cs"/>
              </a:rPr>
              <a:t>En conjunto, este bloque determina la </a:t>
            </a:r>
            <a:r>
              <a:rPr lang="es-CL" sz="1200" b="0" i="0" u="none" strike="noStrike" kern="1200" baseline="0" dirty="0" err="1">
                <a:solidFill>
                  <a:schemeClr val="tx1"/>
                </a:solidFill>
                <a:latin typeface="+mn-lt"/>
                <a:ea typeface="+mn-ea"/>
                <a:cs typeface="+mn-cs"/>
              </a:rPr>
              <a:t>relaci´on</a:t>
            </a:r>
            <a:r>
              <a:rPr lang="es-CL" sz="1200" b="0" i="0" u="none" strike="noStrike" kern="1200" baseline="0" dirty="0">
                <a:solidFill>
                  <a:schemeClr val="tx1"/>
                </a:solidFill>
                <a:latin typeface="+mn-lt"/>
                <a:ea typeface="+mn-ea"/>
                <a:cs typeface="+mn-cs"/>
              </a:rPr>
              <a:t> entre el precio del productor </a:t>
            </a:r>
            <a:r>
              <a:rPr lang="es-CL" sz="1200" b="0" i="0" u="none" strike="noStrike" kern="1200" baseline="0" dirty="0" err="1">
                <a:solidFill>
                  <a:schemeClr val="tx1"/>
                </a:solidFill>
                <a:latin typeface="+mn-lt"/>
                <a:ea typeface="+mn-ea"/>
                <a:cs typeface="+mn-cs"/>
              </a:rPr>
              <a:t>pzp</a:t>
            </a:r>
            <a:r>
              <a:rPr lang="es-CL" sz="1200" b="0" i="0" u="none" strike="noStrike" kern="1200" baseline="0" dirty="0">
                <a:solidFill>
                  <a:schemeClr val="tx1"/>
                </a:solidFill>
                <a:latin typeface="+mn-lt"/>
                <a:ea typeface="+mn-ea"/>
                <a:cs typeface="+mn-cs"/>
              </a:rPr>
              <a:t>, el precio </a:t>
            </a:r>
            <a:r>
              <a:rPr lang="es-CL" sz="1200" b="0" i="0" u="none" strike="noStrike" kern="1200" baseline="0" dirty="0" err="1">
                <a:solidFill>
                  <a:schemeClr val="tx1"/>
                </a:solidFill>
                <a:latin typeface="+mn-lt"/>
                <a:ea typeface="+mn-ea"/>
                <a:cs typeface="+mn-cs"/>
              </a:rPr>
              <a:t>dom´estico</a:t>
            </a:r>
            <a:r>
              <a:rPr lang="es-CL" sz="1200" b="0" i="0" u="none" strike="noStrike" kern="1200" baseline="0" dirty="0">
                <a:solidFill>
                  <a:schemeClr val="tx1"/>
                </a:solidFill>
                <a:latin typeface="+mn-lt"/>
                <a:ea typeface="+mn-ea"/>
                <a:cs typeface="+mn-cs"/>
              </a:rPr>
              <a:t> </a:t>
            </a:r>
            <a:r>
              <a:rPr lang="es-CL" sz="1200" b="0" i="0" u="none" strike="noStrike" kern="1200" baseline="0" dirty="0" err="1">
                <a:solidFill>
                  <a:schemeClr val="tx1"/>
                </a:solidFill>
                <a:latin typeface="+mn-lt"/>
                <a:ea typeface="+mn-ea"/>
                <a:cs typeface="+mn-cs"/>
              </a:rPr>
              <a:t>pdp</a:t>
            </a:r>
            <a:r>
              <a:rPr lang="es-CL" sz="1200" b="0" i="0" u="none" strike="noStrike" kern="1200" baseline="0" dirty="0">
                <a:solidFill>
                  <a:schemeClr val="tx1"/>
                </a:solidFill>
                <a:latin typeface="+mn-lt"/>
                <a:ea typeface="+mn-ea"/>
                <a:cs typeface="+mn-cs"/>
              </a:rPr>
              <a:t>, el precio importado </a:t>
            </a:r>
            <a:r>
              <a:rPr lang="es-CL" sz="1200" b="0" i="0" u="none" strike="noStrike" kern="1200" baseline="0" dirty="0" err="1">
                <a:solidFill>
                  <a:schemeClr val="tx1"/>
                </a:solidFill>
                <a:latin typeface="+mn-lt"/>
                <a:ea typeface="+mn-ea"/>
                <a:cs typeface="+mn-cs"/>
              </a:rPr>
              <a:t>pmp</a:t>
            </a:r>
            <a:r>
              <a:rPr lang="es-CL" sz="1200" b="0" i="0" u="none" strike="noStrike" kern="1200" baseline="0" dirty="0">
                <a:solidFill>
                  <a:schemeClr val="tx1"/>
                </a:solidFill>
                <a:latin typeface="+mn-lt"/>
                <a:ea typeface="+mn-ea"/>
                <a:cs typeface="+mn-cs"/>
              </a:rPr>
              <a:t> y el precio compuesto pp. En la </a:t>
            </a:r>
            <a:r>
              <a:rPr lang="es-CL" sz="1200" b="0" i="0" u="none" strike="noStrike" kern="1200" baseline="0" dirty="0" err="1">
                <a:solidFill>
                  <a:schemeClr val="tx1"/>
                </a:solidFill>
                <a:latin typeface="+mn-lt"/>
                <a:ea typeface="+mn-ea"/>
                <a:cs typeface="+mn-cs"/>
              </a:rPr>
              <a:t>versi´on</a:t>
            </a:r>
            <a:r>
              <a:rPr lang="es-CL" sz="1200" b="0" i="0" u="none" strike="noStrike" kern="1200" baseline="0" dirty="0">
                <a:solidFill>
                  <a:schemeClr val="tx1"/>
                </a:solidFill>
                <a:latin typeface="+mn-lt"/>
                <a:ea typeface="+mn-ea"/>
                <a:cs typeface="+mn-cs"/>
              </a:rPr>
              <a:t> actual del cierre externo, el tipo de cambio</a:t>
            </a:r>
          </a:p>
          <a:p>
            <a:r>
              <a:rPr lang="es-CL" sz="1200" b="0" i="0" u="none" strike="noStrike" kern="1200" baseline="0" dirty="0" err="1">
                <a:solidFill>
                  <a:schemeClr val="tx1"/>
                </a:solidFill>
                <a:latin typeface="+mn-lt"/>
                <a:ea typeface="+mn-ea"/>
                <a:cs typeface="+mn-cs"/>
              </a:rPr>
              <a:t>exr</a:t>
            </a:r>
            <a:r>
              <a:rPr lang="es-CL" sz="1200" b="0" i="0" u="none" strike="noStrike" kern="1200" baseline="0" dirty="0">
                <a:solidFill>
                  <a:schemeClr val="tx1"/>
                </a:solidFill>
                <a:latin typeface="+mn-lt"/>
                <a:ea typeface="+mn-ea"/>
                <a:cs typeface="+mn-cs"/>
              </a:rPr>
              <a:t> es </a:t>
            </a:r>
            <a:r>
              <a:rPr lang="es-CL" sz="1200" b="0" i="0" u="none" strike="noStrike" kern="1200" baseline="0" dirty="0" err="1">
                <a:solidFill>
                  <a:schemeClr val="tx1"/>
                </a:solidFill>
                <a:latin typeface="+mn-lt"/>
                <a:ea typeface="+mn-ea"/>
                <a:cs typeface="+mn-cs"/>
              </a:rPr>
              <a:t>end´ogeno</a:t>
            </a:r>
            <a:r>
              <a:rPr lang="es-CL" sz="1200" b="0" i="0" u="none" strike="noStrike" kern="1200" baseline="0" dirty="0">
                <a:solidFill>
                  <a:schemeClr val="tx1"/>
                </a:solidFill>
                <a:latin typeface="+mn-lt"/>
                <a:ea typeface="+mn-ea"/>
                <a:cs typeface="+mn-cs"/>
              </a:rPr>
              <a:t>, de modo que estos precios transmiten el ajuste necesario para </a:t>
            </a:r>
            <a:r>
              <a:rPr lang="es-CL" sz="1200" b="0" i="0" u="none" strike="noStrike" kern="1200" baseline="0">
                <a:solidFill>
                  <a:schemeClr val="tx1"/>
                </a:solidFill>
                <a:latin typeface="+mn-lt"/>
                <a:ea typeface="+mn-ea"/>
                <a:cs typeface="+mn-cs"/>
              </a:rPr>
              <a:t>compatibilizar el equilibrio </a:t>
            </a:r>
            <a:r>
              <a:rPr lang="es-CL" sz="1200" b="0" i="0" u="none" strike="noStrike" kern="1200" baseline="0" dirty="0">
                <a:solidFill>
                  <a:schemeClr val="tx1"/>
                </a:solidFill>
                <a:latin typeface="+mn-lt"/>
                <a:ea typeface="+mn-ea"/>
                <a:cs typeface="+mn-cs"/>
              </a:rPr>
              <a:t>comercial con un nivel fijo de ahorro externo.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econ.r-forge.r-project.org/"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D4A82A"/>
          </a:solidFill>
          <a:ln w="12700">
            <a:solidFill>
              <a:srgbClr val="D4A82A"/>
            </a:solidFill>
            <a:prstDash val="solid"/>
          </a:ln>
        </p:spPr>
        <p:txBody>
          <a:bodyPr/>
          <a:lstStyle/>
          <a:p>
            <a:endParaRPr lang="es-CL"/>
          </a:p>
        </p:txBody>
      </p:sp>
      <p:sp>
        <p:nvSpPr>
          <p:cNvPr id="3" name="Text 1"/>
          <p:cNvSpPr/>
          <p:nvPr/>
        </p:nvSpPr>
        <p:spPr>
          <a:xfrm>
            <a:off x="731520" y="914400"/>
            <a:ext cx="10515600" cy="365760"/>
          </a:xfrm>
          <a:prstGeom prst="rect">
            <a:avLst/>
          </a:prstGeom>
          <a:noFill/>
          <a:ln/>
        </p:spPr>
        <p:txBody>
          <a:bodyPr wrap="square" rtlCol="0" anchor="ctr"/>
          <a:lstStyle/>
          <a:p>
            <a:pPr marL="0" indent="0" algn="l">
              <a:buNone/>
            </a:pPr>
            <a:r>
              <a:rPr lang="en-US" sz="1200" b="1" kern="0" spc="400" dirty="0">
                <a:solidFill>
                  <a:srgbClr val="CADCFC"/>
                </a:solidFill>
                <a:latin typeface="Calibri" pitchFamily="34" charset="0"/>
                <a:ea typeface="Calibri" pitchFamily="34" charset="-122"/>
                <a:cs typeface="Calibri" pitchFamily="34" charset="-120"/>
              </a:rPr>
              <a:t>DEPARTAMENTO DE ESTUDIOS ECONÓMICOS Y TRIBUTARIOS · SII</a:t>
            </a:r>
            <a:endParaRPr lang="en-US" sz="1200" dirty="0"/>
          </a:p>
        </p:txBody>
      </p:sp>
      <p:sp>
        <p:nvSpPr>
          <p:cNvPr id="4" name="Shape 2"/>
          <p:cNvSpPr/>
          <p:nvPr/>
        </p:nvSpPr>
        <p:spPr>
          <a:xfrm>
            <a:off x="731520" y="1417320"/>
            <a:ext cx="2286000" cy="0"/>
          </a:xfrm>
          <a:prstGeom prst="line">
            <a:avLst/>
          </a:prstGeom>
          <a:noFill/>
          <a:ln w="25400">
            <a:solidFill>
              <a:srgbClr val="D4A82A"/>
            </a:solidFill>
            <a:prstDash val="solid"/>
          </a:ln>
        </p:spPr>
        <p:txBody>
          <a:bodyPr/>
          <a:lstStyle/>
          <a:p>
            <a:endParaRPr lang="es-CL"/>
          </a:p>
        </p:txBody>
      </p:sp>
      <p:sp>
        <p:nvSpPr>
          <p:cNvPr id="5" name="Text 3"/>
          <p:cNvSpPr/>
          <p:nvPr/>
        </p:nvSpPr>
        <p:spPr>
          <a:xfrm>
            <a:off x="731520" y="1737360"/>
            <a:ext cx="10972800" cy="914400"/>
          </a:xfrm>
          <a:prstGeom prst="rect">
            <a:avLst/>
          </a:prstGeom>
          <a:noFill/>
          <a:ln/>
        </p:spPr>
        <p:txBody>
          <a:bodyPr wrap="square" lIns="0" tIns="0" rIns="0" bIns="0" rtlCol="0" anchor="ctr"/>
          <a:lstStyle/>
          <a:p>
            <a:pPr marL="0" indent="0" algn="l">
              <a:buNone/>
            </a:pPr>
            <a:r>
              <a:rPr lang="en-US" sz="4200" b="1" dirty="0">
                <a:solidFill>
                  <a:srgbClr val="FFFFFF"/>
                </a:solidFill>
                <a:latin typeface="Cambria" pitchFamily="34" charset="0"/>
                <a:ea typeface="Cambria" pitchFamily="34" charset="-122"/>
                <a:cs typeface="Cambria" pitchFamily="34" charset="-120"/>
              </a:rPr>
              <a:t>Modelo de Equilibrio General Computable</a:t>
            </a:r>
            <a:endParaRPr lang="en-US" sz="4200" dirty="0"/>
          </a:p>
        </p:txBody>
      </p:sp>
      <p:sp>
        <p:nvSpPr>
          <p:cNvPr id="6" name="Text 4"/>
          <p:cNvSpPr/>
          <p:nvPr/>
        </p:nvSpPr>
        <p:spPr>
          <a:xfrm>
            <a:off x="731520" y="2606040"/>
            <a:ext cx="10972800" cy="640080"/>
          </a:xfrm>
          <a:prstGeom prst="rect">
            <a:avLst/>
          </a:prstGeom>
          <a:noFill/>
          <a:ln/>
        </p:spPr>
        <p:txBody>
          <a:bodyPr wrap="square" lIns="0" tIns="0" rIns="0" bIns="0" rtlCol="0" anchor="ctr"/>
          <a:lstStyle/>
          <a:p>
            <a:pPr marL="0" indent="0" algn="l">
              <a:buNone/>
            </a:pPr>
            <a:r>
              <a:rPr lang="en-US" sz="3200" i="1" dirty="0">
                <a:solidFill>
                  <a:srgbClr val="CADCFC"/>
                </a:solidFill>
                <a:latin typeface="Cambria" pitchFamily="34" charset="0"/>
                <a:ea typeface="Cambria" pitchFamily="34" charset="-122"/>
                <a:cs typeface="Cambria" pitchFamily="34" charset="-120"/>
              </a:rPr>
              <a:t>de 12 sectores para Chile</a:t>
            </a:r>
            <a:endParaRPr lang="en-US" sz="3200" dirty="0"/>
          </a:p>
        </p:txBody>
      </p:sp>
      <p:sp>
        <p:nvSpPr>
          <p:cNvPr id="7" name="Text 5"/>
          <p:cNvSpPr/>
          <p:nvPr/>
        </p:nvSpPr>
        <p:spPr>
          <a:xfrm>
            <a:off x="731520" y="3520440"/>
            <a:ext cx="10972800" cy="457200"/>
          </a:xfrm>
          <a:prstGeom prst="rect">
            <a:avLst/>
          </a:prstGeom>
          <a:noFill/>
          <a:ln/>
        </p:spPr>
        <p:txBody>
          <a:bodyPr wrap="square" lIns="0" tIns="0" rIns="0" bIns="0" rtlCol="0" anchor="ctr"/>
          <a:lstStyle/>
          <a:p>
            <a:pPr marL="0" indent="0" algn="l">
              <a:buNone/>
            </a:pPr>
            <a:r>
              <a:rPr lang="en-US" sz="1800" dirty="0">
                <a:solidFill>
                  <a:srgbClr val="CADCFC"/>
                </a:solidFill>
                <a:latin typeface="Calibri" pitchFamily="34" charset="0"/>
                <a:ea typeface="Calibri" pitchFamily="34" charset="-122"/>
                <a:cs typeface="Calibri" pitchFamily="34" charset="-120"/>
              </a:rPr>
              <a:t>Evaluación de políticas tributarias con una SAM 2023</a:t>
            </a:r>
            <a:endParaRPr lang="en-US" sz="1800" dirty="0"/>
          </a:p>
        </p:txBody>
      </p:sp>
      <p:sp>
        <p:nvSpPr>
          <p:cNvPr id="8" name="Text 6"/>
          <p:cNvSpPr/>
          <p:nvPr/>
        </p:nvSpPr>
        <p:spPr>
          <a:xfrm>
            <a:off x="731520" y="5120640"/>
            <a:ext cx="10515600" cy="1097280"/>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Departamento de Estudios Económicos y Tributarios</a:t>
            </a:r>
            <a:endParaRPr lang="en-US" sz="1300" dirty="0"/>
          </a:p>
          <a:p>
            <a:pPr marL="0" indent="0" algn="l">
              <a:buNone/>
            </a:pPr>
            <a:r>
              <a:rPr lang="en-US" sz="1300" dirty="0">
                <a:solidFill>
                  <a:srgbClr val="FFFFFF"/>
                </a:solidFill>
                <a:latin typeface="Calibri" pitchFamily="34" charset="0"/>
                <a:ea typeface="Calibri" pitchFamily="34" charset="-122"/>
                <a:cs typeface="Calibri" pitchFamily="34" charset="-120"/>
              </a:rPr>
              <a:t>Servicio de Impuestos Internos</a:t>
            </a:r>
            <a:endParaRPr lang="en-US" sz="1300" dirty="0"/>
          </a:p>
          <a:p>
            <a:pPr marL="0" indent="0" algn="l">
              <a:buNone/>
            </a:pPr>
            <a:r>
              <a:rPr lang="en-US" sz="1300" dirty="0">
                <a:solidFill>
                  <a:srgbClr val="FFFFFF"/>
                </a:solidFill>
                <a:latin typeface="Calibri" pitchFamily="34" charset="0"/>
                <a:ea typeface="Calibri" pitchFamily="34" charset="-122"/>
                <a:cs typeface="Calibri" pitchFamily="34" charset="-120"/>
              </a:rPr>
              <a:t>Documento técnico · Junio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a:p>
        </p:txBody>
      </p:sp>
      <p:sp>
        <p:nvSpPr>
          <p:cNvPr id="3" name="Text 1"/>
          <p:cNvSpPr/>
          <p:nvPr/>
        </p:nvSpPr>
        <p:spPr>
          <a:xfrm>
            <a:off x="457200" y="384048"/>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01</a:t>
            </a:r>
            <a:endParaRPr lang="en-US" sz="1400" dirty="0"/>
          </a:p>
        </p:txBody>
      </p:sp>
      <p:sp>
        <p:nvSpPr>
          <p:cNvPr id="4" name="Text 2"/>
          <p:cNvSpPr/>
          <p:nvPr/>
        </p:nvSpPr>
        <p:spPr>
          <a:xfrm>
            <a:off x="1051560" y="365760"/>
            <a:ext cx="10698480" cy="502920"/>
          </a:xfrm>
          <a:prstGeom prst="rect">
            <a:avLst/>
          </a:prstGeom>
          <a:noFill/>
          <a:ln/>
        </p:spPr>
        <p:txBody>
          <a:bodyPr wrap="square" lIns="0" tIns="0" rIns="0" bIns="0" rtlCol="0" anchor="ctr"/>
          <a:lstStyle/>
          <a:p>
            <a:pPr marL="0" indent="0" algn="l">
              <a:buNone/>
            </a:pPr>
            <a:r>
              <a:rPr lang="en-US" sz="2400" b="1" dirty="0">
                <a:solidFill>
                  <a:srgbClr val="1E2761"/>
                </a:solidFill>
                <a:latin typeface="Cambria" pitchFamily="34" charset="0"/>
                <a:ea typeface="Cambria" pitchFamily="34" charset="-122"/>
                <a:cs typeface="Cambria" pitchFamily="34" charset="-120"/>
              </a:rPr>
              <a:t>Motivación</a:t>
            </a:r>
            <a:endParaRPr lang="en-US" sz="2400" dirty="0"/>
          </a:p>
        </p:txBody>
      </p:sp>
      <p:sp>
        <p:nvSpPr>
          <p:cNvPr id="5" name="Text 3"/>
          <p:cNvSpPr/>
          <p:nvPr/>
        </p:nvSpPr>
        <p:spPr>
          <a:xfrm>
            <a:off x="640080" y="1188720"/>
            <a:ext cx="6583680" cy="2286000"/>
          </a:xfrm>
          <a:prstGeom prst="rect">
            <a:avLst/>
          </a:prstGeom>
          <a:noFill/>
          <a:ln/>
        </p:spPr>
        <p:txBody>
          <a:bodyPr wrap="square" lIns="0" tIns="0" rIns="0" bIns="0" rtlCol="0" anchor="t"/>
          <a:lstStyle/>
          <a:p>
            <a:pPr marL="0" indent="0" algn="l">
              <a:spcAft>
                <a:spcPts val="400"/>
              </a:spcAft>
              <a:buNone/>
            </a:pPr>
            <a:r>
              <a:rPr lang="es-CL" sz="1600" b="1" noProof="0" dirty="0">
                <a:solidFill>
                  <a:srgbClr val="1E2761"/>
                </a:solidFill>
                <a:latin typeface="Calibri" pitchFamily="34" charset="0"/>
                <a:ea typeface="Calibri" pitchFamily="34" charset="-122"/>
                <a:cs typeface="Calibri" pitchFamily="34" charset="-120"/>
              </a:rPr>
              <a:t>¿Por qué un MEGC para evaluar reformas tributarias?</a:t>
            </a:r>
            <a:endParaRPr lang="es-CL" sz="1300" noProof="0" dirty="0"/>
          </a:p>
          <a:p>
            <a:pPr marL="0" indent="0" algn="l">
              <a:spcAft>
                <a:spcPts val="400"/>
              </a:spcAft>
              <a:buNone/>
            </a:pPr>
            <a:endParaRPr lang="es-CL" sz="800" noProof="0" dirty="0">
              <a:solidFill>
                <a:srgbClr val="2D3748"/>
              </a:solidFill>
              <a:latin typeface="Calibri" pitchFamily="34" charset="0"/>
              <a:ea typeface="Calibri" pitchFamily="34" charset="-122"/>
              <a:cs typeface="Calibri" pitchFamily="34" charset="-120"/>
            </a:endParaRPr>
          </a:p>
          <a:p>
            <a:pPr>
              <a:spcAft>
                <a:spcPts val="400"/>
              </a:spcAft>
            </a:pPr>
            <a:r>
              <a:rPr lang="es-CL" sz="1400" b="1" i="1" noProof="0" dirty="0">
                <a:solidFill>
                  <a:srgbClr val="D4A82A"/>
                </a:solidFill>
                <a:latin typeface="Calibri" pitchFamily="34" charset="0"/>
                <a:ea typeface="Calibri" pitchFamily="34" charset="-122"/>
                <a:cs typeface="Calibri" pitchFamily="34" charset="-120"/>
              </a:rPr>
              <a:t>Contexto institucional: </a:t>
            </a:r>
            <a:r>
              <a:rPr lang="es-CL" sz="1400" i="1" noProof="0" dirty="0">
                <a:solidFill>
                  <a:srgbClr val="64748B"/>
                </a:solidFill>
                <a:latin typeface="Calibri" pitchFamily="34" charset="0"/>
                <a:ea typeface="Calibri" pitchFamily="34" charset="-122"/>
                <a:cs typeface="Calibri" pitchFamily="34" charset="-120"/>
              </a:rPr>
              <a:t>esta herramienta se desarrolla dentro del ámbito funcional de </a:t>
            </a:r>
            <a:r>
              <a:rPr lang="es-CL" sz="1400" b="1" i="1" noProof="0" dirty="0">
                <a:solidFill>
                  <a:srgbClr val="64748B"/>
                </a:solidFill>
                <a:latin typeface="Calibri" pitchFamily="34" charset="0"/>
                <a:ea typeface="Calibri" pitchFamily="34" charset="-122"/>
                <a:cs typeface="Calibri" pitchFamily="34" charset="-120"/>
              </a:rPr>
              <a:t>Análisis de Impacto Recaudatorio y de Gastos Tributarios</a:t>
            </a:r>
            <a:r>
              <a:rPr lang="es-CL" sz="1400" i="1" noProof="0" dirty="0">
                <a:solidFill>
                  <a:srgbClr val="64748B"/>
                </a:solidFill>
                <a:latin typeface="Calibri" pitchFamily="34" charset="0"/>
                <a:ea typeface="Calibri" pitchFamily="34" charset="-122"/>
                <a:cs typeface="Calibri" pitchFamily="34" charset="-120"/>
              </a:rPr>
              <a:t> del Departamento.</a:t>
            </a:r>
            <a:endParaRPr lang="es-CL" sz="1600" noProof="0" dirty="0"/>
          </a:p>
          <a:p>
            <a:pPr marL="0" indent="0" algn="l">
              <a:spcAft>
                <a:spcPts val="400"/>
              </a:spcAft>
              <a:buNone/>
            </a:pPr>
            <a:endParaRPr lang="es-CL" sz="1300" noProof="0" dirty="0">
              <a:solidFill>
                <a:srgbClr val="2D3748"/>
              </a:solidFill>
              <a:latin typeface="Calibri" pitchFamily="34" charset="0"/>
              <a:ea typeface="Calibri" pitchFamily="34" charset="-122"/>
              <a:cs typeface="Calibri" pitchFamily="34" charset="-120"/>
            </a:endParaRPr>
          </a:p>
          <a:p>
            <a:pPr marL="0" indent="0" algn="l">
              <a:spcAft>
                <a:spcPts val="400"/>
              </a:spcAft>
              <a:buNone/>
            </a:pPr>
            <a:r>
              <a:rPr lang="es-CL" sz="1300" noProof="0" dirty="0">
                <a:solidFill>
                  <a:srgbClr val="2D3748"/>
                </a:solidFill>
                <a:latin typeface="Calibri" pitchFamily="34" charset="0"/>
                <a:ea typeface="Calibri" pitchFamily="34" charset="-122"/>
                <a:cs typeface="Calibri" pitchFamily="34" charset="-120"/>
              </a:rPr>
              <a:t>Las reformas tributarias no operan en aislamiento: afectan precios, salarios, decisiones de inversión y la composición de la demanda agregada. Un modelo de equilibrio general computable permite cuantificar estos efectos de manera </a:t>
            </a:r>
            <a:r>
              <a:rPr lang="es-CL" sz="1300" b="1" noProof="0" dirty="0">
                <a:solidFill>
                  <a:srgbClr val="2D3748"/>
                </a:solidFill>
                <a:latin typeface="Calibri" pitchFamily="34" charset="0"/>
                <a:ea typeface="Calibri" pitchFamily="34" charset="-122"/>
                <a:cs typeface="Calibri" pitchFamily="34" charset="-120"/>
              </a:rPr>
              <a:t>integrada y consistente</a:t>
            </a:r>
            <a:r>
              <a:rPr lang="es-CL" sz="1300" noProof="0" dirty="0">
                <a:solidFill>
                  <a:srgbClr val="2D3748"/>
                </a:solidFill>
                <a:latin typeface="Calibri" pitchFamily="34" charset="0"/>
                <a:ea typeface="Calibri" pitchFamily="34" charset="-122"/>
                <a:cs typeface="Calibri" pitchFamily="34" charset="-120"/>
              </a:rPr>
              <a:t>, haciendo explícitos los </a:t>
            </a:r>
            <a:r>
              <a:rPr lang="es-CL" sz="1300" noProof="0" dirty="0" err="1">
                <a:solidFill>
                  <a:srgbClr val="2D3748"/>
                </a:solidFill>
                <a:latin typeface="Calibri" pitchFamily="34" charset="0"/>
                <a:ea typeface="Calibri" pitchFamily="34" charset="-122"/>
                <a:cs typeface="Calibri" pitchFamily="34" charset="-120"/>
              </a:rPr>
              <a:t>trade-offs</a:t>
            </a:r>
            <a:r>
              <a:rPr lang="es-CL" sz="1300" noProof="0" dirty="0">
                <a:solidFill>
                  <a:srgbClr val="2D3748"/>
                </a:solidFill>
                <a:latin typeface="Calibri" pitchFamily="34" charset="0"/>
                <a:ea typeface="Calibri" pitchFamily="34" charset="-122"/>
                <a:cs typeface="Calibri" pitchFamily="34" charset="-120"/>
              </a:rPr>
              <a:t> entre actividad, empleo, recaudación y sector externo.</a:t>
            </a:r>
          </a:p>
          <a:p>
            <a:pPr marL="0" indent="0" algn="l">
              <a:spcAft>
                <a:spcPts val="400"/>
              </a:spcAft>
              <a:buNone/>
            </a:pPr>
            <a:endParaRPr lang="en-US" sz="1300" dirty="0">
              <a:solidFill>
                <a:srgbClr val="2D3748"/>
              </a:solidFill>
              <a:latin typeface="Calibri" pitchFamily="34" charset="0"/>
              <a:ea typeface="Calibri" pitchFamily="34" charset="-122"/>
              <a:cs typeface="Calibri" pitchFamily="34" charset="-120"/>
            </a:endParaRPr>
          </a:p>
          <a:p>
            <a:pPr marL="0" indent="0" algn="l">
              <a:spcAft>
                <a:spcPts val="400"/>
              </a:spcAft>
              <a:buNone/>
            </a:pPr>
            <a:endParaRPr lang="en-US" sz="1300" dirty="0"/>
          </a:p>
        </p:txBody>
      </p:sp>
      <p:sp>
        <p:nvSpPr>
          <p:cNvPr id="6" name="Shape 4"/>
          <p:cNvSpPr/>
          <p:nvPr/>
        </p:nvSpPr>
        <p:spPr>
          <a:xfrm>
            <a:off x="640080" y="3657600"/>
            <a:ext cx="2148840" cy="2286000"/>
          </a:xfrm>
          <a:prstGeom prst="rect">
            <a:avLst/>
          </a:prstGeom>
          <a:solidFill>
            <a:srgbClr val="F5F7FA"/>
          </a:solidFill>
          <a:ln w="9525">
            <a:solidFill>
              <a:srgbClr val="E2E8F0"/>
            </a:solidFill>
            <a:prstDash val="solid"/>
          </a:ln>
        </p:spPr>
        <p:txBody>
          <a:bodyPr/>
          <a:lstStyle/>
          <a:p>
            <a:endParaRPr lang="es-CL"/>
          </a:p>
        </p:txBody>
      </p:sp>
      <p:sp>
        <p:nvSpPr>
          <p:cNvPr id="7" name="Shape 5"/>
          <p:cNvSpPr/>
          <p:nvPr/>
        </p:nvSpPr>
        <p:spPr>
          <a:xfrm>
            <a:off x="640080" y="3657600"/>
            <a:ext cx="73152" cy="2286000"/>
          </a:xfrm>
          <a:prstGeom prst="rect">
            <a:avLst/>
          </a:prstGeom>
          <a:solidFill>
            <a:srgbClr val="D4A82A"/>
          </a:solidFill>
          <a:ln w="12700">
            <a:solidFill>
              <a:srgbClr val="D4A82A"/>
            </a:solidFill>
            <a:prstDash val="solid"/>
          </a:ln>
        </p:spPr>
        <p:txBody>
          <a:bodyPr/>
          <a:lstStyle/>
          <a:p>
            <a:endParaRPr lang="es-CL"/>
          </a:p>
        </p:txBody>
      </p:sp>
      <p:sp>
        <p:nvSpPr>
          <p:cNvPr id="8" name="Text 6"/>
          <p:cNvSpPr/>
          <p:nvPr/>
        </p:nvSpPr>
        <p:spPr>
          <a:xfrm>
            <a:off x="868680" y="3840480"/>
            <a:ext cx="1783080" cy="457200"/>
          </a:xfrm>
          <a:prstGeom prst="rect">
            <a:avLst/>
          </a:prstGeom>
          <a:noFill/>
          <a:ln/>
        </p:spPr>
        <p:txBody>
          <a:bodyPr wrap="square" lIns="0" tIns="0" rIns="0" bIns="0" rtlCol="0" anchor="ctr"/>
          <a:lstStyle/>
          <a:p>
            <a:pPr marL="0" indent="0" algn="l">
              <a:buNone/>
            </a:pPr>
            <a:r>
              <a:rPr lang="en-US" sz="1600" b="1" dirty="0">
                <a:solidFill>
                  <a:srgbClr val="1E2761"/>
                </a:solidFill>
                <a:latin typeface="Cambria" pitchFamily="34" charset="0"/>
                <a:ea typeface="Cambria" pitchFamily="34" charset="-122"/>
                <a:cs typeface="Cambria" pitchFamily="34" charset="-120"/>
              </a:rPr>
              <a:t>Estático</a:t>
            </a:r>
            <a:endParaRPr lang="en-US" sz="1600" dirty="0"/>
          </a:p>
        </p:txBody>
      </p:sp>
      <p:sp>
        <p:nvSpPr>
          <p:cNvPr id="9" name="Text 7"/>
          <p:cNvSpPr/>
          <p:nvPr/>
        </p:nvSpPr>
        <p:spPr>
          <a:xfrm>
            <a:off x="868680" y="4389120"/>
            <a:ext cx="1783080" cy="1371600"/>
          </a:xfrm>
          <a:prstGeom prst="rect">
            <a:avLst/>
          </a:prstGeom>
          <a:noFill/>
          <a:ln/>
        </p:spPr>
        <p:txBody>
          <a:bodyPr wrap="square" lIns="0" tIns="0" rIns="0" bIns="0" rtlCol="0" anchor="t"/>
          <a:lstStyle/>
          <a:p>
            <a:pPr marL="0" indent="0" algn="l">
              <a:buNone/>
            </a:pPr>
            <a:r>
              <a:rPr lang="en-US" sz="1100" dirty="0">
                <a:solidFill>
                  <a:srgbClr val="2D3748"/>
                </a:solidFill>
                <a:latin typeface="Calibri" pitchFamily="34" charset="0"/>
                <a:ea typeface="Calibri" pitchFamily="34" charset="-122"/>
                <a:cs typeface="Calibri" pitchFamily="34" charset="-120"/>
              </a:rPr>
              <a:t>Comparativa estática entre el estado base y el escenario post-shock.</a:t>
            </a:r>
            <a:endParaRPr lang="en-US" sz="1100" dirty="0"/>
          </a:p>
        </p:txBody>
      </p:sp>
      <p:sp>
        <p:nvSpPr>
          <p:cNvPr id="10" name="Shape 8"/>
          <p:cNvSpPr/>
          <p:nvPr/>
        </p:nvSpPr>
        <p:spPr>
          <a:xfrm>
            <a:off x="2926080" y="3657600"/>
            <a:ext cx="2148840" cy="2286000"/>
          </a:xfrm>
          <a:prstGeom prst="rect">
            <a:avLst/>
          </a:prstGeom>
          <a:solidFill>
            <a:srgbClr val="F5F7FA"/>
          </a:solidFill>
          <a:ln w="9525">
            <a:solidFill>
              <a:srgbClr val="E2E8F0"/>
            </a:solidFill>
            <a:prstDash val="solid"/>
          </a:ln>
        </p:spPr>
        <p:txBody>
          <a:bodyPr/>
          <a:lstStyle/>
          <a:p>
            <a:endParaRPr lang="es-CL"/>
          </a:p>
        </p:txBody>
      </p:sp>
      <p:sp>
        <p:nvSpPr>
          <p:cNvPr id="11" name="Shape 9"/>
          <p:cNvSpPr/>
          <p:nvPr/>
        </p:nvSpPr>
        <p:spPr>
          <a:xfrm>
            <a:off x="2926080" y="3657600"/>
            <a:ext cx="73152" cy="2286000"/>
          </a:xfrm>
          <a:prstGeom prst="rect">
            <a:avLst/>
          </a:prstGeom>
          <a:solidFill>
            <a:srgbClr val="D4A82A"/>
          </a:solidFill>
          <a:ln w="12700">
            <a:solidFill>
              <a:srgbClr val="D4A82A"/>
            </a:solidFill>
            <a:prstDash val="solid"/>
          </a:ln>
        </p:spPr>
        <p:txBody>
          <a:bodyPr/>
          <a:lstStyle/>
          <a:p>
            <a:endParaRPr lang="es-CL"/>
          </a:p>
        </p:txBody>
      </p:sp>
      <p:sp>
        <p:nvSpPr>
          <p:cNvPr id="12" name="Text 10"/>
          <p:cNvSpPr/>
          <p:nvPr/>
        </p:nvSpPr>
        <p:spPr>
          <a:xfrm>
            <a:off x="3154680" y="3840480"/>
            <a:ext cx="1783080" cy="457200"/>
          </a:xfrm>
          <a:prstGeom prst="rect">
            <a:avLst/>
          </a:prstGeom>
          <a:noFill/>
          <a:ln/>
        </p:spPr>
        <p:txBody>
          <a:bodyPr wrap="square" lIns="0" tIns="0" rIns="0" bIns="0" rtlCol="0" anchor="ctr"/>
          <a:lstStyle/>
          <a:p>
            <a:pPr marL="0" indent="0" algn="l">
              <a:buNone/>
            </a:pPr>
            <a:r>
              <a:rPr lang="en-US" sz="1600" b="1" dirty="0">
                <a:solidFill>
                  <a:srgbClr val="1E2761"/>
                </a:solidFill>
                <a:latin typeface="Cambria" pitchFamily="34" charset="0"/>
                <a:ea typeface="Cambria" pitchFamily="34" charset="-122"/>
                <a:cs typeface="Cambria" pitchFamily="34" charset="-120"/>
              </a:rPr>
              <a:t>Determinístico</a:t>
            </a:r>
            <a:endParaRPr lang="en-US" sz="1600" dirty="0"/>
          </a:p>
        </p:txBody>
      </p:sp>
      <p:sp>
        <p:nvSpPr>
          <p:cNvPr id="13" name="Text 11"/>
          <p:cNvSpPr/>
          <p:nvPr/>
        </p:nvSpPr>
        <p:spPr>
          <a:xfrm>
            <a:off x="3154680" y="4389120"/>
            <a:ext cx="1783080" cy="1371600"/>
          </a:xfrm>
          <a:prstGeom prst="rect">
            <a:avLst/>
          </a:prstGeom>
          <a:noFill/>
          <a:ln/>
        </p:spPr>
        <p:txBody>
          <a:bodyPr wrap="square" lIns="0" tIns="0" rIns="0" bIns="0" rtlCol="0" anchor="t"/>
          <a:lstStyle/>
          <a:p>
            <a:pPr marL="0" indent="0" algn="l">
              <a:buNone/>
            </a:pPr>
            <a:r>
              <a:rPr lang="en-US" sz="1100" dirty="0">
                <a:solidFill>
                  <a:srgbClr val="2D3748"/>
                </a:solidFill>
                <a:latin typeface="Calibri" pitchFamily="34" charset="0"/>
                <a:ea typeface="Calibri" pitchFamily="34" charset="-122"/>
                <a:cs typeface="Calibri" pitchFamily="34" charset="-120"/>
              </a:rPr>
              <a:t>Sin perturbaciones aleatorias; los resultados dependen exclusivamente de la especificación.</a:t>
            </a:r>
            <a:endParaRPr lang="en-US" sz="1100" dirty="0"/>
          </a:p>
        </p:txBody>
      </p:sp>
      <p:sp>
        <p:nvSpPr>
          <p:cNvPr id="14" name="Shape 12"/>
          <p:cNvSpPr/>
          <p:nvPr/>
        </p:nvSpPr>
        <p:spPr>
          <a:xfrm>
            <a:off x="5212080" y="3657600"/>
            <a:ext cx="2148840" cy="2286000"/>
          </a:xfrm>
          <a:prstGeom prst="rect">
            <a:avLst/>
          </a:prstGeom>
          <a:solidFill>
            <a:srgbClr val="F5F7FA"/>
          </a:solidFill>
          <a:ln w="9525">
            <a:solidFill>
              <a:srgbClr val="E2E8F0"/>
            </a:solidFill>
            <a:prstDash val="solid"/>
          </a:ln>
        </p:spPr>
        <p:txBody>
          <a:bodyPr/>
          <a:lstStyle/>
          <a:p>
            <a:endParaRPr lang="es-CL"/>
          </a:p>
        </p:txBody>
      </p:sp>
      <p:sp>
        <p:nvSpPr>
          <p:cNvPr id="15" name="Shape 13"/>
          <p:cNvSpPr/>
          <p:nvPr/>
        </p:nvSpPr>
        <p:spPr>
          <a:xfrm>
            <a:off x="5212080" y="3657600"/>
            <a:ext cx="73152" cy="2286000"/>
          </a:xfrm>
          <a:prstGeom prst="rect">
            <a:avLst/>
          </a:prstGeom>
          <a:solidFill>
            <a:srgbClr val="D4A82A"/>
          </a:solidFill>
          <a:ln w="12700">
            <a:solidFill>
              <a:srgbClr val="D4A82A"/>
            </a:solidFill>
            <a:prstDash val="solid"/>
          </a:ln>
        </p:spPr>
        <p:txBody>
          <a:bodyPr/>
          <a:lstStyle/>
          <a:p>
            <a:endParaRPr lang="es-CL"/>
          </a:p>
        </p:txBody>
      </p:sp>
      <p:sp>
        <p:nvSpPr>
          <p:cNvPr id="16" name="Text 14"/>
          <p:cNvSpPr/>
          <p:nvPr/>
        </p:nvSpPr>
        <p:spPr>
          <a:xfrm>
            <a:off x="5440680" y="3840480"/>
            <a:ext cx="1783080" cy="457200"/>
          </a:xfrm>
          <a:prstGeom prst="rect">
            <a:avLst/>
          </a:prstGeom>
          <a:noFill/>
          <a:ln/>
        </p:spPr>
        <p:txBody>
          <a:bodyPr wrap="square" lIns="0" tIns="0" rIns="0" bIns="0" rtlCol="0" anchor="ctr"/>
          <a:lstStyle/>
          <a:p>
            <a:pPr marL="0" indent="0" algn="l">
              <a:buNone/>
            </a:pPr>
            <a:r>
              <a:rPr lang="en-US" sz="1600" b="1" dirty="0">
                <a:solidFill>
                  <a:srgbClr val="1E2761"/>
                </a:solidFill>
                <a:latin typeface="Cambria" pitchFamily="34" charset="0"/>
                <a:ea typeface="Cambria" pitchFamily="34" charset="-122"/>
                <a:cs typeface="Cambria" pitchFamily="34" charset="-120"/>
              </a:rPr>
              <a:t>Calibrado a Chile 2023</a:t>
            </a:r>
            <a:endParaRPr lang="en-US" sz="1600" dirty="0"/>
          </a:p>
        </p:txBody>
      </p:sp>
      <p:sp>
        <p:nvSpPr>
          <p:cNvPr id="17" name="Text 15"/>
          <p:cNvSpPr/>
          <p:nvPr/>
        </p:nvSpPr>
        <p:spPr>
          <a:xfrm>
            <a:off x="5440680" y="4389120"/>
            <a:ext cx="1783080" cy="1371600"/>
          </a:xfrm>
          <a:prstGeom prst="rect">
            <a:avLst/>
          </a:prstGeom>
          <a:noFill/>
          <a:ln/>
        </p:spPr>
        <p:txBody>
          <a:bodyPr wrap="square" lIns="0" tIns="0" rIns="0" bIns="0" rtlCol="0" anchor="t"/>
          <a:lstStyle/>
          <a:p>
            <a:pPr marL="0" indent="0" algn="l">
              <a:buNone/>
            </a:pPr>
            <a:r>
              <a:rPr lang="en-US" sz="1100" dirty="0">
                <a:solidFill>
                  <a:srgbClr val="2D3748"/>
                </a:solidFill>
                <a:latin typeface="Calibri" pitchFamily="34" charset="0"/>
                <a:ea typeface="Calibri" pitchFamily="34" charset="-122"/>
                <a:cs typeface="Calibri" pitchFamily="34" charset="-120"/>
              </a:rPr>
              <a:t>SAM construida a partir de la matriz insumo-producto más reciente del Banco Central.</a:t>
            </a:r>
            <a:endParaRPr lang="en-US" sz="1100" dirty="0"/>
          </a:p>
        </p:txBody>
      </p:sp>
      <p:sp>
        <p:nvSpPr>
          <p:cNvPr id="18" name="Shape 16"/>
          <p:cNvSpPr/>
          <p:nvPr/>
        </p:nvSpPr>
        <p:spPr>
          <a:xfrm>
            <a:off x="7498080" y="1188720"/>
            <a:ext cx="4206240" cy="2286000"/>
          </a:xfrm>
          <a:prstGeom prst="rect">
            <a:avLst/>
          </a:prstGeom>
          <a:solidFill>
            <a:srgbClr val="1E2761"/>
          </a:solidFill>
          <a:ln w="12700">
            <a:solidFill>
              <a:srgbClr val="1E2761"/>
            </a:solidFill>
            <a:prstDash val="solid"/>
          </a:ln>
        </p:spPr>
        <p:txBody>
          <a:bodyPr/>
          <a:lstStyle/>
          <a:p>
            <a:endParaRPr lang="es-CL"/>
          </a:p>
        </p:txBody>
      </p:sp>
      <p:sp>
        <p:nvSpPr>
          <p:cNvPr id="19" name="Text 17"/>
          <p:cNvSpPr/>
          <p:nvPr/>
        </p:nvSpPr>
        <p:spPr>
          <a:xfrm>
            <a:off x="7680960" y="1280160"/>
            <a:ext cx="3840480" cy="2103120"/>
          </a:xfrm>
          <a:prstGeom prst="rect">
            <a:avLst/>
          </a:prstGeom>
          <a:noFill/>
          <a:ln/>
        </p:spPr>
        <p:txBody>
          <a:bodyPr wrap="square" lIns="0" tIns="0" rIns="0" bIns="0" rtlCol="0" anchor="t"/>
          <a:lstStyle/>
          <a:p>
            <a:pPr marL="0" indent="0" algn="l">
              <a:buNone/>
            </a:pPr>
            <a:r>
              <a:rPr lang="en-US" sz="3600" dirty="0">
                <a:solidFill>
                  <a:srgbClr val="D4A82A"/>
                </a:solidFill>
              </a:rPr>
              <a:t>“</a:t>
            </a:r>
            <a:endParaRPr lang="en-US" sz="3600" dirty="0"/>
          </a:p>
          <a:p>
            <a:pPr marL="0" indent="0" algn="l">
              <a:buNone/>
            </a:pPr>
            <a:r>
              <a:rPr lang="en-US" sz="1300" i="1" dirty="0">
                <a:solidFill>
                  <a:srgbClr val="FFFFFF"/>
                </a:solidFill>
              </a:rPr>
              <a:t>A diferencia de los análisis parciales, esta perspectiva integrada hace visible los trade-offs entre actividad, empleo, recaudación y sector externo.</a:t>
            </a:r>
            <a:endParaRPr lang="en-US" sz="3600" dirty="0"/>
          </a:p>
          <a:p>
            <a:pPr marL="0" indent="0" algn="l">
              <a:buNone/>
            </a:pPr>
            <a:r>
              <a:rPr lang="en-US" sz="800" dirty="0">
                <a:solidFill>
                  <a:srgbClr val="000000"/>
                </a:solidFill>
              </a:rPr>
              <a:t> </a:t>
            </a:r>
            <a:endParaRPr lang="en-US" sz="3600" dirty="0"/>
          </a:p>
        </p:txBody>
      </p:sp>
      <p:sp>
        <p:nvSpPr>
          <p:cNvPr id="20" name="Text 18"/>
          <p:cNvSpPr/>
          <p:nvPr/>
        </p:nvSpPr>
        <p:spPr>
          <a:xfrm>
            <a:off x="457200" y="6492240"/>
            <a:ext cx="11247120" cy="274320"/>
          </a:xfrm>
          <a:prstGeom prst="rect">
            <a:avLst/>
          </a:prstGeom>
          <a:noFill/>
          <a:ln/>
        </p:spPr>
        <p:txBody>
          <a:bodyPr wrap="square"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MEGC 12 sectores · Chile 2023 · SII</a:t>
            </a:r>
            <a:endParaRPr lang="en-US" sz="900" dirty="0"/>
          </a:p>
        </p:txBody>
      </p:sp>
      <p:sp>
        <p:nvSpPr>
          <p:cNvPr id="21" name="Shape 12">
            <a:extLst>
              <a:ext uri="{FF2B5EF4-FFF2-40B4-BE49-F238E27FC236}">
                <a16:creationId xmlns:a16="http://schemas.microsoft.com/office/drawing/2014/main" id="{9192FC71-30E9-2623-5541-A67536CF9B69}"/>
              </a:ext>
            </a:extLst>
          </p:cNvPr>
          <p:cNvSpPr/>
          <p:nvPr/>
        </p:nvSpPr>
        <p:spPr>
          <a:xfrm>
            <a:off x="7498080" y="3657600"/>
            <a:ext cx="2148840" cy="2286000"/>
          </a:xfrm>
          <a:prstGeom prst="rect">
            <a:avLst/>
          </a:prstGeom>
          <a:solidFill>
            <a:srgbClr val="F5F7FA"/>
          </a:solidFill>
          <a:ln w="9525">
            <a:solidFill>
              <a:srgbClr val="E2E8F0"/>
            </a:solidFill>
            <a:prstDash val="solid"/>
          </a:ln>
        </p:spPr>
        <p:txBody>
          <a:bodyPr/>
          <a:lstStyle/>
          <a:p>
            <a:endParaRPr lang="es-CL"/>
          </a:p>
        </p:txBody>
      </p:sp>
      <p:sp>
        <p:nvSpPr>
          <p:cNvPr id="22" name="Shape 13">
            <a:extLst>
              <a:ext uri="{FF2B5EF4-FFF2-40B4-BE49-F238E27FC236}">
                <a16:creationId xmlns:a16="http://schemas.microsoft.com/office/drawing/2014/main" id="{3E37DF4B-0129-5E41-86C3-5CD9F7FD0930}"/>
              </a:ext>
            </a:extLst>
          </p:cNvPr>
          <p:cNvSpPr/>
          <p:nvPr/>
        </p:nvSpPr>
        <p:spPr>
          <a:xfrm>
            <a:off x="7498080" y="3657600"/>
            <a:ext cx="73152" cy="2286000"/>
          </a:xfrm>
          <a:prstGeom prst="rect">
            <a:avLst/>
          </a:prstGeom>
          <a:solidFill>
            <a:srgbClr val="D4A82A"/>
          </a:solidFill>
          <a:ln w="12700">
            <a:solidFill>
              <a:srgbClr val="D4A82A"/>
            </a:solidFill>
            <a:prstDash val="solid"/>
          </a:ln>
        </p:spPr>
        <p:txBody>
          <a:bodyPr/>
          <a:lstStyle/>
          <a:p>
            <a:endParaRPr lang="es-CL"/>
          </a:p>
        </p:txBody>
      </p:sp>
      <p:sp>
        <p:nvSpPr>
          <p:cNvPr id="23" name="Text 14">
            <a:extLst>
              <a:ext uri="{FF2B5EF4-FFF2-40B4-BE49-F238E27FC236}">
                <a16:creationId xmlns:a16="http://schemas.microsoft.com/office/drawing/2014/main" id="{12C26481-AE1F-D72E-781E-7C7D5DB2A742}"/>
              </a:ext>
            </a:extLst>
          </p:cNvPr>
          <p:cNvSpPr/>
          <p:nvPr/>
        </p:nvSpPr>
        <p:spPr>
          <a:xfrm>
            <a:off x="7726680" y="3840480"/>
            <a:ext cx="1783080" cy="457200"/>
          </a:xfrm>
          <a:prstGeom prst="rect">
            <a:avLst/>
          </a:prstGeom>
          <a:noFill/>
          <a:ln/>
        </p:spPr>
        <p:txBody>
          <a:bodyPr wrap="square" lIns="0" tIns="0" rIns="0" bIns="0" rtlCol="0" anchor="ctr"/>
          <a:lstStyle/>
          <a:p>
            <a:pPr marL="0" indent="0" algn="l">
              <a:buNone/>
            </a:pPr>
            <a:r>
              <a:rPr lang="en-US" sz="1600" b="1" dirty="0" err="1">
                <a:solidFill>
                  <a:srgbClr val="1E2761"/>
                </a:solidFill>
                <a:latin typeface="Cambria" pitchFamily="34" charset="0"/>
                <a:ea typeface="Cambria" pitchFamily="34" charset="-122"/>
                <a:cs typeface="Cambria" pitchFamily="34" charset="-120"/>
              </a:rPr>
              <a:t>Implementado</a:t>
            </a:r>
            <a:r>
              <a:rPr lang="en-US" sz="1600" b="1" dirty="0">
                <a:solidFill>
                  <a:srgbClr val="1E2761"/>
                </a:solidFill>
                <a:latin typeface="Cambria" pitchFamily="34" charset="0"/>
                <a:ea typeface="Cambria" pitchFamily="34" charset="-122"/>
                <a:cs typeface="Cambria" pitchFamily="34" charset="-120"/>
              </a:rPr>
              <a:t> </a:t>
            </a:r>
            <a:r>
              <a:rPr lang="en-US" sz="1600" b="1" dirty="0" err="1">
                <a:solidFill>
                  <a:srgbClr val="1E2761"/>
                </a:solidFill>
                <a:latin typeface="Cambria" pitchFamily="34" charset="0"/>
                <a:ea typeface="Cambria" pitchFamily="34" charset="-122"/>
                <a:cs typeface="Cambria" pitchFamily="34" charset="-120"/>
              </a:rPr>
              <a:t>en</a:t>
            </a:r>
            <a:r>
              <a:rPr lang="en-US" sz="1600" b="1" dirty="0">
                <a:solidFill>
                  <a:srgbClr val="1E2761"/>
                </a:solidFill>
                <a:latin typeface="Cambria" pitchFamily="34" charset="0"/>
                <a:ea typeface="Cambria" pitchFamily="34" charset="-122"/>
                <a:cs typeface="Cambria" pitchFamily="34" charset="-120"/>
              </a:rPr>
              <a:t> R</a:t>
            </a:r>
            <a:endParaRPr lang="en-US" sz="1600" dirty="0"/>
          </a:p>
        </p:txBody>
      </p:sp>
      <p:sp>
        <p:nvSpPr>
          <p:cNvPr id="24" name="Text 15">
            <a:extLst>
              <a:ext uri="{FF2B5EF4-FFF2-40B4-BE49-F238E27FC236}">
                <a16:creationId xmlns:a16="http://schemas.microsoft.com/office/drawing/2014/main" id="{3AB10A3F-6868-6152-8D16-F5D91EB1EA10}"/>
              </a:ext>
            </a:extLst>
          </p:cNvPr>
          <p:cNvSpPr/>
          <p:nvPr/>
        </p:nvSpPr>
        <p:spPr>
          <a:xfrm>
            <a:off x="7726680" y="4389120"/>
            <a:ext cx="1783080" cy="1371600"/>
          </a:xfrm>
          <a:prstGeom prst="rect">
            <a:avLst/>
          </a:prstGeom>
          <a:noFill/>
          <a:ln/>
        </p:spPr>
        <p:txBody>
          <a:bodyPr wrap="square" lIns="0" tIns="0" rIns="0" bIns="0" rtlCol="0" anchor="t"/>
          <a:lstStyle/>
          <a:p>
            <a:pPr marL="0" indent="0" algn="l">
              <a:buNone/>
            </a:pPr>
            <a:r>
              <a:rPr lang="es-CL" sz="1100" noProof="0" dirty="0">
                <a:solidFill>
                  <a:srgbClr val="2D3748"/>
                </a:solidFill>
                <a:latin typeface="Calibri" pitchFamily="34" charset="0"/>
                <a:ea typeface="Calibri" pitchFamily="34" charset="-122"/>
                <a:cs typeface="Calibri" pitchFamily="34" charset="-120"/>
              </a:rPr>
              <a:t>Se utiliza el paquete Gecon en R.</a:t>
            </a:r>
            <a:endParaRPr lang="es-CL" sz="1100" noProof="0" dirty="0"/>
          </a:p>
        </p:txBody>
      </p:sp>
      <p:pic>
        <p:nvPicPr>
          <p:cNvPr id="26" name="Imagen 25">
            <a:hlinkClick r:id="rId3"/>
            <a:extLst>
              <a:ext uri="{FF2B5EF4-FFF2-40B4-BE49-F238E27FC236}">
                <a16:creationId xmlns:a16="http://schemas.microsoft.com/office/drawing/2014/main" id="{8F2650FD-D648-A28B-7E72-D264F351627F}"/>
              </a:ext>
            </a:extLst>
          </p:cNvPr>
          <p:cNvPicPr>
            <a:picLocks noChangeAspect="1"/>
          </p:cNvPicPr>
          <p:nvPr/>
        </p:nvPicPr>
        <p:blipFill>
          <a:blip r:embed="rId4"/>
          <a:stretch>
            <a:fillRect/>
          </a:stretch>
        </p:blipFill>
        <p:spPr>
          <a:xfrm>
            <a:off x="7662673" y="4834637"/>
            <a:ext cx="1532854" cy="83464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a:p>
        </p:txBody>
      </p:sp>
      <p:sp>
        <p:nvSpPr>
          <p:cNvPr id="3" name="Text 1"/>
          <p:cNvSpPr/>
          <p:nvPr/>
        </p:nvSpPr>
        <p:spPr>
          <a:xfrm>
            <a:off x="457200" y="384048"/>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02</a:t>
            </a:r>
            <a:endParaRPr lang="en-US" sz="1400" dirty="0"/>
          </a:p>
        </p:txBody>
      </p:sp>
      <p:sp>
        <p:nvSpPr>
          <p:cNvPr id="4" name="Text 2"/>
          <p:cNvSpPr/>
          <p:nvPr/>
        </p:nvSpPr>
        <p:spPr>
          <a:xfrm>
            <a:off x="1051560" y="365760"/>
            <a:ext cx="10698480" cy="502920"/>
          </a:xfrm>
          <a:prstGeom prst="rect">
            <a:avLst/>
          </a:prstGeom>
          <a:noFill/>
          <a:ln/>
        </p:spPr>
        <p:txBody>
          <a:bodyPr wrap="square" lIns="0" tIns="0" rIns="0" bIns="0" rtlCol="0" anchor="ctr"/>
          <a:lstStyle/>
          <a:p>
            <a:pPr marL="0" indent="0" algn="l">
              <a:buNone/>
            </a:pPr>
            <a:r>
              <a:rPr lang="en-US" sz="2400" b="1" dirty="0">
                <a:solidFill>
                  <a:srgbClr val="1E2761"/>
                </a:solidFill>
                <a:latin typeface="Cambria" pitchFamily="34" charset="0"/>
                <a:ea typeface="Cambria" pitchFamily="34" charset="-122"/>
                <a:cs typeface="Cambria" pitchFamily="34" charset="-120"/>
              </a:rPr>
              <a:t>Alcance del modelo</a:t>
            </a:r>
            <a:endParaRPr lang="en-US" sz="2400" dirty="0"/>
          </a:p>
        </p:txBody>
      </p:sp>
      <p:sp>
        <p:nvSpPr>
          <p:cNvPr id="5" name="Text 3"/>
          <p:cNvSpPr/>
          <p:nvPr/>
        </p:nvSpPr>
        <p:spPr>
          <a:xfrm>
            <a:off x="640080" y="1005840"/>
            <a:ext cx="10972800" cy="365760"/>
          </a:xfrm>
          <a:prstGeom prst="rect">
            <a:avLst/>
          </a:prstGeom>
          <a:noFill/>
          <a:ln/>
        </p:spPr>
        <p:txBody>
          <a:bodyPr wrap="square" lIns="0" tIns="0" rIns="0" bIns="0" rtlCol="0" anchor="ctr"/>
          <a:lstStyle/>
          <a:p>
            <a:pPr marL="0" indent="0" algn="l">
              <a:buNone/>
            </a:pPr>
            <a:r>
              <a:rPr lang="en-US" sz="1300" i="1" dirty="0">
                <a:solidFill>
                  <a:srgbClr val="64748B"/>
                </a:solidFill>
                <a:latin typeface="Calibri" pitchFamily="34" charset="0"/>
                <a:ea typeface="Calibri" pitchFamily="34" charset="-122"/>
                <a:cs typeface="Calibri" pitchFamily="34" charset="-120"/>
              </a:rPr>
              <a:t>Anticipar limitaciones mejora la lectura de los resultados</a:t>
            </a:r>
            <a:endParaRPr lang="en-US" sz="1300" dirty="0"/>
          </a:p>
        </p:txBody>
      </p:sp>
      <p:sp>
        <p:nvSpPr>
          <p:cNvPr id="6" name="Shape 4"/>
          <p:cNvSpPr/>
          <p:nvPr/>
        </p:nvSpPr>
        <p:spPr>
          <a:xfrm>
            <a:off x="640080" y="1554480"/>
            <a:ext cx="5486400" cy="4572000"/>
          </a:xfrm>
          <a:prstGeom prst="rect">
            <a:avLst/>
          </a:prstGeom>
          <a:solidFill>
            <a:srgbClr val="F5F7FA"/>
          </a:solidFill>
          <a:ln w="9525">
            <a:solidFill>
              <a:srgbClr val="E2E8F0"/>
            </a:solidFill>
            <a:prstDash val="solid"/>
          </a:ln>
        </p:spPr>
        <p:txBody>
          <a:bodyPr/>
          <a:lstStyle/>
          <a:p>
            <a:endParaRPr lang="es-CL"/>
          </a:p>
        </p:txBody>
      </p:sp>
      <p:sp>
        <p:nvSpPr>
          <p:cNvPr id="7" name="Shape 5"/>
          <p:cNvSpPr/>
          <p:nvPr/>
        </p:nvSpPr>
        <p:spPr>
          <a:xfrm>
            <a:off x="640080" y="1554480"/>
            <a:ext cx="73152" cy="4572000"/>
          </a:xfrm>
          <a:prstGeom prst="rect">
            <a:avLst/>
          </a:prstGeom>
          <a:solidFill>
            <a:srgbClr val="2F7D58"/>
          </a:solidFill>
          <a:ln w="12700">
            <a:solidFill>
              <a:srgbClr val="2F7D58"/>
            </a:solidFill>
            <a:prstDash val="solid"/>
          </a:ln>
        </p:spPr>
        <p:txBody>
          <a:bodyPr/>
          <a:lstStyle/>
          <a:p>
            <a:endParaRPr lang="es-CL"/>
          </a:p>
        </p:txBody>
      </p:sp>
      <p:sp>
        <p:nvSpPr>
          <p:cNvPr id="8" name="Text 6"/>
          <p:cNvSpPr/>
          <p:nvPr/>
        </p:nvSpPr>
        <p:spPr>
          <a:xfrm>
            <a:off x="822960" y="1691640"/>
            <a:ext cx="5120640" cy="457200"/>
          </a:xfrm>
          <a:prstGeom prst="rect">
            <a:avLst/>
          </a:prstGeom>
          <a:noFill/>
          <a:ln/>
        </p:spPr>
        <p:txBody>
          <a:bodyPr wrap="square" lIns="0" tIns="0" rIns="0" bIns="0" rtlCol="0" anchor="ctr"/>
          <a:lstStyle/>
          <a:p>
            <a:pPr marL="0" indent="0" algn="l">
              <a:buNone/>
            </a:pPr>
            <a:r>
              <a:rPr lang="en-US" sz="1800" b="1" dirty="0">
                <a:solidFill>
                  <a:srgbClr val="2F7D58"/>
                </a:solidFill>
                <a:latin typeface="Cambria" pitchFamily="34" charset="0"/>
                <a:ea typeface="Cambria" pitchFamily="34" charset="-122"/>
                <a:cs typeface="Cambria" pitchFamily="34" charset="-120"/>
              </a:rPr>
              <a:t>Sí responde</a:t>
            </a:r>
            <a:endParaRPr lang="en-US" sz="1800" dirty="0"/>
          </a:p>
        </p:txBody>
      </p:sp>
      <p:sp>
        <p:nvSpPr>
          <p:cNvPr id="9" name="Text 7"/>
          <p:cNvSpPr/>
          <p:nvPr/>
        </p:nvSpPr>
        <p:spPr>
          <a:xfrm>
            <a:off x="822960" y="2286000"/>
            <a:ext cx="5120640" cy="3749040"/>
          </a:xfrm>
          <a:prstGeom prst="rect">
            <a:avLst/>
          </a:prstGeom>
          <a:noFill/>
          <a:ln/>
        </p:spPr>
        <p:txBody>
          <a:bodyPr wrap="square" lIns="0" tIns="0" rIns="0" bIns="0" rtlCol="0" anchor="t"/>
          <a:lstStyle/>
          <a:p>
            <a:pPr marL="342900" indent="-342900" algn="l">
              <a:spcAft>
                <a:spcPts val="500"/>
              </a:spcAft>
              <a:buSzPct val="100000"/>
              <a:buChar char="•"/>
            </a:pPr>
            <a:r>
              <a:rPr lang="en-US" sz="1200" dirty="0">
                <a:solidFill>
                  <a:srgbClr val="2D3748"/>
                </a:solidFill>
                <a:latin typeface="Calibri" pitchFamily="34" charset="0"/>
                <a:ea typeface="Calibri" pitchFamily="34" charset="-122"/>
                <a:cs typeface="Calibri" pitchFamily="34" charset="-120"/>
              </a:rPr>
              <a:t>Efectos de equilibrio general ante reformas tributarias específicas.</a:t>
            </a:r>
            <a:endParaRPr lang="en-US" sz="1200" dirty="0"/>
          </a:p>
          <a:p>
            <a:pPr marL="342900" indent="-342900" algn="l">
              <a:spcAft>
                <a:spcPts val="500"/>
              </a:spcAft>
              <a:buSzPct val="100000"/>
              <a:buChar char="•"/>
            </a:pPr>
            <a:r>
              <a:rPr lang="en-US" sz="1200" dirty="0">
                <a:solidFill>
                  <a:srgbClr val="2D3748"/>
                </a:solidFill>
                <a:latin typeface="Calibri" pitchFamily="34" charset="0"/>
                <a:ea typeface="Calibri" pitchFamily="34" charset="-122"/>
                <a:cs typeface="Calibri" pitchFamily="34" charset="-120"/>
              </a:rPr>
              <a:t>Comparativas estáticas entre escenarios.</a:t>
            </a:r>
            <a:endParaRPr lang="en-US" sz="1200" dirty="0"/>
          </a:p>
          <a:p>
            <a:pPr marL="342900" indent="-342900" algn="l">
              <a:spcAft>
                <a:spcPts val="500"/>
              </a:spcAft>
              <a:buSzPct val="100000"/>
              <a:buChar char="•"/>
            </a:pPr>
            <a:r>
              <a:rPr lang="en-US" sz="1200" dirty="0">
                <a:solidFill>
                  <a:srgbClr val="2D3748"/>
                </a:solidFill>
                <a:latin typeface="Calibri" pitchFamily="34" charset="0"/>
                <a:ea typeface="Calibri" pitchFamily="34" charset="-122"/>
                <a:cs typeface="Calibri" pitchFamily="34" charset="-120"/>
              </a:rPr>
              <a:t>Recaudación neta por instrumento (PIT, IDPC, IVA, aranceles, etc.).</a:t>
            </a:r>
            <a:endParaRPr lang="en-US" sz="1200" dirty="0"/>
          </a:p>
          <a:p>
            <a:pPr marL="342900" indent="-342900" algn="l">
              <a:spcAft>
                <a:spcPts val="500"/>
              </a:spcAft>
              <a:buSzPct val="100000"/>
              <a:buChar char="•"/>
            </a:pPr>
            <a:r>
              <a:rPr lang="en-US" sz="1200" dirty="0">
                <a:solidFill>
                  <a:srgbClr val="2D3748"/>
                </a:solidFill>
                <a:latin typeface="Calibri" pitchFamily="34" charset="0"/>
                <a:ea typeface="Calibri" pitchFamily="34" charset="-122"/>
                <a:cs typeface="Calibri" pitchFamily="34" charset="-120"/>
              </a:rPr>
              <a:t>Descomposición sectorial agregada (12 sectores, 13 bienes).</a:t>
            </a:r>
            <a:endParaRPr lang="en-US" sz="1200" dirty="0"/>
          </a:p>
          <a:p>
            <a:pPr marL="342900" indent="-342900" algn="l">
              <a:spcAft>
                <a:spcPts val="500"/>
              </a:spcAft>
              <a:buSzPct val="100000"/>
              <a:buChar char="•"/>
            </a:pPr>
            <a:r>
              <a:rPr lang="en-US" sz="1200" dirty="0">
                <a:solidFill>
                  <a:srgbClr val="2D3748"/>
                </a:solidFill>
                <a:latin typeface="Calibri" pitchFamily="34" charset="0"/>
                <a:ea typeface="Calibri" pitchFamily="34" charset="-122"/>
                <a:cs typeface="Calibri" pitchFamily="34" charset="-120"/>
              </a:rPr>
              <a:t>Trade-offs entre actividad, empleo y balance comercial.</a:t>
            </a:r>
            <a:endParaRPr lang="en-US" sz="1200" dirty="0"/>
          </a:p>
          <a:p>
            <a:pPr marL="342900" indent="-342900" algn="l">
              <a:spcAft>
                <a:spcPts val="500"/>
              </a:spcAft>
              <a:buSzPct val="100000"/>
              <a:buChar char="•"/>
            </a:pPr>
            <a:r>
              <a:rPr lang="en-US" sz="1200" dirty="0">
                <a:solidFill>
                  <a:srgbClr val="2D3748"/>
                </a:solidFill>
                <a:latin typeface="Calibri" pitchFamily="34" charset="0"/>
                <a:ea typeface="Calibri" pitchFamily="34" charset="-122"/>
                <a:cs typeface="Calibri" pitchFamily="34" charset="-120"/>
              </a:rPr>
              <a:t>Mercado laboral con desempleo endógeno (3 tipos de trabajo).</a:t>
            </a:r>
            <a:endParaRPr lang="en-US" sz="1200" dirty="0"/>
          </a:p>
        </p:txBody>
      </p:sp>
      <p:sp>
        <p:nvSpPr>
          <p:cNvPr id="10" name="Shape 8"/>
          <p:cNvSpPr/>
          <p:nvPr/>
        </p:nvSpPr>
        <p:spPr>
          <a:xfrm>
            <a:off x="6309360" y="1554480"/>
            <a:ext cx="5486400" cy="4572000"/>
          </a:xfrm>
          <a:prstGeom prst="rect">
            <a:avLst/>
          </a:prstGeom>
          <a:solidFill>
            <a:srgbClr val="F5F7FA"/>
          </a:solidFill>
          <a:ln w="9525">
            <a:solidFill>
              <a:srgbClr val="E2E8F0"/>
            </a:solidFill>
            <a:prstDash val="solid"/>
          </a:ln>
        </p:spPr>
        <p:txBody>
          <a:bodyPr/>
          <a:lstStyle/>
          <a:p>
            <a:endParaRPr lang="es-CL"/>
          </a:p>
        </p:txBody>
      </p:sp>
      <p:sp>
        <p:nvSpPr>
          <p:cNvPr id="11" name="Shape 9"/>
          <p:cNvSpPr/>
          <p:nvPr/>
        </p:nvSpPr>
        <p:spPr>
          <a:xfrm>
            <a:off x="6309360" y="1554480"/>
            <a:ext cx="73152" cy="4572000"/>
          </a:xfrm>
          <a:prstGeom prst="rect">
            <a:avLst/>
          </a:prstGeom>
          <a:solidFill>
            <a:srgbClr val="C2562E"/>
          </a:solidFill>
          <a:ln w="12700">
            <a:solidFill>
              <a:srgbClr val="C2562E"/>
            </a:solidFill>
            <a:prstDash val="solid"/>
          </a:ln>
        </p:spPr>
        <p:txBody>
          <a:bodyPr/>
          <a:lstStyle/>
          <a:p>
            <a:endParaRPr lang="es-CL"/>
          </a:p>
        </p:txBody>
      </p:sp>
      <p:sp>
        <p:nvSpPr>
          <p:cNvPr id="12" name="Text 10"/>
          <p:cNvSpPr/>
          <p:nvPr/>
        </p:nvSpPr>
        <p:spPr>
          <a:xfrm>
            <a:off x="6492240" y="1691640"/>
            <a:ext cx="5120640" cy="457200"/>
          </a:xfrm>
          <a:prstGeom prst="rect">
            <a:avLst/>
          </a:prstGeom>
          <a:noFill/>
          <a:ln/>
        </p:spPr>
        <p:txBody>
          <a:bodyPr wrap="square" lIns="0" tIns="0" rIns="0" bIns="0" rtlCol="0" anchor="ctr"/>
          <a:lstStyle/>
          <a:p>
            <a:pPr marL="0" indent="0" algn="l">
              <a:buNone/>
            </a:pPr>
            <a:r>
              <a:rPr lang="en-US" sz="1800" b="1" dirty="0">
                <a:solidFill>
                  <a:srgbClr val="C2562E"/>
                </a:solidFill>
                <a:latin typeface="Cambria" pitchFamily="34" charset="0"/>
                <a:ea typeface="Cambria" pitchFamily="34" charset="-122"/>
                <a:cs typeface="Cambria" pitchFamily="34" charset="-120"/>
              </a:rPr>
              <a:t>No responde (en esta versión)</a:t>
            </a:r>
            <a:endParaRPr lang="en-US" sz="1800" dirty="0"/>
          </a:p>
        </p:txBody>
      </p:sp>
      <p:sp>
        <p:nvSpPr>
          <p:cNvPr id="13" name="Text 11"/>
          <p:cNvSpPr/>
          <p:nvPr/>
        </p:nvSpPr>
        <p:spPr>
          <a:xfrm>
            <a:off x="6492240" y="2286000"/>
            <a:ext cx="5120640" cy="3749040"/>
          </a:xfrm>
          <a:prstGeom prst="rect">
            <a:avLst/>
          </a:prstGeom>
          <a:noFill/>
          <a:ln/>
        </p:spPr>
        <p:txBody>
          <a:bodyPr wrap="square" lIns="0" tIns="0" rIns="0" bIns="0" rtlCol="0" anchor="t"/>
          <a:lstStyle/>
          <a:p>
            <a:pPr marL="342900" indent="-342900" algn="l">
              <a:spcAft>
                <a:spcPts val="500"/>
              </a:spcAft>
              <a:buSzPct val="100000"/>
              <a:buChar char="•"/>
            </a:pPr>
            <a:r>
              <a:rPr lang="en-US" sz="1200" dirty="0">
                <a:solidFill>
                  <a:srgbClr val="2D3748"/>
                </a:solidFill>
                <a:latin typeface="Calibri" pitchFamily="34" charset="0"/>
                <a:ea typeface="Calibri" pitchFamily="34" charset="-122"/>
                <a:cs typeface="Calibri" pitchFamily="34" charset="-120"/>
              </a:rPr>
              <a:t>Dinámica de transición: el modelo es estático.</a:t>
            </a:r>
            <a:endParaRPr lang="en-US" sz="1200" dirty="0"/>
          </a:p>
          <a:p>
            <a:pPr marL="342900" indent="-342900" algn="l">
              <a:spcAft>
                <a:spcPts val="500"/>
              </a:spcAft>
              <a:buSzPct val="100000"/>
              <a:buChar char="•"/>
            </a:pPr>
            <a:r>
              <a:rPr lang="en-US" sz="1200" dirty="0">
                <a:solidFill>
                  <a:srgbClr val="2D3748"/>
                </a:solidFill>
                <a:latin typeface="Calibri" pitchFamily="34" charset="0"/>
                <a:ea typeface="Calibri" pitchFamily="34" charset="-122"/>
                <a:cs typeface="Calibri" pitchFamily="34" charset="-120"/>
              </a:rPr>
              <a:t>Expectativas o comportamiento intertemporal.</a:t>
            </a:r>
            <a:endParaRPr lang="en-US" sz="1200" dirty="0"/>
          </a:p>
          <a:p>
            <a:pPr marL="342900" indent="-342900" algn="l">
              <a:spcAft>
                <a:spcPts val="500"/>
              </a:spcAft>
              <a:buSzPct val="100000"/>
              <a:buChar char="•"/>
            </a:pPr>
            <a:r>
              <a:rPr lang="en-US" sz="1200" dirty="0">
                <a:solidFill>
                  <a:srgbClr val="2D3748"/>
                </a:solidFill>
                <a:latin typeface="Calibri" pitchFamily="34" charset="0"/>
                <a:ea typeface="Calibri" pitchFamily="34" charset="-122"/>
                <a:cs typeface="Calibri" pitchFamily="34" charset="-120"/>
              </a:rPr>
              <a:t>Heterogeneidad de hogares; no hay análisis distributivo.</a:t>
            </a:r>
            <a:endParaRPr lang="en-US" sz="1200" dirty="0"/>
          </a:p>
          <a:p>
            <a:pPr marL="342900" indent="-342900" algn="l">
              <a:spcAft>
                <a:spcPts val="500"/>
              </a:spcAft>
              <a:buSzPct val="100000"/>
              <a:buChar char="•"/>
            </a:pPr>
            <a:r>
              <a:rPr lang="en-US" sz="1200" dirty="0">
                <a:solidFill>
                  <a:srgbClr val="2D3748"/>
                </a:solidFill>
                <a:latin typeface="Calibri" pitchFamily="34" charset="0"/>
                <a:ea typeface="Calibri" pitchFamily="34" charset="-122"/>
                <a:cs typeface="Calibri" pitchFamily="34" charset="-120"/>
              </a:rPr>
              <a:t>Informalidad laboral explícita.</a:t>
            </a:r>
            <a:endParaRPr lang="en-US" sz="1200" dirty="0"/>
          </a:p>
          <a:p>
            <a:pPr marL="342900" indent="-342900" algn="l">
              <a:spcAft>
                <a:spcPts val="500"/>
              </a:spcAft>
              <a:buSzPct val="100000"/>
              <a:buChar char="•"/>
            </a:pPr>
            <a:r>
              <a:rPr lang="en-US" sz="1200" dirty="0">
                <a:solidFill>
                  <a:srgbClr val="2D3748"/>
                </a:solidFill>
                <a:latin typeface="Calibri" pitchFamily="34" charset="0"/>
                <a:ea typeface="Calibri" pitchFamily="34" charset="-122"/>
                <a:cs typeface="Calibri" pitchFamily="34" charset="-120"/>
              </a:rPr>
              <a:t>Política monetaria (no hay dinero ni precios </a:t>
            </a:r>
            <a:r>
              <a:rPr lang="en-US" sz="1200" dirty="0" err="1">
                <a:solidFill>
                  <a:srgbClr val="2D3748"/>
                </a:solidFill>
                <a:latin typeface="Calibri" pitchFamily="34" charset="0"/>
                <a:ea typeface="Calibri" pitchFamily="34" charset="-122"/>
                <a:cs typeface="Calibri" pitchFamily="34" charset="-120"/>
              </a:rPr>
              <a:t>nominales</a:t>
            </a:r>
            <a:r>
              <a:rPr lang="en-US" sz="1200" dirty="0">
                <a:solidFill>
                  <a:srgbClr val="2D3748"/>
                </a:solidFill>
                <a:latin typeface="Calibri" pitchFamily="34" charset="0"/>
                <a:ea typeface="Calibri" pitchFamily="34" charset="-122"/>
                <a:cs typeface="Calibri" pitchFamily="34" charset="-120"/>
              </a:rPr>
              <a:t>).</a:t>
            </a:r>
            <a:endParaRPr lang="en-US" sz="1200" dirty="0"/>
          </a:p>
        </p:txBody>
      </p:sp>
      <p:sp>
        <p:nvSpPr>
          <p:cNvPr id="14" name="Text 12"/>
          <p:cNvSpPr/>
          <p:nvPr/>
        </p:nvSpPr>
        <p:spPr>
          <a:xfrm>
            <a:off x="457200" y="6492240"/>
            <a:ext cx="11247120" cy="274320"/>
          </a:xfrm>
          <a:prstGeom prst="rect">
            <a:avLst/>
          </a:prstGeom>
          <a:noFill/>
          <a:ln/>
        </p:spPr>
        <p:txBody>
          <a:bodyPr wrap="square"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MEGC 12 sectores · Chile 2023 · SII</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a:p>
        </p:txBody>
      </p:sp>
      <p:sp>
        <p:nvSpPr>
          <p:cNvPr id="3" name="Text 1"/>
          <p:cNvSpPr/>
          <p:nvPr/>
        </p:nvSpPr>
        <p:spPr>
          <a:xfrm>
            <a:off x="457200" y="384048"/>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03</a:t>
            </a:r>
            <a:endParaRPr lang="en-US" sz="1400" dirty="0"/>
          </a:p>
        </p:txBody>
      </p:sp>
      <p:sp>
        <p:nvSpPr>
          <p:cNvPr id="4" name="Text 2"/>
          <p:cNvSpPr/>
          <p:nvPr/>
        </p:nvSpPr>
        <p:spPr>
          <a:xfrm>
            <a:off x="1051560" y="365760"/>
            <a:ext cx="10698480" cy="502920"/>
          </a:xfrm>
          <a:prstGeom prst="rect">
            <a:avLst/>
          </a:prstGeom>
          <a:noFill/>
          <a:ln/>
        </p:spPr>
        <p:txBody>
          <a:bodyPr wrap="square" lIns="0" tIns="0" rIns="0" bIns="0" rtlCol="0" anchor="ctr"/>
          <a:lstStyle/>
          <a:p>
            <a:pPr marL="0" indent="0" algn="l">
              <a:buNone/>
            </a:pPr>
            <a:r>
              <a:rPr lang="en-US" sz="2400" b="1" dirty="0">
                <a:solidFill>
                  <a:srgbClr val="1E2761"/>
                </a:solidFill>
                <a:latin typeface="Cambria" pitchFamily="34" charset="0"/>
                <a:ea typeface="Cambria" pitchFamily="34" charset="-122"/>
                <a:cs typeface="Cambria" pitchFamily="34" charset="-120"/>
              </a:rPr>
              <a:t>Marco teórico: tres tradiciones</a:t>
            </a:r>
            <a:endParaRPr lang="en-US" sz="2400" dirty="0"/>
          </a:p>
        </p:txBody>
      </p:sp>
      <p:sp>
        <p:nvSpPr>
          <p:cNvPr id="5" name="Text 3"/>
          <p:cNvSpPr/>
          <p:nvPr/>
        </p:nvSpPr>
        <p:spPr>
          <a:xfrm>
            <a:off x="640080" y="1005840"/>
            <a:ext cx="10972800" cy="365760"/>
          </a:xfrm>
          <a:prstGeom prst="rect">
            <a:avLst/>
          </a:prstGeom>
          <a:noFill/>
          <a:ln/>
        </p:spPr>
        <p:txBody>
          <a:bodyPr wrap="square" lIns="0" tIns="0" rIns="0" bIns="0" rtlCol="0" anchor="ctr"/>
          <a:lstStyle/>
          <a:p>
            <a:pPr marL="0" indent="0" algn="l">
              <a:buNone/>
            </a:pPr>
            <a:r>
              <a:rPr lang="en-US" sz="1300" i="1" dirty="0">
                <a:solidFill>
                  <a:srgbClr val="64748B"/>
                </a:solidFill>
                <a:latin typeface="Calibri" pitchFamily="34" charset="0"/>
                <a:ea typeface="Calibri" pitchFamily="34" charset="-122"/>
                <a:cs typeface="Calibri" pitchFamily="34" charset="-120"/>
              </a:rPr>
              <a:t>La literatura que enmarca este trabajo se organiza en </a:t>
            </a:r>
            <a:r>
              <a:rPr lang="en-US" sz="1300" i="1" dirty="0" err="1">
                <a:solidFill>
                  <a:srgbClr val="64748B"/>
                </a:solidFill>
                <a:latin typeface="Calibri" pitchFamily="34" charset="0"/>
                <a:ea typeface="Calibri" pitchFamily="34" charset="-122"/>
                <a:cs typeface="Calibri" pitchFamily="34" charset="-120"/>
              </a:rPr>
              <a:t>tres</a:t>
            </a:r>
            <a:r>
              <a:rPr lang="en-US" sz="1300" i="1" dirty="0">
                <a:solidFill>
                  <a:srgbClr val="64748B"/>
                </a:solidFill>
                <a:latin typeface="Calibri" pitchFamily="34" charset="0"/>
                <a:ea typeface="Calibri" pitchFamily="34" charset="-122"/>
                <a:cs typeface="Calibri" pitchFamily="34" charset="-120"/>
              </a:rPr>
              <a:t> </a:t>
            </a:r>
            <a:r>
              <a:rPr lang="en-US" sz="1300" i="1" dirty="0" err="1">
                <a:solidFill>
                  <a:srgbClr val="64748B"/>
                </a:solidFill>
                <a:latin typeface="Calibri" pitchFamily="34" charset="0"/>
                <a:ea typeface="Calibri" pitchFamily="34" charset="-122"/>
                <a:cs typeface="Calibri" pitchFamily="34" charset="-120"/>
              </a:rPr>
              <a:t>dimensiones</a:t>
            </a:r>
            <a:r>
              <a:rPr lang="en-US" sz="1300" i="1" dirty="0">
                <a:solidFill>
                  <a:srgbClr val="64748B"/>
                </a:solidFill>
                <a:latin typeface="Calibri" pitchFamily="34" charset="0"/>
                <a:ea typeface="Calibri" pitchFamily="34" charset="-122"/>
                <a:cs typeface="Calibri" pitchFamily="34" charset="-120"/>
              </a:rPr>
              <a:t>.</a:t>
            </a:r>
            <a:endParaRPr lang="en-US" sz="1300" dirty="0"/>
          </a:p>
        </p:txBody>
      </p:sp>
      <p:sp>
        <p:nvSpPr>
          <p:cNvPr id="6" name="Shape 4"/>
          <p:cNvSpPr/>
          <p:nvPr/>
        </p:nvSpPr>
        <p:spPr>
          <a:xfrm>
            <a:off x="640080" y="1554480"/>
            <a:ext cx="3657600" cy="4297680"/>
          </a:xfrm>
          <a:prstGeom prst="rect">
            <a:avLst/>
          </a:prstGeom>
          <a:solidFill>
            <a:srgbClr val="F5F7FA"/>
          </a:solidFill>
          <a:ln w="9525">
            <a:solidFill>
              <a:srgbClr val="E2E8F0"/>
            </a:solidFill>
            <a:prstDash val="solid"/>
          </a:ln>
        </p:spPr>
        <p:txBody>
          <a:bodyPr/>
          <a:lstStyle/>
          <a:p>
            <a:endParaRPr lang="es-CL"/>
          </a:p>
        </p:txBody>
      </p:sp>
      <p:sp>
        <p:nvSpPr>
          <p:cNvPr id="7" name="Shape 5"/>
          <p:cNvSpPr/>
          <p:nvPr/>
        </p:nvSpPr>
        <p:spPr>
          <a:xfrm>
            <a:off x="640080" y="1554480"/>
            <a:ext cx="73152" cy="4297680"/>
          </a:xfrm>
          <a:prstGeom prst="rect">
            <a:avLst/>
          </a:prstGeom>
          <a:solidFill>
            <a:srgbClr val="1E2761"/>
          </a:solidFill>
          <a:ln w="12700">
            <a:solidFill>
              <a:srgbClr val="1E2761"/>
            </a:solidFill>
            <a:prstDash val="solid"/>
          </a:ln>
        </p:spPr>
        <p:txBody>
          <a:bodyPr/>
          <a:lstStyle/>
          <a:p>
            <a:endParaRPr lang="es-CL"/>
          </a:p>
        </p:txBody>
      </p:sp>
      <p:sp>
        <p:nvSpPr>
          <p:cNvPr id="8" name="Text 6"/>
          <p:cNvSpPr/>
          <p:nvPr/>
        </p:nvSpPr>
        <p:spPr>
          <a:xfrm>
            <a:off x="3017520" y="4572000"/>
            <a:ext cx="1097280" cy="1371600"/>
          </a:xfrm>
          <a:prstGeom prst="rect">
            <a:avLst/>
          </a:prstGeom>
          <a:noFill/>
          <a:ln/>
        </p:spPr>
        <p:txBody>
          <a:bodyPr wrap="square" lIns="0" tIns="0" rIns="0" bIns="0" rtlCol="0" anchor="b"/>
          <a:lstStyle/>
          <a:p>
            <a:pPr marL="0" indent="0" algn="r">
              <a:buNone/>
            </a:pPr>
            <a:r>
              <a:rPr lang="en-US" sz="9600" b="1" i="1" dirty="0">
                <a:solidFill>
                  <a:srgbClr val="CADCFC">
                    <a:alpha val="70000"/>
                  </a:srgbClr>
                </a:solidFill>
                <a:latin typeface="Cambria" pitchFamily="34" charset="0"/>
                <a:ea typeface="Cambria" pitchFamily="34" charset="-122"/>
                <a:cs typeface="Cambria" pitchFamily="34" charset="-120"/>
              </a:rPr>
              <a:t>1</a:t>
            </a:r>
            <a:endParaRPr lang="en-US" sz="9600" dirty="0"/>
          </a:p>
        </p:txBody>
      </p:sp>
      <p:sp>
        <p:nvSpPr>
          <p:cNvPr id="9" name="Text 7"/>
          <p:cNvSpPr/>
          <p:nvPr/>
        </p:nvSpPr>
        <p:spPr>
          <a:xfrm>
            <a:off x="868680" y="1691640"/>
            <a:ext cx="3200400" cy="640080"/>
          </a:xfrm>
          <a:prstGeom prst="rect">
            <a:avLst/>
          </a:prstGeom>
          <a:noFill/>
          <a:ln/>
        </p:spPr>
        <p:txBody>
          <a:bodyPr wrap="square" lIns="0" tIns="0" rIns="0" bIns="0" rtlCol="0" anchor="ctr"/>
          <a:lstStyle/>
          <a:p>
            <a:pPr marL="0" indent="0" algn="l">
              <a:buNone/>
            </a:pPr>
            <a:r>
              <a:rPr lang="en-US" sz="1600" b="1" dirty="0">
                <a:solidFill>
                  <a:srgbClr val="1E2761"/>
                </a:solidFill>
                <a:latin typeface="Cambria" pitchFamily="34" charset="0"/>
                <a:ea typeface="Cambria" pitchFamily="34" charset="-122"/>
                <a:cs typeface="Cambria" pitchFamily="34" charset="-120"/>
              </a:rPr>
              <a:t>1. Fundamentos teóricos</a:t>
            </a:r>
            <a:endParaRPr lang="en-US" sz="1600" dirty="0"/>
          </a:p>
        </p:txBody>
      </p:sp>
      <p:sp>
        <p:nvSpPr>
          <p:cNvPr id="10" name="Text 8"/>
          <p:cNvSpPr/>
          <p:nvPr/>
        </p:nvSpPr>
        <p:spPr>
          <a:xfrm>
            <a:off x="868680" y="2331720"/>
            <a:ext cx="3291840" cy="731520"/>
          </a:xfrm>
          <a:prstGeom prst="rect">
            <a:avLst/>
          </a:prstGeom>
          <a:noFill/>
          <a:ln/>
        </p:spPr>
        <p:txBody>
          <a:bodyPr wrap="square" lIns="0" tIns="0" rIns="0" bIns="0" rtlCol="0" anchor="t"/>
          <a:lstStyle/>
          <a:p>
            <a:pPr marL="0" indent="0" algn="l">
              <a:buNone/>
            </a:pPr>
            <a:r>
              <a:rPr lang="en-US" sz="1100" i="1" dirty="0">
                <a:solidFill>
                  <a:srgbClr val="2D3748"/>
                </a:solidFill>
                <a:latin typeface="Calibri" pitchFamily="34" charset="0"/>
                <a:ea typeface="Calibri" pitchFamily="34" charset="-122"/>
                <a:cs typeface="Calibri" pitchFamily="34" charset="-120"/>
              </a:rPr>
              <a:t>Equilibrio general y aplicación empírica a política pública</a:t>
            </a:r>
            <a:endParaRPr lang="en-US" sz="1100" dirty="0"/>
          </a:p>
        </p:txBody>
      </p:sp>
      <p:sp>
        <p:nvSpPr>
          <p:cNvPr id="11" name="Shape 9"/>
          <p:cNvSpPr/>
          <p:nvPr/>
        </p:nvSpPr>
        <p:spPr>
          <a:xfrm>
            <a:off x="868680" y="3154680"/>
            <a:ext cx="3200400" cy="0"/>
          </a:xfrm>
          <a:prstGeom prst="line">
            <a:avLst/>
          </a:prstGeom>
          <a:noFill/>
          <a:ln w="19050">
            <a:solidFill>
              <a:srgbClr val="D4A82A"/>
            </a:solidFill>
            <a:prstDash val="solid"/>
          </a:ln>
        </p:spPr>
        <p:txBody>
          <a:bodyPr/>
          <a:lstStyle/>
          <a:p>
            <a:endParaRPr lang="es-CL"/>
          </a:p>
        </p:txBody>
      </p:sp>
      <p:sp>
        <p:nvSpPr>
          <p:cNvPr id="12" name="Text 10"/>
          <p:cNvSpPr/>
          <p:nvPr/>
        </p:nvSpPr>
        <p:spPr>
          <a:xfrm>
            <a:off x="868680" y="3291840"/>
            <a:ext cx="3291840" cy="2286000"/>
          </a:xfrm>
          <a:prstGeom prst="rect">
            <a:avLst/>
          </a:prstGeom>
          <a:noFill/>
          <a:ln/>
        </p:spPr>
        <p:txBody>
          <a:bodyPr wrap="square" lIns="0" tIns="0" rIns="0" bIns="0" rtlCol="0" anchor="t"/>
          <a:lstStyle/>
          <a:p>
            <a:pPr marL="342900" indent="-342900" algn="l">
              <a:spcAft>
                <a:spcPts val="400"/>
              </a:spcAft>
              <a:buSzPct val="100000"/>
              <a:buChar char="•"/>
            </a:pPr>
            <a:r>
              <a:rPr lang="en-US" sz="1100" dirty="0">
                <a:solidFill>
                  <a:srgbClr val="2D3748"/>
                </a:solidFill>
                <a:latin typeface="Calibri" pitchFamily="34" charset="0"/>
                <a:ea typeface="Calibri" pitchFamily="34" charset="-122"/>
                <a:cs typeface="Calibri" pitchFamily="34" charset="-120"/>
              </a:rPr>
              <a:t>Arrow &amp; Debreu (1954)</a:t>
            </a:r>
            <a:endParaRPr lang="en-US" sz="1100" dirty="0"/>
          </a:p>
          <a:p>
            <a:pPr marL="342900" indent="-342900" algn="l">
              <a:spcAft>
                <a:spcPts val="400"/>
              </a:spcAft>
              <a:buSzPct val="100000"/>
              <a:buChar char="•"/>
            </a:pPr>
            <a:r>
              <a:rPr lang="en-US" sz="1100" dirty="0">
                <a:solidFill>
                  <a:srgbClr val="2D3748"/>
                </a:solidFill>
                <a:latin typeface="Calibri" pitchFamily="34" charset="0"/>
                <a:ea typeface="Calibri" pitchFamily="34" charset="-122"/>
                <a:cs typeface="Calibri" pitchFamily="34" charset="-120"/>
              </a:rPr>
              <a:t>Shoven &amp; Whalley (1992)</a:t>
            </a:r>
            <a:endParaRPr lang="en-US" sz="1100" dirty="0"/>
          </a:p>
          <a:p>
            <a:pPr marL="342900" indent="-342900" algn="l">
              <a:spcAft>
                <a:spcPts val="400"/>
              </a:spcAft>
              <a:buSzPct val="100000"/>
              <a:buChar char="•"/>
            </a:pPr>
            <a:r>
              <a:rPr lang="en-US" sz="1100" dirty="0">
                <a:solidFill>
                  <a:srgbClr val="2D3748"/>
                </a:solidFill>
                <a:latin typeface="Calibri" pitchFamily="34" charset="0"/>
                <a:ea typeface="Calibri" pitchFamily="34" charset="-122"/>
                <a:cs typeface="Calibri" pitchFamily="34" charset="-120"/>
              </a:rPr>
              <a:t>Dixon &amp; Jorgenson (2013)</a:t>
            </a:r>
            <a:endParaRPr lang="en-US" sz="1100" dirty="0"/>
          </a:p>
        </p:txBody>
      </p:sp>
      <p:sp>
        <p:nvSpPr>
          <p:cNvPr id="13" name="Shape 11"/>
          <p:cNvSpPr/>
          <p:nvPr/>
        </p:nvSpPr>
        <p:spPr>
          <a:xfrm>
            <a:off x="4434840" y="1554480"/>
            <a:ext cx="3657600" cy="4297680"/>
          </a:xfrm>
          <a:prstGeom prst="rect">
            <a:avLst/>
          </a:prstGeom>
          <a:solidFill>
            <a:srgbClr val="F5F7FA"/>
          </a:solidFill>
          <a:ln w="9525">
            <a:solidFill>
              <a:srgbClr val="E2E8F0"/>
            </a:solidFill>
            <a:prstDash val="solid"/>
          </a:ln>
        </p:spPr>
        <p:txBody>
          <a:bodyPr/>
          <a:lstStyle/>
          <a:p>
            <a:endParaRPr lang="es-CL"/>
          </a:p>
        </p:txBody>
      </p:sp>
      <p:sp>
        <p:nvSpPr>
          <p:cNvPr id="14" name="Shape 12"/>
          <p:cNvSpPr/>
          <p:nvPr/>
        </p:nvSpPr>
        <p:spPr>
          <a:xfrm>
            <a:off x="4434840" y="1554480"/>
            <a:ext cx="73152" cy="4297680"/>
          </a:xfrm>
          <a:prstGeom prst="rect">
            <a:avLst/>
          </a:prstGeom>
          <a:solidFill>
            <a:srgbClr val="1E2761"/>
          </a:solidFill>
          <a:ln w="12700">
            <a:solidFill>
              <a:srgbClr val="1E2761"/>
            </a:solidFill>
            <a:prstDash val="solid"/>
          </a:ln>
        </p:spPr>
        <p:txBody>
          <a:bodyPr/>
          <a:lstStyle/>
          <a:p>
            <a:endParaRPr lang="es-CL"/>
          </a:p>
        </p:txBody>
      </p:sp>
      <p:sp>
        <p:nvSpPr>
          <p:cNvPr id="15" name="Text 13"/>
          <p:cNvSpPr/>
          <p:nvPr/>
        </p:nvSpPr>
        <p:spPr>
          <a:xfrm>
            <a:off x="6812280" y="4572000"/>
            <a:ext cx="1097280" cy="1371600"/>
          </a:xfrm>
          <a:prstGeom prst="rect">
            <a:avLst/>
          </a:prstGeom>
          <a:noFill/>
          <a:ln/>
        </p:spPr>
        <p:txBody>
          <a:bodyPr wrap="square" lIns="0" tIns="0" rIns="0" bIns="0" rtlCol="0" anchor="b"/>
          <a:lstStyle/>
          <a:p>
            <a:pPr marL="0" indent="0" algn="r">
              <a:buNone/>
            </a:pPr>
            <a:r>
              <a:rPr lang="en-US" sz="9600" b="1" i="1" dirty="0">
                <a:solidFill>
                  <a:srgbClr val="CADCFC">
                    <a:alpha val="70000"/>
                  </a:srgbClr>
                </a:solidFill>
                <a:latin typeface="Cambria" pitchFamily="34" charset="0"/>
                <a:ea typeface="Cambria" pitchFamily="34" charset="-122"/>
                <a:cs typeface="Cambria" pitchFamily="34" charset="-120"/>
              </a:rPr>
              <a:t>2</a:t>
            </a:r>
            <a:endParaRPr lang="en-US" sz="9600" dirty="0"/>
          </a:p>
        </p:txBody>
      </p:sp>
      <p:sp>
        <p:nvSpPr>
          <p:cNvPr id="16" name="Text 14"/>
          <p:cNvSpPr/>
          <p:nvPr/>
        </p:nvSpPr>
        <p:spPr>
          <a:xfrm>
            <a:off x="4663440" y="1691640"/>
            <a:ext cx="3200400" cy="640080"/>
          </a:xfrm>
          <a:prstGeom prst="rect">
            <a:avLst/>
          </a:prstGeom>
          <a:noFill/>
          <a:ln/>
        </p:spPr>
        <p:txBody>
          <a:bodyPr wrap="square" lIns="0" tIns="0" rIns="0" bIns="0" rtlCol="0" anchor="ctr"/>
          <a:lstStyle/>
          <a:p>
            <a:pPr marL="0" indent="0" algn="l">
              <a:buNone/>
            </a:pPr>
            <a:r>
              <a:rPr lang="en-US" sz="1600" b="1" dirty="0">
                <a:solidFill>
                  <a:srgbClr val="1E2761"/>
                </a:solidFill>
                <a:latin typeface="Cambria" pitchFamily="34" charset="0"/>
                <a:ea typeface="Cambria" pitchFamily="34" charset="-122"/>
                <a:cs typeface="Cambria" pitchFamily="34" charset="-120"/>
              </a:rPr>
              <a:t>2. Modelos calibrados con SAM</a:t>
            </a:r>
            <a:endParaRPr lang="en-US" sz="1600" dirty="0"/>
          </a:p>
        </p:txBody>
      </p:sp>
      <p:sp>
        <p:nvSpPr>
          <p:cNvPr id="17" name="Text 15"/>
          <p:cNvSpPr/>
          <p:nvPr/>
        </p:nvSpPr>
        <p:spPr>
          <a:xfrm>
            <a:off x="4663440" y="2331720"/>
            <a:ext cx="3291840" cy="731520"/>
          </a:xfrm>
          <a:prstGeom prst="rect">
            <a:avLst/>
          </a:prstGeom>
          <a:noFill/>
          <a:ln/>
        </p:spPr>
        <p:txBody>
          <a:bodyPr wrap="square" lIns="0" tIns="0" rIns="0" bIns="0" rtlCol="0" anchor="t"/>
          <a:lstStyle/>
          <a:p>
            <a:pPr marL="0" indent="0" algn="l">
              <a:buNone/>
            </a:pPr>
            <a:r>
              <a:rPr lang="en-US" sz="1100" i="1" dirty="0">
                <a:solidFill>
                  <a:srgbClr val="2D3748"/>
                </a:solidFill>
                <a:latin typeface="Calibri" pitchFamily="34" charset="0"/>
                <a:ea typeface="Calibri" pitchFamily="34" charset="-122"/>
                <a:cs typeface="Calibri" pitchFamily="34" charset="-120"/>
              </a:rPr>
              <a:t>Representación coherente de flujos hogares–firmas–gobierno</a:t>
            </a:r>
            <a:endParaRPr lang="en-US" sz="1100" dirty="0"/>
          </a:p>
        </p:txBody>
      </p:sp>
      <p:sp>
        <p:nvSpPr>
          <p:cNvPr id="18" name="Shape 16"/>
          <p:cNvSpPr/>
          <p:nvPr/>
        </p:nvSpPr>
        <p:spPr>
          <a:xfrm>
            <a:off x="4663440" y="3154680"/>
            <a:ext cx="3200400" cy="0"/>
          </a:xfrm>
          <a:prstGeom prst="line">
            <a:avLst/>
          </a:prstGeom>
          <a:noFill/>
          <a:ln w="19050">
            <a:solidFill>
              <a:srgbClr val="D4A82A"/>
            </a:solidFill>
            <a:prstDash val="solid"/>
          </a:ln>
        </p:spPr>
        <p:txBody>
          <a:bodyPr/>
          <a:lstStyle/>
          <a:p>
            <a:endParaRPr lang="es-CL"/>
          </a:p>
        </p:txBody>
      </p:sp>
      <p:sp>
        <p:nvSpPr>
          <p:cNvPr id="19" name="Text 17"/>
          <p:cNvSpPr/>
          <p:nvPr/>
        </p:nvSpPr>
        <p:spPr>
          <a:xfrm>
            <a:off x="4663440" y="3291840"/>
            <a:ext cx="3291840" cy="2286000"/>
          </a:xfrm>
          <a:prstGeom prst="rect">
            <a:avLst/>
          </a:prstGeom>
          <a:noFill/>
          <a:ln/>
        </p:spPr>
        <p:txBody>
          <a:bodyPr wrap="square" lIns="0" tIns="0" rIns="0" bIns="0" rtlCol="0" anchor="t"/>
          <a:lstStyle/>
          <a:p>
            <a:pPr marL="342900" indent="-342900" algn="l">
              <a:spcAft>
                <a:spcPts val="400"/>
              </a:spcAft>
              <a:buSzPct val="100000"/>
              <a:buChar char="•"/>
            </a:pPr>
            <a:r>
              <a:rPr lang="en-US" sz="1100" dirty="0">
                <a:solidFill>
                  <a:srgbClr val="2D3748"/>
                </a:solidFill>
                <a:latin typeface="Calibri" pitchFamily="34" charset="0"/>
                <a:ea typeface="Calibri" pitchFamily="34" charset="-122"/>
                <a:cs typeface="Calibri" pitchFamily="34" charset="-120"/>
              </a:rPr>
              <a:t>Pyatt &amp; Round (1985)</a:t>
            </a:r>
            <a:endParaRPr lang="en-US" sz="1100" dirty="0"/>
          </a:p>
          <a:p>
            <a:pPr marL="342900" indent="-342900" algn="l">
              <a:spcAft>
                <a:spcPts val="400"/>
              </a:spcAft>
              <a:buSzPct val="100000"/>
              <a:buChar char="•"/>
            </a:pPr>
            <a:r>
              <a:rPr lang="en-US" sz="1100" dirty="0">
                <a:solidFill>
                  <a:srgbClr val="2D3748"/>
                </a:solidFill>
                <a:latin typeface="Calibri" pitchFamily="34" charset="0"/>
                <a:ea typeface="Calibri" pitchFamily="34" charset="-122"/>
                <a:cs typeface="Calibri" pitchFamily="34" charset="-120"/>
              </a:rPr>
              <a:t>Dervis, de Melo &amp; Robinson (1982)</a:t>
            </a:r>
            <a:endParaRPr lang="en-US" sz="1100" dirty="0"/>
          </a:p>
        </p:txBody>
      </p:sp>
      <p:sp>
        <p:nvSpPr>
          <p:cNvPr id="20" name="Shape 18"/>
          <p:cNvSpPr/>
          <p:nvPr/>
        </p:nvSpPr>
        <p:spPr>
          <a:xfrm>
            <a:off x="8229600" y="1554480"/>
            <a:ext cx="3657600" cy="4297680"/>
          </a:xfrm>
          <a:prstGeom prst="rect">
            <a:avLst/>
          </a:prstGeom>
          <a:solidFill>
            <a:srgbClr val="F5F7FA"/>
          </a:solidFill>
          <a:ln w="9525">
            <a:solidFill>
              <a:srgbClr val="E2E8F0"/>
            </a:solidFill>
            <a:prstDash val="solid"/>
          </a:ln>
        </p:spPr>
        <p:txBody>
          <a:bodyPr/>
          <a:lstStyle/>
          <a:p>
            <a:endParaRPr lang="es-CL"/>
          </a:p>
        </p:txBody>
      </p:sp>
      <p:sp>
        <p:nvSpPr>
          <p:cNvPr id="21" name="Shape 19"/>
          <p:cNvSpPr/>
          <p:nvPr/>
        </p:nvSpPr>
        <p:spPr>
          <a:xfrm>
            <a:off x="8229600" y="1554480"/>
            <a:ext cx="73152" cy="4297680"/>
          </a:xfrm>
          <a:prstGeom prst="rect">
            <a:avLst/>
          </a:prstGeom>
          <a:solidFill>
            <a:srgbClr val="1E2761"/>
          </a:solidFill>
          <a:ln w="12700">
            <a:solidFill>
              <a:srgbClr val="1E2761"/>
            </a:solidFill>
            <a:prstDash val="solid"/>
          </a:ln>
        </p:spPr>
        <p:txBody>
          <a:bodyPr/>
          <a:lstStyle/>
          <a:p>
            <a:endParaRPr lang="es-CL"/>
          </a:p>
        </p:txBody>
      </p:sp>
      <p:sp>
        <p:nvSpPr>
          <p:cNvPr id="22" name="Text 20"/>
          <p:cNvSpPr/>
          <p:nvPr/>
        </p:nvSpPr>
        <p:spPr>
          <a:xfrm>
            <a:off x="10607040" y="4572000"/>
            <a:ext cx="1097280" cy="1371600"/>
          </a:xfrm>
          <a:prstGeom prst="rect">
            <a:avLst/>
          </a:prstGeom>
          <a:noFill/>
          <a:ln/>
        </p:spPr>
        <p:txBody>
          <a:bodyPr wrap="square" lIns="0" tIns="0" rIns="0" bIns="0" rtlCol="0" anchor="b"/>
          <a:lstStyle/>
          <a:p>
            <a:pPr marL="0" indent="0" algn="r">
              <a:buNone/>
            </a:pPr>
            <a:r>
              <a:rPr lang="en-US" sz="9600" b="1" i="1" dirty="0">
                <a:solidFill>
                  <a:srgbClr val="CADCFC">
                    <a:alpha val="70000"/>
                  </a:srgbClr>
                </a:solidFill>
                <a:latin typeface="Cambria" pitchFamily="34" charset="0"/>
                <a:ea typeface="Cambria" pitchFamily="34" charset="-122"/>
                <a:cs typeface="Cambria" pitchFamily="34" charset="-120"/>
              </a:rPr>
              <a:t>3</a:t>
            </a:r>
            <a:endParaRPr lang="en-US" sz="9600" dirty="0"/>
          </a:p>
        </p:txBody>
      </p:sp>
      <p:sp>
        <p:nvSpPr>
          <p:cNvPr id="23" name="Text 21"/>
          <p:cNvSpPr/>
          <p:nvPr/>
        </p:nvSpPr>
        <p:spPr>
          <a:xfrm>
            <a:off x="8458200" y="1691640"/>
            <a:ext cx="3200400" cy="640080"/>
          </a:xfrm>
          <a:prstGeom prst="rect">
            <a:avLst/>
          </a:prstGeom>
          <a:noFill/>
          <a:ln/>
        </p:spPr>
        <p:txBody>
          <a:bodyPr wrap="square" lIns="0" tIns="0" rIns="0" bIns="0" rtlCol="0" anchor="ctr"/>
          <a:lstStyle/>
          <a:p>
            <a:pPr marL="0" indent="0" algn="l">
              <a:buNone/>
            </a:pPr>
            <a:r>
              <a:rPr lang="en-US" sz="1600" b="1" dirty="0">
                <a:solidFill>
                  <a:srgbClr val="1E2761"/>
                </a:solidFill>
                <a:latin typeface="Cambria" pitchFamily="34" charset="0"/>
                <a:ea typeface="Cambria" pitchFamily="34" charset="-122"/>
                <a:cs typeface="Cambria" pitchFamily="34" charset="-120"/>
              </a:rPr>
              <a:t>3. Evaluación tributaria</a:t>
            </a:r>
            <a:endParaRPr lang="en-US" sz="1600" dirty="0"/>
          </a:p>
        </p:txBody>
      </p:sp>
      <p:sp>
        <p:nvSpPr>
          <p:cNvPr id="24" name="Text 22"/>
          <p:cNvSpPr/>
          <p:nvPr/>
        </p:nvSpPr>
        <p:spPr>
          <a:xfrm>
            <a:off x="8458200" y="2331720"/>
            <a:ext cx="3291840" cy="731520"/>
          </a:xfrm>
          <a:prstGeom prst="rect">
            <a:avLst/>
          </a:prstGeom>
          <a:noFill/>
          <a:ln/>
        </p:spPr>
        <p:txBody>
          <a:bodyPr wrap="square" lIns="0" tIns="0" rIns="0" bIns="0" rtlCol="0" anchor="t"/>
          <a:lstStyle/>
          <a:p>
            <a:pPr marL="0" indent="0" algn="l">
              <a:buNone/>
            </a:pPr>
            <a:r>
              <a:rPr lang="en-US" sz="1100" i="1" dirty="0">
                <a:solidFill>
                  <a:srgbClr val="2D3748"/>
                </a:solidFill>
                <a:latin typeface="Calibri" pitchFamily="34" charset="0"/>
                <a:ea typeface="Calibri" pitchFamily="34" charset="-122"/>
                <a:cs typeface="Calibri" pitchFamily="34" charset="-120"/>
              </a:rPr>
              <a:t>Recaudación, bienestar y composición de la demanda agregada</a:t>
            </a:r>
            <a:endParaRPr lang="en-US" sz="1100" dirty="0"/>
          </a:p>
        </p:txBody>
      </p:sp>
      <p:sp>
        <p:nvSpPr>
          <p:cNvPr id="25" name="Shape 23"/>
          <p:cNvSpPr/>
          <p:nvPr/>
        </p:nvSpPr>
        <p:spPr>
          <a:xfrm>
            <a:off x="8458200" y="3154680"/>
            <a:ext cx="3200400" cy="0"/>
          </a:xfrm>
          <a:prstGeom prst="line">
            <a:avLst/>
          </a:prstGeom>
          <a:noFill/>
          <a:ln w="19050">
            <a:solidFill>
              <a:srgbClr val="D4A82A"/>
            </a:solidFill>
            <a:prstDash val="solid"/>
          </a:ln>
        </p:spPr>
        <p:txBody>
          <a:bodyPr/>
          <a:lstStyle/>
          <a:p>
            <a:endParaRPr lang="es-CL"/>
          </a:p>
        </p:txBody>
      </p:sp>
      <p:sp>
        <p:nvSpPr>
          <p:cNvPr id="26" name="Text 24"/>
          <p:cNvSpPr/>
          <p:nvPr/>
        </p:nvSpPr>
        <p:spPr>
          <a:xfrm>
            <a:off x="8458200" y="3291840"/>
            <a:ext cx="3291840" cy="2286000"/>
          </a:xfrm>
          <a:prstGeom prst="rect">
            <a:avLst/>
          </a:prstGeom>
          <a:noFill/>
          <a:ln/>
        </p:spPr>
        <p:txBody>
          <a:bodyPr wrap="square" lIns="0" tIns="0" rIns="0" bIns="0" rtlCol="0" anchor="t"/>
          <a:lstStyle/>
          <a:p>
            <a:pPr marL="342900" indent="-342900" algn="l">
              <a:spcAft>
                <a:spcPts val="400"/>
              </a:spcAft>
              <a:buSzPct val="100000"/>
              <a:buChar char="•"/>
            </a:pPr>
            <a:r>
              <a:rPr lang="en-US" sz="1100" dirty="0">
                <a:solidFill>
                  <a:srgbClr val="2D3748"/>
                </a:solidFill>
                <a:latin typeface="Calibri" pitchFamily="34" charset="0"/>
                <a:ea typeface="Calibri" pitchFamily="34" charset="-122"/>
                <a:cs typeface="Calibri" pitchFamily="34" charset="-120"/>
              </a:rPr>
              <a:t>Ballard, Fullerton, Shoven &amp; Whalley (1985)</a:t>
            </a:r>
            <a:endParaRPr lang="en-US" sz="1100" dirty="0"/>
          </a:p>
        </p:txBody>
      </p:sp>
      <p:sp>
        <p:nvSpPr>
          <p:cNvPr id="27" name="Text 25"/>
          <p:cNvSpPr/>
          <p:nvPr/>
        </p:nvSpPr>
        <p:spPr>
          <a:xfrm>
            <a:off x="640080" y="6035040"/>
            <a:ext cx="10972800" cy="274320"/>
          </a:xfrm>
          <a:prstGeom prst="rect">
            <a:avLst/>
          </a:prstGeom>
          <a:noFill/>
          <a:ln/>
        </p:spPr>
        <p:txBody>
          <a:bodyPr wrap="square" lIns="0" tIns="0" rIns="0" bIns="0" rtlCol="0" anchor="ctr"/>
          <a:lstStyle/>
          <a:p>
            <a:pPr marL="0" indent="0" algn="l">
              <a:buNone/>
            </a:pPr>
            <a:r>
              <a:rPr lang="en-US" sz="900" i="1" dirty="0">
                <a:solidFill>
                  <a:srgbClr val="64748B"/>
                </a:solidFill>
                <a:latin typeface="Calibri" pitchFamily="34" charset="0"/>
                <a:ea typeface="Calibri" pitchFamily="34" charset="-122"/>
                <a:cs typeface="Calibri" pitchFamily="34" charset="-120"/>
              </a:rPr>
              <a:t>Construcción de la SAM: metodología matricial de Venegas (2013), adaptada a Chile 2023.</a:t>
            </a:r>
            <a:endParaRPr lang="en-US" sz="900" dirty="0"/>
          </a:p>
        </p:txBody>
      </p:sp>
      <p:sp>
        <p:nvSpPr>
          <p:cNvPr id="28" name="Text 26"/>
          <p:cNvSpPr/>
          <p:nvPr/>
        </p:nvSpPr>
        <p:spPr>
          <a:xfrm>
            <a:off x="457200" y="6492240"/>
            <a:ext cx="11247120" cy="274320"/>
          </a:xfrm>
          <a:prstGeom prst="rect">
            <a:avLst/>
          </a:prstGeom>
          <a:noFill/>
          <a:ln/>
        </p:spPr>
        <p:txBody>
          <a:bodyPr wrap="square"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MEGC 12 sectores · Chile 2023 · SII</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a:p>
        </p:txBody>
      </p:sp>
      <p:sp>
        <p:nvSpPr>
          <p:cNvPr id="3" name="Text 1"/>
          <p:cNvSpPr/>
          <p:nvPr/>
        </p:nvSpPr>
        <p:spPr>
          <a:xfrm>
            <a:off x="457200" y="384048"/>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04</a:t>
            </a:r>
            <a:endParaRPr lang="en-US" sz="1400" dirty="0"/>
          </a:p>
        </p:txBody>
      </p:sp>
      <p:sp>
        <p:nvSpPr>
          <p:cNvPr id="4" name="Text 2"/>
          <p:cNvSpPr/>
          <p:nvPr/>
        </p:nvSpPr>
        <p:spPr>
          <a:xfrm>
            <a:off x="1051560" y="365760"/>
            <a:ext cx="10698480" cy="502920"/>
          </a:xfrm>
          <a:prstGeom prst="rect">
            <a:avLst/>
          </a:prstGeom>
          <a:noFill/>
          <a:ln/>
        </p:spPr>
        <p:txBody>
          <a:bodyPr wrap="square" lIns="0" tIns="0" rIns="0" bIns="0" rtlCol="0" anchor="ctr"/>
          <a:lstStyle/>
          <a:p>
            <a:pPr marL="0" indent="0" algn="l">
              <a:buNone/>
            </a:pPr>
            <a:r>
              <a:rPr lang="en-US" sz="2400" b="1" dirty="0">
                <a:solidFill>
                  <a:srgbClr val="1E2761"/>
                </a:solidFill>
                <a:latin typeface="Cambria" pitchFamily="34" charset="0"/>
                <a:ea typeface="Cambria" pitchFamily="34" charset="-122"/>
                <a:cs typeface="Cambria" pitchFamily="34" charset="-120"/>
              </a:rPr>
              <a:t>Mapa conceptual: bloques del modelo</a:t>
            </a:r>
            <a:endParaRPr lang="en-US" sz="2400" dirty="0"/>
          </a:p>
        </p:txBody>
      </p:sp>
      <p:sp>
        <p:nvSpPr>
          <p:cNvPr id="5" name="Text 3"/>
          <p:cNvSpPr/>
          <p:nvPr/>
        </p:nvSpPr>
        <p:spPr>
          <a:xfrm>
            <a:off x="640080" y="1005840"/>
            <a:ext cx="10972800" cy="365760"/>
          </a:xfrm>
          <a:prstGeom prst="rect">
            <a:avLst/>
          </a:prstGeom>
          <a:noFill/>
          <a:ln/>
        </p:spPr>
        <p:txBody>
          <a:bodyPr wrap="square" lIns="0" tIns="0" rIns="0" bIns="0" rtlCol="0" anchor="ctr"/>
          <a:lstStyle/>
          <a:p>
            <a:pPr marL="0" indent="0" algn="l">
              <a:buNone/>
            </a:pPr>
            <a:r>
              <a:rPr lang="en-US" sz="1300" i="1" dirty="0">
                <a:solidFill>
                  <a:srgbClr val="64748B"/>
                </a:solidFill>
                <a:latin typeface="Calibri" pitchFamily="34" charset="0"/>
                <a:ea typeface="Calibri" pitchFamily="34" charset="-122"/>
                <a:cs typeface="Calibri" pitchFamily="34" charset="-120"/>
              </a:rPr>
              <a:t>Hogar representativo, 12 sectores, gobierno, firmas, sector externo y bloque ahorro–inversión.</a:t>
            </a:r>
            <a:endParaRPr lang="en-US" sz="1300" dirty="0"/>
          </a:p>
        </p:txBody>
      </p:sp>
      <p:sp>
        <p:nvSpPr>
          <p:cNvPr id="6" name="Shape 4"/>
          <p:cNvSpPr/>
          <p:nvPr/>
        </p:nvSpPr>
        <p:spPr>
          <a:xfrm>
            <a:off x="5166360" y="3657600"/>
            <a:ext cx="1828800" cy="1097280"/>
          </a:xfrm>
          <a:prstGeom prst="rect">
            <a:avLst/>
          </a:prstGeom>
          <a:solidFill>
            <a:srgbClr val="1E2761"/>
          </a:solidFill>
          <a:ln w="12700">
            <a:solidFill>
              <a:srgbClr val="1E2761"/>
            </a:solidFill>
            <a:prstDash val="solid"/>
          </a:ln>
        </p:spPr>
        <p:txBody>
          <a:bodyPr/>
          <a:lstStyle/>
          <a:p>
            <a:endParaRPr lang="es-CL"/>
          </a:p>
        </p:txBody>
      </p:sp>
      <p:sp>
        <p:nvSpPr>
          <p:cNvPr id="7" name="Text 5"/>
          <p:cNvSpPr/>
          <p:nvPr/>
        </p:nvSpPr>
        <p:spPr>
          <a:xfrm>
            <a:off x="5166360" y="3657600"/>
            <a:ext cx="1828800" cy="109728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PRODUCTOS</a:t>
            </a:r>
            <a:endParaRPr lang="en-US" sz="1200" dirty="0"/>
          </a:p>
          <a:p>
            <a:pPr marL="0" indent="0" algn="ctr">
              <a:buNone/>
            </a:pPr>
            <a:r>
              <a:rPr lang="en-US" sz="1200" b="1" dirty="0">
                <a:solidFill>
                  <a:srgbClr val="FFFFFF"/>
                </a:solidFill>
                <a:latin typeface="Cambria" pitchFamily="34" charset="0"/>
                <a:ea typeface="Cambria" pitchFamily="34" charset="-122"/>
                <a:cs typeface="Cambria" pitchFamily="34" charset="-120"/>
              </a:rPr>
              <a:t>(CET / Armington)</a:t>
            </a:r>
            <a:endParaRPr lang="en-US" sz="1200" dirty="0"/>
          </a:p>
        </p:txBody>
      </p:sp>
      <p:sp>
        <p:nvSpPr>
          <p:cNvPr id="8" name="Shape 6"/>
          <p:cNvSpPr/>
          <p:nvPr/>
        </p:nvSpPr>
        <p:spPr>
          <a:xfrm>
            <a:off x="1828800" y="3657600"/>
            <a:ext cx="2194560" cy="1097280"/>
          </a:xfrm>
          <a:prstGeom prst="rect">
            <a:avLst/>
          </a:prstGeom>
          <a:solidFill>
            <a:srgbClr val="CADCFC"/>
          </a:solidFill>
          <a:ln w="12700">
            <a:solidFill>
              <a:srgbClr val="E2E8F0"/>
            </a:solidFill>
            <a:prstDash val="solid"/>
          </a:ln>
        </p:spPr>
        <p:txBody>
          <a:bodyPr/>
          <a:lstStyle/>
          <a:p>
            <a:endParaRPr lang="es-CL"/>
          </a:p>
        </p:txBody>
      </p:sp>
      <p:sp>
        <p:nvSpPr>
          <p:cNvPr id="9" name="Text 7"/>
          <p:cNvSpPr/>
          <p:nvPr/>
        </p:nvSpPr>
        <p:spPr>
          <a:xfrm>
            <a:off x="1828800" y="3657600"/>
            <a:ext cx="2194560" cy="1097280"/>
          </a:xfrm>
          <a:prstGeom prst="rect">
            <a:avLst/>
          </a:prstGeom>
          <a:noFill/>
          <a:ln/>
        </p:spPr>
        <p:txBody>
          <a:bodyPr wrap="square" lIns="0" tIns="0" rIns="0" bIns="0" rtlCol="0" anchor="ctr"/>
          <a:lstStyle/>
          <a:p>
            <a:pPr marL="0" indent="0" algn="ctr">
              <a:buNone/>
            </a:pPr>
            <a:r>
              <a:rPr lang="en-US" sz="1100" b="1" dirty="0">
                <a:solidFill>
                  <a:srgbClr val="1E2761"/>
                </a:solidFill>
                <a:latin typeface="Cambria" pitchFamily="34" charset="0"/>
                <a:ea typeface="Cambria" pitchFamily="34" charset="-122"/>
                <a:cs typeface="Cambria" pitchFamily="34" charset="-120"/>
              </a:rPr>
              <a:t>SECTORES</a:t>
            </a:r>
            <a:endParaRPr lang="en-US" sz="1100" dirty="0"/>
          </a:p>
          <a:p>
            <a:pPr marL="0" indent="0" algn="ctr">
              <a:buNone/>
            </a:pPr>
            <a:r>
              <a:rPr lang="en-US" sz="1100" b="1" dirty="0">
                <a:solidFill>
                  <a:srgbClr val="1E2761"/>
                </a:solidFill>
                <a:latin typeface="Cambria" pitchFamily="34" charset="0"/>
                <a:ea typeface="Cambria" pitchFamily="34" charset="-122"/>
                <a:cs typeface="Cambria" pitchFamily="34" charset="-120"/>
              </a:rPr>
              <a:t>12 actividades productivas</a:t>
            </a:r>
            <a:endParaRPr lang="en-US" sz="1100" dirty="0"/>
          </a:p>
        </p:txBody>
      </p:sp>
      <p:sp>
        <p:nvSpPr>
          <p:cNvPr id="10" name="Shape 8"/>
          <p:cNvSpPr/>
          <p:nvPr/>
        </p:nvSpPr>
        <p:spPr>
          <a:xfrm>
            <a:off x="1828800" y="1828800"/>
            <a:ext cx="2194560" cy="1097280"/>
          </a:xfrm>
          <a:prstGeom prst="rect">
            <a:avLst/>
          </a:prstGeom>
          <a:solidFill>
            <a:srgbClr val="F5F7FA"/>
          </a:solidFill>
          <a:ln w="12700">
            <a:solidFill>
              <a:srgbClr val="E2E8F0"/>
            </a:solidFill>
            <a:prstDash val="solid"/>
          </a:ln>
        </p:spPr>
        <p:txBody>
          <a:bodyPr/>
          <a:lstStyle/>
          <a:p>
            <a:endParaRPr lang="es-CL"/>
          </a:p>
        </p:txBody>
      </p:sp>
      <p:sp>
        <p:nvSpPr>
          <p:cNvPr id="11" name="Text 9"/>
          <p:cNvSpPr/>
          <p:nvPr/>
        </p:nvSpPr>
        <p:spPr>
          <a:xfrm>
            <a:off x="1828800" y="1828800"/>
            <a:ext cx="2194560" cy="1097280"/>
          </a:xfrm>
          <a:prstGeom prst="rect">
            <a:avLst/>
          </a:prstGeom>
          <a:noFill/>
          <a:ln/>
        </p:spPr>
        <p:txBody>
          <a:bodyPr wrap="square" lIns="0" tIns="0" rIns="0" bIns="0" rtlCol="0" anchor="ctr"/>
          <a:lstStyle/>
          <a:p>
            <a:pPr marL="0" indent="0" algn="ctr">
              <a:buNone/>
            </a:pPr>
            <a:r>
              <a:rPr lang="en-US" sz="1100" b="1" dirty="0">
                <a:solidFill>
                  <a:srgbClr val="1E2761"/>
                </a:solidFill>
                <a:latin typeface="Cambria" pitchFamily="34" charset="0"/>
                <a:ea typeface="Cambria" pitchFamily="34" charset="-122"/>
                <a:cs typeface="Cambria" pitchFamily="34" charset="-120"/>
              </a:rPr>
              <a:t>HOGARES</a:t>
            </a:r>
            <a:endParaRPr lang="en-US" sz="1100" dirty="0"/>
          </a:p>
          <a:p>
            <a:pPr marL="0" indent="0" algn="ctr">
              <a:buNone/>
            </a:pPr>
            <a:r>
              <a:rPr lang="en-US" sz="1100" b="1" dirty="0">
                <a:solidFill>
                  <a:srgbClr val="1E2761"/>
                </a:solidFill>
                <a:latin typeface="Cambria" pitchFamily="34" charset="0"/>
                <a:ea typeface="Cambria" pitchFamily="34" charset="-122"/>
                <a:cs typeface="Cambria" pitchFamily="34" charset="-120"/>
              </a:rPr>
              <a:t>Utilidad CES</a:t>
            </a:r>
            <a:endParaRPr lang="en-US" sz="1100" dirty="0"/>
          </a:p>
        </p:txBody>
      </p:sp>
      <p:sp>
        <p:nvSpPr>
          <p:cNvPr id="12" name="Shape 10"/>
          <p:cNvSpPr/>
          <p:nvPr/>
        </p:nvSpPr>
        <p:spPr>
          <a:xfrm>
            <a:off x="4983480" y="1828800"/>
            <a:ext cx="2194560" cy="1097280"/>
          </a:xfrm>
          <a:prstGeom prst="rect">
            <a:avLst/>
          </a:prstGeom>
          <a:solidFill>
            <a:srgbClr val="F5F7FA"/>
          </a:solidFill>
          <a:ln w="12700">
            <a:solidFill>
              <a:srgbClr val="E2E8F0"/>
            </a:solidFill>
            <a:prstDash val="solid"/>
          </a:ln>
        </p:spPr>
        <p:txBody>
          <a:bodyPr/>
          <a:lstStyle/>
          <a:p>
            <a:endParaRPr lang="es-CL"/>
          </a:p>
        </p:txBody>
      </p:sp>
      <p:sp>
        <p:nvSpPr>
          <p:cNvPr id="13" name="Text 11"/>
          <p:cNvSpPr/>
          <p:nvPr/>
        </p:nvSpPr>
        <p:spPr>
          <a:xfrm>
            <a:off x="4869180" y="1851661"/>
            <a:ext cx="2194560" cy="1097280"/>
          </a:xfrm>
          <a:prstGeom prst="rect">
            <a:avLst/>
          </a:prstGeom>
          <a:noFill/>
          <a:ln/>
        </p:spPr>
        <p:txBody>
          <a:bodyPr wrap="square" lIns="0" tIns="0" rIns="0" bIns="0" rtlCol="0" anchor="ctr"/>
          <a:lstStyle/>
          <a:p>
            <a:pPr marL="0" indent="0" algn="ctr">
              <a:buNone/>
            </a:pPr>
            <a:r>
              <a:rPr lang="en-US" sz="1100" b="1" dirty="0">
                <a:solidFill>
                  <a:srgbClr val="1E2761"/>
                </a:solidFill>
                <a:latin typeface="Cambria" pitchFamily="34" charset="0"/>
                <a:ea typeface="Cambria" pitchFamily="34" charset="-122"/>
                <a:cs typeface="Cambria" pitchFamily="34" charset="-120"/>
              </a:rPr>
              <a:t>FIRMAS</a:t>
            </a:r>
            <a:endParaRPr lang="en-US" sz="1100" dirty="0"/>
          </a:p>
          <a:p>
            <a:pPr marL="0" indent="0" algn="ctr">
              <a:buNone/>
            </a:pPr>
            <a:r>
              <a:rPr lang="en-US" sz="1100" b="1" dirty="0">
                <a:solidFill>
                  <a:srgbClr val="1E2761"/>
                </a:solidFill>
                <a:latin typeface="Cambria" pitchFamily="34" charset="0"/>
                <a:ea typeface="Cambria" pitchFamily="34" charset="-122"/>
                <a:cs typeface="Cambria" pitchFamily="34" charset="-120"/>
              </a:rPr>
              <a:t>Dividendos / ahorro</a:t>
            </a:r>
            <a:endParaRPr lang="en-US" sz="1100" dirty="0"/>
          </a:p>
        </p:txBody>
      </p:sp>
      <p:sp>
        <p:nvSpPr>
          <p:cNvPr id="14" name="Shape 12"/>
          <p:cNvSpPr/>
          <p:nvPr/>
        </p:nvSpPr>
        <p:spPr>
          <a:xfrm>
            <a:off x="8138160" y="1828800"/>
            <a:ext cx="2194560" cy="1097280"/>
          </a:xfrm>
          <a:prstGeom prst="rect">
            <a:avLst/>
          </a:prstGeom>
          <a:solidFill>
            <a:srgbClr val="F5F7FA"/>
          </a:solidFill>
          <a:ln w="12700">
            <a:solidFill>
              <a:srgbClr val="E2E8F0"/>
            </a:solidFill>
            <a:prstDash val="solid"/>
          </a:ln>
        </p:spPr>
        <p:txBody>
          <a:bodyPr/>
          <a:lstStyle/>
          <a:p>
            <a:endParaRPr lang="es-CL"/>
          </a:p>
        </p:txBody>
      </p:sp>
      <p:sp>
        <p:nvSpPr>
          <p:cNvPr id="15" name="Text 13"/>
          <p:cNvSpPr/>
          <p:nvPr/>
        </p:nvSpPr>
        <p:spPr>
          <a:xfrm>
            <a:off x="8138160" y="1828800"/>
            <a:ext cx="2194560" cy="1097280"/>
          </a:xfrm>
          <a:prstGeom prst="rect">
            <a:avLst/>
          </a:prstGeom>
          <a:noFill/>
          <a:ln/>
        </p:spPr>
        <p:txBody>
          <a:bodyPr wrap="square" lIns="0" tIns="0" rIns="0" bIns="0" rtlCol="0" anchor="ctr"/>
          <a:lstStyle/>
          <a:p>
            <a:pPr marL="0" indent="0" algn="ctr">
              <a:buNone/>
            </a:pPr>
            <a:r>
              <a:rPr lang="en-US" sz="1100" b="1" dirty="0">
                <a:solidFill>
                  <a:srgbClr val="1E2761"/>
                </a:solidFill>
                <a:latin typeface="Cambria" pitchFamily="34" charset="0"/>
                <a:ea typeface="Cambria" pitchFamily="34" charset="-122"/>
                <a:cs typeface="Cambria" pitchFamily="34" charset="-120"/>
              </a:rPr>
              <a:t>GOBIERNO</a:t>
            </a:r>
            <a:endParaRPr lang="en-US" sz="1100" dirty="0"/>
          </a:p>
          <a:p>
            <a:pPr marL="0" indent="0" algn="ctr">
              <a:buNone/>
            </a:pPr>
            <a:r>
              <a:rPr lang="en-US" sz="1100" b="1" dirty="0">
                <a:solidFill>
                  <a:srgbClr val="1E2761"/>
                </a:solidFill>
                <a:latin typeface="Cambria" pitchFamily="34" charset="0"/>
                <a:ea typeface="Cambria" pitchFamily="34" charset="-122"/>
                <a:cs typeface="Cambria" pitchFamily="34" charset="-120"/>
              </a:rPr>
              <a:t>Recaudación / gasto</a:t>
            </a:r>
            <a:endParaRPr lang="en-US" sz="1100" dirty="0"/>
          </a:p>
        </p:txBody>
      </p:sp>
      <p:sp>
        <p:nvSpPr>
          <p:cNvPr id="16" name="Shape 14"/>
          <p:cNvSpPr/>
          <p:nvPr/>
        </p:nvSpPr>
        <p:spPr>
          <a:xfrm>
            <a:off x="8138160" y="3657600"/>
            <a:ext cx="2194560" cy="1097280"/>
          </a:xfrm>
          <a:prstGeom prst="rect">
            <a:avLst/>
          </a:prstGeom>
          <a:solidFill>
            <a:srgbClr val="CADCFC"/>
          </a:solidFill>
          <a:ln w="12700">
            <a:solidFill>
              <a:srgbClr val="E2E8F0"/>
            </a:solidFill>
            <a:prstDash val="solid"/>
          </a:ln>
        </p:spPr>
        <p:txBody>
          <a:bodyPr/>
          <a:lstStyle/>
          <a:p>
            <a:endParaRPr lang="es-CL"/>
          </a:p>
        </p:txBody>
      </p:sp>
      <p:sp>
        <p:nvSpPr>
          <p:cNvPr id="17" name="Text 15"/>
          <p:cNvSpPr/>
          <p:nvPr/>
        </p:nvSpPr>
        <p:spPr>
          <a:xfrm>
            <a:off x="8138160" y="3657600"/>
            <a:ext cx="2194560" cy="1097280"/>
          </a:xfrm>
          <a:prstGeom prst="rect">
            <a:avLst/>
          </a:prstGeom>
          <a:noFill/>
          <a:ln/>
        </p:spPr>
        <p:txBody>
          <a:bodyPr wrap="square" lIns="0" tIns="0" rIns="0" bIns="0" rtlCol="0" anchor="ctr"/>
          <a:lstStyle/>
          <a:p>
            <a:pPr marL="0" indent="0" algn="ctr">
              <a:buNone/>
            </a:pPr>
            <a:r>
              <a:rPr lang="en-US" sz="1100" b="1" dirty="0">
                <a:solidFill>
                  <a:srgbClr val="1E2761"/>
                </a:solidFill>
                <a:latin typeface="Cambria" pitchFamily="34" charset="0"/>
                <a:ea typeface="Cambria" pitchFamily="34" charset="-122"/>
                <a:cs typeface="Cambria" pitchFamily="34" charset="-120"/>
              </a:rPr>
              <a:t>SECTOR EXTERNO</a:t>
            </a:r>
            <a:endParaRPr lang="en-US" sz="1100" dirty="0"/>
          </a:p>
          <a:p>
            <a:pPr marL="0" indent="0" algn="ctr">
              <a:buNone/>
            </a:pPr>
            <a:r>
              <a:rPr lang="en-US" sz="1100" b="1" dirty="0">
                <a:solidFill>
                  <a:srgbClr val="1E2761"/>
                </a:solidFill>
                <a:latin typeface="Cambria" pitchFamily="34" charset="0"/>
                <a:ea typeface="Cambria" pitchFamily="34" charset="-122"/>
                <a:cs typeface="Cambria" pitchFamily="34" charset="-120"/>
              </a:rPr>
              <a:t>Resto del mundo</a:t>
            </a:r>
            <a:endParaRPr lang="en-US" sz="1100" dirty="0"/>
          </a:p>
        </p:txBody>
      </p:sp>
      <p:sp>
        <p:nvSpPr>
          <p:cNvPr id="18" name="Shape 16"/>
          <p:cNvSpPr/>
          <p:nvPr/>
        </p:nvSpPr>
        <p:spPr>
          <a:xfrm>
            <a:off x="5787893" y="5262816"/>
            <a:ext cx="2194560" cy="640080"/>
          </a:xfrm>
          <a:prstGeom prst="rect">
            <a:avLst/>
          </a:prstGeom>
          <a:solidFill>
            <a:srgbClr val="D4A82A"/>
          </a:solidFill>
          <a:ln w="12700">
            <a:solidFill>
              <a:srgbClr val="E2E8F0"/>
            </a:solidFill>
            <a:prstDash val="solid"/>
          </a:ln>
        </p:spPr>
        <p:txBody>
          <a:bodyPr/>
          <a:lstStyle/>
          <a:p>
            <a:endParaRPr lang="es-CL"/>
          </a:p>
        </p:txBody>
      </p:sp>
      <p:sp>
        <p:nvSpPr>
          <p:cNvPr id="19" name="Text 17"/>
          <p:cNvSpPr/>
          <p:nvPr/>
        </p:nvSpPr>
        <p:spPr>
          <a:xfrm>
            <a:off x="5682220" y="5257800"/>
            <a:ext cx="2194560" cy="64008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AHORRO–INVERSIÓN</a:t>
            </a:r>
            <a:endParaRPr lang="en-US" sz="1100" dirty="0"/>
          </a:p>
        </p:txBody>
      </p:sp>
      <p:sp>
        <p:nvSpPr>
          <p:cNvPr id="21" name="Shape 19"/>
          <p:cNvSpPr/>
          <p:nvPr/>
        </p:nvSpPr>
        <p:spPr>
          <a:xfrm>
            <a:off x="5486400" y="3657600"/>
            <a:ext cx="0" cy="0"/>
          </a:xfrm>
          <a:prstGeom prst="line">
            <a:avLst/>
          </a:prstGeom>
          <a:noFill/>
          <a:ln w="19050">
            <a:solidFill>
              <a:srgbClr val="4A6FA5"/>
            </a:solidFill>
            <a:prstDash val="solid"/>
            <a:tailEnd type="triangle"/>
          </a:ln>
        </p:spPr>
        <p:txBody>
          <a:bodyPr/>
          <a:lstStyle/>
          <a:p>
            <a:endParaRPr lang="es-CL"/>
          </a:p>
        </p:txBody>
      </p:sp>
      <p:sp>
        <p:nvSpPr>
          <p:cNvPr id="22" name="Shape 20"/>
          <p:cNvSpPr/>
          <p:nvPr/>
        </p:nvSpPr>
        <p:spPr>
          <a:xfrm>
            <a:off x="4023360" y="4206240"/>
            <a:ext cx="1143000" cy="0"/>
          </a:xfrm>
          <a:prstGeom prst="line">
            <a:avLst/>
          </a:prstGeom>
          <a:noFill/>
          <a:ln w="19050">
            <a:solidFill>
              <a:srgbClr val="4A6FA5"/>
            </a:solidFill>
            <a:prstDash val="solid"/>
            <a:tailEnd type="triangle"/>
          </a:ln>
        </p:spPr>
        <p:txBody>
          <a:bodyPr/>
          <a:lstStyle/>
          <a:p>
            <a:endParaRPr lang="es-CL"/>
          </a:p>
        </p:txBody>
      </p:sp>
      <p:sp>
        <p:nvSpPr>
          <p:cNvPr id="23" name="Shape 21"/>
          <p:cNvSpPr/>
          <p:nvPr/>
        </p:nvSpPr>
        <p:spPr>
          <a:xfrm>
            <a:off x="5166360" y="4023360"/>
            <a:ext cx="0" cy="0"/>
          </a:xfrm>
          <a:prstGeom prst="line">
            <a:avLst/>
          </a:prstGeom>
          <a:noFill/>
          <a:ln w="19050">
            <a:solidFill>
              <a:srgbClr val="4A6FA5"/>
            </a:solidFill>
            <a:prstDash val="solid"/>
            <a:tailEnd type="triangle"/>
          </a:ln>
        </p:spPr>
        <p:txBody>
          <a:bodyPr/>
          <a:lstStyle/>
          <a:p>
            <a:endParaRPr lang="es-CL"/>
          </a:p>
        </p:txBody>
      </p:sp>
      <p:sp>
        <p:nvSpPr>
          <p:cNvPr id="24" name="Shape 22"/>
          <p:cNvSpPr/>
          <p:nvPr/>
        </p:nvSpPr>
        <p:spPr>
          <a:xfrm>
            <a:off x="4983480" y="2377440"/>
            <a:ext cx="0" cy="0"/>
          </a:xfrm>
          <a:prstGeom prst="line">
            <a:avLst/>
          </a:prstGeom>
          <a:noFill/>
          <a:ln w="19050">
            <a:solidFill>
              <a:srgbClr val="4A6FA5"/>
            </a:solidFill>
            <a:prstDash val="solid"/>
            <a:tailEnd type="triangle"/>
          </a:ln>
        </p:spPr>
        <p:txBody>
          <a:bodyPr/>
          <a:lstStyle/>
          <a:p>
            <a:endParaRPr lang="es-CL"/>
          </a:p>
        </p:txBody>
      </p:sp>
      <p:sp>
        <p:nvSpPr>
          <p:cNvPr id="25" name="Shape 23"/>
          <p:cNvSpPr/>
          <p:nvPr/>
        </p:nvSpPr>
        <p:spPr>
          <a:xfrm>
            <a:off x="7178040" y="2377440"/>
            <a:ext cx="960120" cy="0"/>
          </a:xfrm>
          <a:prstGeom prst="line">
            <a:avLst/>
          </a:prstGeom>
          <a:noFill/>
          <a:ln w="19050">
            <a:solidFill>
              <a:srgbClr val="4A6FA5"/>
            </a:solidFill>
            <a:prstDash val="solid"/>
            <a:tailEnd type="triangle"/>
          </a:ln>
        </p:spPr>
        <p:txBody>
          <a:bodyPr/>
          <a:lstStyle/>
          <a:p>
            <a:endParaRPr lang="es-CL"/>
          </a:p>
        </p:txBody>
      </p:sp>
      <p:sp>
        <p:nvSpPr>
          <p:cNvPr id="27" name="Shape 25"/>
          <p:cNvSpPr/>
          <p:nvPr/>
        </p:nvSpPr>
        <p:spPr>
          <a:xfrm>
            <a:off x="8138160" y="4206240"/>
            <a:ext cx="0" cy="0"/>
          </a:xfrm>
          <a:prstGeom prst="line">
            <a:avLst/>
          </a:prstGeom>
          <a:noFill/>
          <a:ln w="19050">
            <a:solidFill>
              <a:srgbClr val="4A6FA5"/>
            </a:solidFill>
            <a:prstDash val="solid"/>
            <a:tailEnd type="triangle"/>
          </a:ln>
        </p:spPr>
        <p:txBody>
          <a:bodyPr/>
          <a:lstStyle/>
          <a:p>
            <a:endParaRPr lang="es-CL"/>
          </a:p>
        </p:txBody>
      </p:sp>
      <p:sp>
        <p:nvSpPr>
          <p:cNvPr id="31" name="Shape 29"/>
          <p:cNvSpPr/>
          <p:nvPr/>
        </p:nvSpPr>
        <p:spPr>
          <a:xfrm>
            <a:off x="6080760" y="5257800"/>
            <a:ext cx="0" cy="0"/>
          </a:xfrm>
          <a:prstGeom prst="line">
            <a:avLst/>
          </a:prstGeom>
          <a:noFill/>
          <a:ln w="19050">
            <a:solidFill>
              <a:srgbClr val="4A6FA5"/>
            </a:solidFill>
            <a:prstDash val="solid"/>
            <a:tailEnd type="triangle"/>
          </a:ln>
        </p:spPr>
        <p:txBody>
          <a:bodyPr/>
          <a:lstStyle/>
          <a:p>
            <a:endParaRPr lang="es-CL"/>
          </a:p>
        </p:txBody>
      </p:sp>
      <p:sp>
        <p:nvSpPr>
          <p:cNvPr id="32" name="Text 30"/>
          <p:cNvSpPr/>
          <p:nvPr/>
        </p:nvSpPr>
        <p:spPr>
          <a:xfrm>
            <a:off x="640080" y="6080760"/>
            <a:ext cx="10972800" cy="411480"/>
          </a:xfrm>
          <a:prstGeom prst="rect">
            <a:avLst/>
          </a:prstGeom>
          <a:noFill/>
          <a:ln/>
        </p:spPr>
        <p:txBody>
          <a:bodyPr wrap="square" lIns="0" tIns="0" rIns="0" bIns="0" rtlCol="0" anchor="t"/>
          <a:lstStyle/>
          <a:p>
            <a:pPr marL="342900" indent="-342900" algn="l">
              <a:buSzPct val="100000"/>
              <a:buChar char="•"/>
            </a:pPr>
            <a:r>
              <a:rPr lang="en-US" sz="1000" dirty="0">
                <a:solidFill>
                  <a:srgbClr val="2D3748"/>
                </a:solidFill>
                <a:latin typeface="Calibri" pitchFamily="34" charset="0"/>
                <a:ea typeface="Calibri" pitchFamily="34" charset="-122"/>
                <a:cs typeface="Calibri" pitchFamily="34" charset="-120"/>
              </a:rPr>
              <a:t>Tres tipos de trabajo (calificación baja, media y alta) y un tipo de capital.</a:t>
            </a:r>
            <a:endParaRPr lang="en-US" sz="1000" dirty="0"/>
          </a:p>
          <a:p>
            <a:pPr marL="342900" indent="-342900" algn="l">
              <a:buSzPct val="100000"/>
              <a:buChar char="•"/>
            </a:pPr>
            <a:r>
              <a:rPr lang="en-US" sz="1000" dirty="0">
                <a:solidFill>
                  <a:srgbClr val="2D3748"/>
                </a:solidFill>
                <a:latin typeface="Calibri" pitchFamily="34" charset="0"/>
                <a:ea typeface="Calibri" pitchFamily="34" charset="-122"/>
                <a:cs typeface="Calibri" pitchFamily="34" charset="-120"/>
              </a:rPr>
              <a:t>Cierre con ahorro externo fijo y tipo de cambio real endógeno.</a:t>
            </a:r>
            <a:endParaRPr lang="en-US" sz="1000" dirty="0"/>
          </a:p>
          <a:p>
            <a:pPr marL="342900" indent="-342900" algn="l">
              <a:buSzPct val="100000"/>
              <a:buChar char="•"/>
            </a:pPr>
            <a:r>
              <a:rPr lang="en-US" sz="1000" dirty="0">
                <a:solidFill>
                  <a:srgbClr val="2D3748"/>
                </a:solidFill>
                <a:latin typeface="Calibri" pitchFamily="34" charset="0"/>
                <a:ea typeface="Calibri" pitchFamily="34" charset="-122"/>
                <a:cs typeface="Calibri" pitchFamily="34" charset="-120"/>
              </a:rPr>
              <a:t>Calibración exacta del estado base con la SAM 2023.</a:t>
            </a:r>
            <a:endParaRPr lang="en-US" sz="1000" dirty="0"/>
          </a:p>
        </p:txBody>
      </p:sp>
      <p:sp>
        <p:nvSpPr>
          <p:cNvPr id="33" name="Text 31"/>
          <p:cNvSpPr/>
          <p:nvPr/>
        </p:nvSpPr>
        <p:spPr>
          <a:xfrm>
            <a:off x="457200" y="6492240"/>
            <a:ext cx="11247120" cy="274320"/>
          </a:xfrm>
          <a:prstGeom prst="rect">
            <a:avLst/>
          </a:prstGeom>
          <a:noFill/>
          <a:ln/>
        </p:spPr>
        <p:txBody>
          <a:bodyPr wrap="square"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MEGC 12 sectores · Chile 2023 · SII</a:t>
            </a:r>
            <a:endParaRPr lang="en-US" sz="900" dirty="0"/>
          </a:p>
        </p:txBody>
      </p:sp>
      <p:sp>
        <p:nvSpPr>
          <p:cNvPr id="34" name="CuadroTexto 33">
            <a:extLst>
              <a:ext uri="{FF2B5EF4-FFF2-40B4-BE49-F238E27FC236}">
                <a16:creationId xmlns:a16="http://schemas.microsoft.com/office/drawing/2014/main" id="{3272A4DE-F499-47E6-22F5-2312124ED220}"/>
              </a:ext>
            </a:extLst>
          </p:cNvPr>
          <p:cNvSpPr txBox="1"/>
          <p:nvPr/>
        </p:nvSpPr>
        <p:spPr>
          <a:xfrm>
            <a:off x="2007366" y="5176390"/>
            <a:ext cx="1837427" cy="538609"/>
          </a:xfrm>
          <a:prstGeom prst="rect">
            <a:avLst/>
          </a:prstGeom>
          <a:solidFill>
            <a:schemeClr val="tx2">
              <a:lumMod val="20000"/>
              <a:lumOff val="80000"/>
            </a:schemeClr>
          </a:solidFill>
        </p:spPr>
        <p:txBody>
          <a:bodyPr wrap="square" rtlCol="0">
            <a:spAutoFit/>
          </a:bodyPr>
          <a:lstStyle/>
          <a:p>
            <a:pPr algn="ctr"/>
            <a:r>
              <a:rPr lang="es-CL" sz="1100" dirty="0">
                <a:latin typeface="Cambria" panose="02040503050406030204" pitchFamily="18" charset="0"/>
                <a:ea typeface="Cambria" panose="02040503050406030204" pitchFamily="18" charset="0"/>
              </a:rPr>
              <a:t>FACTORES</a:t>
            </a:r>
          </a:p>
          <a:p>
            <a:pPr algn="ctr"/>
            <a:r>
              <a:rPr lang="es-CL" sz="1100" dirty="0">
                <a:latin typeface="Cambria" panose="02040503050406030204" pitchFamily="18" charset="0"/>
                <a:ea typeface="Cambria" panose="02040503050406030204" pitchFamily="18" charset="0"/>
              </a:rPr>
              <a:t>(Capital Trabajo)</a:t>
            </a:r>
            <a:r>
              <a:rPr lang="es-CL" dirty="0"/>
              <a:t> </a:t>
            </a:r>
          </a:p>
        </p:txBody>
      </p:sp>
      <p:cxnSp>
        <p:nvCxnSpPr>
          <p:cNvPr id="36" name="Conector recto de flecha 35">
            <a:extLst>
              <a:ext uri="{FF2B5EF4-FFF2-40B4-BE49-F238E27FC236}">
                <a16:creationId xmlns:a16="http://schemas.microsoft.com/office/drawing/2014/main" id="{1EB2CF24-B4C1-15A7-ADC2-30C19A690FAA}"/>
              </a:ext>
            </a:extLst>
          </p:cNvPr>
          <p:cNvCxnSpPr>
            <a:cxnSpLocks/>
            <a:stCxn id="34" idx="0"/>
            <a:endCxn id="9" idx="2"/>
          </p:cNvCxnSpPr>
          <p:nvPr/>
        </p:nvCxnSpPr>
        <p:spPr>
          <a:xfrm flipV="1">
            <a:off x="2926080" y="4754880"/>
            <a:ext cx="0" cy="42151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0" name="Conector: angular 39">
            <a:extLst>
              <a:ext uri="{FF2B5EF4-FFF2-40B4-BE49-F238E27FC236}">
                <a16:creationId xmlns:a16="http://schemas.microsoft.com/office/drawing/2014/main" id="{290C3C63-0556-C4D1-768E-DB090D03E737}"/>
              </a:ext>
            </a:extLst>
          </p:cNvPr>
          <p:cNvCxnSpPr>
            <a:cxnSpLocks/>
          </p:cNvCxnSpPr>
          <p:nvPr/>
        </p:nvCxnSpPr>
        <p:spPr>
          <a:xfrm rot="5400000">
            <a:off x="1232255" y="3717907"/>
            <a:ext cx="2519616" cy="918713"/>
          </a:xfrm>
          <a:prstGeom prst="bentConnector4">
            <a:avLst>
              <a:gd name="adj1" fmla="val 19447"/>
              <a:gd name="adj2" fmla="val 160564"/>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4" name="Conector recto de flecha 43">
            <a:extLst>
              <a:ext uri="{FF2B5EF4-FFF2-40B4-BE49-F238E27FC236}">
                <a16:creationId xmlns:a16="http://schemas.microsoft.com/office/drawing/2014/main" id="{6B889B90-49A3-F222-A243-A7ED64854AB7}"/>
              </a:ext>
            </a:extLst>
          </p:cNvPr>
          <p:cNvCxnSpPr>
            <a:stCxn id="12" idx="1"/>
            <a:endCxn id="10" idx="3"/>
          </p:cNvCxnSpPr>
          <p:nvPr/>
        </p:nvCxnSpPr>
        <p:spPr>
          <a:xfrm flipH="1">
            <a:off x="4023360" y="2377440"/>
            <a:ext cx="96012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2" name="Conector: angular 51">
            <a:extLst>
              <a:ext uri="{FF2B5EF4-FFF2-40B4-BE49-F238E27FC236}">
                <a16:creationId xmlns:a16="http://schemas.microsoft.com/office/drawing/2014/main" id="{20C80BF5-CD3B-86AB-85BD-7B1CBBC854F3}"/>
              </a:ext>
            </a:extLst>
          </p:cNvPr>
          <p:cNvCxnSpPr>
            <a:cxnSpLocks/>
          </p:cNvCxnSpPr>
          <p:nvPr/>
        </p:nvCxnSpPr>
        <p:spPr>
          <a:xfrm rot="5400000">
            <a:off x="3695473" y="2796120"/>
            <a:ext cx="2255326" cy="2515246"/>
          </a:xfrm>
          <a:prstGeom prst="bentConnector4">
            <a:avLst>
              <a:gd name="adj1" fmla="val 10136"/>
              <a:gd name="adj2" fmla="val 50000"/>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1" name="Conector recto de flecha 60">
            <a:extLst>
              <a:ext uri="{FF2B5EF4-FFF2-40B4-BE49-F238E27FC236}">
                <a16:creationId xmlns:a16="http://schemas.microsoft.com/office/drawing/2014/main" id="{274B2227-5BD3-9331-6BC8-D9009B4427DE}"/>
              </a:ext>
            </a:extLst>
          </p:cNvPr>
          <p:cNvCxnSpPr>
            <a:cxnSpLocks/>
            <a:endCxn id="18" idx="0"/>
          </p:cNvCxnSpPr>
          <p:nvPr/>
        </p:nvCxnSpPr>
        <p:spPr>
          <a:xfrm>
            <a:off x="6080759" y="4754880"/>
            <a:ext cx="804414" cy="50793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66" name="Conector: angular 65">
            <a:extLst>
              <a:ext uri="{FF2B5EF4-FFF2-40B4-BE49-F238E27FC236}">
                <a16:creationId xmlns:a16="http://schemas.microsoft.com/office/drawing/2014/main" id="{57B9CA8D-0FB5-DF35-089E-5BA4DA6C2A2E}"/>
              </a:ext>
            </a:extLst>
          </p:cNvPr>
          <p:cNvCxnSpPr>
            <a:cxnSpLocks/>
            <a:endCxn id="18" idx="1"/>
          </p:cNvCxnSpPr>
          <p:nvPr/>
        </p:nvCxnSpPr>
        <p:spPr>
          <a:xfrm>
            <a:off x="2868930" y="2900714"/>
            <a:ext cx="2918963" cy="2682142"/>
          </a:xfrm>
          <a:prstGeom prst="bentConnector3">
            <a:avLst>
              <a:gd name="adj1" fmla="val 50000"/>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70" name="Conector: angular 69">
            <a:extLst>
              <a:ext uri="{FF2B5EF4-FFF2-40B4-BE49-F238E27FC236}">
                <a16:creationId xmlns:a16="http://schemas.microsoft.com/office/drawing/2014/main" id="{854352C7-6ACC-CE9E-102F-5142FD3DBDB2}"/>
              </a:ext>
            </a:extLst>
          </p:cNvPr>
          <p:cNvCxnSpPr>
            <a:cxnSpLocks/>
          </p:cNvCxnSpPr>
          <p:nvPr/>
        </p:nvCxnSpPr>
        <p:spPr>
          <a:xfrm rot="16200000" flipV="1">
            <a:off x="4480320" y="1932289"/>
            <a:ext cx="1018072" cy="2375606"/>
          </a:xfrm>
          <a:prstGeom prst="bentConnector2">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76" name="Conector: angular 75">
            <a:extLst>
              <a:ext uri="{FF2B5EF4-FFF2-40B4-BE49-F238E27FC236}">
                <a16:creationId xmlns:a16="http://schemas.microsoft.com/office/drawing/2014/main" id="{51B7B1AD-5650-8186-B9F6-6BF99FF821F1}"/>
              </a:ext>
            </a:extLst>
          </p:cNvPr>
          <p:cNvCxnSpPr>
            <a:cxnSpLocks/>
          </p:cNvCxnSpPr>
          <p:nvPr/>
        </p:nvCxnSpPr>
        <p:spPr>
          <a:xfrm rot="16200000" flipH="1">
            <a:off x="6036589" y="3497323"/>
            <a:ext cx="2379949" cy="1237459"/>
          </a:xfrm>
          <a:prstGeom prst="bentConnector3">
            <a:avLst>
              <a:gd name="adj1" fmla="val 18828"/>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80" name="Conector: angular 79">
            <a:extLst>
              <a:ext uri="{FF2B5EF4-FFF2-40B4-BE49-F238E27FC236}">
                <a16:creationId xmlns:a16="http://schemas.microsoft.com/office/drawing/2014/main" id="{FB319FDF-AC74-C934-1A8F-819B4AC9B1CC}"/>
              </a:ext>
            </a:extLst>
          </p:cNvPr>
          <p:cNvCxnSpPr>
            <a:cxnSpLocks/>
            <a:stCxn id="16" idx="1"/>
            <a:endCxn id="6" idx="3"/>
          </p:cNvCxnSpPr>
          <p:nvPr/>
        </p:nvCxnSpPr>
        <p:spPr>
          <a:xfrm rot="10800000">
            <a:off x="6995160" y="4206240"/>
            <a:ext cx="1143000" cy="12700"/>
          </a:xfrm>
          <a:prstGeom prst="bentConnector3">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3" name="Conector: angular 82">
            <a:extLst>
              <a:ext uri="{FF2B5EF4-FFF2-40B4-BE49-F238E27FC236}">
                <a16:creationId xmlns:a16="http://schemas.microsoft.com/office/drawing/2014/main" id="{49CD691C-05F5-5DDC-A8D7-7D0F203DEB49}"/>
              </a:ext>
            </a:extLst>
          </p:cNvPr>
          <p:cNvCxnSpPr>
            <a:cxnSpLocks/>
          </p:cNvCxnSpPr>
          <p:nvPr/>
        </p:nvCxnSpPr>
        <p:spPr>
          <a:xfrm rot="5400000">
            <a:off x="6805958" y="3382053"/>
            <a:ext cx="2502442" cy="1345506"/>
          </a:xfrm>
          <a:prstGeom prst="bentConnector3">
            <a:avLst>
              <a:gd name="adj1" fmla="val 28972"/>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a:p>
        </p:txBody>
      </p:sp>
      <p:sp>
        <p:nvSpPr>
          <p:cNvPr id="3" name="Text 1"/>
          <p:cNvSpPr/>
          <p:nvPr/>
        </p:nvSpPr>
        <p:spPr>
          <a:xfrm>
            <a:off x="457200" y="384048"/>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05</a:t>
            </a:r>
            <a:endParaRPr lang="en-US" sz="1400" dirty="0"/>
          </a:p>
        </p:txBody>
      </p:sp>
      <p:sp>
        <p:nvSpPr>
          <p:cNvPr id="4" name="Text 2"/>
          <p:cNvSpPr/>
          <p:nvPr/>
        </p:nvSpPr>
        <p:spPr>
          <a:xfrm>
            <a:off x="1051560" y="365760"/>
            <a:ext cx="10698480" cy="502920"/>
          </a:xfrm>
          <a:prstGeom prst="rect">
            <a:avLst/>
          </a:prstGeom>
          <a:noFill/>
          <a:ln/>
        </p:spPr>
        <p:txBody>
          <a:bodyPr wrap="square" lIns="0" tIns="0" rIns="0" bIns="0" rtlCol="0" anchor="ctr"/>
          <a:lstStyle/>
          <a:p>
            <a:pPr marL="0" indent="0" algn="l">
              <a:buNone/>
            </a:pPr>
            <a:r>
              <a:rPr lang="en-US" sz="2400" b="1" dirty="0">
                <a:solidFill>
                  <a:srgbClr val="1E2761"/>
                </a:solidFill>
                <a:latin typeface="Cambria" pitchFamily="34" charset="0"/>
                <a:ea typeface="Cambria" pitchFamily="34" charset="-122"/>
                <a:cs typeface="Cambria" pitchFamily="34" charset="-120"/>
              </a:rPr>
              <a:t>Matriz de Contabilidad Social (SAM) 2023</a:t>
            </a:r>
            <a:endParaRPr lang="en-US" sz="2400" dirty="0"/>
          </a:p>
        </p:txBody>
      </p:sp>
      <p:sp>
        <p:nvSpPr>
          <p:cNvPr id="5" name="Text 3"/>
          <p:cNvSpPr/>
          <p:nvPr/>
        </p:nvSpPr>
        <p:spPr>
          <a:xfrm>
            <a:off x="640080" y="1005840"/>
            <a:ext cx="10972800" cy="365760"/>
          </a:xfrm>
          <a:prstGeom prst="rect">
            <a:avLst/>
          </a:prstGeom>
          <a:noFill/>
          <a:ln/>
        </p:spPr>
        <p:txBody>
          <a:bodyPr wrap="square" lIns="0" tIns="0" rIns="0" bIns="0" rtlCol="0" anchor="ctr"/>
          <a:lstStyle/>
          <a:p>
            <a:pPr marL="0" indent="0" algn="l">
              <a:buNone/>
            </a:pPr>
            <a:r>
              <a:rPr lang="en-US" sz="1300" i="1" dirty="0">
                <a:solidFill>
                  <a:srgbClr val="64748B"/>
                </a:solidFill>
                <a:latin typeface="Calibri" pitchFamily="34" charset="0"/>
                <a:ea typeface="Calibri" pitchFamily="34" charset="-122"/>
                <a:cs typeface="Calibri" pitchFamily="34" charset="-120"/>
              </a:rPr>
              <a:t>Estructura básica de la SAM utilizada para calibrar </a:t>
            </a:r>
            <a:r>
              <a:rPr lang="en-US" sz="1300" i="1" dirty="0" err="1">
                <a:solidFill>
                  <a:srgbClr val="64748B"/>
                </a:solidFill>
                <a:latin typeface="Calibri" pitchFamily="34" charset="0"/>
                <a:ea typeface="Calibri" pitchFamily="34" charset="-122"/>
                <a:cs typeface="Calibri" pitchFamily="34" charset="-120"/>
              </a:rPr>
              <a:t>el</a:t>
            </a:r>
            <a:r>
              <a:rPr lang="en-US" sz="1300" i="1" dirty="0">
                <a:solidFill>
                  <a:srgbClr val="64748B"/>
                </a:solidFill>
                <a:latin typeface="Calibri" pitchFamily="34" charset="0"/>
                <a:ea typeface="Calibri" pitchFamily="34" charset="-122"/>
                <a:cs typeface="Calibri" pitchFamily="34" charset="-120"/>
              </a:rPr>
              <a:t> </a:t>
            </a:r>
            <a:r>
              <a:rPr lang="en-US" sz="1300" i="1" dirty="0" err="1">
                <a:solidFill>
                  <a:srgbClr val="64748B"/>
                </a:solidFill>
                <a:latin typeface="Calibri" pitchFamily="34" charset="0"/>
                <a:ea typeface="Calibri" pitchFamily="34" charset="-122"/>
                <a:cs typeface="Calibri" pitchFamily="34" charset="-120"/>
              </a:rPr>
              <a:t>modelo</a:t>
            </a:r>
            <a:r>
              <a:rPr lang="en-US" sz="1300" i="1" dirty="0">
                <a:solidFill>
                  <a:srgbClr val="64748B"/>
                </a:solidFill>
                <a:latin typeface="Calibri" pitchFamily="34" charset="0"/>
                <a:ea typeface="Calibri" pitchFamily="34" charset="-122"/>
                <a:cs typeface="Calibri" pitchFamily="34" charset="-120"/>
              </a:rPr>
              <a:t>.</a:t>
            </a:r>
            <a:endParaRPr lang="en-US" sz="1300" dirty="0"/>
          </a:p>
        </p:txBody>
      </p:sp>
      <p:sp>
        <p:nvSpPr>
          <p:cNvPr id="6" name="Shape 4"/>
          <p:cNvSpPr/>
          <p:nvPr/>
        </p:nvSpPr>
        <p:spPr>
          <a:xfrm>
            <a:off x="640080" y="1691640"/>
            <a:ext cx="2606040" cy="1280160"/>
          </a:xfrm>
          <a:prstGeom prst="rect">
            <a:avLst/>
          </a:prstGeom>
          <a:solidFill>
            <a:srgbClr val="F5F7FA"/>
          </a:solidFill>
          <a:ln w="9525">
            <a:solidFill>
              <a:srgbClr val="E2E8F0"/>
            </a:solidFill>
            <a:prstDash val="solid"/>
          </a:ln>
        </p:spPr>
        <p:txBody>
          <a:bodyPr/>
          <a:lstStyle/>
          <a:p>
            <a:endParaRPr lang="es-CL"/>
          </a:p>
        </p:txBody>
      </p:sp>
      <p:sp>
        <p:nvSpPr>
          <p:cNvPr id="7" name="Shape 5"/>
          <p:cNvSpPr/>
          <p:nvPr/>
        </p:nvSpPr>
        <p:spPr>
          <a:xfrm>
            <a:off x="640080" y="1691640"/>
            <a:ext cx="73152" cy="1280160"/>
          </a:xfrm>
          <a:prstGeom prst="rect">
            <a:avLst/>
          </a:prstGeom>
          <a:solidFill>
            <a:srgbClr val="D4A82A"/>
          </a:solidFill>
          <a:ln w="12700">
            <a:solidFill>
              <a:srgbClr val="D4A82A"/>
            </a:solidFill>
            <a:prstDash val="solid"/>
          </a:ln>
        </p:spPr>
        <p:txBody>
          <a:bodyPr/>
          <a:lstStyle/>
          <a:p>
            <a:endParaRPr lang="es-CL"/>
          </a:p>
        </p:txBody>
      </p:sp>
      <p:sp>
        <p:nvSpPr>
          <p:cNvPr id="8" name="Text 6"/>
          <p:cNvSpPr/>
          <p:nvPr/>
        </p:nvSpPr>
        <p:spPr>
          <a:xfrm>
            <a:off x="822960" y="1828800"/>
            <a:ext cx="2286000" cy="777240"/>
          </a:xfrm>
          <a:prstGeom prst="rect">
            <a:avLst/>
          </a:prstGeom>
          <a:noFill/>
          <a:ln/>
        </p:spPr>
        <p:txBody>
          <a:bodyPr wrap="square" lIns="0" tIns="0" rIns="0" bIns="0" rtlCol="0" anchor="ctr"/>
          <a:lstStyle/>
          <a:p>
            <a:pPr marL="0" indent="0" algn="l">
              <a:buNone/>
            </a:pPr>
            <a:r>
              <a:rPr lang="en-US" sz="5200" b="1" dirty="0">
                <a:solidFill>
                  <a:srgbClr val="1E2761"/>
                </a:solidFill>
                <a:latin typeface="Cambria" pitchFamily="34" charset="0"/>
                <a:ea typeface="Cambria" pitchFamily="34" charset="-122"/>
                <a:cs typeface="Cambria" pitchFamily="34" charset="-120"/>
              </a:rPr>
              <a:t>12</a:t>
            </a:r>
            <a:endParaRPr lang="en-US" sz="5200" dirty="0"/>
          </a:p>
        </p:txBody>
      </p:sp>
      <p:sp>
        <p:nvSpPr>
          <p:cNvPr id="9" name="Text 7"/>
          <p:cNvSpPr/>
          <p:nvPr/>
        </p:nvSpPr>
        <p:spPr>
          <a:xfrm>
            <a:off x="822960" y="2514600"/>
            <a:ext cx="2286000" cy="365760"/>
          </a:xfrm>
          <a:prstGeom prst="rect">
            <a:avLst/>
          </a:prstGeom>
          <a:noFill/>
          <a:ln/>
        </p:spPr>
        <p:txBody>
          <a:bodyPr wrap="square" lIns="0" tIns="0" rIns="0" bIns="0" rtlCol="0" anchor="ctr"/>
          <a:lstStyle/>
          <a:p>
            <a:pPr marL="0" indent="0" algn="l">
              <a:buNone/>
            </a:pPr>
            <a:r>
              <a:rPr lang="en-US" sz="1100" dirty="0">
                <a:solidFill>
                  <a:srgbClr val="2D3748"/>
                </a:solidFill>
                <a:latin typeface="Calibri" pitchFamily="34" charset="0"/>
                <a:ea typeface="Calibri" pitchFamily="34" charset="-122"/>
                <a:cs typeface="Calibri" pitchFamily="34" charset="-120"/>
              </a:rPr>
              <a:t>Actividades productivas</a:t>
            </a:r>
            <a:endParaRPr lang="en-US" sz="1100" dirty="0"/>
          </a:p>
        </p:txBody>
      </p:sp>
      <p:sp>
        <p:nvSpPr>
          <p:cNvPr id="10" name="Shape 8"/>
          <p:cNvSpPr/>
          <p:nvPr/>
        </p:nvSpPr>
        <p:spPr>
          <a:xfrm>
            <a:off x="3337560" y="1691640"/>
            <a:ext cx="2606040" cy="1280160"/>
          </a:xfrm>
          <a:prstGeom prst="rect">
            <a:avLst/>
          </a:prstGeom>
          <a:solidFill>
            <a:srgbClr val="F5F7FA"/>
          </a:solidFill>
          <a:ln w="9525">
            <a:solidFill>
              <a:srgbClr val="E2E8F0"/>
            </a:solidFill>
            <a:prstDash val="solid"/>
          </a:ln>
        </p:spPr>
        <p:txBody>
          <a:bodyPr/>
          <a:lstStyle/>
          <a:p>
            <a:endParaRPr lang="es-CL"/>
          </a:p>
        </p:txBody>
      </p:sp>
      <p:sp>
        <p:nvSpPr>
          <p:cNvPr id="11" name="Shape 9"/>
          <p:cNvSpPr/>
          <p:nvPr/>
        </p:nvSpPr>
        <p:spPr>
          <a:xfrm>
            <a:off x="3337560" y="1691640"/>
            <a:ext cx="73152" cy="1280160"/>
          </a:xfrm>
          <a:prstGeom prst="rect">
            <a:avLst/>
          </a:prstGeom>
          <a:solidFill>
            <a:srgbClr val="D4A82A"/>
          </a:solidFill>
          <a:ln w="12700">
            <a:solidFill>
              <a:srgbClr val="D4A82A"/>
            </a:solidFill>
            <a:prstDash val="solid"/>
          </a:ln>
        </p:spPr>
        <p:txBody>
          <a:bodyPr/>
          <a:lstStyle/>
          <a:p>
            <a:endParaRPr lang="es-CL"/>
          </a:p>
        </p:txBody>
      </p:sp>
      <p:sp>
        <p:nvSpPr>
          <p:cNvPr id="12" name="Text 10"/>
          <p:cNvSpPr/>
          <p:nvPr/>
        </p:nvSpPr>
        <p:spPr>
          <a:xfrm>
            <a:off x="3520440" y="1828800"/>
            <a:ext cx="2286000" cy="777240"/>
          </a:xfrm>
          <a:prstGeom prst="rect">
            <a:avLst/>
          </a:prstGeom>
          <a:noFill/>
          <a:ln/>
        </p:spPr>
        <p:txBody>
          <a:bodyPr wrap="square" lIns="0" tIns="0" rIns="0" bIns="0" rtlCol="0" anchor="ctr"/>
          <a:lstStyle/>
          <a:p>
            <a:pPr marL="0" indent="0" algn="l">
              <a:buNone/>
            </a:pPr>
            <a:r>
              <a:rPr lang="en-US" sz="5200" b="1" dirty="0">
                <a:solidFill>
                  <a:srgbClr val="1E2761"/>
                </a:solidFill>
                <a:latin typeface="Cambria" pitchFamily="34" charset="0"/>
                <a:ea typeface="Cambria" pitchFamily="34" charset="-122"/>
                <a:cs typeface="Cambria" pitchFamily="34" charset="-120"/>
              </a:rPr>
              <a:t>13</a:t>
            </a:r>
            <a:endParaRPr lang="en-US" sz="5200" dirty="0"/>
          </a:p>
        </p:txBody>
      </p:sp>
      <p:sp>
        <p:nvSpPr>
          <p:cNvPr id="13" name="Text 11"/>
          <p:cNvSpPr/>
          <p:nvPr/>
        </p:nvSpPr>
        <p:spPr>
          <a:xfrm>
            <a:off x="3520440" y="2514600"/>
            <a:ext cx="2286000" cy="365760"/>
          </a:xfrm>
          <a:prstGeom prst="rect">
            <a:avLst/>
          </a:prstGeom>
          <a:noFill/>
          <a:ln/>
        </p:spPr>
        <p:txBody>
          <a:bodyPr wrap="square" lIns="0" tIns="0" rIns="0" bIns="0" rtlCol="0" anchor="ctr"/>
          <a:lstStyle/>
          <a:p>
            <a:pPr marL="0" indent="0" algn="l">
              <a:buNone/>
            </a:pPr>
            <a:r>
              <a:rPr lang="en-US" sz="1100" dirty="0">
                <a:solidFill>
                  <a:srgbClr val="2D3748"/>
                </a:solidFill>
                <a:latin typeface="Calibri" pitchFamily="34" charset="0"/>
                <a:ea typeface="Calibri" pitchFamily="34" charset="-122"/>
                <a:cs typeface="Calibri" pitchFamily="34" charset="-120"/>
              </a:rPr>
              <a:t>Bienes / productos</a:t>
            </a:r>
            <a:endParaRPr lang="en-US" sz="1100" dirty="0"/>
          </a:p>
        </p:txBody>
      </p:sp>
      <p:sp>
        <p:nvSpPr>
          <p:cNvPr id="14" name="Shape 12"/>
          <p:cNvSpPr/>
          <p:nvPr/>
        </p:nvSpPr>
        <p:spPr>
          <a:xfrm>
            <a:off x="640080" y="3154680"/>
            <a:ext cx="2606040" cy="1280160"/>
          </a:xfrm>
          <a:prstGeom prst="rect">
            <a:avLst/>
          </a:prstGeom>
          <a:solidFill>
            <a:srgbClr val="F5F7FA"/>
          </a:solidFill>
          <a:ln w="9525">
            <a:solidFill>
              <a:srgbClr val="E2E8F0"/>
            </a:solidFill>
            <a:prstDash val="solid"/>
          </a:ln>
        </p:spPr>
        <p:txBody>
          <a:bodyPr/>
          <a:lstStyle/>
          <a:p>
            <a:endParaRPr lang="es-CL"/>
          </a:p>
        </p:txBody>
      </p:sp>
      <p:sp>
        <p:nvSpPr>
          <p:cNvPr id="15" name="Shape 13"/>
          <p:cNvSpPr/>
          <p:nvPr/>
        </p:nvSpPr>
        <p:spPr>
          <a:xfrm>
            <a:off x="640080" y="3154680"/>
            <a:ext cx="73152" cy="1280160"/>
          </a:xfrm>
          <a:prstGeom prst="rect">
            <a:avLst/>
          </a:prstGeom>
          <a:solidFill>
            <a:srgbClr val="D4A82A"/>
          </a:solidFill>
          <a:ln w="12700">
            <a:solidFill>
              <a:srgbClr val="D4A82A"/>
            </a:solidFill>
            <a:prstDash val="solid"/>
          </a:ln>
        </p:spPr>
        <p:txBody>
          <a:bodyPr/>
          <a:lstStyle/>
          <a:p>
            <a:endParaRPr lang="es-CL"/>
          </a:p>
        </p:txBody>
      </p:sp>
      <p:sp>
        <p:nvSpPr>
          <p:cNvPr id="16" name="Text 14"/>
          <p:cNvSpPr/>
          <p:nvPr/>
        </p:nvSpPr>
        <p:spPr>
          <a:xfrm>
            <a:off x="822960" y="3291840"/>
            <a:ext cx="2286000" cy="777240"/>
          </a:xfrm>
          <a:prstGeom prst="rect">
            <a:avLst/>
          </a:prstGeom>
          <a:noFill/>
          <a:ln/>
        </p:spPr>
        <p:txBody>
          <a:bodyPr wrap="square" lIns="0" tIns="0" rIns="0" bIns="0" rtlCol="0" anchor="ctr"/>
          <a:lstStyle/>
          <a:p>
            <a:pPr marL="0" indent="0" algn="l">
              <a:buNone/>
            </a:pPr>
            <a:r>
              <a:rPr lang="en-US" sz="5200" b="1" dirty="0">
                <a:solidFill>
                  <a:srgbClr val="1E2761"/>
                </a:solidFill>
                <a:latin typeface="Cambria" pitchFamily="34" charset="0"/>
                <a:ea typeface="Cambria" pitchFamily="34" charset="-122"/>
                <a:cs typeface="Cambria" pitchFamily="34" charset="-120"/>
              </a:rPr>
              <a:t>3</a:t>
            </a:r>
            <a:endParaRPr lang="en-US" sz="5200" dirty="0"/>
          </a:p>
        </p:txBody>
      </p:sp>
      <p:sp>
        <p:nvSpPr>
          <p:cNvPr id="17" name="Text 15"/>
          <p:cNvSpPr/>
          <p:nvPr/>
        </p:nvSpPr>
        <p:spPr>
          <a:xfrm>
            <a:off x="822960" y="3977640"/>
            <a:ext cx="2286000" cy="365760"/>
          </a:xfrm>
          <a:prstGeom prst="rect">
            <a:avLst/>
          </a:prstGeom>
          <a:noFill/>
          <a:ln/>
        </p:spPr>
        <p:txBody>
          <a:bodyPr wrap="square" lIns="0" tIns="0" rIns="0" bIns="0" rtlCol="0" anchor="ctr"/>
          <a:lstStyle/>
          <a:p>
            <a:pPr marL="0" indent="0" algn="l">
              <a:buNone/>
            </a:pPr>
            <a:r>
              <a:rPr lang="en-US" sz="1100" dirty="0">
                <a:solidFill>
                  <a:srgbClr val="2D3748"/>
                </a:solidFill>
                <a:latin typeface="Calibri" pitchFamily="34" charset="0"/>
                <a:ea typeface="Calibri" pitchFamily="34" charset="-122"/>
                <a:cs typeface="Calibri" pitchFamily="34" charset="-120"/>
              </a:rPr>
              <a:t>Tipos de trabajo (CASEN 2022)</a:t>
            </a:r>
            <a:endParaRPr lang="en-US" sz="1100" dirty="0"/>
          </a:p>
        </p:txBody>
      </p:sp>
      <p:sp>
        <p:nvSpPr>
          <p:cNvPr id="18" name="Shape 16"/>
          <p:cNvSpPr/>
          <p:nvPr/>
        </p:nvSpPr>
        <p:spPr>
          <a:xfrm>
            <a:off x="3337560" y="3154680"/>
            <a:ext cx="2606040" cy="1280160"/>
          </a:xfrm>
          <a:prstGeom prst="rect">
            <a:avLst/>
          </a:prstGeom>
          <a:solidFill>
            <a:srgbClr val="F5F7FA"/>
          </a:solidFill>
          <a:ln w="9525">
            <a:solidFill>
              <a:srgbClr val="E2E8F0"/>
            </a:solidFill>
            <a:prstDash val="solid"/>
          </a:ln>
        </p:spPr>
        <p:txBody>
          <a:bodyPr/>
          <a:lstStyle/>
          <a:p>
            <a:endParaRPr lang="es-CL"/>
          </a:p>
        </p:txBody>
      </p:sp>
      <p:sp>
        <p:nvSpPr>
          <p:cNvPr id="19" name="Shape 17"/>
          <p:cNvSpPr/>
          <p:nvPr/>
        </p:nvSpPr>
        <p:spPr>
          <a:xfrm>
            <a:off x="3337560" y="3154680"/>
            <a:ext cx="73152" cy="1280160"/>
          </a:xfrm>
          <a:prstGeom prst="rect">
            <a:avLst/>
          </a:prstGeom>
          <a:solidFill>
            <a:srgbClr val="D4A82A"/>
          </a:solidFill>
          <a:ln w="12700">
            <a:solidFill>
              <a:srgbClr val="D4A82A"/>
            </a:solidFill>
            <a:prstDash val="solid"/>
          </a:ln>
        </p:spPr>
        <p:txBody>
          <a:bodyPr/>
          <a:lstStyle/>
          <a:p>
            <a:endParaRPr lang="es-CL"/>
          </a:p>
        </p:txBody>
      </p:sp>
      <p:sp>
        <p:nvSpPr>
          <p:cNvPr id="20" name="Text 18"/>
          <p:cNvSpPr/>
          <p:nvPr/>
        </p:nvSpPr>
        <p:spPr>
          <a:xfrm>
            <a:off x="3520440" y="3291840"/>
            <a:ext cx="2286000" cy="777240"/>
          </a:xfrm>
          <a:prstGeom prst="rect">
            <a:avLst/>
          </a:prstGeom>
          <a:noFill/>
          <a:ln/>
        </p:spPr>
        <p:txBody>
          <a:bodyPr wrap="square" lIns="0" tIns="0" rIns="0" bIns="0" rtlCol="0" anchor="ctr"/>
          <a:lstStyle/>
          <a:p>
            <a:pPr marL="0" indent="0" algn="l">
              <a:buNone/>
            </a:pPr>
            <a:r>
              <a:rPr lang="en-US" sz="5200" b="1" dirty="0">
                <a:solidFill>
                  <a:srgbClr val="1E2761"/>
                </a:solidFill>
                <a:latin typeface="Cambria" pitchFamily="34" charset="0"/>
                <a:ea typeface="Cambria" pitchFamily="34" charset="-122"/>
                <a:cs typeface="Cambria" pitchFamily="34" charset="-120"/>
              </a:rPr>
              <a:t>1</a:t>
            </a:r>
            <a:endParaRPr lang="en-US" sz="5200" dirty="0"/>
          </a:p>
        </p:txBody>
      </p:sp>
      <p:sp>
        <p:nvSpPr>
          <p:cNvPr id="21" name="Text 19"/>
          <p:cNvSpPr/>
          <p:nvPr/>
        </p:nvSpPr>
        <p:spPr>
          <a:xfrm>
            <a:off x="3520440" y="3977640"/>
            <a:ext cx="2286000" cy="365760"/>
          </a:xfrm>
          <a:prstGeom prst="rect">
            <a:avLst/>
          </a:prstGeom>
          <a:noFill/>
          <a:ln/>
        </p:spPr>
        <p:txBody>
          <a:bodyPr wrap="square" lIns="0" tIns="0" rIns="0" bIns="0" rtlCol="0" anchor="ctr"/>
          <a:lstStyle/>
          <a:p>
            <a:pPr marL="0" indent="0" algn="l">
              <a:buNone/>
            </a:pPr>
            <a:r>
              <a:rPr lang="en-US" sz="1100" dirty="0">
                <a:solidFill>
                  <a:srgbClr val="2D3748"/>
                </a:solidFill>
                <a:latin typeface="Calibri" pitchFamily="34" charset="0"/>
                <a:ea typeface="Calibri" pitchFamily="34" charset="-122"/>
                <a:cs typeface="Calibri" pitchFamily="34" charset="-120"/>
              </a:rPr>
              <a:t>Tipo de capital</a:t>
            </a:r>
            <a:endParaRPr lang="en-US" sz="1100" dirty="0"/>
          </a:p>
        </p:txBody>
      </p:sp>
      <p:sp>
        <p:nvSpPr>
          <p:cNvPr id="22" name="Text 20"/>
          <p:cNvSpPr/>
          <p:nvPr/>
        </p:nvSpPr>
        <p:spPr>
          <a:xfrm>
            <a:off x="6217920" y="1691640"/>
            <a:ext cx="5486400" cy="365760"/>
          </a:xfrm>
          <a:prstGeom prst="rect">
            <a:avLst/>
          </a:prstGeom>
          <a:noFill/>
          <a:ln/>
        </p:spPr>
        <p:txBody>
          <a:bodyPr wrap="square" lIns="0" tIns="0" rIns="0" bIns="0" rtlCol="0" anchor="ctr"/>
          <a:lstStyle/>
          <a:p>
            <a:pPr marL="0" indent="0" algn="l">
              <a:buNone/>
            </a:pPr>
            <a:r>
              <a:rPr lang="en-US" sz="1400" b="1" dirty="0">
                <a:solidFill>
                  <a:srgbClr val="1E2761"/>
                </a:solidFill>
                <a:latin typeface="Cambria" pitchFamily="34" charset="0"/>
                <a:ea typeface="Cambria" pitchFamily="34" charset="-122"/>
                <a:cs typeface="Cambria" pitchFamily="34" charset="-120"/>
              </a:rPr>
              <a:t>Los 12 sectores productivos</a:t>
            </a:r>
            <a:endParaRPr lang="en-US" sz="1400" dirty="0"/>
          </a:p>
        </p:txBody>
      </p:sp>
      <p:sp>
        <p:nvSpPr>
          <p:cNvPr id="23" name="Text 21"/>
          <p:cNvSpPr/>
          <p:nvPr/>
        </p:nvSpPr>
        <p:spPr>
          <a:xfrm>
            <a:off x="6217920" y="2103120"/>
            <a:ext cx="2834640" cy="3657600"/>
          </a:xfrm>
          <a:prstGeom prst="rect">
            <a:avLst/>
          </a:prstGeom>
          <a:noFill/>
          <a:ln/>
        </p:spPr>
        <p:txBody>
          <a:bodyPr wrap="square" lIns="0" tIns="0" rIns="0" bIns="0" rtlCol="0" anchor="t"/>
          <a:lstStyle/>
          <a:p>
            <a:pPr marL="0" indent="0" algn="l">
              <a:spcAft>
                <a:spcPts val="400"/>
              </a:spcAft>
              <a:buNone/>
            </a:pPr>
            <a:r>
              <a:rPr lang="en-US" sz="1000" dirty="0">
                <a:solidFill>
                  <a:srgbClr val="2D3748"/>
                </a:solidFill>
                <a:latin typeface="Calibri" pitchFamily="34" charset="0"/>
                <a:ea typeface="Calibri" pitchFamily="34" charset="-122"/>
                <a:cs typeface="Calibri" pitchFamily="34" charset="-120"/>
              </a:rPr>
              <a:t>1.  Agropecuario, silvícola y pesca</a:t>
            </a:r>
            <a:endParaRPr lang="en-US" sz="1000" dirty="0"/>
          </a:p>
          <a:p>
            <a:pPr marL="0" indent="0" algn="l">
              <a:spcAft>
                <a:spcPts val="400"/>
              </a:spcAft>
              <a:buNone/>
            </a:pPr>
            <a:r>
              <a:rPr lang="en-US" sz="1000" dirty="0">
                <a:solidFill>
                  <a:srgbClr val="2D3748"/>
                </a:solidFill>
                <a:latin typeface="Calibri" pitchFamily="34" charset="0"/>
                <a:ea typeface="Calibri" pitchFamily="34" charset="-122"/>
                <a:cs typeface="Calibri" pitchFamily="34" charset="-120"/>
              </a:rPr>
              <a:t>2.  Minería</a:t>
            </a:r>
            <a:endParaRPr lang="en-US" sz="1000" dirty="0"/>
          </a:p>
          <a:p>
            <a:pPr marL="0" indent="0" algn="l">
              <a:spcAft>
                <a:spcPts val="400"/>
              </a:spcAft>
              <a:buNone/>
            </a:pPr>
            <a:r>
              <a:rPr lang="en-US" sz="1000" dirty="0">
                <a:solidFill>
                  <a:srgbClr val="2D3748"/>
                </a:solidFill>
                <a:latin typeface="Calibri" pitchFamily="34" charset="0"/>
                <a:ea typeface="Calibri" pitchFamily="34" charset="-122"/>
                <a:cs typeface="Calibri" pitchFamily="34" charset="-120"/>
              </a:rPr>
              <a:t>3.  Industria manufacturera</a:t>
            </a:r>
            <a:endParaRPr lang="en-US" sz="1000" dirty="0"/>
          </a:p>
          <a:p>
            <a:pPr marL="0" indent="0" algn="l">
              <a:spcAft>
                <a:spcPts val="400"/>
              </a:spcAft>
              <a:buNone/>
            </a:pPr>
            <a:r>
              <a:rPr lang="en-US" sz="1000" dirty="0">
                <a:solidFill>
                  <a:srgbClr val="2D3748"/>
                </a:solidFill>
                <a:latin typeface="Calibri" pitchFamily="34" charset="0"/>
                <a:ea typeface="Calibri" pitchFamily="34" charset="-122"/>
                <a:cs typeface="Calibri" pitchFamily="34" charset="-120"/>
              </a:rPr>
              <a:t>4.  Electricidad, gas, agua y desechos</a:t>
            </a:r>
            <a:endParaRPr lang="en-US" sz="1000" dirty="0"/>
          </a:p>
          <a:p>
            <a:pPr marL="0" indent="0" algn="l">
              <a:spcAft>
                <a:spcPts val="400"/>
              </a:spcAft>
              <a:buNone/>
            </a:pPr>
            <a:r>
              <a:rPr lang="en-US" sz="1000" dirty="0">
                <a:solidFill>
                  <a:srgbClr val="2D3748"/>
                </a:solidFill>
                <a:latin typeface="Calibri" pitchFamily="34" charset="0"/>
                <a:ea typeface="Calibri" pitchFamily="34" charset="-122"/>
                <a:cs typeface="Calibri" pitchFamily="34" charset="-120"/>
              </a:rPr>
              <a:t>5.  Construcción</a:t>
            </a:r>
            <a:endParaRPr lang="en-US" sz="1000" dirty="0"/>
          </a:p>
          <a:p>
            <a:pPr marL="0" indent="0" algn="l">
              <a:spcAft>
                <a:spcPts val="400"/>
              </a:spcAft>
              <a:buNone/>
            </a:pPr>
            <a:r>
              <a:rPr lang="en-US" sz="1000" dirty="0">
                <a:solidFill>
                  <a:srgbClr val="2D3748"/>
                </a:solidFill>
                <a:latin typeface="Calibri" pitchFamily="34" charset="0"/>
                <a:ea typeface="Calibri" pitchFamily="34" charset="-122"/>
                <a:cs typeface="Calibri" pitchFamily="34" charset="-120"/>
              </a:rPr>
              <a:t>6.  Comercio, hoteles y restaurantes</a:t>
            </a:r>
            <a:endParaRPr lang="en-US" sz="1000" dirty="0"/>
          </a:p>
        </p:txBody>
      </p:sp>
      <p:sp>
        <p:nvSpPr>
          <p:cNvPr id="24" name="Text 22"/>
          <p:cNvSpPr/>
          <p:nvPr/>
        </p:nvSpPr>
        <p:spPr>
          <a:xfrm>
            <a:off x="9052560" y="2103120"/>
            <a:ext cx="2651760" cy="3657600"/>
          </a:xfrm>
          <a:prstGeom prst="rect">
            <a:avLst/>
          </a:prstGeom>
          <a:noFill/>
          <a:ln/>
        </p:spPr>
        <p:txBody>
          <a:bodyPr wrap="square" lIns="0" tIns="0" rIns="0" bIns="0" rtlCol="0" anchor="t"/>
          <a:lstStyle/>
          <a:p>
            <a:pPr marL="0" indent="0" algn="l">
              <a:spcAft>
                <a:spcPts val="400"/>
              </a:spcAft>
              <a:buNone/>
            </a:pPr>
            <a:r>
              <a:rPr lang="en-US" sz="1000" dirty="0">
                <a:solidFill>
                  <a:srgbClr val="2D3748"/>
                </a:solidFill>
                <a:latin typeface="Calibri" pitchFamily="34" charset="0"/>
                <a:ea typeface="Calibri" pitchFamily="34" charset="-122"/>
                <a:cs typeface="Calibri" pitchFamily="34" charset="-120"/>
              </a:rPr>
              <a:t>7.  Transporte, comunicaciones e información</a:t>
            </a:r>
            <a:endParaRPr lang="en-US" sz="1000" dirty="0"/>
          </a:p>
          <a:p>
            <a:pPr marL="0" indent="0" algn="l">
              <a:spcAft>
                <a:spcPts val="400"/>
              </a:spcAft>
              <a:buNone/>
            </a:pPr>
            <a:r>
              <a:rPr lang="en-US" sz="1000" dirty="0">
                <a:solidFill>
                  <a:srgbClr val="2D3748"/>
                </a:solidFill>
                <a:latin typeface="Calibri" pitchFamily="34" charset="0"/>
                <a:ea typeface="Calibri" pitchFamily="34" charset="-122"/>
                <a:cs typeface="Calibri" pitchFamily="34" charset="-120"/>
              </a:rPr>
              <a:t>8.  Intermediación financiera</a:t>
            </a:r>
            <a:endParaRPr lang="en-US" sz="1000" dirty="0"/>
          </a:p>
          <a:p>
            <a:pPr marL="0" indent="0" algn="l">
              <a:spcAft>
                <a:spcPts val="400"/>
              </a:spcAft>
              <a:buNone/>
            </a:pPr>
            <a:r>
              <a:rPr lang="en-US" sz="1000" dirty="0">
                <a:solidFill>
                  <a:srgbClr val="2D3748"/>
                </a:solidFill>
                <a:latin typeface="Calibri" pitchFamily="34" charset="0"/>
                <a:ea typeface="Calibri" pitchFamily="34" charset="-122"/>
                <a:cs typeface="Calibri" pitchFamily="34" charset="-120"/>
              </a:rPr>
              <a:t>9.  Servicios inmobiliarios y vivienda</a:t>
            </a:r>
            <a:endParaRPr lang="en-US" sz="1000" dirty="0"/>
          </a:p>
          <a:p>
            <a:pPr marL="0" indent="0" algn="l">
              <a:spcAft>
                <a:spcPts val="400"/>
              </a:spcAft>
              <a:buNone/>
            </a:pPr>
            <a:r>
              <a:rPr lang="en-US" sz="1000" dirty="0">
                <a:solidFill>
                  <a:srgbClr val="2D3748"/>
                </a:solidFill>
                <a:latin typeface="Calibri" pitchFamily="34" charset="0"/>
                <a:ea typeface="Calibri" pitchFamily="34" charset="-122"/>
                <a:cs typeface="Calibri" pitchFamily="34" charset="-120"/>
              </a:rPr>
              <a:t>10.  Servicios empresariales</a:t>
            </a:r>
            <a:endParaRPr lang="en-US" sz="1000" dirty="0"/>
          </a:p>
          <a:p>
            <a:pPr marL="0" indent="0" algn="l">
              <a:spcAft>
                <a:spcPts val="400"/>
              </a:spcAft>
              <a:buNone/>
            </a:pPr>
            <a:r>
              <a:rPr lang="en-US" sz="1000" dirty="0">
                <a:solidFill>
                  <a:srgbClr val="2D3748"/>
                </a:solidFill>
                <a:latin typeface="Calibri" pitchFamily="34" charset="0"/>
                <a:ea typeface="Calibri" pitchFamily="34" charset="-122"/>
                <a:cs typeface="Calibri" pitchFamily="34" charset="-120"/>
              </a:rPr>
              <a:t>11.  Servicios personales</a:t>
            </a:r>
            <a:endParaRPr lang="en-US" sz="1000" dirty="0"/>
          </a:p>
          <a:p>
            <a:pPr marL="0" indent="0" algn="l">
              <a:spcAft>
                <a:spcPts val="400"/>
              </a:spcAft>
              <a:buNone/>
            </a:pPr>
            <a:r>
              <a:rPr lang="en-US" sz="1000" dirty="0">
                <a:solidFill>
                  <a:srgbClr val="2D3748"/>
                </a:solidFill>
                <a:latin typeface="Calibri" pitchFamily="34" charset="0"/>
                <a:ea typeface="Calibri" pitchFamily="34" charset="-122"/>
                <a:cs typeface="Calibri" pitchFamily="34" charset="-120"/>
              </a:rPr>
              <a:t>12.  Administración pública</a:t>
            </a:r>
            <a:endParaRPr lang="en-US" sz="1000" dirty="0"/>
          </a:p>
        </p:txBody>
      </p:sp>
      <p:sp>
        <p:nvSpPr>
          <p:cNvPr id="25" name="Text 23"/>
          <p:cNvSpPr/>
          <p:nvPr/>
        </p:nvSpPr>
        <p:spPr>
          <a:xfrm>
            <a:off x="640080" y="6126480"/>
            <a:ext cx="10972800" cy="274320"/>
          </a:xfrm>
          <a:prstGeom prst="rect">
            <a:avLst/>
          </a:prstGeom>
          <a:noFill/>
          <a:ln/>
        </p:spPr>
        <p:txBody>
          <a:bodyPr wrap="square" lIns="0" tIns="0" rIns="0" bIns="0" rtlCol="0" anchor="ctr"/>
          <a:lstStyle/>
          <a:p>
            <a:pPr marL="0" indent="0" algn="l">
              <a:buNone/>
            </a:pPr>
            <a:r>
              <a:rPr lang="en-US" sz="900" i="1" dirty="0">
                <a:solidFill>
                  <a:srgbClr val="64748B"/>
                </a:solidFill>
                <a:latin typeface="Calibri" pitchFamily="34" charset="0"/>
                <a:ea typeface="Calibri" pitchFamily="34" charset="-122"/>
                <a:cs typeface="Calibri" pitchFamily="34" charset="-120"/>
              </a:rPr>
              <a:t>Clasificación sectorial siguiendo al Banco Central de Chile. El bien “Otros bienes y servicios” no tiene un sector productor asociado (de ahí 13 bienes contra 12 sectores).</a:t>
            </a:r>
            <a:endParaRPr lang="en-US" sz="900" dirty="0"/>
          </a:p>
        </p:txBody>
      </p:sp>
      <p:sp>
        <p:nvSpPr>
          <p:cNvPr id="26" name="Text 24"/>
          <p:cNvSpPr/>
          <p:nvPr/>
        </p:nvSpPr>
        <p:spPr>
          <a:xfrm>
            <a:off x="457200" y="6492240"/>
            <a:ext cx="11247120" cy="274320"/>
          </a:xfrm>
          <a:prstGeom prst="rect">
            <a:avLst/>
          </a:prstGeom>
          <a:noFill/>
          <a:ln/>
        </p:spPr>
        <p:txBody>
          <a:bodyPr wrap="square"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MEGC 12 sectores · Chile 2023 · SII</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a:p>
        </p:txBody>
      </p:sp>
      <p:sp>
        <p:nvSpPr>
          <p:cNvPr id="3" name="Text 1"/>
          <p:cNvSpPr/>
          <p:nvPr/>
        </p:nvSpPr>
        <p:spPr>
          <a:xfrm>
            <a:off x="457200" y="384048"/>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06</a:t>
            </a:r>
            <a:endParaRPr lang="en-US" sz="1400" dirty="0"/>
          </a:p>
        </p:txBody>
      </p:sp>
      <p:sp>
        <p:nvSpPr>
          <p:cNvPr id="4" name="Text 2"/>
          <p:cNvSpPr/>
          <p:nvPr/>
        </p:nvSpPr>
        <p:spPr>
          <a:xfrm>
            <a:off x="1051560" y="365760"/>
            <a:ext cx="10698480" cy="502920"/>
          </a:xfrm>
          <a:prstGeom prst="rect">
            <a:avLst/>
          </a:prstGeom>
          <a:noFill/>
          <a:ln/>
        </p:spPr>
        <p:txBody>
          <a:bodyPr wrap="square" lIns="0" tIns="0" rIns="0" bIns="0" rtlCol="0" anchor="ctr"/>
          <a:lstStyle/>
          <a:p>
            <a:pPr marL="0" indent="0" algn="l">
              <a:buNone/>
            </a:pPr>
            <a:r>
              <a:rPr lang="en-US" sz="2400" b="1" dirty="0">
                <a:solidFill>
                  <a:srgbClr val="1E2761"/>
                </a:solidFill>
                <a:latin typeface="Cambria" pitchFamily="34" charset="0"/>
                <a:ea typeface="Cambria" pitchFamily="34" charset="-122"/>
                <a:cs typeface="Cambria" pitchFamily="34" charset="-120"/>
              </a:rPr>
              <a:t>Construcción de la SAM</a:t>
            </a:r>
            <a:endParaRPr lang="en-US" sz="2400" dirty="0"/>
          </a:p>
        </p:txBody>
      </p:sp>
      <p:sp>
        <p:nvSpPr>
          <p:cNvPr id="5" name="Text 3"/>
          <p:cNvSpPr/>
          <p:nvPr/>
        </p:nvSpPr>
        <p:spPr>
          <a:xfrm>
            <a:off x="640080" y="1005840"/>
            <a:ext cx="10972800" cy="365760"/>
          </a:xfrm>
          <a:prstGeom prst="rect">
            <a:avLst/>
          </a:prstGeom>
          <a:noFill/>
          <a:ln/>
        </p:spPr>
        <p:txBody>
          <a:bodyPr wrap="square" lIns="0" tIns="0" rIns="0" bIns="0" rtlCol="0" anchor="ctr"/>
          <a:lstStyle/>
          <a:p>
            <a:pPr marL="0" indent="0" algn="l">
              <a:buNone/>
            </a:pPr>
            <a:r>
              <a:rPr lang="en-US" sz="1300" i="1" dirty="0">
                <a:solidFill>
                  <a:srgbClr val="64748B"/>
                </a:solidFill>
                <a:latin typeface="Calibri" pitchFamily="34" charset="0"/>
                <a:ea typeface="Calibri" pitchFamily="34" charset="-122"/>
                <a:cs typeface="Calibri" pitchFamily="34" charset="-120"/>
              </a:rPr>
              <a:t>Fuentes y reglas de compilación matricial.</a:t>
            </a:r>
            <a:endParaRPr lang="en-US" sz="1300" dirty="0"/>
          </a:p>
        </p:txBody>
      </p:sp>
      <p:sp>
        <p:nvSpPr>
          <p:cNvPr id="6" name="Shape 4"/>
          <p:cNvSpPr/>
          <p:nvPr/>
        </p:nvSpPr>
        <p:spPr>
          <a:xfrm>
            <a:off x="640080" y="1508760"/>
            <a:ext cx="2011680" cy="777240"/>
          </a:xfrm>
          <a:prstGeom prst="rect">
            <a:avLst/>
          </a:prstGeom>
          <a:solidFill>
            <a:srgbClr val="1E2761"/>
          </a:solidFill>
          <a:ln w="12700">
            <a:solidFill>
              <a:srgbClr val="1E2761"/>
            </a:solidFill>
            <a:prstDash val="solid"/>
          </a:ln>
        </p:spPr>
        <p:txBody>
          <a:bodyPr/>
          <a:lstStyle/>
          <a:p>
            <a:endParaRPr lang="es-CL"/>
          </a:p>
        </p:txBody>
      </p:sp>
      <p:sp>
        <p:nvSpPr>
          <p:cNvPr id="7" name="Text 5"/>
          <p:cNvSpPr/>
          <p:nvPr/>
        </p:nvSpPr>
        <p:spPr>
          <a:xfrm>
            <a:off x="640080" y="1508760"/>
            <a:ext cx="2011680" cy="77724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PRODUCCIÓN</a:t>
            </a:r>
            <a:endParaRPr lang="en-US" sz="1200" dirty="0"/>
          </a:p>
        </p:txBody>
      </p:sp>
      <p:sp>
        <p:nvSpPr>
          <p:cNvPr id="8" name="Shape 6"/>
          <p:cNvSpPr/>
          <p:nvPr/>
        </p:nvSpPr>
        <p:spPr>
          <a:xfrm>
            <a:off x="2651760" y="1508760"/>
            <a:ext cx="9052560" cy="777240"/>
          </a:xfrm>
          <a:prstGeom prst="rect">
            <a:avLst/>
          </a:prstGeom>
          <a:solidFill>
            <a:srgbClr val="F5F7FA"/>
          </a:solidFill>
          <a:ln w="9525">
            <a:solidFill>
              <a:srgbClr val="E2E8F0"/>
            </a:solidFill>
            <a:prstDash val="solid"/>
          </a:ln>
        </p:spPr>
        <p:txBody>
          <a:bodyPr/>
          <a:lstStyle/>
          <a:p>
            <a:endParaRPr lang="es-CL"/>
          </a:p>
        </p:txBody>
      </p:sp>
      <p:sp>
        <p:nvSpPr>
          <p:cNvPr id="9" name="Text 7"/>
          <p:cNvSpPr/>
          <p:nvPr/>
        </p:nvSpPr>
        <p:spPr>
          <a:xfrm>
            <a:off x="2834640" y="1508760"/>
            <a:ext cx="8686800" cy="777240"/>
          </a:xfrm>
          <a:prstGeom prst="rect">
            <a:avLst/>
          </a:prstGeom>
          <a:noFill/>
          <a:ln/>
        </p:spPr>
        <p:txBody>
          <a:bodyPr wrap="square" lIns="0" tIns="0" rIns="0" bIns="0" rtlCol="0" anchor="ctr"/>
          <a:lstStyle/>
          <a:p>
            <a:pPr marL="0" indent="0" algn="l">
              <a:buNone/>
            </a:pPr>
            <a:r>
              <a:rPr lang="en-US" sz="1200" dirty="0">
                <a:solidFill>
                  <a:srgbClr val="2D3748"/>
                </a:solidFill>
                <a:latin typeface="Calibri" pitchFamily="34" charset="0"/>
                <a:ea typeface="Calibri" pitchFamily="34" charset="-122"/>
                <a:cs typeface="Calibri" pitchFamily="34" charset="-120"/>
              </a:rPr>
              <a:t>Matriz de producción a precios básicos del Banco Central. Margen de comercio incorporado a la actividad de servicios.</a:t>
            </a:r>
            <a:endParaRPr lang="en-US" sz="1200" dirty="0"/>
          </a:p>
        </p:txBody>
      </p:sp>
      <p:sp>
        <p:nvSpPr>
          <p:cNvPr id="10" name="Shape 8"/>
          <p:cNvSpPr/>
          <p:nvPr/>
        </p:nvSpPr>
        <p:spPr>
          <a:xfrm>
            <a:off x="640080" y="2423160"/>
            <a:ext cx="2011680" cy="777240"/>
          </a:xfrm>
          <a:prstGeom prst="rect">
            <a:avLst/>
          </a:prstGeom>
          <a:solidFill>
            <a:srgbClr val="1E2761"/>
          </a:solidFill>
          <a:ln w="12700">
            <a:solidFill>
              <a:srgbClr val="1E2761"/>
            </a:solidFill>
            <a:prstDash val="solid"/>
          </a:ln>
        </p:spPr>
        <p:txBody>
          <a:bodyPr/>
          <a:lstStyle/>
          <a:p>
            <a:endParaRPr lang="es-CL"/>
          </a:p>
        </p:txBody>
      </p:sp>
      <p:sp>
        <p:nvSpPr>
          <p:cNvPr id="11" name="Text 9"/>
          <p:cNvSpPr/>
          <p:nvPr/>
        </p:nvSpPr>
        <p:spPr>
          <a:xfrm>
            <a:off x="640080" y="2423160"/>
            <a:ext cx="2011680" cy="77724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INSUMOS</a:t>
            </a:r>
            <a:endParaRPr lang="en-US" sz="1200" dirty="0"/>
          </a:p>
        </p:txBody>
      </p:sp>
      <p:sp>
        <p:nvSpPr>
          <p:cNvPr id="12" name="Shape 10"/>
          <p:cNvSpPr/>
          <p:nvPr/>
        </p:nvSpPr>
        <p:spPr>
          <a:xfrm>
            <a:off x="2651760" y="2423160"/>
            <a:ext cx="9052560" cy="777240"/>
          </a:xfrm>
          <a:prstGeom prst="rect">
            <a:avLst/>
          </a:prstGeom>
          <a:solidFill>
            <a:srgbClr val="F5F7FA"/>
          </a:solidFill>
          <a:ln w="9525">
            <a:solidFill>
              <a:srgbClr val="E2E8F0"/>
            </a:solidFill>
            <a:prstDash val="solid"/>
          </a:ln>
        </p:spPr>
        <p:txBody>
          <a:bodyPr/>
          <a:lstStyle/>
          <a:p>
            <a:endParaRPr lang="es-CL"/>
          </a:p>
        </p:txBody>
      </p:sp>
      <p:sp>
        <p:nvSpPr>
          <p:cNvPr id="13" name="Text 11"/>
          <p:cNvSpPr/>
          <p:nvPr/>
        </p:nvSpPr>
        <p:spPr>
          <a:xfrm>
            <a:off x="2834640" y="2423160"/>
            <a:ext cx="8686800" cy="777240"/>
          </a:xfrm>
          <a:prstGeom prst="rect">
            <a:avLst/>
          </a:prstGeom>
          <a:noFill/>
          <a:ln/>
        </p:spPr>
        <p:txBody>
          <a:bodyPr wrap="square" lIns="0" tIns="0" rIns="0" bIns="0" rtlCol="0" anchor="ctr"/>
          <a:lstStyle/>
          <a:p>
            <a:pPr marL="0" indent="0" algn="l">
              <a:buNone/>
            </a:pPr>
            <a:r>
              <a:rPr lang="en-US" sz="1200" dirty="0">
                <a:solidFill>
                  <a:srgbClr val="2D3748"/>
                </a:solidFill>
                <a:latin typeface="Calibri" pitchFamily="34" charset="0"/>
                <a:ea typeface="Calibri" pitchFamily="34" charset="-122"/>
                <a:cs typeface="Calibri" pitchFamily="34" charset="-120"/>
              </a:rPr>
              <a:t>Cuadro de utilización intermedia total a precios de usuario. Coeficientes técnicos fijos en la calibración.</a:t>
            </a:r>
            <a:endParaRPr lang="en-US" sz="1200" dirty="0"/>
          </a:p>
        </p:txBody>
      </p:sp>
      <p:sp>
        <p:nvSpPr>
          <p:cNvPr id="14" name="Shape 12"/>
          <p:cNvSpPr/>
          <p:nvPr/>
        </p:nvSpPr>
        <p:spPr>
          <a:xfrm>
            <a:off x="640080" y="3337560"/>
            <a:ext cx="2011680" cy="777240"/>
          </a:xfrm>
          <a:prstGeom prst="rect">
            <a:avLst/>
          </a:prstGeom>
          <a:solidFill>
            <a:srgbClr val="1E2761"/>
          </a:solidFill>
          <a:ln w="12700">
            <a:solidFill>
              <a:srgbClr val="1E2761"/>
            </a:solidFill>
            <a:prstDash val="solid"/>
          </a:ln>
        </p:spPr>
        <p:txBody>
          <a:bodyPr/>
          <a:lstStyle/>
          <a:p>
            <a:endParaRPr lang="es-CL"/>
          </a:p>
        </p:txBody>
      </p:sp>
      <p:sp>
        <p:nvSpPr>
          <p:cNvPr id="15" name="Text 13"/>
          <p:cNvSpPr/>
          <p:nvPr/>
        </p:nvSpPr>
        <p:spPr>
          <a:xfrm>
            <a:off x="640080" y="3337560"/>
            <a:ext cx="2011680" cy="77724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VALOR AGREGADO</a:t>
            </a:r>
            <a:endParaRPr lang="en-US" sz="1200" dirty="0"/>
          </a:p>
        </p:txBody>
      </p:sp>
      <p:sp>
        <p:nvSpPr>
          <p:cNvPr id="16" name="Shape 14"/>
          <p:cNvSpPr/>
          <p:nvPr/>
        </p:nvSpPr>
        <p:spPr>
          <a:xfrm>
            <a:off x="2651760" y="3337560"/>
            <a:ext cx="9052560" cy="777240"/>
          </a:xfrm>
          <a:prstGeom prst="rect">
            <a:avLst/>
          </a:prstGeom>
          <a:solidFill>
            <a:srgbClr val="F5F7FA"/>
          </a:solidFill>
          <a:ln w="9525">
            <a:solidFill>
              <a:srgbClr val="E2E8F0"/>
            </a:solidFill>
            <a:prstDash val="solid"/>
          </a:ln>
        </p:spPr>
        <p:txBody>
          <a:bodyPr/>
          <a:lstStyle/>
          <a:p>
            <a:endParaRPr lang="es-CL"/>
          </a:p>
        </p:txBody>
      </p:sp>
      <p:sp>
        <p:nvSpPr>
          <p:cNvPr id="17" name="Text 15"/>
          <p:cNvSpPr/>
          <p:nvPr/>
        </p:nvSpPr>
        <p:spPr>
          <a:xfrm>
            <a:off x="2834640" y="3337560"/>
            <a:ext cx="8686800" cy="777240"/>
          </a:xfrm>
          <a:prstGeom prst="rect">
            <a:avLst/>
          </a:prstGeom>
          <a:noFill/>
          <a:ln/>
        </p:spPr>
        <p:txBody>
          <a:bodyPr wrap="square" lIns="0" tIns="0" rIns="0" bIns="0" rtlCol="0" anchor="ctr"/>
          <a:lstStyle/>
          <a:p>
            <a:pPr marL="0" indent="0" algn="l">
              <a:buNone/>
            </a:pPr>
            <a:r>
              <a:rPr lang="en-US" sz="1200" dirty="0">
                <a:solidFill>
                  <a:srgbClr val="2D3748"/>
                </a:solidFill>
                <a:latin typeface="Calibri" pitchFamily="34" charset="0"/>
                <a:ea typeface="Calibri" pitchFamily="34" charset="-122"/>
                <a:cs typeface="Calibri" pitchFamily="34" charset="-120"/>
              </a:rPr>
              <a:t>Cuadrante de valor agregado: trabajo, capital e impuestos a la producción. Trabajo clasificado en 3 niveles según CASEN 2022.</a:t>
            </a:r>
            <a:endParaRPr lang="en-US" sz="1200" dirty="0"/>
          </a:p>
        </p:txBody>
      </p:sp>
      <p:sp>
        <p:nvSpPr>
          <p:cNvPr id="18" name="Shape 16"/>
          <p:cNvSpPr/>
          <p:nvPr/>
        </p:nvSpPr>
        <p:spPr>
          <a:xfrm>
            <a:off x="640080" y="4251960"/>
            <a:ext cx="2011680" cy="777240"/>
          </a:xfrm>
          <a:prstGeom prst="rect">
            <a:avLst/>
          </a:prstGeom>
          <a:solidFill>
            <a:srgbClr val="1E2761"/>
          </a:solidFill>
          <a:ln w="12700">
            <a:solidFill>
              <a:srgbClr val="1E2761"/>
            </a:solidFill>
            <a:prstDash val="solid"/>
          </a:ln>
        </p:spPr>
        <p:txBody>
          <a:bodyPr/>
          <a:lstStyle/>
          <a:p>
            <a:endParaRPr lang="es-CL"/>
          </a:p>
        </p:txBody>
      </p:sp>
      <p:sp>
        <p:nvSpPr>
          <p:cNvPr id="19" name="Text 17"/>
          <p:cNvSpPr/>
          <p:nvPr/>
        </p:nvSpPr>
        <p:spPr>
          <a:xfrm>
            <a:off x="640080" y="4251960"/>
            <a:ext cx="2011680" cy="77724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DEMANDA FINAL</a:t>
            </a:r>
            <a:endParaRPr lang="en-US" sz="1200" dirty="0"/>
          </a:p>
        </p:txBody>
      </p:sp>
      <p:sp>
        <p:nvSpPr>
          <p:cNvPr id="20" name="Shape 18"/>
          <p:cNvSpPr/>
          <p:nvPr/>
        </p:nvSpPr>
        <p:spPr>
          <a:xfrm>
            <a:off x="2651760" y="4251960"/>
            <a:ext cx="9052560" cy="777240"/>
          </a:xfrm>
          <a:prstGeom prst="rect">
            <a:avLst/>
          </a:prstGeom>
          <a:solidFill>
            <a:srgbClr val="F5F7FA"/>
          </a:solidFill>
          <a:ln w="9525">
            <a:solidFill>
              <a:srgbClr val="E2E8F0"/>
            </a:solidFill>
            <a:prstDash val="solid"/>
          </a:ln>
        </p:spPr>
        <p:txBody>
          <a:bodyPr/>
          <a:lstStyle/>
          <a:p>
            <a:endParaRPr lang="es-CL"/>
          </a:p>
        </p:txBody>
      </p:sp>
      <p:sp>
        <p:nvSpPr>
          <p:cNvPr id="21" name="Text 19"/>
          <p:cNvSpPr/>
          <p:nvPr/>
        </p:nvSpPr>
        <p:spPr>
          <a:xfrm>
            <a:off x="2834640" y="4251960"/>
            <a:ext cx="8686800" cy="777240"/>
          </a:xfrm>
          <a:prstGeom prst="rect">
            <a:avLst/>
          </a:prstGeom>
          <a:noFill/>
          <a:ln/>
        </p:spPr>
        <p:txBody>
          <a:bodyPr wrap="square" lIns="0" tIns="0" rIns="0" bIns="0" rtlCol="0" anchor="ctr"/>
          <a:lstStyle/>
          <a:p>
            <a:pPr marL="0" indent="0" algn="l">
              <a:buNone/>
            </a:pPr>
            <a:r>
              <a:rPr lang="en-US" sz="1200" dirty="0">
                <a:solidFill>
                  <a:srgbClr val="2D3748"/>
                </a:solidFill>
                <a:latin typeface="Calibri" pitchFamily="34" charset="0"/>
                <a:ea typeface="Calibri" pitchFamily="34" charset="-122"/>
                <a:cs typeface="Calibri" pitchFamily="34" charset="-120"/>
              </a:rPr>
              <a:t>Cuadro de utilización final total: consumo de hogares y gobierno, exportaciones, inversión (S-I) y variación de existencias.</a:t>
            </a:r>
            <a:endParaRPr lang="en-US" sz="1200" dirty="0"/>
          </a:p>
        </p:txBody>
      </p:sp>
      <p:sp>
        <p:nvSpPr>
          <p:cNvPr id="22" name="Shape 20"/>
          <p:cNvSpPr/>
          <p:nvPr/>
        </p:nvSpPr>
        <p:spPr>
          <a:xfrm>
            <a:off x="640080" y="5166360"/>
            <a:ext cx="2011680" cy="777240"/>
          </a:xfrm>
          <a:prstGeom prst="rect">
            <a:avLst/>
          </a:prstGeom>
          <a:solidFill>
            <a:srgbClr val="1E2761"/>
          </a:solidFill>
          <a:ln w="12700">
            <a:solidFill>
              <a:srgbClr val="1E2761"/>
            </a:solidFill>
            <a:prstDash val="solid"/>
          </a:ln>
        </p:spPr>
        <p:txBody>
          <a:bodyPr/>
          <a:lstStyle/>
          <a:p>
            <a:endParaRPr lang="es-CL"/>
          </a:p>
        </p:txBody>
      </p:sp>
      <p:sp>
        <p:nvSpPr>
          <p:cNvPr id="23" name="Text 21"/>
          <p:cNvSpPr/>
          <p:nvPr/>
        </p:nvSpPr>
        <p:spPr>
          <a:xfrm>
            <a:off x="640080" y="5166360"/>
            <a:ext cx="2011680" cy="77724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IMPUESTOS INDIRECTOS</a:t>
            </a:r>
            <a:endParaRPr lang="en-US" sz="1200" dirty="0"/>
          </a:p>
        </p:txBody>
      </p:sp>
      <p:sp>
        <p:nvSpPr>
          <p:cNvPr id="24" name="Shape 22"/>
          <p:cNvSpPr/>
          <p:nvPr/>
        </p:nvSpPr>
        <p:spPr>
          <a:xfrm>
            <a:off x="2651760" y="5166360"/>
            <a:ext cx="9052560" cy="777240"/>
          </a:xfrm>
          <a:prstGeom prst="rect">
            <a:avLst/>
          </a:prstGeom>
          <a:solidFill>
            <a:srgbClr val="F5F7FA"/>
          </a:solidFill>
          <a:ln w="9525">
            <a:solidFill>
              <a:srgbClr val="E2E8F0"/>
            </a:solidFill>
            <a:prstDash val="solid"/>
          </a:ln>
        </p:spPr>
        <p:txBody>
          <a:bodyPr/>
          <a:lstStyle/>
          <a:p>
            <a:endParaRPr lang="es-CL"/>
          </a:p>
        </p:txBody>
      </p:sp>
      <p:sp>
        <p:nvSpPr>
          <p:cNvPr id="25" name="Text 23"/>
          <p:cNvSpPr/>
          <p:nvPr/>
        </p:nvSpPr>
        <p:spPr>
          <a:xfrm>
            <a:off x="2834640" y="5166360"/>
            <a:ext cx="8686800" cy="777240"/>
          </a:xfrm>
          <a:prstGeom prst="rect">
            <a:avLst/>
          </a:prstGeom>
          <a:noFill/>
          <a:ln/>
        </p:spPr>
        <p:txBody>
          <a:bodyPr wrap="square" lIns="0" tIns="0" rIns="0" bIns="0" rtlCol="0" anchor="ctr"/>
          <a:lstStyle/>
          <a:p>
            <a:pPr marL="0" indent="0" algn="l">
              <a:buNone/>
            </a:pPr>
            <a:r>
              <a:rPr lang="en-US" sz="1200" dirty="0">
                <a:solidFill>
                  <a:srgbClr val="2D3748"/>
                </a:solidFill>
                <a:latin typeface="Calibri" pitchFamily="34" charset="0"/>
                <a:ea typeface="Calibri" pitchFamily="34" charset="-122"/>
                <a:cs typeface="Calibri" pitchFamily="34" charset="-120"/>
              </a:rPr>
              <a:t>IVA, aranceles e impuestos específicos desde el cuadro de oferta total.</a:t>
            </a:r>
            <a:endParaRPr lang="en-US" sz="1200" dirty="0"/>
          </a:p>
        </p:txBody>
      </p:sp>
      <p:sp>
        <p:nvSpPr>
          <p:cNvPr id="26" name="Text 24"/>
          <p:cNvSpPr/>
          <p:nvPr/>
        </p:nvSpPr>
        <p:spPr>
          <a:xfrm>
            <a:off x="640080" y="6263640"/>
            <a:ext cx="10972800" cy="274320"/>
          </a:xfrm>
          <a:prstGeom prst="rect">
            <a:avLst/>
          </a:prstGeom>
          <a:noFill/>
          <a:ln/>
        </p:spPr>
        <p:txBody>
          <a:bodyPr wrap="square" lIns="0" tIns="0" rIns="0" bIns="0" rtlCol="0" anchor="ctr"/>
          <a:lstStyle/>
          <a:p>
            <a:pPr marL="0" indent="0" algn="l">
              <a:buNone/>
            </a:pPr>
            <a:r>
              <a:rPr lang="en-US" sz="900" i="1" dirty="0">
                <a:solidFill>
                  <a:srgbClr val="64748B"/>
                </a:solidFill>
                <a:latin typeface="Calibri" pitchFamily="34" charset="0"/>
                <a:ea typeface="Calibri" pitchFamily="34" charset="-122"/>
                <a:cs typeface="Calibri" pitchFamily="34" charset="-120"/>
              </a:rPr>
              <a:t>Metodología matricial: Venegas, J. (2013). SAM 2008 para Chile. Banco Central de Chile, Estudios Económicos Estadísticos 95.</a:t>
            </a:r>
            <a:endParaRPr lang="en-US" sz="900" dirty="0"/>
          </a:p>
        </p:txBody>
      </p:sp>
      <p:sp>
        <p:nvSpPr>
          <p:cNvPr id="27" name="Text 25"/>
          <p:cNvSpPr/>
          <p:nvPr/>
        </p:nvSpPr>
        <p:spPr>
          <a:xfrm>
            <a:off x="457200" y="6492240"/>
            <a:ext cx="11247120" cy="274320"/>
          </a:xfrm>
          <a:prstGeom prst="rect">
            <a:avLst/>
          </a:prstGeom>
          <a:noFill/>
          <a:ln/>
        </p:spPr>
        <p:txBody>
          <a:bodyPr wrap="square"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MEGC 12 sectores · Chile 2023 · SII</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B6AC7-ADD7-29CF-4199-625306EEDB0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BE835F5-920B-74CA-CCE5-69FA924DC59C}"/>
              </a:ext>
            </a:extLst>
          </p:cNvPr>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a:p>
        </p:txBody>
      </p:sp>
      <p:sp>
        <p:nvSpPr>
          <p:cNvPr id="3" name="Text 1">
            <a:extLst>
              <a:ext uri="{FF2B5EF4-FFF2-40B4-BE49-F238E27FC236}">
                <a16:creationId xmlns:a16="http://schemas.microsoft.com/office/drawing/2014/main" id="{51D284A9-B670-6CDF-BCA3-A8D43560840C}"/>
              </a:ext>
            </a:extLst>
          </p:cNvPr>
          <p:cNvSpPr/>
          <p:nvPr/>
        </p:nvSpPr>
        <p:spPr>
          <a:xfrm>
            <a:off x="457200" y="384048"/>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06</a:t>
            </a:r>
            <a:endParaRPr lang="en-US" sz="1400" dirty="0"/>
          </a:p>
        </p:txBody>
      </p:sp>
      <p:sp>
        <p:nvSpPr>
          <p:cNvPr id="4" name="Text 2">
            <a:extLst>
              <a:ext uri="{FF2B5EF4-FFF2-40B4-BE49-F238E27FC236}">
                <a16:creationId xmlns:a16="http://schemas.microsoft.com/office/drawing/2014/main" id="{FBA5ECD1-6D25-C75C-E0EF-B7B2FBA3BFF1}"/>
              </a:ext>
            </a:extLst>
          </p:cNvPr>
          <p:cNvSpPr/>
          <p:nvPr/>
        </p:nvSpPr>
        <p:spPr>
          <a:xfrm>
            <a:off x="1051560" y="365760"/>
            <a:ext cx="10698480" cy="502920"/>
          </a:xfrm>
          <a:prstGeom prst="rect">
            <a:avLst/>
          </a:prstGeom>
          <a:noFill/>
          <a:ln/>
        </p:spPr>
        <p:txBody>
          <a:bodyPr wrap="square" lIns="0" tIns="0" rIns="0" bIns="0" rtlCol="0" anchor="ctr"/>
          <a:lstStyle/>
          <a:p>
            <a:pPr marL="0" indent="0" algn="l">
              <a:buNone/>
            </a:pPr>
            <a:r>
              <a:rPr lang="en-US" sz="2400" b="1" dirty="0">
                <a:solidFill>
                  <a:srgbClr val="1E2761"/>
                </a:solidFill>
                <a:latin typeface="Cambria" pitchFamily="34" charset="0"/>
                <a:ea typeface="Cambria" pitchFamily="34" charset="-122"/>
                <a:cs typeface="Cambria" pitchFamily="34" charset="-120"/>
              </a:rPr>
              <a:t>Construcción de la SAM</a:t>
            </a:r>
            <a:endParaRPr lang="en-US" sz="2400" dirty="0"/>
          </a:p>
        </p:txBody>
      </p:sp>
      <p:sp>
        <p:nvSpPr>
          <p:cNvPr id="5" name="Text 3">
            <a:extLst>
              <a:ext uri="{FF2B5EF4-FFF2-40B4-BE49-F238E27FC236}">
                <a16:creationId xmlns:a16="http://schemas.microsoft.com/office/drawing/2014/main" id="{F7FC5C45-C332-F4D4-AE82-EEB2382AAD60}"/>
              </a:ext>
            </a:extLst>
          </p:cNvPr>
          <p:cNvSpPr/>
          <p:nvPr/>
        </p:nvSpPr>
        <p:spPr>
          <a:xfrm>
            <a:off x="640080" y="1005840"/>
            <a:ext cx="10972800" cy="365760"/>
          </a:xfrm>
          <a:prstGeom prst="rect">
            <a:avLst/>
          </a:prstGeom>
          <a:noFill/>
          <a:ln/>
        </p:spPr>
        <p:txBody>
          <a:bodyPr wrap="square" lIns="0" tIns="0" rIns="0" bIns="0" rtlCol="0" anchor="ctr"/>
          <a:lstStyle/>
          <a:p>
            <a:pPr marL="0" indent="0" algn="l">
              <a:buNone/>
            </a:pPr>
            <a:r>
              <a:rPr lang="en-US" sz="1300" i="1" dirty="0">
                <a:solidFill>
                  <a:srgbClr val="64748B"/>
                </a:solidFill>
                <a:latin typeface="Calibri" pitchFamily="34" charset="0"/>
                <a:ea typeface="Calibri" pitchFamily="34" charset="-122"/>
                <a:cs typeface="Calibri" pitchFamily="34" charset="-120"/>
              </a:rPr>
              <a:t>Fuentes y reglas de compilación matricial.</a:t>
            </a:r>
            <a:endParaRPr lang="en-US" sz="1300" dirty="0"/>
          </a:p>
        </p:txBody>
      </p:sp>
      <p:sp>
        <p:nvSpPr>
          <p:cNvPr id="6" name="Shape 4">
            <a:extLst>
              <a:ext uri="{FF2B5EF4-FFF2-40B4-BE49-F238E27FC236}">
                <a16:creationId xmlns:a16="http://schemas.microsoft.com/office/drawing/2014/main" id="{AF1F80EF-50FA-E732-0CD6-45F6BB377751}"/>
              </a:ext>
            </a:extLst>
          </p:cNvPr>
          <p:cNvSpPr/>
          <p:nvPr/>
        </p:nvSpPr>
        <p:spPr>
          <a:xfrm>
            <a:off x="640080" y="1508760"/>
            <a:ext cx="2011680" cy="777240"/>
          </a:xfrm>
          <a:prstGeom prst="rect">
            <a:avLst/>
          </a:prstGeom>
          <a:solidFill>
            <a:srgbClr val="1E2761"/>
          </a:solidFill>
          <a:ln w="12700">
            <a:solidFill>
              <a:srgbClr val="1E2761"/>
            </a:solidFill>
            <a:prstDash val="solid"/>
          </a:ln>
        </p:spPr>
        <p:txBody>
          <a:bodyPr/>
          <a:lstStyle/>
          <a:p>
            <a:endParaRPr lang="es-CL"/>
          </a:p>
        </p:txBody>
      </p:sp>
      <p:sp>
        <p:nvSpPr>
          <p:cNvPr id="7" name="Text 5">
            <a:extLst>
              <a:ext uri="{FF2B5EF4-FFF2-40B4-BE49-F238E27FC236}">
                <a16:creationId xmlns:a16="http://schemas.microsoft.com/office/drawing/2014/main" id="{2319CD75-976F-38FE-6489-F82252B0CD9F}"/>
              </a:ext>
            </a:extLst>
          </p:cNvPr>
          <p:cNvSpPr/>
          <p:nvPr/>
        </p:nvSpPr>
        <p:spPr>
          <a:xfrm>
            <a:off x="640080" y="1508760"/>
            <a:ext cx="2011680" cy="77724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REMUNERACIÓN INSTUITUCIONAL</a:t>
            </a:r>
            <a:endParaRPr lang="en-US" sz="1200" dirty="0"/>
          </a:p>
        </p:txBody>
      </p:sp>
      <p:sp>
        <p:nvSpPr>
          <p:cNvPr id="8" name="Shape 6">
            <a:extLst>
              <a:ext uri="{FF2B5EF4-FFF2-40B4-BE49-F238E27FC236}">
                <a16:creationId xmlns:a16="http://schemas.microsoft.com/office/drawing/2014/main" id="{A405347F-A31E-93C1-96CE-608E6E38D677}"/>
              </a:ext>
            </a:extLst>
          </p:cNvPr>
          <p:cNvSpPr/>
          <p:nvPr/>
        </p:nvSpPr>
        <p:spPr>
          <a:xfrm>
            <a:off x="2651760" y="1508760"/>
            <a:ext cx="9052560" cy="777240"/>
          </a:xfrm>
          <a:prstGeom prst="rect">
            <a:avLst/>
          </a:prstGeom>
          <a:solidFill>
            <a:srgbClr val="F5F7FA"/>
          </a:solidFill>
          <a:ln w="9525">
            <a:solidFill>
              <a:srgbClr val="E2E8F0"/>
            </a:solidFill>
            <a:prstDash val="solid"/>
          </a:ln>
        </p:spPr>
        <p:txBody>
          <a:bodyPr/>
          <a:lstStyle/>
          <a:p>
            <a:endParaRPr lang="es-CL"/>
          </a:p>
        </p:txBody>
      </p:sp>
      <p:sp>
        <p:nvSpPr>
          <p:cNvPr id="9" name="Text 7">
            <a:extLst>
              <a:ext uri="{FF2B5EF4-FFF2-40B4-BE49-F238E27FC236}">
                <a16:creationId xmlns:a16="http://schemas.microsoft.com/office/drawing/2014/main" id="{2B4742B0-CDD7-9BAF-264B-94DBDE5A79CC}"/>
              </a:ext>
            </a:extLst>
          </p:cNvPr>
          <p:cNvSpPr/>
          <p:nvPr/>
        </p:nvSpPr>
        <p:spPr>
          <a:xfrm>
            <a:off x="2834640" y="1508760"/>
            <a:ext cx="8686800" cy="777240"/>
          </a:xfrm>
          <a:prstGeom prst="rect">
            <a:avLst/>
          </a:prstGeom>
          <a:noFill/>
          <a:ln/>
        </p:spPr>
        <p:txBody>
          <a:bodyPr wrap="square" lIns="0" tIns="0" rIns="0" bIns="0" rtlCol="0" anchor="ctr"/>
          <a:lstStyle/>
          <a:p>
            <a:r>
              <a:rPr lang="en-US" sz="1200" dirty="0">
                <a:solidFill>
                  <a:srgbClr val="2D3748"/>
                </a:solidFill>
                <a:latin typeface="Calibri" pitchFamily="34" charset="0"/>
                <a:ea typeface="Calibri" pitchFamily="34" charset="-122"/>
                <a:cs typeface="Calibri" pitchFamily="34" charset="-120"/>
              </a:rPr>
              <a:t>Cuentas no </a:t>
            </a:r>
            <a:r>
              <a:rPr lang="en-US" sz="1200" dirty="0" err="1">
                <a:solidFill>
                  <a:srgbClr val="2D3748"/>
                </a:solidFill>
                <a:latin typeface="Calibri" pitchFamily="34" charset="0"/>
                <a:ea typeface="Calibri" pitchFamily="34" charset="-122"/>
                <a:cs typeface="Calibri" pitchFamily="34" charset="-120"/>
              </a:rPr>
              <a:t>Financieras</a:t>
            </a:r>
            <a:r>
              <a:rPr lang="en-US" sz="1200" dirty="0">
                <a:solidFill>
                  <a:srgbClr val="2D3748"/>
                </a:solidFill>
                <a:latin typeface="Calibri" pitchFamily="34" charset="0"/>
                <a:ea typeface="Calibri" pitchFamily="34" charset="-122"/>
                <a:cs typeface="Calibri" pitchFamily="34" charset="-120"/>
              </a:rPr>
              <a:t> </a:t>
            </a:r>
            <a:r>
              <a:rPr lang="en-US" sz="1200" dirty="0" err="1">
                <a:solidFill>
                  <a:srgbClr val="2D3748"/>
                </a:solidFill>
                <a:latin typeface="Calibri" pitchFamily="34" charset="0"/>
                <a:ea typeface="Calibri" pitchFamily="34" charset="-122"/>
                <a:cs typeface="Calibri" pitchFamily="34" charset="-120"/>
              </a:rPr>
              <a:t>por</a:t>
            </a:r>
            <a:r>
              <a:rPr lang="en-US" sz="1200" dirty="0">
                <a:solidFill>
                  <a:srgbClr val="2D3748"/>
                </a:solidFill>
                <a:latin typeface="Calibri" pitchFamily="34" charset="0"/>
                <a:ea typeface="Calibri" pitchFamily="34" charset="-122"/>
                <a:cs typeface="Calibri" pitchFamily="34" charset="-120"/>
              </a:rPr>
              <a:t> sector </a:t>
            </a:r>
            <a:r>
              <a:rPr lang="en-US" sz="1200" dirty="0" err="1">
                <a:solidFill>
                  <a:srgbClr val="2D3748"/>
                </a:solidFill>
                <a:latin typeface="Calibri" pitchFamily="34" charset="0"/>
                <a:ea typeface="Calibri" pitchFamily="34" charset="-122"/>
                <a:cs typeface="Calibri" pitchFamily="34" charset="-120"/>
              </a:rPr>
              <a:t>institucional</a:t>
            </a:r>
            <a:endParaRPr lang="en-US" sz="1200" dirty="0"/>
          </a:p>
          <a:p>
            <a:pPr marL="0" indent="0" algn="l">
              <a:buNone/>
            </a:pPr>
            <a:endParaRPr lang="en-US" sz="1200" dirty="0"/>
          </a:p>
        </p:txBody>
      </p:sp>
      <p:sp>
        <p:nvSpPr>
          <p:cNvPr id="10" name="Shape 8">
            <a:extLst>
              <a:ext uri="{FF2B5EF4-FFF2-40B4-BE49-F238E27FC236}">
                <a16:creationId xmlns:a16="http://schemas.microsoft.com/office/drawing/2014/main" id="{C41ECBF1-73E6-7DB8-12FE-F494FBCA8F3E}"/>
              </a:ext>
            </a:extLst>
          </p:cNvPr>
          <p:cNvSpPr/>
          <p:nvPr/>
        </p:nvSpPr>
        <p:spPr>
          <a:xfrm>
            <a:off x="640080" y="2423160"/>
            <a:ext cx="2011680" cy="777240"/>
          </a:xfrm>
          <a:prstGeom prst="rect">
            <a:avLst/>
          </a:prstGeom>
          <a:solidFill>
            <a:srgbClr val="1E2761"/>
          </a:solidFill>
          <a:ln w="12700">
            <a:solidFill>
              <a:srgbClr val="1E2761"/>
            </a:solidFill>
            <a:prstDash val="solid"/>
          </a:ln>
        </p:spPr>
        <p:txBody>
          <a:bodyPr/>
          <a:lstStyle/>
          <a:p>
            <a:endParaRPr lang="es-CL"/>
          </a:p>
        </p:txBody>
      </p:sp>
      <p:sp>
        <p:nvSpPr>
          <p:cNvPr id="11" name="Text 9">
            <a:extLst>
              <a:ext uri="{FF2B5EF4-FFF2-40B4-BE49-F238E27FC236}">
                <a16:creationId xmlns:a16="http://schemas.microsoft.com/office/drawing/2014/main" id="{E549E383-4A9C-DC09-33B3-E22374CB6B63}"/>
              </a:ext>
            </a:extLst>
          </p:cNvPr>
          <p:cNvSpPr/>
          <p:nvPr/>
        </p:nvSpPr>
        <p:spPr>
          <a:xfrm>
            <a:off x="640080" y="2423160"/>
            <a:ext cx="2011680" cy="77724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TRANSFERENCIAS ENTRE INSTITUCIONES</a:t>
            </a:r>
            <a:endParaRPr lang="en-US" sz="1200" dirty="0"/>
          </a:p>
        </p:txBody>
      </p:sp>
      <p:sp>
        <p:nvSpPr>
          <p:cNvPr id="12" name="Shape 10">
            <a:extLst>
              <a:ext uri="{FF2B5EF4-FFF2-40B4-BE49-F238E27FC236}">
                <a16:creationId xmlns:a16="http://schemas.microsoft.com/office/drawing/2014/main" id="{5A55BF50-965E-960A-B08C-3A227B134C28}"/>
              </a:ext>
            </a:extLst>
          </p:cNvPr>
          <p:cNvSpPr/>
          <p:nvPr/>
        </p:nvSpPr>
        <p:spPr>
          <a:xfrm>
            <a:off x="2651760" y="2423160"/>
            <a:ext cx="9052560" cy="777240"/>
          </a:xfrm>
          <a:prstGeom prst="rect">
            <a:avLst/>
          </a:prstGeom>
          <a:solidFill>
            <a:srgbClr val="F5F7FA"/>
          </a:solidFill>
          <a:ln w="9525">
            <a:solidFill>
              <a:srgbClr val="E2E8F0"/>
            </a:solidFill>
            <a:prstDash val="solid"/>
          </a:ln>
        </p:spPr>
        <p:txBody>
          <a:bodyPr/>
          <a:lstStyle/>
          <a:p>
            <a:endParaRPr lang="es-CL"/>
          </a:p>
        </p:txBody>
      </p:sp>
      <p:sp>
        <p:nvSpPr>
          <p:cNvPr id="13" name="Text 11">
            <a:extLst>
              <a:ext uri="{FF2B5EF4-FFF2-40B4-BE49-F238E27FC236}">
                <a16:creationId xmlns:a16="http://schemas.microsoft.com/office/drawing/2014/main" id="{190AE07C-2345-E0DB-1E9B-32F32584D2D1}"/>
              </a:ext>
            </a:extLst>
          </p:cNvPr>
          <p:cNvSpPr/>
          <p:nvPr/>
        </p:nvSpPr>
        <p:spPr>
          <a:xfrm>
            <a:off x="2834640" y="2423160"/>
            <a:ext cx="8686800" cy="777240"/>
          </a:xfrm>
          <a:prstGeom prst="rect">
            <a:avLst/>
          </a:prstGeom>
          <a:noFill/>
          <a:ln/>
        </p:spPr>
        <p:txBody>
          <a:bodyPr wrap="square" lIns="0" tIns="0" rIns="0" bIns="0" rtlCol="0" anchor="ctr"/>
          <a:lstStyle/>
          <a:p>
            <a:r>
              <a:rPr lang="en-US" sz="1200" dirty="0">
                <a:solidFill>
                  <a:srgbClr val="2D3748"/>
                </a:solidFill>
                <a:latin typeface="Calibri" pitchFamily="34" charset="0"/>
                <a:ea typeface="Calibri" pitchFamily="34" charset="-122"/>
                <a:cs typeface="Calibri" pitchFamily="34" charset="-120"/>
              </a:rPr>
              <a:t>Cuentas no </a:t>
            </a:r>
            <a:r>
              <a:rPr lang="en-US" sz="1200" dirty="0" err="1">
                <a:solidFill>
                  <a:srgbClr val="2D3748"/>
                </a:solidFill>
                <a:latin typeface="Calibri" pitchFamily="34" charset="0"/>
                <a:ea typeface="Calibri" pitchFamily="34" charset="-122"/>
                <a:cs typeface="Calibri" pitchFamily="34" charset="-120"/>
              </a:rPr>
              <a:t>Financieras</a:t>
            </a:r>
            <a:r>
              <a:rPr lang="en-US" sz="1200" dirty="0">
                <a:solidFill>
                  <a:srgbClr val="2D3748"/>
                </a:solidFill>
                <a:latin typeface="Calibri" pitchFamily="34" charset="0"/>
                <a:ea typeface="Calibri" pitchFamily="34" charset="-122"/>
                <a:cs typeface="Calibri" pitchFamily="34" charset="-120"/>
              </a:rPr>
              <a:t> </a:t>
            </a:r>
            <a:r>
              <a:rPr lang="en-US" sz="1200" dirty="0" err="1">
                <a:solidFill>
                  <a:srgbClr val="2D3748"/>
                </a:solidFill>
                <a:latin typeface="Calibri" pitchFamily="34" charset="0"/>
                <a:ea typeface="Calibri" pitchFamily="34" charset="-122"/>
                <a:cs typeface="Calibri" pitchFamily="34" charset="-120"/>
              </a:rPr>
              <a:t>por</a:t>
            </a:r>
            <a:r>
              <a:rPr lang="en-US" sz="1200" dirty="0">
                <a:solidFill>
                  <a:srgbClr val="2D3748"/>
                </a:solidFill>
                <a:latin typeface="Calibri" pitchFamily="34" charset="0"/>
                <a:ea typeface="Calibri" pitchFamily="34" charset="-122"/>
                <a:cs typeface="Calibri" pitchFamily="34" charset="-120"/>
              </a:rPr>
              <a:t> sector </a:t>
            </a:r>
            <a:r>
              <a:rPr lang="en-US" sz="1200" dirty="0" err="1">
                <a:solidFill>
                  <a:srgbClr val="2D3748"/>
                </a:solidFill>
                <a:latin typeface="Calibri" pitchFamily="34" charset="0"/>
                <a:ea typeface="Calibri" pitchFamily="34" charset="-122"/>
                <a:cs typeface="Calibri" pitchFamily="34" charset="-120"/>
              </a:rPr>
              <a:t>institucional</a:t>
            </a:r>
            <a:endParaRPr lang="en-US" sz="1200" dirty="0"/>
          </a:p>
          <a:p>
            <a:pPr marL="0" indent="0" algn="l">
              <a:buNone/>
            </a:pPr>
            <a:endParaRPr lang="en-US" sz="1200" dirty="0"/>
          </a:p>
        </p:txBody>
      </p:sp>
      <p:sp>
        <p:nvSpPr>
          <p:cNvPr id="15" name="Text 13">
            <a:extLst>
              <a:ext uri="{FF2B5EF4-FFF2-40B4-BE49-F238E27FC236}">
                <a16:creationId xmlns:a16="http://schemas.microsoft.com/office/drawing/2014/main" id="{825FA931-0EE3-1D4A-E65D-44E5D137EEC1}"/>
              </a:ext>
            </a:extLst>
          </p:cNvPr>
          <p:cNvSpPr/>
          <p:nvPr/>
        </p:nvSpPr>
        <p:spPr>
          <a:xfrm>
            <a:off x="640080" y="3337560"/>
            <a:ext cx="2011680" cy="77724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VALOR AGREGADO</a:t>
            </a:r>
            <a:endParaRPr lang="en-US" sz="1200" dirty="0"/>
          </a:p>
        </p:txBody>
      </p:sp>
      <p:sp>
        <p:nvSpPr>
          <p:cNvPr id="19" name="Text 17">
            <a:extLst>
              <a:ext uri="{FF2B5EF4-FFF2-40B4-BE49-F238E27FC236}">
                <a16:creationId xmlns:a16="http://schemas.microsoft.com/office/drawing/2014/main" id="{F32AFCFF-A5FD-9C16-6E89-9CEACF5F0B1D}"/>
              </a:ext>
            </a:extLst>
          </p:cNvPr>
          <p:cNvSpPr/>
          <p:nvPr/>
        </p:nvSpPr>
        <p:spPr>
          <a:xfrm>
            <a:off x="640080" y="4251960"/>
            <a:ext cx="2011680" cy="77724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DEMANDA FINAL</a:t>
            </a:r>
            <a:endParaRPr lang="en-US" sz="1200" dirty="0"/>
          </a:p>
        </p:txBody>
      </p:sp>
      <p:sp>
        <p:nvSpPr>
          <p:cNvPr id="22" name="Shape 20">
            <a:extLst>
              <a:ext uri="{FF2B5EF4-FFF2-40B4-BE49-F238E27FC236}">
                <a16:creationId xmlns:a16="http://schemas.microsoft.com/office/drawing/2014/main" id="{523A66F5-894D-A599-E955-582F681400D9}"/>
              </a:ext>
            </a:extLst>
          </p:cNvPr>
          <p:cNvSpPr/>
          <p:nvPr/>
        </p:nvSpPr>
        <p:spPr>
          <a:xfrm>
            <a:off x="640080" y="3543300"/>
            <a:ext cx="2011680" cy="777240"/>
          </a:xfrm>
          <a:prstGeom prst="rect">
            <a:avLst/>
          </a:prstGeom>
          <a:solidFill>
            <a:srgbClr val="1E2761"/>
          </a:solidFill>
          <a:ln w="12700">
            <a:solidFill>
              <a:srgbClr val="1E2761"/>
            </a:solidFill>
            <a:prstDash val="solid"/>
          </a:ln>
        </p:spPr>
        <p:txBody>
          <a:bodyPr/>
          <a:lstStyle/>
          <a:p>
            <a:endParaRPr lang="es-CL"/>
          </a:p>
        </p:txBody>
      </p:sp>
      <p:sp>
        <p:nvSpPr>
          <p:cNvPr id="23" name="Text 21">
            <a:extLst>
              <a:ext uri="{FF2B5EF4-FFF2-40B4-BE49-F238E27FC236}">
                <a16:creationId xmlns:a16="http://schemas.microsoft.com/office/drawing/2014/main" id="{E0D70E0B-B18B-CE28-0492-385C28CCE476}"/>
              </a:ext>
            </a:extLst>
          </p:cNvPr>
          <p:cNvSpPr/>
          <p:nvPr/>
        </p:nvSpPr>
        <p:spPr>
          <a:xfrm>
            <a:off x="640080" y="3542437"/>
            <a:ext cx="2011680" cy="77724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IMPUESTOS DIRECTOS</a:t>
            </a:r>
            <a:endParaRPr lang="en-US" sz="1200" dirty="0"/>
          </a:p>
        </p:txBody>
      </p:sp>
      <p:sp>
        <p:nvSpPr>
          <p:cNvPr id="24" name="Shape 22">
            <a:extLst>
              <a:ext uri="{FF2B5EF4-FFF2-40B4-BE49-F238E27FC236}">
                <a16:creationId xmlns:a16="http://schemas.microsoft.com/office/drawing/2014/main" id="{22CF31E1-E7CB-EF88-C4D9-0793361E4A16}"/>
              </a:ext>
            </a:extLst>
          </p:cNvPr>
          <p:cNvSpPr/>
          <p:nvPr/>
        </p:nvSpPr>
        <p:spPr>
          <a:xfrm>
            <a:off x="2651760" y="3543300"/>
            <a:ext cx="9052560" cy="777240"/>
          </a:xfrm>
          <a:prstGeom prst="rect">
            <a:avLst/>
          </a:prstGeom>
          <a:solidFill>
            <a:srgbClr val="F5F7FA"/>
          </a:solidFill>
          <a:ln w="9525">
            <a:solidFill>
              <a:srgbClr val="E2E8F0"/>
            </a:solidFill>
            <a:prstDash val="solid"/>
          </a:ln>
        </p:spPr>
        <p:txBody>
          <a:bodyPr/>
          <a:lstStyle/>
          <a:p>
            <a:endParaRPr lang="es-CL" dirty="0"/>
          </a:p>
        </p:txBody>
      </p:sp>
      <p:sp>
        <p:nvSpPr>
          <p:cNvPr id="25" name="Text 23">
            <a:extLst>
              <a:ext uri="{FF2B5EF4-FFF2-40B4-BE49-F238E27FC236}">
                <a16:creationId xmlns:a16="http://schemas.microsoft.com/office/drawing/2014/main" id="{E9D0D938-8A06-41CE-0DDB-879CF19C2AA1}"/>
              </a:ext>
            </a:extLst>
          </p:cNvPr>
          <p:cNvSpPr/>
          <p:nvPr/>
        </p:nvSpPr>
        <p:spPr>
          <a:xfrm>
            <a:off x="2834640" y="3543300"/>
            <a:ext cx="8686800" cy="777240"/>
          </a:xfrm>
          <a:prstGeom prst="rect">
            <a:avLst/>
          </a:prstGeom>
          <a:noFill/>
          <a:ln/>
        </p:spPr>
        <p:txBody>
          <a:bodyPr wrap="square" lIns="0" tIns="0" rIns="0" bIns="0" rtlCol="0" anchor="ctr"/>
          <a:lstStyle/>
          <a:p>
            <a:pPr marL="0" indent="0" algn="l">
              <a:buNone/>
            </a:pPr>
            <a:r>
              <a:rPr lang="en-US" sz="1200" dirty="0">
                <a:solidFill>
                  <a:srgbClr val="2D3748"/>
                </a:solidFill>
                <a:latin typeface="Calibri" pitchFamily="34" charset="0"/>
                <a:ea typeface="Calibri" pitchFamily="34" charset="-122"/>
                <a:cs typeface="Calibri" pitchFamily="34" charset="-120"/>
              </a:rPr>
              <a:t>Cuentas no </a:t>
            </a:r>
            <a:r>
              <a:rPr lang="en-US" sz="1200" dirty="0" err="1">
                <a:solidFill>
                  <a:srgbClr val="2D3748"/>
                </a:solidFill>
                <a:latin typeface="Calibri" pitchFamily="34" charset="0"/>
                <a:ea typeface="Calibri" pitchFamily="34" charset="-122"/>
                <a:cs typeface="Calibri" pitchFamily="34" charset="-120"/>
              </a:rPr>
              <a:t>Financieras</a:t>
            </a:r>
            <a:r>
              <a:rPr lang="en-US" sz="1200" dirty="0">
                <a:solidFill>
                  <a:srgbClr val="2D3748"/>
                </a:solidFill>
                <a:latin typeface="Calibri" pitchFamily="34" charset="0"/>
                <a:ea typeface="Calibri" pitchFamily="34" charset="-122"/>
                <a:cs typeface="Calibri" pitchFamily="34" charset="-120"/>
              </a:rPr>
              <a:t> </a:t>
            </a:r>
            <a:r>
              <a:rPr lang="en-US" sz="1200" dirty="0" err="1">
                <a:solidFill>
                  <a:srgbClr val="2D3748"/>
                </a:solidFill>
                <a:latin typeface="Calibri" pitchFamily="34" charset="0"/>
                <a:ea typeface="Calibri" pitchFamily="34" charset="-122"/>
                <a:cs typeface="Calibri" pitchFamily="34" charset="-120"/>
              </a:rPr>
              <a:t>por</a:t>
            </a:r>
            <a:r>
              <a:rPr lang="en-US" sz="1200" dirty="0">
                <a:solidFill>
                  <a:srgbClr val="2D3748"/>
                </a:solidFill>
                <a:latin typeface="Calibri" pitchFamily="34" charset="0"/>
                <a:ea typeface="Calibri" pitchFamily="34" charset="-122"/>
                <a:cs typeface="Calibri" pitchFamily="34" charset="-120"/>
              </a:rPr>
              <a:t> sector </a:t>
            </a:r>
            <a:r>
              <a:rPr lang="en-US" sz="1200" dirty="0" err="1">
                <a:solidFill>
                  <a:srgbClr val="2D3748"/>
                </a:solidFill>
                <a:latin typeface="Calibri" pitchFamily="34" charset="0"/>
                <a:ea typeface="Calibri" pitchFamily="34" charset="-122"/>
                <a:cs typeface="Calibri" pitchFamily="34" charset="-120"/>
              </a:rPr>
              <a:t>institucional</a:t>
            </a:r>
            <a:endParaRPr lang="en-US" sz="1200" dirty="0"/>
          </a:p>
        </p:txBody>
      </p:sp>
      <p:sp>
        <p:nvSpPr>
          <p:cNvPr id="26" name="Text 24">
            <a:extLst>
              <a:ext uri="{FF2B5EF4-FFF2-40B4-BE49-F238E27FC236}">
                <a16:creationId xmlns:a16="http://schemas.microsoft.com/office/drawing/2014/main" id="{7A8B6672-041D-3ECC-D836-29A09750A074}"/>
              </a:ext>
            </a:extLst>
          </p:cNvPr>
          <p:cNvSpPr/>
          <p:nvPr/>
        </p:nvSpPr>
        <p:spPr>
          <a:xfrm>
            <a:off x="640080" y="6263640"/>
            <a:ext cx="10972800" cy="274320"/>
          </a:xfrm>
          <a:prstGeom prst="rect">
            <a:avLst/>
          </a:prstGeom>
          <a:noFill/>
          <a:ln/>
        </p:spPr>
        <p:txBody>
          <a:bodyPr wrap="square" lIns="0" tIns="0" rIns="0" bIns="0" rtlCol="0" anchor="ctr"/>
          <a:lstStyle/>
          <a:p>
            <a:pPr marL="0" indent="0" algn="l">
              <a:buNone/>
            </a:pPr>
            <a:r>
              <a:rPr lang="en-US" sz="900" i="1" dirty="0">
                <a:solidFill>
                  <a:srgbClr val="64748B"/>
                </a:solidFill>
                <a:latin typeface="Calibri" pitchFamily="34" charset="0"/>
                <a:ea typeface="Calibri" pitchFamily="34" charset="-122"/>
                <a:cs typeface="Calibri" pitchFamily="34" charset="-120"/>
              </a:rPr>
              <a:t>Metodología matricial: Venegas, J. (2013). SAM 2008 para Chile. Banco Central de Chile, Estudios Económicos Estadísticos 95.</a:t>
            </a:r>
            <a:endParaRPr lang="en-US" sz="900" dirty="0"/>
          </a:p>
        </p:txBody>
      </p:sp>
      <p:sp>
        <p:nvSpPr>
          <p:cNvPr id="27" name="Text 25">
            <a:extLst>
              <a:ext uri="{FF2B5EF4-FFF2-40B4-BE49-F238E27FC236}">
                <a16:creationId xmlns:a16="http://schemas.microsoft.com/office/drawing/2014/main" id="{49E055F1-EF2B-C6DD-9037-F2F0D97BFC09}"/>
              </a:ext>
            </a:extLst>
          </p:cNvPr>
          <p:cNvSpPr/>
          <p:nvPr/>
        </p:nvSpPr>
        <p:spPr>
          <a:xfrm>
            <a:off x="457200" y="6492240"/>
            <a:ext cx="11247120" cy="274320"/>
          </a:xfrm>
          <a:prstGeom prst="rect">
            <a:avLst/>
          </a:prstGeom>
          <a:noFill/>
          <a:ln/>
        </p:spPr>
        <p:txBody>
          <a:bodyPr wrap="square"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MEGC 12 sectores · Chile 2023 · SII</a:t>
            </a:r>
            <a:endParaRPr lang="en-US" sz="900" dirty="0"/>
          </a:p>
        </p:txBody>
      </p:sp>
    </p:spTree>
    <p:extLst>
      <p:ext uri="{BB962C8B-B14F-4D97-AF65-F5344CB8AC3E}">
        <p14:creationId xmlns:p14="http://schemas.microsoft.com/office/powerpoint/2010/main" val="22677709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98CBF-357B-8C81-93B7-00793838071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0606A9E-EABF-06FF-67AF-6E3A2106D77A}"/>
              </a:ext>
            </a:extLst>
          </p:cNvPr>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a:p>
        </p:txBody>
      </p:sp>
      <p:sp>
        <p:nvSpPr>
          <p:cNvPr id="3" name="Text 1">
            <a:extLst>
              <a:ext uri="{FF2B5EF4-FFF2-40B4-BE49-F238E27FC236}">
                <a16:creationId xmlns:a16="http://schemas.microsoft.com/office/drawing/2014/main" id="{2D7760D5-D230-831D-9AEF-788DCF51698F}"/>
              </a:ext>
            </a:extLst>
          </p:cNvPr>
          <p:cNvSpPr/>
          <p:nvPr/>
        </p:nvSpPr>
        <p:spPr>
          <a:xfrm>
            <a:off x="457200" y="384048"/>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06</a:t>
            </a:r>
            <a:endParaRPr lang="en-US" sz="1400" dirty="0"/>
          </a:p>
        </p:txBody>
      </p:sp>
      <p:sp>
        <p:nvSpPr>
          <p:cNvPr id="4" name="Text 2">
            <a:extLst>
              <a:ext uri="{FF2B5EF4-FFF2-40B4-BE49-F238E27FC236}">
                <a16:creationId xmlns:a16="http://schemas.microsoft.com/office/drawing/2014/main" id="{4A7D762E-03BF-C67C-58DA-5CB5BAD90E21}"/>
              </a:ext>
            </a:extLst>
          </p:cNvPr>
          <p:cNvSpPr/>
          <p:nvPr/>
        </p:nvSpPr>
        <p:spPr>
          <a:xfrm>
            <a:off x="1051560" y="365760"/>
            <a:ext cx="10698480" cy="502920"/>
          </a:xfrm>
          <a:prstGeom prst="rect">
            <a:avLst/>
          </a:prstGeom>
          <a:noFill/>
          <a:ln/>
        </p:spPr>
        <p:txBody>
          <a:bodyPr wrap="square" lIns="0" tIns="0" rIns="0" bIns="0" rtlCol="0" anchor="ctr"/>
          <a:lstStyle/>
          <a:p>
            <a:pPr marL="0" indent="0" algn="l">
              <a:buNone/>
            </a:pPr>
            <a:r>
              <a:rPr lang="en-US" sz="2400" b="1" dirty="0">
                <a:solidFill>
                  <a:srgbClr val="1E2761"/>
                </a:solidFill>
                <a:latin typeface="Cambria" pitchFamily="34" charset="0"/>
                <a:ea typeface="Cambria" pitchFamily="34" charset="-122"/>
                <a:cs typeface="Cambria" pitchFamily="34" charset="-120"/>
              </a:rPr>
              <a:t>Construcción de la SAM</a:t>
            </a:r>
            <a:endParaRPr lang="en-US" sz="2400" dirty="0"/>
          </a:p>
        </p:txBody>
      </p:sp>
      <p:sp>
        <p:nvSpPr>
          <p:cNvPr id="5" name="Text 3">
            <a:extLst>
              <a:ext uri="{FF2B5EF4-FFF2-40B4-BE49-F238E27FC236}">
                <a16:creationId xmlns:a16="http://schemas.microsoft.com/office/drawing/2014/main" id="{3CE05445-BFFC-A94D-4753-167C9A18B5CF}"/>
              </a:ext>
            </a:extLst>
          </p:cNvPr>
          <p:cNvSpPr/>
          <p:nvPr/>
        </p:nvSpPr>
        <p:spPr>
          <a:xfrm>
            <a:off x="640080" y="1005840"/>
            <a:ext cx="10972800" cy="365760"/>
          </a:xfrm>
          <a:prstGeom prst="rect">
            <a:avLst/>
          </a:prstGeom>
          <a:noFill/>
          <a:ln/>
        </p:spPr>
        <p:txBody>
          <a:bodyPr wrap="square" lIns="0" tIns="0" rIns="0" bIns="0" rtlCol="0" anchor="ctr"/>
          <a:lstStyle/>
          <a:p>
            <a:pPr marL="0" indent="0" algn="l">
              <a:buNone/>
            </a:pPr>
            <a:r>
              <a:rPr lang="en-US" sz="1300" i="1" dirty="0">
                <a:solidFill>
                  <a:srgbClr val="64748B"/>
                </a:solidFill>
                <a:latin typeface="Calibri" pitchFamily="34" charset="0"/>
                <a:ea typeface="Calibri" pitchFamily="34" charset="-122"/>
                <a:cs typeface="Calibri" pitchFamily="34" charset="-120"/>
              </a:rPr>
              <a:t>Macro SAM Chile 2023</a:t>
            </a:r>
            <a:endParaRPr lang="en-US" sz="1300" dirty="0"/>
          </a:p>
        </p:txBody>
      </p:sp>
      <p:sp>
        <p:nvSpPr>
          <p:cNvPr id="7" name="Text 5">
            <a:extLst>
              <a:ext uri="{FF2B5EF4-FFF2-40B4-BE49-F238E27FC236}">
                <a16:creationId xmlns:a16="http://schemas.microsoft.com/office/drawing/2014/main" id="{C0FDE059-6A1D-6BD4-2701-CED59E80B20A}"/>
              </a:ext>
            </a:extLst>
          </p:cNvPr>
          <p:cNvSpPr/>
          <p:nvPr/>
        </p:nvSpPr>
        <p:spPr>
          <a:xfrm>
            <a:off x="640080" y="1508760"/>
            <a:ext cx="2011680" cy="77724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PRODUCCIÓN</a:t>
            </a:r>
            <a:endParaRPr lang="en-US" sz="1200" dirty="0"/>
          </a:p>
        </p:txBody>
      </p:sp>
      <p:sp>
        <p:nvSpPr>
          <p:cNvPr id="26" name="Text 24">
            <a:extLst>
              <a:ext uri="{FF2B5EF4-FFF2-40B4-BE49-F238E27FC236}">
                <a16:creationId xmlns:a16="http://schemas.microsoft.com/office/drawing/2014/main" id="{4CF13B4B-799C-2AB2-2809-D1BC94FEAA36}"/>
              </a:ext>
            </a:extLst>
          </p:cNvPr>
          <p:cNvSpPr/>
          <p:nvPr/>
        </p:nvSpPr>
        <p:spPr>
          <a:xfrm>
            <a:off x="640080" y="6263640"/>
            <a:ext cx="10972800" cy="274320"/>
          </a:xfrm>
          <a:prstGeom prst="rect">
            <a:avLst/>
          </a:prstGeom>
          <a:noFill/>
          <a:ln/>
        </p:spPr>
        <p:txBody>
          <a:bodyPr wrap="square" lIns="0" tIns="0" rIns="0" bIns="0" rtlCol="0" anchor="ctr"/>
          <a:lstStyle/>
          <a:p>
            <a:pPr marL="0" indent="0" algn="l">
              <a:buNone/>
            </a:pPr>
            <a:r>
              <a:rPr lang="en-US" sz="900" i="1" dirty="0">
                <a:solidFill>
                  <a:srgbClr val="64748B"/>
                </a:solidFill>
                <a:latin typeface="Calibri" pitchFamily="34" charset="0"/>
                <a:ea typeface="Calibri" pitchFamily="34" charset="-122"/>
                <a:cs typeface="Calibri" pitchFamily="34" charset="-120"/>
              </a:rPr>
              <a:t>Metodología matricial: Venegas, J. (2013). SAM 2008 para Chile. Banco Central de Chile, Estudios Económicos Estadísticos 95.</a:t>
            </a:r>
            <a:endParaRPr lang="en-US" sz="900" dirty="0"/>
          </a:p>
        </p:txBody>
      </p:sp>
      <p:sp>
        <p:nvSpPr>
          <p:cNvPr id="27" name="Text 25">
            <a:extLst>
              <a:ext uri="{FF2B5EF4-FFF2-40B4-BE49-F238E27FC236}">
                <a16:creationId xmlns:a16="http://schemas.microsoft.com/office/drawing/2014/main" id="{DF257E86-C5F4-AAAD-0ED8-026FD0FE18A4}"/>
              </a:ext>
            </a:extLst>
          </p:cNvPr>
          <p:cNvSpPr/>
          <p:nvPr/>
        </p:nvSpPr>
        <p:spPr>
          <a:xfrm>
            <a:off x="457200" y="6492240"/>
            <a:ext cx="11247120" cy="274320"/>
          </a:xfrm>
          <a:prstGeom prst="rect">
            <a:avLst/>
          </a:prstGeom>
          <a:noFill/>
          <a:ln/>
        </p:spPr>
        <p:txBody>
          <a:bodyPr wrap="square"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MEGC 12 sectores · Chile 2023 · SII</a:t>
            </a:r>
            <a:endParaRPr lang="en-US" sz="900" dirty="0"/>
          </a:p>
        </p:txBody>
      </p:sp>
      <p:pic>
        <p:nvPicPr>
          <p:cNvPr id="29" name="Imagen 28">
            <a:extLst>
              <a:ext uri="{FF2B5EF4-FFF2-40B4-BE49-F238E27FC236}">
                <a16:creationId xmlns:a16="http://schemas.microsoft.com/office/drawing/2014/main" id="{B8B4A525-C0EC-08C6-8167-F7F584DBCE86}"/>
              </a:ext>
            </a:extLst>
          </p:cNvPr>
          <p:cNvPicPr>
            <a:picLocks noChangeAspect="1"/>
          </p:cNvPicPr>
          <p:nvPr/>
        </p:nvPicPr>
        <p:blipFill>
          <a:blip r:embed="rId3"/>
          <a:srcRect t="1930"/>
          <a:stretch>
            <a:fillRect/>
          </a:stretch>
        </p:blipFill>
        <p:spPr>
          <a:xfrm>
            <a:off x="408196" y="1536192"/>
            <a:ext cx="11436568" cy="3156578"/>
          </a:xfrm>
          <a:prstGeom prst="rect">
            <a:avLst/>
          </a:prstGeom>
        </p:spPr>
      </p:pic>
      <p:sp>
        <p:nvSpPr>
          <p:cNvPr id="6" name="Rectángulo 5">
            <a:extLst>
              <a:ext uri="{FF2B5EF4-FFF2-40B4-BE49-F238E27FC236}">
                <a16:creationId xmlns:a16="http://schemas.microsoft.com/office/drawing/2014/main" id="{6C118A60-6A77-641A-51DE-AB268F2A85BE}"/>
              </a:ext>
            </a:extLst>
          </p:cNvPr>
          <p:cNvSpPr/>
          <p:nvPr/>
        </p:nvSpPr>
        <p:spPr>
          <a:xfrm>
            <a:off x="526210" y="1682151"/>
            <a:ext cx="836763" cy="35696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8" name="Rectángulo 7">
            <a:extLst>
              <a:ext uri="{FF2B5EF4-FFF2-40B4-BE49-F238E27FC236}">
                <a16:creationId xmlns:a16="http://schemas.microsoft.com/office/drawing/2014/main" id="{1B436A4C-5ED4-AAD8-8342-1C8D6928E3C3}"/>
              </a:ext>
            </a:extLst>
          </p:cNvPr>
          <p:cNvSpPr/>
          <p:nvPr/>
        </p:nvSpPr>
        <p:spPr>
          <a:xfrm>
            <a:off x="1362974" y="1536192"/>
            <a:ext cx="1181818" cy="14595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28161582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a:p>
        </p:txBody>
      </p:sp>
      <p:sp>
        <p:nvSpPr>
          <p:cNvPr id="3" name="Text 1"/>
          <p:cNvSpPr/>
          <p:nvPr/>
        </p:nvSpPr>
        <p:spPr>
          <a:xfrm>
            <a:off x="457200" y="384048"/>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07</a:t>
            </a:r>
            <a:endParaRPr lang="en-US" sz="1400" dirty="0"/>
          </a:p>
        </p:txBody>
      </p:sp>
      <p:sp>
        <p:nvSpPr>
          <p:cNvPr id="4" name="Text 2"/>
          <p:cNvSpPr/>
          <p:nvPr/>
        </p:nvSpPr>
        <p:spPr>
          <a:xfrm>
            <a:off x="1051560" y="365760"/>
            <a:ext cx="10698480" cy="502920"/>
          </a:xfrm>
          <a:prstGeom prst="rect">
            <a:avLst/>
          </a:prstGeom>
          <a:noFill/>
          <a:ln/>
        </p:spPr>
        <p:txBody>
          <a:bodyPr wrap="square" lIns="0" tIns="0" rIns="0" bIns="0" rtlCol="0" anchor="ctr"/>
          <a:lstStyle/>
          <a:p>
            <a:pPr marL="0" indent="0" algn="l">
              <a:buNone/>
            </a:pPr>
            <a:r>
              <a:rPr lang="en-US" sz="2400" b="1" dirty="0">
                <a:solidFill>
                  <a:srgbClr val="1E2761"/>
                </a:solidFill>
                <a:latin typeface="Cambria" pitchFamily="34" charset="0"/>
                <a:ea typeface="Cambria" pitchFamily="34" charset="-122"/>
                <a:cs typeface="Cambria" pitchFamily="34" charset="-120"/>
              </a:rPr>
              <a:t>Estructura tributaria modelada</a:t>
            </a:r>
            <a:endParaRPr lang="en-US" sz="2400" dirty="0"/>
          </a:p>
        </p:txBody>
      </p:sp>
      <p:sp>
        <p:nvSpPr>
          <p:cNvPr id="5" name="Text 3"/>
          <p:cNvSpPr/>
          <p:nvPr/>
        </p:nvSpPr>
        <p:spPr>
          <a:xfrm>
            <a:off x="640080" y="1005840"/>
            <a:ext cx="10972800" cy="365760"/>
          </a:xfrm>
          <a:prstGeom prst="rect">
            <a:avLst/>
          </a:prstGeom>
          <a:noFill/>
          <a:ln/>
        </p:spPr>
        <p:txBody>
          <a:bodyPr wrap="square" lIns="0" tIns="0" rIns="0" bIns="0" rtlCol="0" anchor="ctr"/>
          <a:lstStyle/>
          <a:p>
            <a:pPr marL="0" indent="0" algn="l">
              <a:buNone/>
            </a:pPr>
            <a:r>
              <a:rPr lang="en-US" sz="1300" i="1" dirty="0">
                <a:solidFill>
                  <a:srgbClr val="64748B"/>
                </a:solidFill>
                <a:latin typeface="Calibri" pitchFamily="34" charset="0"/>
                <a:ea typeface="Calibri" pitchFamily="34" charset="-122"/>
                <a:cs typeface="Calibri" pitchFamily="34" charset="-120"/>
              </a:rPr>
              <a:t>Seis instrumentos diferenciados, según la clasificación chilena.</a:t>
            </a:r>
            <a:endParaRPr lang="en-US" sz="1300" dirty="0"/>
          </a:p>
        </p:txBody>
      </p:sp>
      <p:sp>
        <p:nvSpPr>
          <p:cNvPr id="6" name="Shape 4"/>
          <p:cNvSpPr/>
          <p:nvPr/>
        </p:nvSpPr>
        <p:spPr>
          <a:xfrm>
            <a:off x="640080" y="1554480"/>
            <a:ext cx="3657600" cy="1554480"/>
          </a:xfrm>
          <a:prstGeom prst="rect">
            <a:avLst/>
          </a:prstGeom>
          <a:solidFill>
            <a:srgbClr val="F5F7FA"/>
          </a:solidFill>
          <a:ln w="9525">
            <a:solidFill>
              <a:srgbClr val="E2E8F0"/>
            </a:solidFill>
            <a:prstDash val="solid"/>
          </a:ln>
        </p:spPr>
        <p:txBody>
          <a:bodyPr/>
          <a:lstStyle/>
          <a:p>
            <a:endParaRPr lang="es-CL"/>
          </a:p>
        </p:txBody>
      </p:sp>
      <p:sp>
        <p:nvSpPr>
          <p:cNvPr id="7" name="Shape 5"/>
          <p:cNvSpPr/>
          <p:nvPr/>
        </p:nvSpPr>
        <p:spPr>
          <a:xfrm>
            <a:off x="640080" y="1554480"/>
            <a:ext cx="73152" cy="1554480"/>
          </a:xfrm>
          <a:prstGeom prst="rect">
            <a:avLst/>
          </a:prstGeom>
          <a:solidFill>
            <a:srgbClr val="D4A82A"/>
          </a:solidFill>
          <a:ln w="12700">
            <a:solidFill>
              <a:srgbClr val="D4A82A"/>
            </a:solidFill>
            <a:prstDash val="solid"/>
          </a:ln>
        </p:spPr>
        <p:txBody>
          <a:bodyPr/>
          <a:lstStyle/>
          <a:p>
            <a:endParaRPr lang="es-CL"/>
          </a:p>
        </p:txBody>
      </p:sp>
      <p:sp>
        <p:nvSpPr>
          <p:cNvPr id="8" name="Text 6"/>
          <p:cNvSpPr/>
          <p:nvPr/>
        </p:nvSpPr>
        <p:spPr>
          <a:xfrm>
            <a:off x="868680" y="1691640"/>
            <a:ext cx="3291840" cy="411480"/>
          </a:xfrm>
          <a:prstGeom prst="rect">
            <a:avLst/>
          </a:prstGeom>
          <a:noFill/>
          <a:ln/>
        </p:spPr>
        <p:txBody>
          <a:bodyPr wrap="square" lIns="0" tIns="0" rIns="0" bIns="0" rtlCol="0" anchor="ctr"/>
          <a:lstStyle/>
          <a:p>
            <a:pPr marL="0" indent="0" algn="l">
              <a:buNone/>
            </a:pPr>
            <a:r>
              <a:rPr lang="en-US" sz="1500" b="1" dirty="0">
                <a:solidFill>
                  <a:srgbClr val="1E2761"/>
                </a:solidFill>
                <a:latin typeface="Cambria" pitchFamily="34" charset="0"/>
                <a:ea typeface="Cambria" pitchFamily="34" charset="-122"/>
                <a:cs typeface="Cambria" pitchFamily="34" charset="-120"/>
              </a:rPr>
              <a:t>IVA</a:t>
            </a:r>
            <a:endParaRPr lang="en-US" sz="1500" dirty="0"/>
          </a:p>
        </p:txBody>
      </p:sp>
      <p:sp>
        <p:nvSpPr>
          <p:cNvPr id="9" name="Text 7"/>
          <p:cNvSpPr/>
          <p:nvPr/>
        </p:nvSpPr>
        <p:spPr>
          <a:xfrm>
            <a:off x="868680" y="2103120"/>
            <a:ext cx="3291840" cy="914400"/>
          </a:xfrm>
          <a:prstGeom prst="rect">
            <a:avLst/>
          </a:prstGeom>
          <a:noFill/>
          <a:ln/>
        </p:spPr>
        <p:txBody>
          <a:bodyPr wrap="square" lIns="0" tIns="0" rIns="0" bIns="0" rtlCol="0" anchor="t"/>
          <a:lstStyle/>
          <a:p>
            <a:pPr marL="0" indent="0" algn="l">
              <a:buNone/>
            </a:pPr>
            <a:r>
              <a:rPr lang="en-US" sz="1100" dirty="0">
                <a:solidFill>
                  <a:srgbClr val="2D3748"/>
                </a:solidFill>
                <a:latin typeface="Calibri" pitchFamily="34" charset="0"/>
                <a:ea typeface="Calibri" pitchFamily="34" charset="-122"/>
                <a:cs typeface="Calibri" pitchFamily="34" charset="-120"/>
              </a:rPr>
              <a:t>Impuesto al valor agregado por producto; se aplica sobre la demanda doméstica compuesta.</a:t>
            </a:r>
            <a:endParaRPr lang="en-US" sz="1100" dirty="0"/>
          </a:p>
        </p:txBody>
      </p:sp>
      <p:sp>
        <p:nvSpPr>
          <p:cNvPr id="10" name="Shape 8"/>
          <p:cNvSpPr/>
          <p:nvPr/>
        </p:nvSpPr>
        <p:spPr>
          <a:xfrm>
            <a:off x="4434840" y="1554480"/>
            <a:ext cx="3657600" cy="1554480"/>
          </a:xfrm>
          <a:prstGeom prst="rect">
            <a:avLst/>
          </a:prstGeom>
          <a:solidFill>
            <a:srgbClr val="F5F7FA"/>
          </a:solidFill>
          <a:ln w="9525">
            <a:solidFill>
              <a:srgbClr val="E2E8F0"/>
            </a:solidFill>
            <a:prstDash val="solid"/>
          </a:ln>
        </p:spPr>
        <p:txBody>
          <a:bodyPr/>
          <a:lstStyle/>
          <a:p>
            <a:endParaRPr lang="es-CL"/>
          </a:p>
        </p:txBody>
      </p:sp>
      <p:sp>
        <p:nvSpPr>
          <p:cNvPr id="11" name="Shape 9"/>
          <p:cNvSpPr/>
          <p:nvPr/>
        </p:nvSpPr>
        <p:spPr>
          <a:xfrm>
            <a:off x="4434840" y="1554480"/>
            <a:ext cx="73152" cy="1554480"/>
          </a:xfrm>
          <a:prstGeom prst="rect">
            <a:avLst/>
          </a:prstGeom>
          <a:solidFill>
            <a:srgbClr val="D4A82A"/>
          </a:solidFill>
          <a:ln w="12700">
            <a:solidFill>
              <a:srgbClr val="D4A82A"/>
            </a:solidFill>
            <a:prstDash val="solid"/>
          </a:ln>
        </p:spPr>
        <p:txBody>
          <a:bodyPr/>
          <a:lstStyle/>
          <a:p>
            <a:endParaRPr lang="es-CL"/>
          </a:p>
        </p:txBody>
      </p:sp>
      <p:sp>
        <p:nvSpPr>
          <p:cNvPr id="12" name="Text 10"/>
          <p:cNvSpPr/>
          <p:nvPr/>
        </p:nvSpPr>
        <p:spPr>
          <a:xfrm>
            <a:off x="4663440" y="1691640"/>
            <a:ext cx="3291840" cy="411480"/>
          </a:xfrm>
          <a:prstGeom prst="rect">
            <a:avLst/>
          </a:prstGeom>
          <a:noFill/>
          <a:ln/>
        </p:spPr>
        <p:txBody>
          <a:bodyPr wrap="square" lIns="0" tIns="0" rIns="0" bIns="0" rtlCol="0" anchor="ctr"/>
          <a:lstStyle/>
          <a:p>
            <a:pPr marL="0" indent="0" algn="l">
              <a:buNone/>
            </a:pPr>
            <a:r>
              <a:rPr lang="en-US" sz="1500" b="1" dirty="0">
                <a:solidFill>
                  <a:srgbClr val="1E2761"/>
                </a:solidFill>
                <a:latin typeface="Cambria" pitchFamily="34" charset="0"/>
                <a:ea typeface="Cambria" pitchFamily="34" charset="-122"/>
                <a:cs typeface="Cambria" pitchFamily="34" charset="-120"/>
              </a:rPr>
              <a:t>Aranceles</a:t>
            </a:r>
            <a:endParaRPr lang="en-US" sz="1500" dirty="0"/>
          </a:p>
        </p:txBody>
      </p:sp>
      <p:sp>
        <p:nvSpPr>
          <p:cNvPr id="13" name="Text 11"/>
          <p:cNvSpPr/>
          <p:nvPr/>
        </p:nvSpPr>
        <p:spPr>
          <a:xfrm>
            <a:off x="4663440" y="2103120"/>
            <a:ext cx="3291840" cy="914400"/>
          </a:xfrm>
          <a:prstGeom prst="rect">
            <a:avLst/>
          </a:prstGeom>
          <a:noFill/>
          <a:ln/>
        </p:spPr>
        <p:txBody>
          <a:bodyPr wrap="square" lIns="0" tIns="0" rIns="0" bIns="0" rtlCol="0" anchor="t"/>
          <a:lstStyle/>
          <a:p>
            <a:pPr marL="0" indent="0" algn="l">
              <a:buNone/>
            </a:pPr>
            <a:r>
              <a:rPr lang="en-US" sz="1100" dirty="0">
                <a:solidFill>
                  <a:srgbClr val="2D3748"/>
                </a:solidFill>
                <a:latin typeface="Calibri" pitchFamily="34" charset="0"/>
                <a:ea typeface="Calibri" pitchFamily="34" charset="-122"/>
                <a:cs typeface="Calibri" pitchFamily="34" charset="-120"/>
              </a:rPr>
              <a:t>Derechos de importación; se aplican sobre el valor CIF en moneda doméstica.</a:t>
            </a:r>
            <a:endParaRPr lang="en-US" sz="1100" dirty="0"/>
          </a:p>
        </p:txBody>
      </p:sp>
      <p:sp>
        <p:nvSpPr>
          <p:cNvPr id="14" name="Shape 12"/>
          <p:cNvSpPr/>
          <p:nvPr/>
        </p:nvSpPr>
        <p:spPr>
          <a:xfrm>
            <a:off x="8229600" y="1554480"/>
            <a:ext cx="3657600" cy="1554480"/>
          </a:xfrm>
          <a:prstGeom prst="rect">
            <a:avLst/>
          </a:prstGeom>
          <a:solidFill>
            <a:srgbClr val="F5F7FA"/>
          </a:solidFill>
          <a:ln w="9525">
            <a:solidFill>
              <a:srgbClr val="E2E8F0"/>
            </a:solidFill>
            <a:prstDash val="solid"/>
          </a:ln>
        </p:spPr>
        <p:txBody>
          <a:bodyPr/>
          <a:lstStyle/>
          <a:p>
            <a:endParaRPr lang="es-CL"/>
          </a:p>
        </p:txBody>
      </p:sp>
      <p:sp>
        <p:nvSpPr>
          <p:cNvPr id="15" name="Shape 13"/>
          <p:cNvSpPr/>
          <p:nvPr/>
        </p:nvSpPr>
        <p:spPr>
          <a:xfrm>
            <a:off x="8229600" y="1554480"/>
            <a:ext cx="73152" cy="1554480"/>
          </a:xfrm>
          <a:prstGeom prst="rect">
            <a:avLst/>
          </a:prstGeom>
          <a:solidFill>
            <a:srgbClr val="D4A82A"/>
          </a:solidFill>
          <a:ln w="12700">
            <a:solidFill>
              <a:srgbClr val="D4A82A"/>
            </a:solidFill>
            <a:prstDash val="solid"/>
          </a:ln>
        </p:spPr>
        <p:txBody>
          <a:bodyPr/>
          <a:lstStyle/>
          <a:p>
            <a:endParaRPr lang="es-CL"/>
          </a:p>
        </p:txBody>
      </p:sp>
      <p:sp>
        <p:nvSpPr>
          <p:cNvPr id="16" name="Text 14"/>
          <p:cNvSpPr/>
          <p:nvPr/>
        </p:nvSpPr>
        <p:spPr>
          <a:xfrm>
            <a:off x="8458200" y="1691640"/>
            <a:ext cx="3291840" cy="411480"/>
          </a:xfrm>
          <a:prstGeom prst="rect">
            <a:avLst/>
          </a:prstGeom>
          <a:noFill/>
          <a:ln/>
        </p:spPr>
        <p:txBody>
          <a:bodyPr wrap="square" lIns="0" tIns="0" rIns="0" bIns="0" rtlCol="0" anchor="ctr"/>
          <a:lstStyle/>
          <a:p>
            <a:pPr marL="0" indent="0" algn="l">
              <a:buNone/>
            </a:pPr>
            <a:r>
              <a:rPr lang="en-US" sz="1500" b="1" dirty="0">
                <a:solidFill>
                  <a:srgbClr val="1E2761"/>
                </a:solidFill>
                <a:latin typeface="Cambria" pitchFamily="34" charset="0"/>
                <a:ea typeface="Cambria" pitchFamily="34" charset="-122"/>
                <a:cs typeface="Cambria" pitchFamily="34" charset="-120"/>
              </a:rPr>
              <a:t>PIT</a:t>
            </a:r>
            <a:endParaRPr lang="en-US" sz="1500" dirty="0"/>
          </a:p>
        </p:txBody>
      </p:sp>
      <p:sp>
        <p:nvSpPr>
          <p:cNvPr id="17" name="Text 15"/>
          <p:cNvSpPr/>
          <p:nvPr/>
        </p:nvSpPr>
        <p:spPr>
          <a:xfrm>
            <a:off x="8458200" y="2103120"/>
            <a:ext cx="3291840" cy="914400"/>
          </a:xfrm>
          <a:prstGeom prst="rect">
            <a:avLst/>
          </a:prstGeom>
          <a:noFill/>
          <a:ln/>
        </p:spPr>
        <p:txBody>
          <a:bodyPr wrap="square" lIns="0" tIns="0" rIns="0" bIns="0" rtlCol="0" anchor="t"/>
          <a:lstStyle/>
          <a:p>
            <a:pPr marL="0" indent="0" algn="l">
              <a:buNone/>
            </a:pPr>
            <a:r>
              <a:rPr lang="en-US" sz="1100" dirty="0">
                <a:solidFill>
                  <a:srgbClr val="2D3748"/>
                </a:solidFill>
                <a:latin typeface="Calibri" pitchFamily="34" charset="0"/>
                <a:ea typeface="Calibri" pitchFamily="34" charset="-122"/>
                <a:cs typeface="Calibri" pitchFamily="34" charset="-120"/>
              </a:rPr>
              <a:t>Impuesto a la renta de personas; grava el ingreso bruto del hogar (trabajo + capital + transferencias).</a:t>
            </a:r>
            <a:endParaRPr lang="en-US" sz="1100" dirty="0"/>
          </a:p>
        </p:txBody>
      </p:sp>
      <p:sp>
        <p:nvSpPr>
          <p:cNvPr id="18" name="Shape 16"/>
          <p:cNvSpPr/>
          <p:nvPr/>
        </p:nvSpPr>
        <p:spPr>
          <a:xfrm>
            <a:off x="640080" y="3246120"/>
            <a:ext cx="3657600" cy="1554480"/>
          </a:xfrm>
          <a:prstGeom prst="rect">
            <a:avLst/>
          </a:prstGeom>
          <a:solidFill>
            <a:srgbClr val="F5F7FA"/>
          </a:solidFill>
          <a:ln w="9525">
            <a:solidFill>
              <a:srgbClr val="E2E8F0"/>
            </a:solidFill>
            <a:prstDash val="solid"/>
          </a:ln>
        </p:spPr>
        <p:txBody>
          <a:bodyPr/>
          <a:lstStyle/>
          <a:p>
            <a:endParaRPr lang="es-CL"/>
          </a:p>
        </p:txBody>
      </p:sp>
      <p:sp>
        <p:nvSpPr>
          <p:cNvPr id="19" name="Shape 17"/>
          <p:cNvSpPr/>
          <p:nvPr/>
        </p:nvSpPr>
        <p:spPr>
          <a:xfrm>
            <a:off x="640080" y="3246120"/>
            <a:ext cx="73152" cy="1554480"/>
          </a:xfrm>
          <a:prstGeom prst="rect">
            <a:avLst/>
          </a:prstGeom>
          <a:solidFill>
            <a:srgbClr val="D4A82A"/>
          </a:solidFill>
          <a:ln w="12700">
            <a:solidFill>
              <a:srgbClr val="D4A82A"/>
            </a:solidFill>
            <a:prstDash val="solid"/>
          </a:ln>
        </p:spPr>
        <p:txBody>
          <a:bodyPr/>
          <a:lstStyle/>
          <a:p>
            <a:endParaRPr lang="es-CL"/>
          </a:p>
        </p:txBody>
      </p:sp>
      <p:sp>
        <p:nvSpPr>
          <p:cNvPr id="20" name="Text 18"/>
          <p:cNvSpPr/>
          <p:nvPr/>
        </p:nvSpPr>
        <p:spPr>
          <a:xfrm>
            <a:off x="868680" y="3383280"/>
            <a:ext cx="3291840" cy="411480"/>
          </a:xfrm>
          <a:prstGeom prst="rect">
            <a:avLst/>
          </a:prstGeom>
          <a:noFill/>
          <a:ln/>
        </p:spPr>
        <p:txBody>
          <a:bodyPr wrap="square" lIns="0" tIns="0" rIns="0" bIns="0" rtlCol="0" anchor="ctr"/>
          <a:lstStyle/>
          <a:p>
            <a:pPr marL="0" indent="0" algn="l">
              <a:buNone/>
            </a:pPr>
            <a:r>
              <a:rPr lang="en-US" sz="1500" b="1" dirty="0">
                <a:solidFill>
                  <a:srgbClr val="1E2761"/>
                </a:solidFill>
                <a:latin typeface="Cambria" pitchFamily="34" charset="0"/>
                <a:ea typeface="Cambria" pitchFamily="34" charset="-122"/>
                <a:cs typeface="Cambria" pitchFamily="34" charset="-120"/>
              </a:rPr>
              <a:t>IDPC / FIT</a:t>
            </a:r>
            <a:endParaRPr lang="en-US" sz="1500" dirty="0"/>
          </a:p>
        </p:txBody>
      </p:sp>
      <p:sp>
        <p:nvSpPr>
          <p:cNvPr id="21" name="Text 19"/>
          <p:cNvSpPr/>
          <p:nvPr/>
        </p:nvSpPr>
        <p:spPr>
          <a:xfrm>
            <a:off x="868680" y="3794760"/>
            <a:ext cx="3291840" cy="914400"/>
          </a:xfrm>
          <a:prstGeom prst="rect">
            <a:avLst/>
          </a:prstGeom>
          <a:noFill/>
          <a:ln/>
        </p:spPr>
        <p:txBody>
          <a:bodyPr wrap="square" lIns="0" tIns="0" rIns="0" bIns="0" rtlCol="0" anchor="t"/>
          <a:lstStyle/>
          <a:p>
            <a:pPr marL="0" indent="0" algn="l">
              <a:buNone/>
            </a:pPr>
            <a:r>
              <a:rPr lang="en-US" sz="1100" dirty="0">
                <a:solidFill>
                  <a:srgbClr val="2D3748"/>
                </a:solidFill>
                <a:latin typeface="Calibri" pitchFamily="34" charset="0"/>
                <a:ea typeface="Calibri" pitchFamily="34" charset="-122"/>
                <a:cs typeface="Calibri" pitchFamily="34" charset="-120"/>
              </a:rPr>
              <a:t>Impuesto de primera categoría; grava la renta del capital corporativo a nivel institucional.</a:t>
            </a:r>
            <a:endParaRPr lang="en-US" sz="1100" dirty="0"/>
          </a:p>
        </p:txBody>
      </p:sp>
      <p:sp>
        <p:nvSpPr>
          <p:cNvPr id="22" name="Shape 20"/>
          <p:cNvSpPr/>
          <p:nvPr/>
        </p:nvSpPr>
        <p:spPr>
          <a:xfrm>
            <a:off x="4434840" y="3246120"/>
            <a:ext cx="3657600" cy="1554480"/>
          </a:xfrm>
          <a:prstGeom prst="rect">
            <a:avLst/>
          </a:prstGeom>
          <a:solidFill>
            <a:srgbClr val="F5F7FA"/>
          </a:solidFill>
          <a:ln w="9525">
            <a:solidFill>
              <a:srgbClr val="E2E8F0"/>
            </a:solidFill>
            <a:prstDash val="solid"/>
          </a:ln>
        </p:spPr>
        <p:txBody>
          <a:bodyPr/>
          <a:lstStyle/>
          <a:p>
            <a:endParaRPr lang="es-CL"/>
          </a:p>
        </p:txBody>
      </p:sp>
      <p:sp>
        <p:nvSpPr>
          <p:cNvPr id="23" name="Shape 21"/>
          <p:cNvSpPr/>
          <p:nvPr/>
        </p:nvSpPr>
        <p:spPr>
          <a:xfrm>
            <a:off x="4434840" y="3246120"/>
            <a:ext cx="73152" cy="1554480"/>
          </a:xfrm>
          <a:prstGeom prst="rect">
            <a:avLst/>
          </a:prstGeom>
          <a:solidFill>
            <a:srgbClr val="D4A82A"/>
          </a:solidFill>
          <a:ln w="12700">
            <a:solidFill>
              <a:srgbClr val="D4A82A"/>
            </a:solidFill>
            <a:prstDash val="solid"/>
          </a:ln>
        </p:spPr>
        <p:txBody>
          <a:bodyPr/>
          <a:lstStyle/>
          <a:p>
            <a:endParaRPr lang="es-CL"/>
          </a:p>
        </p:txBody>
      </p:sp>
      <p:sp>
        <p:nvSpPr>
          <p:cNvPr id="24" name="Text 22"/>
          <p:cNvSpPr/>
          <p:nvPr/>
        </p:nvSpPr>
        <p:spPr>
          <a:xfrm>
            <a:off x="4663440" y="3383280"/>
            <a:ext cx="3291840" cy="411480"/>
          </a:xfrm>
          <a:prstGeom prst="rect">
            <a:avLst/>
          </a:prstGeom>
          <a:noFill/>
          <a:ln/>
        </p:spPr>
        <p:txBody>
          <a:bodyPr wrap="square" lIns="0" tIns="0" rIns="0" bIns="0" rtlCol="0" anchor="ctr"/>
          <a:lstStyle/>
          <a:p>
            <a:pPr marL="0" indent="0" algn="l">
              <a:buNone/>
            </a:pPr>
            <a:r>
              <a:rPr lang="en-US" sz="1500" b="1" dirty="0">
                <a:solidFill>
                  <a:srgbClr val="1E2761"/>
                </a:solidFill>
                <a:latin typeface="Cambria" pitchFamily="34" charset="0"/>
                <a:ea typeface="Cambria" pitchFamily="34" charset="-122"/>
                <a:cs typeface="Cambria" pitchFamily="34" charset="-120"/>
              </a:rPr>
              <a:t>Impuestos a la producción</a:t>
            </a:r>
            <a:endParaRPr lang="en-US" sz="1500" dirty="0"/>
          </a:p>
        </p:txBody>
      </p:sp>
      <p:sp>
        <p:nvSpPr>
          <p:cNvPr id="25" name="Text 23"/>
          <p:cNvSpPr/>
          <p:nvPr/>
        </p:nvSpPr>
        <p:spPr>
          <a:xfrm>
            <a:off x="4663440" y="3794760"/>
            <a:ext cx="3291840" cy="914400"/>
          </a:xfrm>
          <a:prstGeom prst="rect">
            <a:avLst/>
          </a:prstGeom>
          <a:noFill/>
          <a:ln/>
        </p:spPr>
        <p:txBody>
          <a:bodyPr wrap="square" lIns="0" tIns="0" rIns="0" bIns="0" rtlCol="0" anchor="t"/>
          <a:lstStyle/>
          <a:p>
            <a:pPr marL="0" indent="0" algn="l">
              <a:buNone/>
            </a:pPr>
            <a:r>
              <a:rPr lang="en-US" sz="1100" dirty="0">
                <a:solidFill>
                  <a:srgbClr val="2D3748"/>
                </a:solidFill>
                <a:latin typeface="Calibri" pitchFamily="34" charset="0"/>
                <a:ea typeface="Calibri" pitchFamily="34" charset="-122"/>
                <a:cs typeface="Calibri" pitchFamily="34" charset="-120"/>
              </a:rPr>
              <a:t>Timbres, contribuciones de bienes raíces, permisos, patentes, juegos de azar.</a:t>
            </a:r>
            <a:endParaRPr lang="en-US" sz="1100" dirty="0"/>
          </a:p>
        </p:txBody>
      </p:sp>
      <p:sp>
        <p:nvSpPr>
          <p:cNvPr id="26" name="Shape 24"/>
          <p:cNvSpPr/>
          <p:nvPr/>
        </p:nvSpPr>
        <p:spPr>
          <a:xfrm>
            <a:off x="8229600" y="3246120"/>
            <a:ext cx="3657600" cy="1554480"/>
          </a:xfrm>
          <a:prstGeom prst="rect">
            <a:avLst/>
          </a:prstGeom>
          <a:solidFill>
            <a:srgbClr val="F5F7FA"/>
          </a:solidFill>
          <a:ln w="9525">
            <a:solidFill>
              <a:srgbClr val="E2E8F0"/>
            </a:solidFill>
            <a:prstDash val="solid"/>
          </a:ln>
        </p:spPr>
        <p:txBody>
          <a:bodyPr/>
          <a:lstStyle/>
          <a:p>
            <a:endParaRPr lang="es-CL"/>
          </a:p>
        </p:txBody>
      </p:sp>
      <p:sp>
        <p:nvSpPr>
          <p:cNvPr id="27" name="Shape 25"/>
          <p:cNvSpPr/>
          <p:nvPr/>
        </p:nvSpPr>
        <p:spPr>
          <a:xfrm>
            <a:off x="8229600" y="3246120"/>
            <a:ext cx="73152" cy="1554480"/>
          </a:xfrm>
          <a:prstGeom prst="rect">
            <a:avLst/>
          </a:prstGeom>
          <a:solidFill>
            <a:srgbClr val="D4A82A"/>
          </a:solidFill>
          <a:ln w="12700">
            <a:solidFill>
              <a:srgbClr val="D4A82A"/>
            </a:solidFill>
            <a:prstDash val="solid"/>
          </a:ln>
        </p:spPr>
        <p:txBody>
          <a:bodyPr/>
          <a:lstStyle/>
          <a:p>
            <a:endParaRPr lang="es-CL"/>
          </a:p>
        </p:txBody>
      </p:sp>
      <p:sp>
        <p:nvSpPr>
          <p:cNvPr id="28" name="Text 26"/>
          <p:cNvSpPr/>
          <p:nvPr/>
        </p:nvSpPr>
        <p:spPr>
          <a:xfrm>
            <a:off x="8458200" y="3383280"/>
            <a:ext cx="3291840" cy="411480"/>
          </a:xfrm>
          <a:prstGeom prst="rect">
            <a:avLst/>
          </a:prstGeom>
          <a:noFill/>
          <a:ln/>
        </p:spPr>
        <p:txBody>
          <a:bodyPr wrap="square" lIns="0" tIns="0" rIns="0" bIns="0" rtlCol="0" anchor="ctr"/>
          <a:lstStyle/>
          <a:p>
            <a:pPr marL="0" indent="0" algn="l">
              <a:buNone/>
            </a:pPr>
            <a:r>
              <a:rPr lang="en-US" sz="1500" b="1" dirty="0">
                <a:solidFill>
                  <a:srgbClr val="1E2761"/>
                </a:solidFill>
                <a:latin typeface="Cambria" pitchFamily="34" charset="0"/>
                <a:ea typeface="Cambria" pitchFamily="34" charset="-122"/>
                <a:cs typeface="Cambria" pitchFamily="34" charset="-120"/>
              </a:rPr>
              <a:t>Impuestos específicos</a:t>
            </a:r>
            <a:endParaRPr lang="en-US" sz="1500" dirty="0"/>
          </a:p>
        </p:txBody>
      </p:sp>
      <p:sp>
        <p:nvSpPr>
          <p:cNvPr id="29" name="Text 27"/>
          <p:cNvSpPr/>
          <p:nvPr/>
        </p:nvSpPr>
        <p:spPr>
          <a:xfrm>
            <a:off x="8458200" y="3794760"/>
            <a:ext cx="3291840" cy="914400"/>
          </a:xfrm>
          <a:prstGeom prst="rect">
            <a:avLst/>
          </a:prstGeom>
          <a:noFill/>
          <a:ln/>
        </p:spPr>
        <p:txBody>
          <a:bodyPr wrap="square" lIns="0" tIns="0" rIns="0" bIns="0" rtlCol="0" anchor="t"/>
          <a:lstStyle/>
          <a:p>
            <a:pPr marL="0" indent="0" algn="l">
              <a:buNone/>
            </a:pPr>
            <a:r>
              <a:rPr lang="en-US" sz="1100" dirty="0">
                <a:solidFill>
                  <a:srgbClr val="2D3748"/>
                </a:solidFill>
                <a:latin typeface="Calibri" pitchFamily="34" charset="0"/>
                <a:ea typeface="Calibri" pitchFamily="34" charset="-122"/>
                <a:cs typeface="Calibri" pitchFamily="34" charset="-120"/>
              </a:rPr>
              <a:t>Alcoholes, combustibles, tabaco, fuentes móviles — por unidad de bien o porcentaje de venta.</a:t>
            </a:r>
            <a:endParaRPr lang="en-US" sz="1100" dirty="0"/>
          </a:p>
        </p:txBody>
      </p:sp>
      <p:sp>
        <p:nvSpPr>
          <p:cNvPr id="30" name="Shape 28"/>
          <p:cNvSpPr/>
          <p:nvPr/>
        </p:nvSpPr>
        <p:spPr>
          <a:xfrm>
            <a:off x="548640" y="5394960"/>
            <a:ext cx="11064240" cy="777240"/>
          </a:xfrm>
          <a:prstGeom prst="rect">
            <a:avLst/>
          </a:prstGeom>
          <a:solidFill>
            <a:srgbClr val="1E2761"/>
          </a:solidFill>
          <a:ln w="12700">
            <a:solidFill>
              <a:srgbClr val="1E2761"/>
            </a:solidFill>
            <a:prstDash val="solid"/>
          </a:ln>
        </p:spPr>
        <p:txBody>
          <a:bodyPr/>
          <a:lstStyle/>
          <a:p>
            <a:endParaRPr lang="es-CL" dirty="0"/>
          </a:p>
        </p:txBody>
      </p:sp>
      <p:sp>
        <p:nvSpPr>
          <p:cNvPr id="31" name="Text 29"/>
          <p:cNvSpPr/>
          <p:nvPr/>
        </p:nvSpPr>
        <p:spPr>
          <a:xfrm>
            <a:off x="822960" y="5394960"/>
            <a:ext cx="10698480" cy="777240"/>
          </a:xfrm>
          <a:prstGeom prst="rect">
            <a:avLst/>
          </a:prstGeom>
          <a:noFill/>
          <a:ln/>
        </p:spPr>
        <p:txBody>
          <a:bodyPr wrap="square" lIns="0" tIns="0" rIns="0" bIns="0" rtlCol="0" anchor="ctr"/>
          <a:lstStyle/>
          <a:p>
            <a:pPr marL="0" indent="0" algn="l">
              <a:buNone/>
            </a:pPr>
            <a:endParaRPr lang="en-US" sz="1200" dirty="0"/>
          </a:p>
        </p:txBody>
      </p:sp>
      <p:sp>
        <p:nvSpPr>
          <p:cNvPr id="32" name="Text 30"/>
          <p:cNvSpPr/>
          <p:nvPr/>
        </p:nvSpPr>
        <p:spPr>
          <a:xfrm>
            <a:off x="457200" y="6492240"/>
            <a:ext cx="11247120" cy="274320"/>
          </a:xfrm>
          <a:prstGeom prst="rect">
            <a:avLst/>
          </a:prstGeom>
          <a:noFill/>
          <a:ln/>
        </p:spPr>
        <p:txBody>
          <a:bodyPr wrap="square"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MEGC 12 sectores · Chile 2023 · SII</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a:p>
        </p:txBody>
      </p:sp>
      <p:sp>
        <p:nvSpPr>
          <p:cNvPr id="3" name="Text 1"/>
          <p:cNvSpPr/>
          <p:nvPr/>
        </p:nvSpPr>
        <p:spPr>
          <a:xfrm>
            <a:off x="457200" y="384048"/>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08</a:t>
            </a:r>
            <a:endParaRPr lang="en-US" sz="1400" dirty="0"/>
          </a:p>
        </p:txBody>
      </p:sp>
      <p:sp>
        <p:nvSpPr>
          <p:cNvPr id="4" name="Text 2"/>
          <p:cNvSpPr/>
          <p:nvPr/>
        </p:nvSpPr>
        <p:spPr>
          <a:xfrm>
            <a:off x="1051560" y="365760"/>
            <a:ext cx="10698480" cy="502920"/>
          </a:xfrm>
          <a:prstGeom prst="rect">
            <a:avLst/>
          </a:prstGeom>
          <a:noFill/>
          <a:ln/>
        </p:spPr>
        <p:txBody>
          <a:bodyPr wrap="square" lIns="0" tIns="0" rIns="0" bIns="0" rtlCol="0" anchor="ctr"/>
          <a:lstStyle/>
          <a:p>
            <a:pPr marL="0" indent="0" algn="l">
              <a:buNone/>
            </a:pPr>
            <a:r>
              <a:rPr lang="en-US" sz="2400" b="1" dirty="0">
                <a:solidFill>
                  <a:srgbClr val="1E2761"/>
                </a:solidFill>
                <a:latin typeface="Cambria" pitchFamily="34" charset="0"/>
                <a:ea typeface="Cambria" pitchFamily="34" charset="-122"/>
                <a:cs typeface="Cambria" pitchFamily="34" charset="-120"/>
              </a:rPr>
              <a:t>Bloque del consumidor</a:t>
            </a:r>
            <a:endParaRPr lang="en-US" sz="2400" dirty="0"/>
          </a:p>
        </p:txBody>
      </p:sp>
      <p:sp>
        <p:nvSpPr>
          <p:cNvPr id="5" name="Text 3"/>
          <p:cNvSpPr/>
          <p:nvPr/>
        </p:nvSpPr>
        <p:spPr>
          <a:xfrm>
            <a:off x="640080" y="1005840"/>
            <a:ext cx="10972800" cy="365760"/>
          </a:xfrm>
          <a:prstGeom prst="rect">
            <a:avLst/>
          </a:prstGeom>
          <a:noFill/>
          <a:ln/>
        </p:spPr>
        <p:txBody>
          <a:bodyPr wrap="square" lIns="0" tIns="0" rIns="0" bIns="0" rtlCol="0" anchor="ctr"/>
          <a:lstStyle/>
          <a:p>
            <a:pPr marL="0" indent="0" algn="l">
              <a:buNone/>
            </a:pPr>
            <a:r>
              <a:rPr lang="en-US" sz="1300" i="1" dirty="0">
                <a:solidFill>
                  <a:srgbClr val="64748B"/>
                </a:solidFill>
                <a:latin typeface="Calibri" pitchFamily="34" charset="0"/>
                <a:ea typeface="Calibri" pitchFamily="34" charset="-122"/>
                <a:cs typeface="Calibri" pitchFamily="34" charset="-120"/>
              </a:rPr>
              <a:t>Hogar representativo con utilidad CES sobre 11 bienes consumibles (PCON).</a:t>
            </a:r>
            <a:endParaRPr lang="en-US" sz="1300" dirty="0"/>
          </a:p>
        </p:txBody>
      </p:sp>
      <mc:AlternateContent xmlns:mc="http://schemas.openxmlformats.org/markup-compatibility/2006" xmlns:a14="http://schemas.microsoft.com/office/drawing/2010/main">
        <mc:Choice Requires="a14">
          <p:sp>
            <p:nvSpPr>
              <p:cNvPr id="6" name="Text 4"/>
              <p:cNvSpPr/>
              <p:nvPr/>
            </p:nvSpPr>
            <p:spPr>
              <a:xfrm>
                <a:off x="640080" y="1554480"/>
                <a:ext cx="5943600" cy="4114800"/>
              </a:xfrm>
              <a:prstGeom prst="rect">
                <a:avLst/>
              </a:prstGeom>
              <a:noFill/>
              <a:ln/>
            </p:spPr>
            <p:txBody>
              <a:bodyPr wrap="square" lIns="0" tIns="0" rIns="0" bIns="0" rtlCol="0" anchor="t"/>
              <a:lstStyle/>
              <a:p>
                <a:pPr marL="0" indent="0" algn="l">
                  <a:buNone/>
                </a:pPr>
                <a:r>
                  <a:rPr lang="en-US" sz="1400" b="1" dirty="0">
                    <a:solidFill>
                      <a:srgbClr val="1E2761"/>
                    </a:solidFill>
                    <a:latin typeface="Calibri" pitchFamily="34" charset="0"/>
                    <a:ea typeface="Calibri" pitchFamily="34" charset="-122"/>
                    <a:cs typeface="Calibri" pitchFamily="34" charset="-120"/>
                  </a:rPr>
                  <a:t>Función de utilidad CES</a:t>
                </a:r>
                <a:endParaRPr lang="en-US" sz="1400" dirty="0"/>
              </a:p>
              <a:p>
                <a:pPr marL="0" indent="0" algn="l">
                  <a:buNone/>
                </a:pPr>
                <a:r>
                  <a:rPr lang="en-US" sz="600" dirty="0">
                    <a:solidFill>
                      <a:srgbClr val="000000"/>
                    </a:solidFill>
                    <a:latin typeface="Calibri" pitchFamily="34" charset="0"/>
                    <a:ea typeface="Calibri" pitchFamily="34" charset="-122"/>
                    <a:cs typeface="Calibri" pitchFamily="34" charset="-120"/>
                  </a:rPr>
                  <a:t> </a:t>
                </a:r>
                <a:endParaRPr lang="en-US" sz="1400" dirty="0"/>
              </a:p>
              <a:p>
                <a:endParaRPr lang="es-CL" dirty="0"/>
              </a:p>
              <a:p>
                <a:pPr/>
                <a14:m>
                  <m:oMathPara xmlns:m="http://schemas.openxmlformats.org/officeDocument/2006/math">
                    <m:oMathParaPr>
                      <m:jc m:val="centerGroup"/>
                    </m:oMathParaPr>
                    <m:oMath xmlns:m="http://schemas.openxmlformats.org/officeDocument/2006/math">
                      <m:r>
                        <a:rPr lang="es-CL" sz="1400" i="1">
                          <a:latin typeface="Cambria Math" panose="02040503050406030204" pitchFamily="18" charset="0"/>
                        </a:rPr>
                        <m:t>𝑈</m:t>
                      </m:r>
                      <m:r>
                        <a:rPr lang="es-CL" sz="1400" i="1">
                          <a:latin typeface="Cambria Math" panose="02040503050406030204" pitchFamily="18" charset="0"/>
                        </a:rPr>
                        <m:t>=</m:t>
                      </m:r>
                      <m:sSup>
                        <m:sSupPr>
                          <m:ctrlPr>
                            <a:rPr lang="es-CL" sz="1400" i="1">
                              <a:latin typeface="Cambria Math" panose="02040503050406030204" pitchFamily="18" charset="0"/>
                            </a:rPr>
                          </m:ctrlPr>
                        </m:sSupPr>
                        <m:e>
                          <m:d>
                            <m:dPr>
                              <m:ctrlPr>
                                <a:rPr lang="es-CL" sz="1400" i="1">
                                  <a:latin typeface="Cambria Math" panose="02040503050406030204" pitchFamily="18" charset="0"/>
                                </a:rPr>
                              </m:ctrlPr>
                            </m:dPr>
                            <m:e>
                              <m:nary>
                                <m:naryPr>
                                  <m:chr m:val="∑"/>
                                  <m:limLoc m:val="undOvr"/>
                                  <m:supHide m:val="on"/>
                                  <m:ctrlPr>
                                    <a:rPr lang="es-CL" sz="1400" i="1">
                                      <a:latin typeface="Cambria Math" panose="02040503050406030204" pitchFamily="18" charset="0"/>
                                    </a:rPr>
                                  </m:ctrlPr>
                                </m:naryPr>
                                <m:sub>
                                  <m:r>
                                    <a:rPr lang="es-CL" sz="1400" i="1">
                                      <a:latin typeface="Cambria Math" panose="02040503050406030204" pitchFamily="18" charset="0"/>
                                    </a:rPr>
                                    <m:t>𝑝</m:t>
                                  </m:r>
                                  <m:r>
                                    <a:rPr lang="es-CL" sz="1400" i="1">
                                      <a:latin typeface="Cambria Math" panose="02040503050406030204" pitchFamily="18" charset="0"/>
                                    </a:rPr>
                                    <m:t>∈</m:t>
                                  </m:r>
                                  <m:r>
                                    <a:rPr lang="es-CL" sz="1400" i="1">
                                      <a:latin typeface="Cambria Math" panose="02040503050406030204" pitchFamily="18" charset="0"/>
                                    </a:rPr>
                                    <m:t>𝑃𝑅𝑂𝐷𝑆</m:t>
                                  </m:r>
                                </m:sub>
                                <m:sup/>
                                <m:e>
                                  <m:sSup>
                                    <m:sSupPr>
                                      <m:ctrlPr>
                                        <a:rPr lang="es-CL" sz="1400" i="1">
                                          <a:latin typeface="Cambria Math" panose="02040503050406030204" pitchFamily="18" charset="0"/>
                                        </a:rPr>
                                      </m:ctrlPr>
                                    </m:sSupPr>
                                    <m:e>
                                      <m:r>
                                        <a:rPr lang="es-CL" sz="1400" i="1">
                                          <a:latin typeface="Cambria Math" panose="02040503050406030204" pitchFamily="18" charset="0"/>
                                        </a:rPr>
                                        <m:t>𝛼</m:t>
                                      </m:r>
                                    </m:e>
                                    <m:sup>
                                      <m:r>
                                        <a:rPr lang="es-CL" sz="1400" i="1">
                                          <a:latin typeface="Cambria Math" panose="02040503050406030204" pitchFamily="18" charset="0"/>
                                        </a:rPr>
                                        <m:t>𝑝</m:t>
                                      </m:r>
                                    </m:sup>
                                  </m:sSup>
                                  <m:sSup>
                                    <m:sSupPr>
                                      <m:ctrlPr>
                                        <a:rPr lang="es-CL" sz="1400" i="1">
                                          <a:latin typeface="Cambria Math" panose="02040503050406030204" pitchFamily="18" charset="0"/>
                                        </a:rPr>
                                      </m:ctrlPr>
                                    </m:sSupPr>
                                    <m:e>
                                      <m:sSup>
                                        <m:sSupPr>
                                          <m:ctrlPr>
                                            <a:rPr lang="es-CL" sz="1400" i="1">
                                              <a:latin typeface="Cambria Math" panose="02040503050406030204" pitchFamily="18" charset="0"/>
                                            </a:rPr>
                                          </m:ctrlPr>
                                        </m:sSupPr>
                                        <m:e>
                                          <m:r>
                                            <a:rPr lang="es-CL" sz="1400" i="1">
                                              <a:latin typeface="Cambria Math" panose="02040503050406030204" pitchFamily="18" charset="0"/>
                                            </a:rPr>
                                            <m:t>𝐷</m:t>
                                          </m:r>
                                        </m:e>
                                        <m:sup>
                                          <m:r>
                                            <a:rPr lang="es-CL" sz="1400" i="1">
                                              <a:latin typeface="Cambria Math" panose="02040503050406030204" pitchFamily="18" charset="0"/>
                                            </a:rPr>
                                            <m:t>𝑝</m:t>
                                          </m:r>
                                        </m:sup>
                                      </m:sSup>
                                    </m:e>
                                    <m:sup>
                                      <m:f>
                                        <m:fPr>
                                          <m:ctrlPr>
                                            <a:rPr lang="es-CL" sz="1400" i="1">
                                              <a:latin typeface="Cambria Math" panose="02040503050406030204" pitchFamily="18" charset="0"/>
                                            </a:rPr>
                                          </m:ctrlPr>
                                        </m:fPr>
                                        <m:num>
                                          <m:r>
                                            <a:rPr lang="es-CL" sz="1400" i="1">
                                              <a:latin typeface="Cambria Math" panose="02040503050406030204" pitchFamily="18" charset="0"/>
                                            </a:rPr>
                                            <m:t>𝜔</m:t>
                                          </m:r>
                                          <m:r>
                                            <a:rPr lang="es-CL" sz="1400" i="1">
                                              <a:latin typeface="Cambria Math" panose="02040503050406030204" pitchFamily="18" charset="0"/>
                                            </a:rPr>
                                            <m:t>−1</m:t>
                                          </m:r>
                                        </m:num>
                                        <m:den>
                                          <m:r>
                                            <a:rPr lang="es-CL" sz="1400" i="1">
                                              <a:latin typeface="Cambria Math" panose="02040503050406030204" pitchFamily="18" charset="0"/>
                                            </a:rPr>
                                            <m:t>𝜔</m:t>
                                          </m:r>
                                        </m:den>
                                      </m:f>
                                    </m:sup>
                                  </m:sSup>
                                </m:e>
                              </m:nary>
                            </m:e>
                          </m:d>
                        </m:e>
                        <m:sup>
                          <m:f>
                            <m:fPr>
                              <m:ctrlPr>
                                <a:rPr lang="es-CL" sz="1400" i="1">
                                  <a:latin typeface="Cambria Math" panose="02040503050406030204" pitchFamily="18" charset="0"/>
                                </a:rPr>
                              </m:ctrlPr>
                            </m:fPr>
                            <m:num>
                              <m:r>
                                <a:rPr lang="es-CL" sz="1400" i="1">
                                  <a:latin typeface="Cambria Math" panose="02040503050406030204" pitchFamily="18" charset="0"/>
                                </a:rPr>
                                <m:t>𝜔</m:t>
                              </m:r>
                            </m:num>
                            <m:den>
                              <m:r>
                                <a:rPr lang="es-CL" sz="1400" i="1">
                                  <a:latin typeface="Cambria Math" panose="02040503050406030204" pitchFamily="18" charset="0"/>
                                </a:rPr>
                                <m:t>𝜔</m:t>
                              </m:r>
                              <m:r>
                                <a:rPr lang="es-CL" sz="1400" i="1">
                                  <a:latin typeface="Cambria Math" panose="02040503050406030204" pitchFamily="18" charset="0"/>
                                </a:rPr>
                                <m:t>−1</m:t>
                              </m:r>
                            </m:den>
                          </m:f>
                        </m:sup>
                      </m:sSup>
                    </m:oMath>
                  </m:oMathPara>
                </a14:m>
                <a:endParaRPr lang="en-US" sz="1300" dirty="0">
                  <a:solidFill>
                    <a:srgbClr val="1E2761"/>
                  </a:solidFill>
                  <a:latin typeface="Consolas" pitchFamily="34" charset="0"/>
                  <a:ea typeface="Consolas" pitchFamily="34" charset="-122"/>
                  <a:cs typeface="Consolas" pitchFamily="34" charset="-120"/>
                </a:endParaRPr>
              </a:p>
              <a:p>
                <a:pPr marL="0" indent="0" algn="l">
                  <a:buNone/>
                </a:pPr>
                <a:endParaRPr lang="en-US" sz="1300" dirty="0">
                  <a:solidFill>
                    <a:srgbClr val="1E2761"/>
                  </a:solidFill>
                  <a:latin typeface="Consolas" pitchFamily="34" charset="0"/>
                  <a:ea typeface="Consolas" pitchFamily="34" charset="-122"/>
                  <a:cs typeface="Consolas" pitchFamily="34" charset="-120"/>
                </a:endParaRPr>
              </a:p>
              <a:p>
                <a:pPr marL="0" indent="0" algn="l">
                  <a:buNone/>
                </a:pPr>
                <a:endParaRPr lang="en-US" sz="1400" dirty="0"/>
              </a:p>
              <a:p>
                <a:pPr marL="0" indent="0" algn="l">
                  <a:buNone/>
                </a:pPr>
                <a:r>
                  <a:rPr lang="en-US" sz="1400" b="1" dirty="0">
                    <a:solidFill>
                      <a:srgbClr val="1E2761"/>
                    </a:solidFill>
                    <a:latin typeface="Calibri" pitchFamily="34" charset="0"/>
                    <a:ea typeface="Calibri" pitchFamily="34" charset="-122"/>
                    <a:cs typeface="Calibri" pitchFamily="34" charset="-120"/>
                  </a:rPr>
                  <a:t>Restricción presupuestaria</a:t>
                </a:r>
                <a:endParaRPr lang="en-US" sz="1400" dirty="0"/>
              </a:p>
              <a:p>
                <a:pPr marL="0" indent="0" algn="l">
                  <a:buNone/>
                </a:pPr>
                <a:r>
                  <a:rPr lang="en-US" sz="600" dirty="0">
                    <a:solidFill>
                      <a:srgbClr val="000000"/>
                    </a:solidFill>
                    <a:latin typeface="Calibri" pitchFamily="34" charset="0"/>
                    <a:ea typeface="Calibri" pitchFamily="34" charset="-122"/>
                    <a:cs typeface="Calibri" pitchFamily="34" charset="-120"/>
                  </a:rPr>
                  <a:t> </a:t>
                </a:r>
                <a:endParaRPr lang="en-US" sz="1400" dirty="0"/>
              </a:p>
              <a:p>
                <a:pPr/>
                <a14:m>
                  <m:oMathPara xmlns:m="http://schemas.openxmlformats.org/officeDocument/2006/math">
                    <m:oMathParaPr>
                      <m:jc m:val="centerGroup"/>
                    </m:oMathParaPr>
                    <m:oMath xmlns:m="http://schemas.openxmlformats.org/officeDocument/2006/math">
                      <m:r>
                        <a:rPr lang="es-CL" sz="1400" i="1">
                          <a:latin typeface="Cambria Math" panose="02040503050406030204" pitchFamily="18" charset="0"/>
                        </a:rPr>
                        <m:t>𝐼𝑁𝐶</m:t>
                      </m:r>
                      <m:r>
                        <a:rPr lang="es-CL" sz="1400" i="1">
                          <a:latin typeface="Cambria Math" panose="02040503050406030204" pitchFamily="18" charset="0"/>
                        </a:rPr>
                        <m:t>=</m:t>
                      </m:r>
                      <m:nary>
                        <m:naryPr>
                          <m:chr m:val="∑"/>
                          <m:limLoc m:val="undOvr"/>
                          <m:supHide m:val="on"/>
                          <m:ctrlPr>
                            <a:rPr lang="es-CL" sz="1400" i="1">
                              <a:latin typeface="Cambria Math" panose="02040503050406030204" pitchFamily="18" charset="0"/>
                            </a:rPr>
                          </m:ctrlPr>
                        </m:naryPr>
                        <m:sub>
                          <m:r>
                            <a:rPr lang="es-CL" sz="1400" i="1">
                              <a:latin typeface="Cambria Math" panose="02040503050406030204" pitchFamily="18" charset="0"/>
                            </a:rPr>
                            <m:t>𝑝</m:t>
                          </m:r>
                          <m:r>
                            <a:rPr lang="es-CL" sz="1400" i="1">
                              <a:latin typeface="Cambria Math" panose="02040503050406030204" pitchFamily="18" charset="0"/>
                            </a:rPr>
                            <m:t>∈</m:t>
                          </m:r>
                          <m:r>
                            <a:rPr lang="es-CL" sz="1400" i="1">
                              <a:latin typeface="Cambria Math" panose="02040503050406030204" pitchFamily="18" charset="0"/>
                            </a:rPr>
                            <m:t>𝑃𝑅𝑂𝐷𝑆</m:t>
                          </m:r>
                        </m:sub>
                        <m:sup/>
                        <m:e>
                          <m:sSup>
                            <m:sSupPr>
                              <m:ctrlPr>
                                <a:rPr lang="es-CL" sz="1400" i="1">
                                  <a:latin typeface="Cambria Math" panose="02040503050406030204" pitchFamily="18" charset="0"/>
                                </a:rPr>
                              </m:ctrlPr>
                            </m:sSupPr>
                            <m:e>
                              <m:r>
                                <a:rPr lang="es-CL" sz="1400" i="1">
                                  <a:latin typeface="Cambria Math" panose="02040503050406030204" pitchFamily="18" charset="0"/>
                                </a:rPr>
                                <m:t>𝐷</m:t>
                              </m:r>
                            </m:e>
                            <m:sup>
                              <m:r>
                                <a:rPr lang="es-CL" sz="1400" i="1">
                                  <a:latin typeface="Cambria Math" panose="02040503050406030204" pitchFamily="18" charset="0"/>
                                </a:rPr>
                                <m:t>𝑝</m:t>
                              </m:r>
                            </m:sup>
                          </m:sSup>
                          <m:r>
                            <a:rPr lang="es-CL" sz="1400" i="1">
                              <a:latin typeface="Cambria Math" panose="02040503050406030204" pitchFamily="18" charset="0"/>
                            </a:rPr>
                            <m:t>∗</m:t>
                          </m:r>
                          <m:sSup>
                            <m:sSupPr>
                              <m:ctrlPr>
                                <a:rPr lang="es-CL" sz="1400" i="1">
                                  <a:latin typeface="Cambria Math" panose="02040503050406030204" pitchFamily="18" charset="0"/>
                                </a:rPr>
                              </m:ctrlPr>
                            </m:sSupPr>
                            <m:e>
                              <m:r>
                                <a:rPr lang="es-CL" sz="1400" i="1">
                                  <a:latin typeface="Cambria Math" panose="02040503050406030204" pitchFamily="18" charset="0"/>
                                </a:rPr>
                                <m:t>𝑃</m:t>
                              </m:r>
                            </m:e>
                            <m:sup>
                              <m:r>
                                <a:rPr lang="es-CL" sz="1400" i="1">
                                  <a:latin typeface="Cambria Math" panose="02040503050406030204" pitchFamily="18" charset="0"/>
                                </a:rPr>
                                <m:t>𝑝</m:t>
                              </m:r>
                            </m:sup>
                          </m:sSup>
                          <m:r>
                            <a:rPr lang="es-CL" sz="1400" i="1">
                              <a:latin typeface="Cambria Math" panose="02040503050406030204" pitchFamily="18" charset="0"/>
                            </a:rPr>
                            <m:t>+</m:t>
                          </m:r>
                          <m:r>
                            <a:rPr lang="es-CL" sz="1400" i="1">
                              <a:latin typeface="Cambria Math" panose="02040503050406030204" pitchFamily="18" charset="0"/>
                            </a:rPr>
                            <m:t>𝑆𝐴𝑉</m:t>
                          </m:r>
                          <m:r>
                            <a:rPr lang="es-CL" sz="1400" i="1">
                              <a:latin typeface="Cambria Math" panose="02040503050406030204" pitchFamily="18" charset="0"/>
                            </a:rPr>
                            <m:t>+</m:t>
                          </m:r>
                          <m:sSup>
                            <m:sSupPr>
                              <m:ctrlPr>
                                <a:rPr lang="es-CL" sz="1400" i="1">
                                  <a:latin typeface="Cambria Math" panose="02040503050406030204" pitchFamily="18" charset="0"/>
                                </a:rPr>
                              </m:ctrlPr>
                            </m:sSupPr>
                            <m:e>
                              <m:r>
                                <a:rPr lang="es-CL" sz="1400" i="1">
                                  <a:latin typeface="Cambria Math" panose="02040503050406030204" pitchFamily="18" charset="0"/>
                                </a:rPr>
                                <m:t>𝐶𝑂𝑁𝑇</m:t>
                              </m:r>
                            </m:e>
                            <m:sup>
                              <m:r>
                                <a:rPr lang="es-CL" sz="1400" i="1">
                                  <a:latin typeface="Cambria Math" panose="02040503050406030204" pitchFamily="18" charset="0"/>
                                </a:rPr>
                                <m:t>𝑆𝑂𝐶</m:t>
                              </m:r>
                            </m:sup>
                          </m:sSup>
                        </m:e>
                      </m:nary>
                    </m:oMath>
                  </m:oMathPara>
                </a14:m>
                <a:endParaRPr lang="es-CL" dirty="0"/>
              </a:p>
              <a:p>
                <a:endParaRPr lang="es-CL" dirty="0"/>
              </a:p>
              <a:p>
                <a:pPr/>
                <a14:m>
                  <m:oMathPara xmlns:m="http://schemas.openxmlformats.org/officeDocument/2006/math">
                    <m:oMathParaPr>
                      <m:jc m:val="centerGroup"/>
                    </m:oMathParaPr>
                    <m:oMath xmlns:m="http://schemas.openxmlformats.org/officeDocument/2006/math">
                      <m:r>
                        <a:rPr lang="es-CL" sz="1400" i="1">
                          <a:latin typeface="Cambria Math" panose="02040503050406030204" pitchFamily="18" charset="0"/>
                        </a:rPr>
                        <m:t>𝐼𝑁𝐶</m:t>
                      </m:r>
                      <m:r>
                        <a:rPr lang="es-CL" sz="1400" i="1">
                          <a:latin typeface="Cambria Math" panose="02040503050406030204" pitchFamily="18" charset="0"/>
                        </a:rPr>
                        <m:t>=</m:t>
                      </m:r>
                      <m:r>
                        <m:rPr>
                          <m:sty m:val="p"/>
                        </m:rPr>
                        <a:rPr lang="es-CL" sz="1400" b="0" i="0" smtClean="0">
                          <a:latin typeface="Cambria Math" panose="02040503050406030204" pitchFamily="18" charset="0"/>
                        </a:rPr>
                        <m:t>BTINC</m:t>
                      </m:r>
                      <m:r>
                        <a:rPr lang="es-CL" sz="1400" b="0" i="0" smtClean="0">
                          <a:latin typeface="Cambria Math" panose="02040503050406030204" pitchFamily="18" charset="0"/>
                        </a:rPr>
                        <m:t>−</m:t>
                      </m:r>
                      <m:r>
                        <m:rPr>
                          <m:sty m:val="p"/>
                        </m:rPr>
                        <a:rPr lang="es-CL" sz="1400" b="0" i="0" smtClean="0">
                          <a:latin typeface="Cambria Math" panose="02040503050406030204" pitchFamily="18" charset="0"/>
                        </a:rPr>
                        <m:t>PITAX</m:t>
                      </m:r>
                    </m:oMath>
                  </m:oMathPara>
                </a14:m>
                <a:endParaRPr lang="en-US" sz="1400" dirty="0">
                  <a:solidFill>
                    <a:srgbClr val="1E2761"/>
                  </a:solidFill>
                  <a:latin typeface="Consolas" pitchFamily="34" charset="0"/>
                  <a:ea typeface="Consolas" pitchFamily="34" charset="-122"/>
                  <a:cs typeface="Consolas" pitchFamily="34" charset="-120"/>
                </a:endParaRPr>
              </a:p>
              <a:p>
                <a:pPr marL="0" indent="0" algn="l">
                  <a:buNone/>
                </a:pPr>
                <a:endParaRPr lang="en-US" sz="1400" dirty="0"/>
              </a:p>
              <a:p>
                <a:pPr marL="0" indent="0" algn="l">
                  <a:buNone/>
                </a:pPr>
                <a:r>
                  <a:rPr lang="en-US" sz="800" dirty="0">
                    <a:solidFill>
                      <a:srgbClr val="000000"/>
                    </a:solidFill>
                    <a:latin typeface="Calibri" pitchFamily="34" charset="0"/>
                    <a:ea typeface="Calibri" pitchFamily="34" charset="-122"/>
                    <a:cs typeface="Calibri" pitchFamily="34" charset="-120"/>
                  </a:rPr>
                  <a:t> </a:t>
                </a:r>
                <a:endParaRPr lang="en-US" sz="1400" dirty="0"/>
              </a:p>
              <a:p>
                <a:pPr marL="0" indent="0" algn="l">
                  <a:buNone/>
                </a:pPr>
                <a:r>
                  <a:rPr lang="en-US" sz="1200" dirty="0">
                    <a:solidFill>
                      <a:srgbClr val="2D3748"/>
                    </a:solidFill>
                    <a:latin typeface="Calibri" pitchFamily="34" charset="0"/>
                    <a:ea typeface="Calibri" pitchFamily="34" charset="-122"/>
                    <a:cs typeface="Calibri" pitchFamily="34" charset="-120"/>
                  </a:rPr>
                  <a:t>Donde BTINC incluye ingresos del trabajo (3 tipos), capital, transferencias de firmas/gobierno y prestaciones </a:t>
                </a:r>
                <a:r>
                  <a:rPr lang="en-US" sz="1200" dirty="0" err="1">
                    <a:solidFill>
                      <a:srgbClr val="2D3748"/>
                    </a:solidFill>
                    <a:latin typeface="Calibri" pitchFamily="34" charset="0"/>
                    <a:ea typeface="Calibri" pitchFamily="34" charset="-122"/>
                    <a:cs typeface="Calibri" pitchFamily="34" charset="-120"/>
                  </a:rPr>
                  <a:t>sociales</a:t>
                </a:r>
                <a:r>
                  <a:rPr lang="en-US" sz="1200" dirty="0">
                    <a:solidFill>
                      <a:srgbClr val="2D3748"/>
                    </a:solidFill>
                    <a:latin typeface="Calibri" pitchFamily="34" charset="0"/>
                    <a:ea typeface="Calibri" pitchFamily="34" charset="-122"/>
                    <a:cs typeface="Calibri" pitchFamily="34" charset="-120"/>
                  </a:rPr>
                  <a:t>. Y PITAX </a:t>
                </a:r>
                <a:r>
                  <a:rPr lang="en-US" sz="1200" dirty="0" err="1">
                    <a:solidFill>
                      <a:srgbClr val="2D3748"/>
                    </a:solidFill>
                    <a:latin typeface="Calibri" pitchFamily="34" charset="0"/>
                    <a:ea typeface="Calibri" pitchFamily="34" charset="-122"/>
                    <a:cs typeface="Calibri" pitchFamily="34" charset="-120"/>
                  </a:rPr>
                  <a:t>aplica</a:t>
                </a:r>
                <a:r>
                  <a:rPr lang="en-US" sz="1200" dirty="0">
                    <a:solidFill>
                      <a:srgbClr val="2D3748"/>
                    </a:solidFill>
                    <a:latin typeface="Calibri" pitchFamily="34" charset="0"/>
                    <a:ea typeface="Calibri" pitchFamily="34" charset="-122"/>
                    <a:cs typeface="Calibri" pitchFamily="34" charset="-120"/>
                  </a:rPr>
                  <a:t> la </a:t>
                </a:r>
                <a:r>
                  <a:rPr lang="en-US" sz="1200" dirty="0" err="1">
                    <a:solidFill>
                      <a:srgbClr val="2D3748"/>
                    </a:solidFill>
                    <a:latin typeface="Calibri" pitchFamily="34" charset="0"/>
                    <a:ea typeface="Calibri" pitchFamily="34" charset="-122"/>
                    <a:cs typeface="Calibri" pitchFamily="34" charset="-120"/>
                  </a:rPr>
                  <a:t>tasa</a:t>
                </a:r>
                <a:r>
                  <a:rPr lang="en-US" sz="1200" dirty="0">
                    <a:solidFill>
                      <a:srgbClr val="2D3748"/>
                    </a:solidFill>
                    <a:latin typeface="Calibri" pitchFamily="34" charset="0"/>
                    <a:ea typeface="Calibri" pitchFamily="34" charset="-122"/>
                    <a:cs typeface="Calibri" pitchFamily="34" charset="-120"/>
                  </a:rPr>
                  <a:t> </a:t>
                </a:r>
                <a:r>
                  <a:rPr lang="en-US" sz="1200" dirty="0" err="1">
                    <a:solidFill>
                      <a:srgbClr val="2D3748"/>
                    </a:solidFill>
                    <a:latin typeface="Calibri" pitchFamily="34" charset="0"/>
                    <a:ea typeface="Calibri" pitchFamily="34" charset="-122"/>
                    <a:cs typeface="Calibri" pitchFamily="34" charset="-120"/>
                  </a:rPr>
                  <a:t>promedio</a:t>
                </a:r>
                <a:r>
                  <a:rPr lang="en-US" sz="1200" dirty="0">
                    <a:solidFill>
                      <a:srgbClr val="2D3748"/>
                    </a:solidFill>
                    <a:latin typeface="Calibri" pitchFamily="34" charset="0"/>
                    <a:ea typeface="Calibri" pitchFamily="34" charset="-122"/>
                    <a:cs typeface="Calibri" pitchFamily="34" charset="-120"/>
                  </a:rPr>
                  <a:t> de </a:t>
                </a:r>
                <a:r>
                  <a:rPr lang="en-US" sz="1200" dirty="0" err="1">
                    <a:solidFill>
                      <a:srgbClr val="2D3748"/>
                    </a:solidFill>
                    <a:latin typeface="Calibri" pitchFamily="34" charset="0"/>
                    <a:ea typeface="Calibri" pitchFamily="34" charset="-122"/>
                    <a:cs typeface="Calibri" pitchFamily="34" charset="-120"/>
                  </a:rPr>
                  <a:t>los</a:t>
                </a:r>
                <a:r>
                  <a:rPr lang="en-US" sz="1200" dirty="0">
                    <a:solidFill>
                      <a:srgbClr val="2D3748"/>
                    </a:solidFill>
                    <a:latin typeface="Calibri" pitchFamily="34" charset="0"/>
                    <a:ea typeface="Calibri" pitchFamily="34" charset="-122"/>
                    <a:cs typeface="Calibri" pitchFamily="34" charset="-120"/>
                  </a:rPr>
                  <a:t> </a:t>
                </a:r>
                <a:r>
                  <a:rPr lang="en-US" sz="1200" dirty="0" err="1">
                    <a:solidFill>
                      <a:srgbClr val="2D3748"/>
                    </a:solidFill>
                    <a:latin typeface="Calibri" pitchFamily="34" charset="0"/>
                    <a:ea typeface="Calibri" pitchFamily="34" charset="-122"/>
                    <a:cs typeface="Calibri" pitchFamily="34" charset="-120"/>
                  </a:rPr>
                  <a:t>hogares</a:t>
                </a:r>
                <a:r>
                  <a:rPr lang="en-US" sz="1200" dirty="0">
                    <a:solidFill>
                      <a:srgbClr val="2D3748"/>
                    </a:solidFill>
                    <a:latin typeface="Calibri" pitchFamily="34" charset="0"/>
                    <a:ea typeface="Calibri" pitchFamily="34" charset="-122"/>
                    <a:cs typeface="Calibri" pitchFamily="34" charset="-120"/>
                  </a:rPr>
                  <a:t> </a:t>
                </a:r>
                <a:r>
                  <a:rPr lang="en-US" sz="1200" dirty="0" err="1">
                    <a:solidFill>
                      <a:srgbClr val="2D3748"/>
                    </a:solidFill>
                    <a:latin typeface="Calibri" pitchFamily="34" charset="0"/>
                    <a:ea typeface="Calibri" pitchFamily="34" charset="-122"/>
                    <a:cs typeface="Calibri" pitchFamily="34" charset="-120"/>
                  </a:rPr>
                  <a:t>sobre</a:t>
                </a:r>
                <a:r>
                  <a:rPr lang="en-US" sz="1200" dirty="0">
                    <a:solidFill>
                      <a:srgbClr val="2D3748"/>
                    </a:solidFill>
                    <a:latin typeface="Calibri" pitchFamily="34" charset="0"/>
                    <a:ea typeface="Calibri" pitchFamily="34" charset="-122"/>
                    <a:cs typeface="Calibri" pitchFamily="34" charset="-120"/>
                  </a:rPr>
                  <a:t> BTINC.</a:t>
                </a:r>
                <a:endParaRPr lang="en-US" sz="1400" dirty="0"/>
              </a:p>
            </p:txBody>
          </p:sp>
        </mc:Choice>
        <mc:Fallback xmlns="">
          <p:sp>
            <p:nvSpPr>
              <p:cNvPr id="6" name="Text 4"/>
              <p:cNvSpPr>
                <a:spLocks noRot="1" noChangeAspect="1" noMove="1" noResize="1" noEditPoints="1" noAdjustHandles="1" noChangeArrowheads="1" noChangeShapeType="1" noTextEdit="1"/>
              </p:cNvSpPr>
              <p:nvPr/>
            </p:nvSpPr>
            <p:spPr>
              <a:xfrm>
                <a:off x="640080" y="1554480"/>
                <a:ext cx="5943600" cy="4114800"/>
              </a:xfrm>
              <a:prstGeom prst="rect">
                <a:avLst/>
              </a:prstGeom>
              <a:blipFill>
                <a:blip r:embed="rId3"/>
                <a:stretch>
                  <a:fillRect l="-1846" t="-1333" r="-308"/>
                </a:stretch>
              </a:blipFill>
              <a:ln/>
            </p:spPr>
            <p:txBody>
              <a:bodyPr/>
              <a:lstStyle/>
              <a:p>
                <a:r>
                  <a:rPr lang="es-CL">
                    <a:noFill/>
                  </a:rPr>
                  <a:t> </a:t>
                </a:r>
              </a:p>
            </p:txBody>
          </p:sp>
        </mc:Fallback>
      </mc:AlternateContent>
      <p:sp>
        <p:nvSpPr>
          <p:cNvPr id="7" name="Shape 5"/>
          <p:cNvSpPr/>
          <p:nvPr/>
        </p:nvSpPr>
        <p:spPr>
          <a:xfrm>
            <a:off x="6766560" y="1554480"/>
            <a:ext cx="4937760" cy="914400"/>
          </a:xfrm>
          <a:prstGeom prst="rect">
            <a:avLst/>
          </a:prstGeom>
          <a:solidFill>
            <a:srgbClr val="F5F7FA"/>
          </a:solidFill>
          <a:ln w="9525">
            <a:solidFill>
              <a:srgbClr val="E2E8F0"/>
            </a:solidFill>
            <a:prstDash val="solid"/>
          </a:ln>
        </p:spPr>
        <p:txBody>
          <a:bodyPr/>
          <a:lstStyle/>
          <a:p>
            <a:endParaRPr lang="es-CL"/>
          </a:p>
        </p:txBody>
      </p:sp>
      <p:sp>
        <p:nvSpPr>
          <p:cNvPr id="8" name="Shape 6"/>
          <p:cNvSpPr/>
          <p:nvPr/>
        </p:nvSpPr>
        <p:spPr>
          <a:xfrm>
            <a:off x="6766560" y="1554480"/>
            <a:ext cx="73152" cy="914400"/>
          </a:xfrm>
          <a:prstGeom prst="rect">
            <a:avLst/>
          </a:prstGeom>
          <a:solidFill>
            <a:srgbClr val="4A6FA5"/>
          </a:solidFill>
          <a:ln w="12700">
            <a:solidFill>
              <a:srgbClr val="4A6FA5"/>
            </a:solidFill>
            <a:prstDash val="solid"/>
          </a:ln>
        </p:spPr>
        <p:txBody>
          <a:bodyPr/>
          <a:lstStyle/>
          <a:p>
            <a:endParaRPr lang="es-CL"/>
          </a:p>
        </p:txBody>
      </p:sp>
      <p:sp>
        <p:nvSpPr>
          <p:cNvPr id="9" name="Text 7"/>
          <p:cNvSpPr/>
          <p:nvPr/>
        </p:nvSpPr>
        <p:spPr>
          <a:xfrm>
            <a:off x="6949440" y="1645920"/>
            <a:ext cx="4663440" cy="365760"/>
          </a:xfrm>
          <a:prstGeom prst="rect">
            <a:avLst/>
          </a:prstGeom>
          <a:noFill/>
          <a:ln/>
        </p:spPr>
        <p:txBody>
          <a:bodyPr wrap="square" lIns="0" tIns="0" rIns="0" bIns="0" rtlCol="0" anchor="ctr"/>
          <a:lstStyle/>
          <a:p>
            <a:pPr marL="0" indent="0" algn="l">
              <a:buNone/>
            </a:pPr>
            <a:r>
              <a:rPr lang="en-US" sz="1300" b="1" dirty="0">
                <a:solidFill>
                  <a:srgbClr val="1E2761"/>
                </a:solidFill>
                <a:latin typeface="Cambria" pitchFamily="34" charset="0"/>
                <a:ea typeface="Cambria" pitchFamily="34" charset="-122"/>
                <a:cs typeface="Cambria" pitchFamily="34" charset="-120"/>
              </a:rPr>
              <a:t>ω = 1.5</a:t>
            </a:r>
            <a:endParaRPr lang="en-US" sz="1300" dirty="0"/>
          </a:p>
        </p:txBody>
      </p:sp>
      <p:sp>
        <p:nvSpPr>
          <p:cNvPr id="10" name="Text 8"/>
          <p:cNvSpPr/>
          <p:nvPr/>
        </p:nvSpPr>
        <p:spPr>
          <a:xfrm>
            <a:off x="6949440" y="2011680"/>
            <a:ext cx="4663440" cy="411480"/>
          </a:xfrm>
          <a:prstGeom prst="rect">
            <a:avLst/>
          </a:prstGeom>
          <a:noFill/>
          <a:ln/>
        </p:spPr>
        <p:txBody>
          <a:bodyPr wrap="square" lIns="0" tIns="0" rIns="0" bIns="0" rtlCol="0" anchor="ctr"/>
          <a:lstStyle/>
          <a:p>
            <a:pPr marL="0" indent="0" algn="l">
              <a:buNone/>
            </a:pPr>
            <a:r>
              <a:rPr lang="en-US" sz="1100" dirty="0">
                <a:solidFill>
                  <a:srgbClr val="2D3748"/>
                </a:solidFill>
                <a:latin typeface="Calibri" pitchFamily="34" charset="0"/>
                <a:ea typeface="Calibri" pitchFamily="34" charset="-122"/>
                <a:cs typeface="Calibri" pitchFamily="34" charset="-120"/>
              </a:rPr>
              <a:t>Elasticidad de sustitución entre bienes de consumo.</a:t>
            </a:r>
            <a:endParaRPr lang="en-US" sz="1100" dirty="0"/>
          </a:p>
        </p:txBody>
      </p:sp>
      <p:sp>
        <p:nvSpPr>
          <p:cNvPr id="11" name="Shape 9"/>
          <p:cNvSpPr/>
          <p:nvPr/>
        </p:nvSpPr>
        <p:spPr>
          <a:xfrm>
            <a:off x="6766560" y="2606040"/>
            <a:ext cx="4937760" cy="914400"/>
          </a:xfrm>
          <a:prstGeom prst="rect">
            <a:avLst/>
          </a:prstGeom>
          <a:solidFill>
            <a:srgbClr val="F5F7FA"/>
          </a:solidFill>
          <a:ln w="9525">
            <a:solidFill>
              <a:srgbClr val="E2E8F0"/>
            </a:solidFill>
            <a:prstDash val="solid"/>
          </a:ln>
        </p:spPr>
        <p:txBody>
          <a:bodyPr/>
          <a:lstStyle/>
          <a:p>
            <a:endParaRPr lang="es-CL"/>
          </a:p>
        </p:txBody>
      </p:sp>
      <p:sp>
        <p:nvSpPr>
          <p:cNvPr id="12" name="Shape 10"/>
          <p:cNvSpPr/>
          <p:nvPr/>
        </p:nvSpPr>
        <p:spPr>
          <a:xfrm>
            <a:off x="6766560" y="2606040"/>
            <a:ext cx="73152" cy="914400"/>
          </a:xfrm>
          <a:prstGeom prst="rect">
            <a:avLst/>
          </a:prstGeom>
          <a:solidFill>
            <a:srgbClr val="4A6FA5"/>
          </a:solidFill>
          <a:ln w="12700">
            <a:solidFill>
              <a:srgbClr val="4A6FA5"/>
            </a:solidFill>
            <a:prstDash val="solid"/>
          </a:ln>
        </p:spPr>
        <p:txBody>
          <a:bodyPr/>
          <a:lstStyle/>
          <a:p>
            <a:endParaRPr lang="es-CL"/>
          </a:p>
        </p:txBody>
      </p:sp>
      <p:sp>
        <p:nvSpPr>
          <p:cNvPr id="13" name="Text 11"/>
          <p:cNvSpPr/>
          <p:nvPr/>
        </p:nvSpPr>
        <p:spPr>
          <a:xfrm>
            <a:off x="6949440" y="2697480"/>
            <a:ext cx="4663440" cy="365760"/>
          </a:xfrm>
          <a:prstGeom prst="rect">
            <a:avLst/>
          </a:prstGeom>
          <a:noFill/>
          <a:ln/>
        </p:spPr>
        <p:txBody>
          <a:bodyPr wrap="square" lIns="0" tIns="0" rIns="0" bIns="0" rtlCol="0" anchor="ctr"/>
          <a:lstStyle/>
          <a:p>
            <a:pPr marL="0" indent="0" algn="l">
              <a:buNone/>
            </a:pPr>
            <a:r>
              <a:rPr lang="en-US" sz="1300" b="1" dirty="0">
                <a:solidFill>
                  <a:srgbClr val="1E2761"/>
                </a:solidFill>
                <a:latin typeface="Cambria" pitchFamily="34" charset="0"/>
                <a:ea typeface="Cambria" pitchFamily="34" charset="-122"/>
                <a:cs typeface="Cambria" pitchFamily="34" charset="-120"/>
              </a:rPr>
              <a:t>Minería y construcción</a:t>
            </a:r>
            <a:endParaRPr lang="en-US" sz="1300" dirty="0"/>
          </a:p>
        </p:txBody>
      </p:sp>
      <p:sp>
        <p:nvSpPr>
          <p:cNvPr id="14" name="Text 12"/>
          <p:cNvSpPr/>
          <p:nvPr/>
        </p:nvSpPr>
        <p:spPr>
          <a:xfrm>
            <a:off x="6949440" y="3063240"/>
            <a:ext cx="4663440" cy="411480"/>
          </a:xfrm>
          <a:prstGeom prst="rect">
            <a:avLst/>
          </a:prstGeom>
          <a:noFill/>
          <a:ln/>
        </p:spPr>
        <p:txBody>
          <a:bodyPr wrap="square" lIns="0" tIns="0" rIns="0" bIns="0" rtlCol="0" anchor="ctr"/>
          <a:lstStyle/>
          <a:p>
            <a:pPr marL="0" indent="0" algn="l">
              <a:buNone/>
            </a:pPr>
            <a:r>
              <a:rPr lang="en-US" sz="1100" dirty="0">
                <a:solidFill>
                  <a:srgbClr val="2D3748"/>
                </a:solidFill>
                <a:latin typeface="Calibri" pitchFamily="34" charset="0"/>
                <a:ea typeface="Calibri" pitchFamily="34" charset="-122"/>
                <a:cs typeface="Calibri" pitchFamily="34" charset="-120"/>
              </a:rPr>
              <a:t>Fijadas en niveles residuales exógenos: no entran en la utilidad directa.</a:t>
            </a:r>
            <a:endParaRPr lang="en-US" sz="1100" dirty="0"/>
          </a:p>
        </p:txBody>
      </p:sp>
      <p:sp>
        <p:nvSpPr>
          <p:cNvPr id="15" name="Shape 13"/>
          <p:cNvSpPr/>
          <p:nvPr/>
        </p:nvSpPr>
        <p:spPr>
          <a:xfrm>
            <a:off x="6766560" y="3657600"/>
            <a:ext cx="4937760" cy="914400"/>
          </a:xfrm>
          <a:prstGeom prst="rect">
            <a:avLst/>
          </a:prstGeom>
          <a:solidFill>
            <a:srgbClr val="F5F7FA"/>
          </a:solidFill>
          <a:ln w="9525">
            <a:solidFill>
              <a:srgbClr val="E2E8F0"/>
            </a:solidFill>
            <a:prstDash val="solid"/>
          </a:ln>
        </p:spPr>
        <p:txBody>
          <a:bodyPr/>
          <a:lstStyle/>
          <a:p>
            <a:endParaRPr lang="es-CL"/>
          </a:p>
        </p:txBody>
      </p:sp>
      <p:sp>
        <p:nvSpPr>
          <p:cNvPr id="16" name="Shape 14"/>
          <p:cNvSpPr/>
          <p:nvPr/>
        </p:nvSpPr>
        <p:spPr>
          <a:xfrm>
            <a:off x="6766560" y="3657600"/>
            <a:ext cx="73152" cy="914400"/>
          </a:xfrm>
          <a:prstGeom prst="rect">
            <a:avLst/>
          </a:prstGeom>
          <a:solidFill>
            <a:srgbClr val="4A6FA5"/>
          </a:solidFill>
          <a:ln w="12700">
            <a:solidFill>
              <a:srgbClr val="4A6FA5"/>
            </a:solidFill>
            <a:prstDash val="solid"/>
          </a:ln>
        </p:spPr>
        <p:txBody>
          <a:bodyPr/>
          <a:lstStyle/>
          <a:p>
            <a:endParaRPr lang="es-CL"/>
          </a:p>
        </p:txBody>
      </p:sp>
      <p:sp>
        <p:nvSpPr>
          <p:cNvPr id="17" name="Text 15"/>
          <p:cNvSpPr/>
          <p:nvPr/>
        </p:nvSpPr>
        <p:spPr>
          <a:xfrm>
            <a:off x="6949440" y="3749040"/>
            <a:ext cx="4663440" cy="365760"/>
          </a:xfrm>
          <a:prstGeom prst="rect">
            <a:avLst/>
          </a:prstGeom>
          <a:noFill/>
          <a:ln/>
        </p:spPr>
        <p:txBody>
          <a:bodyPr wrap="square" lIns="0" tIns="0" rIns="0" bIns="0" rtlCol="0" anchor="ctr"/>
          <a:lstStyle/>
          <a:p>
            <a:pPr marL="0" indent="0" algn="l">
              <a:buNone/>
            </a:pPr>
            <a:r>
              <a:rPr lang="en-US" sz="1300" b="1" dirty="0">
                <a:solidFill>
                  <a:srgbClr val="1E2761"/>
                </a:solidFill>
                <a:latin typeface="Cambria" pitchFamily="34" charset="0"/>
                <a:ea typeface="Cambria" pitchFamily="34" charset="-122"/>
                <a:cs typeface="Cambria" pitchFamily="34" charset="-120"/>
              </a:rPr>
              <a:t>Precio relevante</a:t>
            </a:r>
            <a:endParaRPr lang="en-US" sz="1300" dirty="0"/>
          </a:p>
        </p:txBody>
      </p:sp>
      <p:sp>
        <p:nvSpPr>
          <p:cNvPr id="18" name="Text 16"/>
          <p:cNvSpPr/>
          <p:nvPr/>
        </p:nvSpPr>
        <p:spPr>
          <a:xfrm>
            <a:off x="6949440" y="4114800"/>
            <a:ext cx="4663440" cy="411480"/>
          </a:xfrm>
          <a:prstGeom prst="rect">
            <a:avLst/>
          </a:prstGeom>
          <a:noFill/>
          <a:ln/>
        </p:spPr>
        <p:txBody>
          <a:bodyPr wrap="square" lIns="0" tIns="0" rIns="0" bIns="0" rtlCol="0" anchor="ctr"/>
          <a:lstStyle/>
          <a:p>
            <a:pPr marL="0" indent="0" algn="l">
              <a:buNone/>
            </a:pPr>
            <a:r>
              <a:rPr lang="en-US" sz="1100" dirty="0">
                <a:solidFill>
                  <a:srgbClr val="2D3748"/>
                </a:solidFill>
                <a:latin typeface="Calibri" pitchFamily="34" charset="0"/>
                <a:ea typeface="Calibri" pitchFamily="34" charset="-122"/>
                <a:cs typeface="Calibri" pitchFamily="34" charset="-120"/>
              </a:rPr>
              <a:t>p_p (precio del bien compuesto Armington).</a:t>
            </a:r>
            <a:endParaRPr lang="en-US" sz="1100" dirty="0"/>
          </a:p>
        </p:txBody>
      </p:sp>
      <p:sp>
        <p:nvSpPr>
          <p:cNvPr id="19" name="Shape 17"/>
          <p:cNvSpPr/>
          <p:nvPr/>
        </p:nvSpPr>
        <p:spPr>
          <a:xfrm>
            <a:off x="6766560" y="4709160"/>
            <a:ext cx="4937760" cy="914400"/>
          </a:xfrm>
          <a:prstGeom prst="rect">
            <a:avLst/>
          </a:prstGeom>
          <a:solidFill>
            <a:srgbClr val="F5F7FA"/>
          </a:solidFill>
          <a:ln w="9525">
            <a:solidFill>
              <a:srgbClr val="E2E8F0"/>
            </a:solidFill>
            <a:prstDash val="solid"/>
          </a:ln>
        </p:spPr>
        <p:txBody>
          <a:bodyPr/>
          <a:lstStyle/>
          <a:p>
            <a:endParaRPr lang="es-CL"/>
          </a:p>
        </p:txBody>
      </p:sp>
      <p:sp>
        <p:nvSpPr>
          <p:cNvPr id="20" name="Shape 18"/>
          <p:cNvSpPr/>
          <p:nvPr/>
        </p:nvSpPr>
        <p:spPr>
          <a:xfrm>
            <a:off x="6766560" y="4709160"/>
            <a:ext cx="73152" cy="914400"/>
          </a:xfrm>
          <a:prstGeom prst="rect">
            <a:avLst/>
          </a:prstGeom>
          <a:solidFill>
            <a:srgbClr val="4A6FA5"/>
          </a:solidFill>
          <a:ln w="12700">
            <a:solidFill>
              <a:srgbClr val="4A6FA5"/>
            </a:solidFill>
            <a:prstDash val="solid"/>
          </a:ln>
        </p:spPr>
        <p:txBody>
          <a:bodyPr/>
          <a:lstStyle/>
          <a:p>
            <a:endParaRPr lang="es-CL"/>
          </a:p>
        </p:txBody>
      </p:sp>
      <p:sp>
        <p:nvSpPr>
          <p:cNvPr id="21" name="Text 19"/>
          <p:cNvSpPr/>
          <p:nvPr/>
        </p:nvSpPr>
        <p:spPr>
          <a:xfrm>
            <a:off x="6949440" y="4800600"/>
            <a:ext cx="4663440" cy="365760"/>
          </a:xfrm>
          <a:prstGeom prst="rect">
            <a:avLst/>
          </a:prstGeom>
          <a:noFill/>
          <a:ln/>
        </p:spPr>
        <p:txBody>
          <a:bodyPr wrap="square" lIns="0" tIns="0" rIns="0" bIns="0" rtlCol="0" anchor="ctr"/>
          <a:lstStyle/>
          <a:p>
            <a:pPr marL="0" indent="0" algn="l">
              <a:buNone/>
            </a:pPr>
            <a:r>
              <a:rPr lang="en-US" sz="1300" b="1" dirty="0">
                <a:solidFill>
                  <a:srgbClr val="1E2761"/>
                </a:solidFill>
                <a:latin typeface="Cambria" pitchFamily="34" charset="0"/>
                <a:ea typeface="Cambria" pitchFamily="34" charset="-122"/>
                <a:cs typeface="Cambria" pitchFamily="34" charset="-120"/>
              </a:rPr>
              <a:t>F_ACT_ROW = 0</a:t>
            </a:r>
            <a:endParaRPr lang="en-US" sz="1300" dirty="0"/>
          </a:p>
        </p:txBody>
      </p:sp>
      <p:sp>
        <p:nvSpPr>
          <p:cNvPr id="22" name="Text 20"/>
          <p:cNvSpPr/>
          <p:nvPr/>
        </p:nvSpPr>
        <p:spPr>
          <a:xfrm>
            <a:off x="6949440" y="5166360"/>
            <a:ext cx="4663440" cy="411480"/>
          </a:xfrm>
          <a:prstGeom prst="rect">
            <a:avLst/>
          </a:prstGeom>
          <a:noFill/>
          <a:ln/>
        </p:spPr>
        <p:txBody>
          <a:bodyPr wrap="square" lIns="0" tIns="0" rIns="0" bIns="0" rtlCol="0" anchor="ctr"/>
          <a:lstStyle/>
          <a:p>
            <a:pPr marL="0" indent="0" algn="l">
              <a:buNone/>
            </a:pPr>
            <a:r>
              <a:rPr lang="en-US" sz="1100" dirty="0">
                <a:solidFill>
                  <a:srgbClr val="2D3748"/>
                </a:solidFill>
                <a:latin typeface="Calibri" pitchFamily="34" charset="0"/>
                <a:ea typeface="Calibri" pitchFamily="34" charset="-122"/>
                <a:cs typeface="Calibri" pitchFamily="34" charset="-120"/>
              </a:rPr>
              <a:t>Sin rentas factoriales del/al resto del mundo en la calibración.</a:t>
            </a:r>
            <a:endParaRPr lang="en-US" sz="1100" dirty="0"/>
          </a:p>
        </p:txBody>
      </p:sp>
      <p:sp>
        <p:nvSpPr>
          <p:cNvPr id="23" name="Text 21"/>
          <p:cNvSpPr/>
          <p:nvPr/>
        </p:nvSpPr>
        <p:spPr>
          <a:xfrm>
            <a:off x="457200" y="6492240"/>
            <a:ext cx="11247120" cy="274320"/>
          </a:xfrm>
          <a:prstGeom prst="rect">
            <a:avLst/>
          </a:prstGeom>
          <a:noFill/>
          <a:ln/>
        </p:spPr>
        <p:txBody>
          <a:bodyPr wrap="square"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MEGC 12 sectores · Chile 2023 · SII</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a:p>
        </p:txBody>
      </p:sp>
      <p:sp>
        <p:nvSpPr>
          <p:cNvPr id="3" name="Text 1"/>
          <p:cNvSpPr/>
          <p:nvPr/>
        </p:nvSpPr>
        <p:spPr>
          <a:xfrm>
            <a:off x="457200" y="384048"/>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09</a:t>
            </a:r>
            <a:endParaRPr lang="en-US" sz="1400" dirty="0"/>
          </a:p>
        </p:txBody>
      </p:sp>
      <p:sp>
        <p:nvSpPr>
          <p:cNvPr id="4" name="Text 2"/>
          <p:cNvSpPr/>
          <p:nvPr/>
        </p:nvSpPr>
        <p:spPr>
          <a:xfrm>
            <a:off x="1051560" y="365760"/>
            <a:ext cx="10698480" cy="502920"/>
          </a:xfrm>
          <a:prstGeom prst="rect">
            <a:avLst/>
          </a:prstGeom>
          <a:noFill/>
          <a:ln/>
        </p:spPr>
        <p:txBody>
          <a:bodyPr wrap="square" lIns="0" tIns="0" rIns="0" bIns="0" rtlCol="0" anchor="ctr"/>
          <a:lstStyle/>
          <a:p>
            <a:pPr marL="0" indent="0" algn="l">
              <a:buNone/>
            </a:pPr>
            <a:r>
              <a:rPr lang="en-US" sz="2400" b="1" dirty="0">
                <a:solidFill>
                  <a:srgbClr val="1E2761"/>
                </a:solidFill>
                <a:latin typeface="Cambria" pitchFamily="34" charset="0"/>
                <a:ea typeface="Cambria" pitchFamily="34" charset="-122"/>
                <a:cs typeface="Cambria" pitchFamily="34" charset="-120"/>
              </a:rPr>
              <a:t>Bloque de sectores</a:t>
            </a:r>
            <a:endParaRPr lang="en-US" sz="2400" dirty="0"/>
          </a:p>
        </p:txBody>
      </p:sp>
      <p:sp>
        <p:nvSpPr>
          <p:cNvPr id="5" name="Text 3"/>
          <p:cNvSpPr/>
          <p:nvPr/>
        </p:nvSpPr>
        <p:spPr>
          <a:xfrm>
            <a:off x="640080" y="1005840"/>
            <a:ext cx="10972800" cy="365760"/>
          </a:xfrm>
          <a:prstGeom prst="rect">
            <a:avLst/>
          </a:prstGeom>
          <a:noFill/>
          <a:ln/>
        </p:spPr>
        <p:txBody>
          <a:bodyPr wrap="square" lIns="0" tIns="0" rIns="0" bIns="0" rtlCol="0" anchor="ctr"/>
          <a:lstStyle/>
          <a:p>
            <a:pPr marL="0" indent="0" algn="l">
              <a:buNone/>
            </a:pPr>
            <a:r>
              <a:rPr lang="en-US" sz="1300" i="1" dirty="0">
                <a:solidFill>
                  <a:srgbClr val="64748B"/>
                </a:solidFill>
                <a:latin typeface="Calibri" pitchFamily="34" charset="0"/>
                <a:ea typeface="Calibri" pitchFamily="34" charset="-122"/>
                <a:cs typeface="Calibri" pitchFamily="34" charset="-120"/>
              </a:rPr>
              <a:t>12 firmas representativas eligen producción, factores e insumos para maximizar beneficios.</a:t>
            </a:r>
            <a:endParaRPr lang="en-US" sz="1300" dirty="0"/>
          </a:p>
        </p:txBody>
      </p:sp>
      <p:sp>
        <p:nvSpPr>
          <p:cNvPr id="6" name="Shape 4"/>
          <p:cNvSpPr/>
          <p:nvPr/>
        </p:nvSpPr>
        <p:spPr>
          <a:xfrm>
            <a:off x="640080" y="1554480"/>
            <a:ext cx="5486400" cy="2286000"/>
          </a:xfrm>
          <a:prstGeom prst="rect">
            <a:avLst/>
          </a:prstGeom>
          <a:solidFill>
            <a:srgbClr val="F5F7FA"/>
          </a:solidFill>
          <a:ln w="9525">
            <a:solidFill>
              <a:srgbClr val="E2E8F0"/>
            </a:solidFill>
            <a:prstDash val="solid"/>
          </a:ln>
        </p:spPr>
        <p:txBody>
          <a:bodyPr/>
          <a:lstStyle/>
          <a:p>
            <a:endParaRPr lang="es-CL" dirty="0"/>
          </a:p>
        </p:txBody>
      </p:sp>
      <p:sp>
        <p:nvSpPr>
          <p:cNvPr id="7" name="Shape 5"/>
          <p:cNvSpPr/>
          <p:nvPr/>
        </p:nvSpPr>
        <p:spPr>
          <a:xfrm>
            <a:off x="640080" y="1554480"/>
            <a:ext cx="73152" cy="2286000"/>
          </a:xfrm>
          <a:prstGeom prst="rect">
            <a:avLst/>
          </a:prstGeom>
          <a:solidFill>
            <a:srgbClr val="D4A82A"/>
          </a:solidFill>
          <a:ln w="12700">
            <a:solidFill>
              <a:srgbClr val="D4A82A"/>
            </a:solidFill>
            <a:prstDash val="solid"/>
          </a:ln>
        </p:spPr>
        <p:txBody>
          <a:bodyPr/>
          <a:lstStyle/>
          <a:p>
            <a:endParaRPr lang="es-CL"/>
          </a:p>
        </p:txBody>
      </p:sp>
      <p:sp>
        <p:nvSpPr>
          <p:cNvPr id="8" name="Text 6"/>
          <p:cNvSpPr/>
          <p:nvPr/>
        </p:nvSpPr>
        <p:spPr>
          <a:xfrm>
            <a:off x="868680" y="1691640"/>
            <a:ext cx="5120640" cy="411480"/>
          </a:xfrm>
          <a:prstGeom prst="rect">
            <a:avLst/>
          </a:prstGeom>
          <a:noFill/>
          <a:ln/>
        </p:spPr>
        <p:txBody>
          <a:bodyPr wrap="square" lIns="0" tIns="0" rIns="0" bIns="0" rtlCol="0" anchor="ctr"/>
          <a:lstStyle/>
          <a:p>
            <a:pPr marL="0" indent="0" algn="l">
              <a:buNone/>
            </a:pPr>
            <a:r>
              <a:rPr lang="en-US" sz="1500" b="1" dirty="0">
                <a:solidFill>
                  <a:srgbClr val="1E2761"/>
                </a:solidFill>
                <a:latin typeface="Cambria" pitchFamily="34" charset="0"/>
                <a:ea typeface="Cambria" pitchFamily="34" charset="-122"/>
                <a:cs typeface="Cambria" pitchFamily="34" charset="-120"/>
              </a:rPr>
              <a:t>Valor agregado: Cobb-Douglas</a:t>
            </a:r>
            <a:endParaRPr lang="en-US" sz="1500" dirty="0"/>
          </a:p>
        </p:txBody>
      </p:sp>
      <p:sp>
        <p:nvSpPr>
          <p:cNvPr id="10" name="Text 8"/>
          <p:cNvSpPr/>
          <p:nvPr/>
        </p:nvSpPr>
        <p:spPr>
          <a:xfrm>
            <a:off x="868680" y="2834640"/>
            <a:ext cx="5074920" cy="1097280"/>
          </a:xfrm>
          <a:prstGeom prst="rect">
            <a:avLst/>
          </a:prstGeom>
          <a:noFill/>
          <a:ln/>
        </p:spPr>
        <p:txBody>
          <a:bodyPr wrap="square" lIns="0" tIns="0" rIns="0" bIns="0" rtlCol="0" anchor="t"/>
          <a:lstStyle/>
          <a:p>
            <a:pPr marL="0" indent="0" algn="l">
              <a:buNone/>
            </a:pPr>
            <a:r>
              <a:rPr lang="en-US" sz="1100" dirty="0">
                <a:solidFill>
                  <a:srgbClr val="2D3748"/>
                </a:solidFill>
                <a:latin typeface="Calibri" pitchFamily="34" charset="0"/>
                <a:ea typeface="Calibri" pitchFamily="34" charset="-122"/>
                <a:cs typeface="Calibri" pitchFamily="34" charset="-120"/>
              </a:rPr>
              <a:t>Sustitución entre capital y los 3 tipos de trabajo. Calibración: los β se infieren de la SAM (participaciones del valor agregado).</a:t>
            </a:r>
            <a:endParaRPr lang="en-US" sz="1100" dirty="0"/>
          </a:p>
        </p:txBody>
      </p:sp>
      <p:sp>
        <p:nvSpPr>
          <p:cNvPr id="11" name="Shape 9"/>
          <p:cNvSpPr/>
          <p:nvPr/>
        </p:nvSpPr>
        <p:spPr>
          <a:xfrm>
            <a:off x="6309360" y="1554480"/>
            <a:ext cx="5486400" cy="2286000"/>
          </a:xfrm>
          <a:prstGeom prst="rect">
            <a:avLst/>
          </a:prstGeom>
          <a:solidFill>
            <a:srgbClr val="F5F7FA"/>
          </a:solidFill>
          <a:ln w="9525">
            <a:solidFill>
              <a:srgbClr val="E2E8F0"/>
            </a:solidFill>
            <a:prstDash val="solid"/>
          </a:ln>
        </p:spPr>
        <p:txBody>
          <a:bodyPr/>
          <a:lstStyle/>
          <a:p>
            <a:endParaRPr lang="es-CL"/>
          </a:p>
        </p:txBody>
      </p:sp>
      <p:sp>
        <p:nvSpPr>
          <p:cNvPr id="12" name="Shape 10"/>
          <p:cNvSpPr/>
          <p:nvPr/>
        </p:nvSpPr>
        <p:spPr>
          <a:xfrm>
            <a:off x="6309360" y="1554480"/>
            <a:ext cx="73152" cy="2286000"/>
          </a:xfrm>
          <a:prstGeom prst="rect">
            <a:avLst/>
          </a:prstGeom>
          <a:solidFill>
            <a:srgbClr val="C2562E"/>
          </a:solidFill>
          <a:ln w="12700">
            <a:solidFill>
              <a:srgbClr val="C2562E"/>
            </a:solidFill>
            <a:prstDash val="solid"/>
          </a:ln>
        </p:spPr>
        <p:txBody>
          <a:bodyPr/>
          <a:lstStyle/>
          <a:p>
            <a:endParaRPr lang="es-CL"/>
          </a:p>
        </p:txBody>
      </p:sp>
      <p:sp>
        <p:nvSpPr>
          <p:cNvPr id="13" name="Text 11"/>
          <p:cNvSpPr/>
          <p:nvPr/>
        </p:nvSpPr>
        <p:spPr>
          <a:xfrm>
            <a:off x="6537960" y="1691640"/>
            <a:ext cx="5120640" cy="411480"/>
          </a:xfrm>
          <a:prstGeom prst="rect">
            <a:avLst/>
          </a:prstGeom>
          <a:noFill/>
          <a:ln/>
        </p:spPr>
        <p:txBody>
          <a:bodyPr wrap="square" lIns="0" tIns="0" rIns="0" bIns="0" rtlCol="0" anchor="ctr"/>
          <a:lstStyle/>
          <a:p>
            <a:pPr marL="0" indent="0" algn="l">
              <a:buNone/>
            </a:pPr>
            <a:r>
              <a:rPr lang="en-US" sz="1500" b="1" dirty="0">
                <a:solidFill>
                  <a:srgbClr val="1E2761"/>
                </a:solidFill>
                <a:latin typeface="Cambria" pitchFamily="34" charset="0"/>
                <a:ea typeface="Cambria" pitchFamily="34" charset="-122"/>
                <a:cs typeface="Cambria" pitchFamily="34" charset="-120"/>
              </a:rPr>
              <a:t>Insumos intermedios: Leontief</a:t>
            </a:r>
            <a:endParaRPr lang="en-US" sz="1500" dirty="0"/>
          </a:p>
        </p:txBody>
      </p:sp>
      <p:sp>
        <p:nvSpPr>
          <p:cNvPr id="15" name="Text 13"/>
          <p:cNvSpPr/>
          <p:nvPr/>
        </p:nvSpPr>
        <p:spPr>
          <a:xfrm>
            <a:off x="6537960" y="2606040"/>
            <a:ext cx="5074920" cy="1097280"/>
          </a:xfrm>
          <a:prstGeom prst="rect">
            <a:avLst/>
          </a:prstGeom>
          <a:noFill/>
          <a:ln/>
        </p:spPr>
        <p:txBody>
          <a:bodyPr wrap="square" lIns="0" tIns="0" rIns="0" bIns="0" rtlCol="0" anchor="t"/>
          <a:lstStyle/>
          <a:p>
            <a:pPr marL="0" indent="0" algn="l">
              <a:buNone/>
            </a:pPr>
            <a:r>
              <a:rPr lang="en-US" sz="1100" dirty="0">
                <a:solidFill>
                  <a:srgbClr val="2D3748"/>
                </a:solidFill>
                <a:latin typeface="Calibri" pitchFamily="34" charset="0"/>
                <a:ea typeface="Calibri" pitchFamily="34" charset="-122"/>
                <a:cs typeface="Calibri" pitchFamily="34" charset="-120"/>
              </a:rPr>
              <a:t>Coeficientes fijos proporcionales al nivel de actividad. No hay sustitución en el bloque intermedio: las proporciones se mantienen según la SAM.</a:t>
            </a:r>
            <a:endParaRPr lang="en-US" sz="1100" dirty="0"/>
          </a:p>
        </p:txBody>
      </p:sp>
      <p:sp>
        <p:nvSpPr>
          <p:cNvPr id="16" name="Shape 14"/>
          <p:cNvSpPr/>
          <p:nvPr/>
        </p:nvSpPr>
        <p:spPr>
          <a:xfrm>
            <a:off x="640080" y="4069080"/>
            <a:ext cx="11155680" cy="2194560"/>
          </a:xfrm>
          <a:prstGeom prst="rect">
            <a:avLst/>
          </a:prstGeom>
          <a:solidFill>
            <a:srgbClr val="1E2761"/>
          </a:solidFill>
          <a:ln w="12700">
            <a:solidFill>
              <a:srgbClr val="1E2761"/>
            </a:solidFill>
            <a:prstDash val="solid"/>
          </a:ln>
        </p:spPr>
        <p:txBody>
          <a:bodyPr/>
          <a:lstStyle/>
          <a:p>
            <a:endParaRPr lang="es-CL"/>
          </a:p>
        </p:txBody>
      </p:sp>
      <p:sp>
        <p:nvSpPr>
          <p:cNvPr id="17" name="Text 15"/>
          <p:cNvSpPr/>
          <p:nvPr/>
        </p:nvSpPr>
        <p:spPr>
          <a:xfrm>
            <a:off x="822960" y="4160520"/>
            <a:ext cx="10789920" cy="365760"/>
          </a:xfrm>
          <a:prstGeom prst="rect">
            <a:avLst/>
          </a:prstGeom>
          <a:noFill/>
          <a:ln/>
        </p:spPr>
        <p:txBody>
          <a:bodyPr wrap="square" lIns="0" tIns="0" rIns="0" bIns="0" rtlCol="0" anchor="ctr"/>
          <a:lstStyle/>
          <a:p>
            <a:pPr marL="0" indent="0" algn="l">
              <a:buNone/>
            </a:pPr>
            <a:r>
              <a:rPr lang="en-US" sz="1400" b="1" dirty="0">
                <a:solidFill>
                  <a:srgbClr val="D4A82A"/>
                </a:solidFill>
                <a:latin typeface="Cambria" pitchFamily="34" charset="0"/>
                <a:ea typeface="Cambria" pitchFamily="34" charset="-122"/>
                <a:cs typeface="Cambria" pitchFamily="34" charset="-120"/>
              </a:rPr>
              <a:t>Función de beneficio sectorial</a:t>
            </a:r>
            <a:endParaRPr lang="en-US" sz="1400" dirty="0"/>
          </a:p>
        </p:txBody>
      </p:sp>
      <p:sp>
        <p:nvSpPr>
          <p:cNvPr id="19" name="Text 17"/>
          <p:cNvSpPr/>
          <p:nvPr/>
        </p:nvSpPr>
        <p:spPr>
          <a:xfrm>
            <a:off x="822960" y="5303505"/>
            <a:ext cx="10789920" cy="586611"/>
          </a:xfrm>
          <a:prstGeom prst="rect">
            <a:avLst/>
          </a:prstGeom>
          <a:noFill/>
          <a:ln/>
        </p:spPr>
        <p:txBody>
          <a:bodyPr wrap="square" lIns="0" tIns="0" rIns="0" bIns="0" rtlCol="0" anchor="t"/>
          <a:lstStyle/>
          <a:p>
            <a:pPr marL="0" indent="0" algn="l">
              <a:buNone/>
            </a:pPr>
            <a:r>
              <a:rPr lang="en-US" sz="1200" b="1" dirty="0">
                <a:solidFill>
                  <a:srgbClr val="D4A82A"/>
                </a:solidFill>
                <a:latin typeface="Calibri" pitchFamily="34" charset="0"/>
                <a:ea typeface="Calibri" pitchFamily="34" charset="-122"/>
                <a:cs typeface="Calibri" pitchFamily="34" charset="-120"/>
              </a:rPr>
              <a:t>Ceros estructurales: </a:t>
            </a:r>
            <a:r>
              <a:rPr lang="en-US" sz="1200" dirty="0">
                <a:solidFill>
                  <a:srgbClr val="FFFFFF"/>
                </a:solidFill>
                <a:latin typeface="Calibri" pitchFamily="34" charset="0"/>
                <a:ea typeface="Calibri" pitchFamily="34" charset="-122"/>
                <a:cs typeface="Calibri" pitchFamily="34" charset="-120"/>
              </a:rPr>
              <a:t>los sectores se agrupan en bloques (SECTORS_A, B, C) según los insumos que efectivamente utilizan, evitando calibrar demandas sobre flujos nulos en la SAM (p. ej., construcción como insumo en agro).</a:t>
            </a:r>
            <a:endParaRPr lang="en-US" sz="1200" dirty="0"/>
          </a:p>
        </p:txBody>
      </p:sp>
      <p:sp>
        <p:nvSpPr>
          <p:cNvPr id="20" name="Text 18"/>
          <p:cNvSpPr/>
          <p:nvPr/>
        </p:nvSpPr>
        <p:spPr>
          <a:xfrm>
            <a:off x="457200" y="6492240"/>
            <a:ext cx="11247120" cy="274320"/>
          </a:xfrm>
          <a:prstGeom prst="rect">
            <a:avLst/>
          </a:prstGeom>
          <a:noFill/>
          <a:ln/>
        </p:spPr>
        <p:txBody>
          <a:bodyPr wrap="square"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MEGC 12 sectores · Chile 2023 · SII</a:t>
            </a:r>
            <a:endParaRPr lang="en-US" sz="900" dirty="0"/>
          </a:p>
        </p:txBody>
      </p:sp>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9AFBFA96-A715-1415-879A-5077A4754A79}"/>
                  </a:ext>
                </a:extLst>
              </p:cNvPr>
              <p:cNvSpPr txBox="1"/>
              <p:nvPr/>
            </p:nvSpPr>
            <p:spPr>
              <a:xfrm>
                <a:off x="2074653" y="2135900"/>
                <a:ext cx="2825151" cy="6720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CL" i="1" smtClean="0">
                              <a:latin typeface="Cambria Math" panose="02040503050406030204" pitchFamily="18" charset="0"/>
                            </a:rPr>
                          </m:ctrlPr>
                        </m:sSupPr>
                        <m:e>
                          <m:r>
                            <a:rPr lang="es-CL" b="0" i="1" smtClean="0">
                              <a:latin typeface="Cambria Math" panose="02040503050406030204" pitchFamily="18" charset="0"/>
                            </a:rPr>
                            <m:t>𝑉</m:t>
                          </m:r>
                        </m:e>
                        <m:sup>
                          <m:r>
                            <a:rPr lang="es-CL" b="0" i="1" smtClean="0">
                              <a:latin typeface="Cambria Math" panose="02040503050406030204" pitchFamily="18" charset="0"/>
                            </a:rPr>
                            <m:t>𝑆</m:t>
                          </m:r>
                        </m:sup>
                      </m:sSup>
                      <m:r>
                        <a:rPr lang="es-CL" b="0" i="1" smtClean="0">
                          <a:latin typeface="Cambria Math" panose="02040503050406030204" pitchFamily="18" charset="0"/>
                        </a:rPr>
                        <m:t>=</m:t>
                      </m:r>
                      <m:sSup>
                        <m:sSupPr>
                          <m:ctrlPr>
                            <a:rPr lang="es-CL" b="0" i="1" smtClean="0">
                              <a:latin typeface="Cambria Math" panose="02040503050406030204" pitchFamily="18" charset="0"/>
                            </a:rPr>
                          </m:ctrlPr>
                        </m:sSupPr>
                        <m:e>
                          <m:r>
                            <a:rPr lang="es-CL" b="0" i="1" smtClean="0">
                              <a:latin typeface="Cambria Math" panose="02040503050406030204" pitchFamily="18" charset="0"/>
                              <a:ea typeface="Cambria Math" panose="02040503050406030204" pitchFamily="18" charset="0"/>
                            </a:rPr>
                            <m:t>𝛾</m:t>
                          </m:r>
                        </m:e>
                        <m:sup>
                          <m:r>
                            <a:rPr lang="es-CL" b="0" i="1" smtClean="0">
                              <a:latin typeface="Cambria Math" panose="02040503050406030204" pitchFamily="18" charset="0"/>
                            </a:rPr>
                            <m:t>𝑆</m:t>
                          </m:r>
                        </m:sup>
                      </m:sSup>
                      <m:sSup>
                        <m:sSupPr>
                          <m:ctrlPr>
                            <a:rPr lang="es-CL" b="0" i="1" smtClean="0">
                              <a:latin typeface="Cambria Math" panose="02040503050406030204" pitchFamily="18" charset="0"/>
                            </a:rPr>
                          </m:ctrlPr>
                        </m:sSupPr>
                        <m:e>
                          <m:d>
                            <m:dPr>
                              <m:ctrlPr>
                                <a:rPr lang="es-CL" b="0" i="1" smtClean="0">
                                  <a:latin typeface="Cambria Math" panose="02040503050406030204" pitchFamily="18" charset="0"/>
                                </a:rPr>
                              </m:ctrlPr>
                            </m:dPr>
                            <m:e>
                              <m:sSup>
                                <m:sSupPr>
                                  <m:ctrlPr>
                                    <a:rPr lang="es-CL" b="0" i="1" smtClean="0">
                                      <a:latin typeface="Cambria Math" panose="02040503050406030204" pitchFamily="18" charset="0"/>
                                    </a:rPr>
                                  </m:ctrlPr>
                                </m:sSupPr>
                                <m:e>
                                  <m:r>
                                    <a:rPr lang="es-CL" b="0" i="1" smtClean="0">
                                      <a:latin typeface="Cambria Math" panose="02040503050406030204" pitchFamily="18" charset="0"/>
                                    </a:rPr>
                                    <m:t>𝐾</m:t>
                                  </m:r>
                                </m:e>
                                <m:sup>
                                  <m:r>
                                    <a:rPr lang="es-CL" b="0" i="1" smtClean="0">
                                      <a:latin typeface="Cambria Math" panose="02040503050406030204" pitchFamily="18" charset="0"/>
                                    </a:rPr>
                                    <m:t>𝑆</m:t>
                                  </m:r>
                                </m:sup>
                              </m:sSup>
                            </m:e>
                          </m:d>
                        </m:e>
                        <m:sup>
                          <m:sSubSup>
                            <m:sSubSupPr>
                              <m:ctrlPr>
                                <a:rPr lang="es-CL" b="0" i="1" smtClean="0">
                                  <a:latin typeface="Cambria Math" panose="02040503050406030204" pitchFamily="18" charset="0"/>
                                </a:rPr>
                              </m:ctrlPr>
                            </m:sSubSupPr>
                            <m:e>
                              <m:r>
                                <a:rPr lang="es-CL" b="0" i="1" smtClean="0">
                                  <a:latin typeface="Cambria Math" panose="02040503050406030204" pitchFamily="18" charset="0"/>
                                  <a:ea typeface="Cambria Math" panose="02040503050406030204" pitchFamily="18" charset="0"/>
                                </a:rPr>
                                <m:t>𝛽</m:t>
                              </m:r>
                            </m:e>
                            <m:sub>
                              <m:r>
                                <a:rPr lang="es-CL" b="0" i="1" smtClean="0">
                                  <a:latin typeface="Cambria Math" panose="02040503050406030204" pitchFamily="18" charset="0"/>
                                </a:rPr>
                                <m:t>𝐾</m:t>
                              </m:r>
                            </m:sub>
                            <m:sup>
                              <m:r>
                                <a:rPr lang="es-CL" b="0" i="1" smtClean="0">
                                  <a:latin typeface="Cambria Math" panose="02040503050406030204" pitchFamily="18" charset="0"/>
                                </a:rPr>
                                <m:t>𝑆</m:t>
                              </m:r>
                            </m:sup>
                          </m:sSubSup>
                        </m:sup>
                      </m:sSup>
                      <m:nary>
                        <m:naryPr>
                          <m:chr m:val="∏"/>
                          <m:supHide m:val="on"/>
                          <m:ctrlPr>
                            <a:rPr lang="es-CL" b="0" i="1" smtClean="0">
                              <a:latin typeface="Cambria Math" panose="02040503050406030204" pitchFamily="18" charset="0"/>
                            </a:rPr>
                          </m:ctrlPr>
                        </m:naryPr>
                        <m:sub>
                          <m:r>
                            <m:rPr>
                              <m:brk m:alnAt="7"/>
                            </m:rPr>
                            <a:rPr lang="es-CL" b="0" i="1" smtClean="0">
                              <a:latin typeface="Cambria Math" panose="02040503050406030204" pitchFamily="18" charset="0"/>
                              <a:ea typeface="Cambria Math" panose="02040503050406030204" pitchFamily="18" charset="0"/>
                            </a:rPr>
                            <m:t>ℓ</m:t>
                          </m:r>
                          <m:r>
                            <a:rPr lang="es-CL" b="0" i="1" smtClean="0">
                              <a:latin typeface="Cambria Math" panose="02040503050406030204" pitchFamily="18" charset="0"/>
                              <a:ea typeface="Cambria Math" panose="02040503050406030204" pitchFamily="18" charset="0"/>
                            </a:rPr>
                            <m:t>∈</m:t>
                          </m:r>
                          <m:r>
                            <a:rPr lang="es-CL" b="0" i="1" smtClean="0">
                              <a:latin typeface="Cambria Math" panose="02040503050406030204" pitchFamily="18" charset="0"/>
                              <a:ea typeface="Cambria Math" panose="02040503050406030204" pitchFamily="18" charset="0"/>
                            </a:rPr>
                            <m:t>ℒ</m:t>
                          </m:r>
                        </m:sub>
                        <m:sup/>
                        <m:e>
                          <m:sSup>
                            <m:sSupPr>
                              <m:ctrlPr>
                                <a:rPr lang="es-CL" b="0" i="1" smtClean="0">
                                  <a:latin typeface="Cambria Math" panose="02040503050406030204" pitchFamily="18" charset="0"/>
                                </a:rPr>
                              </m:ctrlPr>
                            </m:sSupPr>
                            <m:e>
                              <m:d>
                                <m:dPr>
                                  <m:ctrlPr>
                                    <a:rPr lang="es-CL" b="0" i="1" smtClean="0">
                                      <a:latin typeface="Cambria Math" panose="02040503050406030204" pitchFamily="18" charset="0"/>
                                    </a:rPr>
                                  </m:ctrlPr>
                                </m:dPr>
                                <m:e>
                                  <m:sSup>
                                    <m:sSupPr>
                                      <m:ctrlPr>
                                        <a:rPr lang="es-CL" b="0" i="1" smtClean="0">
                                          <a:latin typeface="Cambria Math" panose="02040503050406030204" pitchFamily="18" charset="0"/>
                                        </a:rPr>
                                      </m:ctrlPr>
                                    </m:sSupPr>
                                    <m:e>
                                      <m:r>
                                        <a:rPr lang="es-CL" b="0" i="1" smtClean="0">
                                          <a:latin typeface="Cambria Math" panose="02040503050406030204" pitchFamily="18" charset="0"/>
                                        </a:rPr>
                                        <m:t>𝐿</m:t>
                                      </m:r>
                                    </m:e>
                                    <m:sup>
                                      <m:r>
                                        <a:rPr lang="es-CL" b="0" i="1" smtClean="0">
                                          <a:latin typeface="Cambria Math" panose="02040503050406030204" pitchFamily="18" charset="0"/>
                                          <a:ea typeface="Cambria Math" panose="02040503050406030204" pitchFamily="18" charset="0"/>
                                        </a:rPr>
                                        <m:t>ℓ,</m:t>
                                      </m:r>
                                      <m:r>
                                        <a:rPr lang="es-CL" b="0" i="1" smtClean="0">
                                          <a:latin typeface="Cambria Math" panose="02040503050406030204" pitchFamily="18" charset="0"/>
                                          <a:ea typeface="Cambria Math" panose="02040503050406030204" pitchFamily="18" charset="0"/>
                                        </a:rPr>
                                        <m:t>𝑆</m:t>
                                      </m:r>
                                    </m:sup>
                                  </m:sSup>
                                </m:e>
                              </m:d>
                            </m:e>
                            <m:sup>
                              <m:sSubSup>
                                <m:sSubSupPr>
                                  <m:ctrlPr>
                                    <a:rPr lang="es-CL" b="0" i="1" smtClean="0">
                                      <a:latin typeface="Cambria Math" panose="02040503050406030204" pitchFamily="18" charset="0"/>
                                    </a:rPr>
                                  </m:ctrlPr>
                                </m:sSubSupPr>
                                <m:e>
                                  <m:r>
                                    <a:rPr lang="es-CL" b="0" i="1" smtClean="0">
                                      <a:latin typeface="Cambria Math" panose="02040503050406030204" pitchFamily="18" charset="0"/>
                                      <a:ea typeface="Cambria Math" panose="02040503050406030204" pitchFamily="18" charset="0"/>
                                    </a:rPr>
                                    <m:t>𝛽</m:t>
                                  </m:r>
                                </m:e>
                                <m:sub>
                                  <m:r>
                                    <a:rPr lang="es-CL" b="0" i="1" smtClean="0">
                                      <a:latin typeface="Cambria Math" panose="02040503050406030204" pitchFamily="18" charset="0"/>
                                    </a:rPr>
                                    <m:t>𝐿</m:t>
                                  </m:r>
                                  <m:r>
                                    <a:rPr lang="es-CL" b="0" i="1" smtClean="0">
                                      <a:latin typeface="Cambria Math" panose="02040503050406030204" pitchFamily="18" charset="0"/>
                                    </a:rPr>
                                    <m:t>,ℓ</m:t>
                                  </m:r>
                                </m:sub>
                                <m:sup>
                                  <m:r>
                                    <a:rPr lang="es-CL" b="0" i="1" smtClean="0">
                                      <a:latin typeface="Cambria Math" panose="02040503050406030204" pitchFamily="18" charset="0"/>
                                    </a:rPr>
                                    <m:t>𝑆</m:t>
                                  </m:r>
                                </m:sup>
                              </m:sSubSup>
                            </m:sup>
                          </m:sSup>
                        </m:e>
                      </m:nary>
                    </m:oMath>
                  </m:oMathPara>
                </a14:m>
                <a:endParaRPr lang="es-CL" dirty="0"/>
              </a:p>
            </p:txBody>
          </p:sp>
        </mc:Choice>
        <mc:Fallback xmlns="">
          <p:sp>
            <p:nvSpPr>
              <p:cNvPr id="21" name="CuadroTexto 20">
                <a:extLst>
                  <a:ext uri="{FF2B5EF4-FFF2-40B4-BE49-F238E27FC236}">
                    <a16:creationId xmlns:a16="http://schemas.microsoft.com/office/drawing/2014/main" id="{9AFBFA96-A715-1415-879A-5077A4754A79}"/>
                  </a:ext>
                </a:extLst>
              </p:cNvPr>
              <p:cNvSpPr txBox="1">
                <a:spLocks noRot="1" noChangeAspect="1" noMove="1" noResize="1" noEditPoints="1" noAdjustHandles="1" noChangeArrowheads="1" noChangeShapeType="1" noTextEdit="1"/>
              </p:cNvSpPr>
              <p:nvPr/>
            </p:nvSpPr>
            <p:spPr>
              <a:xfrm>
                <a:off x="2074653" y="2135900"/>
                <a:ext cx="2825151" cy="672043"/>
              </a:xfrm>
              <a:prstGeom prst="rect">
                <a:avLst/>
              </a:prstGeom>
              <a:blipFill>
                <a:blip r:embed="rId3"/>
                <a:stretch>
                  <a:fillRect/>
                </a:stretch>
              </a:blipFill>
            </p:spPr>
            <p:txBody>
              <a:bodyPr/>
              <a:lstStyle/>
              <a:p>
                <a:r>
                  <a:rPr lang="es-CL">
                    <a:noFill/>
                  </a:rPr>
                  <a:t> </a:t>
                </a:r>
              </a:p>
            </p:txBody>
          </p:sp>
        </mc:Fallback>
      </mc:AlternateContent>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9D94AE19-5A3E-998A-9DCB-A2699B6A36BF}"/>
                  </a:ext>
                </a:extLst>
              </p:cNvPr>
              <p:cNvSpPr txBox="1"/>
              <p:nvPr/>
            </p:nvSpPr>
            <p:spPr>
              <a:xfrm>
                <a:off x="7391594" y="2135900"/>
                <a:ext cx="1484765" cy="2778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CL" i="1" smtClean="0">
                              <a:latin typeface="Cambria Math" panose="02040503050406030204" pitchFamily="18" charset="0"/>
                            </a:rPr>
                          </m:ctrlPr>
                        </m:sSupPr>
                        <m:e>
                          <m:r>
                            <a:rPr lang="es-CL" b="0" i="1" smtClean="0">
                              <a:latin typeface="Cambria Math" panose="02040503050406030204" pitchFamily="18" charset="0"/>
                            </a:rPr>
                            <m:t>𝑋</m:t>
                          </m:r>
                        </m:e>
                        <m:sup>
                          <m:r>
                            <a:rPr lang="es-CL" b="0" i="1" smtClean="0">
                              <a:latin typeface="Cambria Math" panose="02040503050406030204" pitchFamily="18" charset="0"/>
                            </a:rPr>
                            <m:t>𝑝</m:t>
                          </m:r>
                          <m:r>
                            <a:rPr lang="es-CL" b="0" i="1" smtClean="0">
                              <a:latin typeface="Cambria Math" panose="02040503050406030204" pitchFamily="18" charset="0"/>
                            </a:rPr>
                            <m:t>,</m:t>
                          </m:r>
                          <m:r>
                            <a:rPr lang="es-CL" b="0" i="1" smtClean="0">
                              <a:latin typeface="Cambria Math" panose="02040503050406030204" pitchFamily="18" charset="0"/>
                            </a:rPr>
                            <m:t>𝑆</m:t>
                          </m:r>
                        </m:sup>
                      </m:sSup>
                      <m:r>
                        <a:rPr lang="es-CL" b="0" i="1" smtClean="0">
                          <a:latin typeface="Cambria Math" panose="02040503050406030204" pitchFamily="18" charset="0"/>
                        </a:rPr>
                        <m:t>=</m:t>
                      </m:r>
                      <m:sSup>
                        <m:sSupPr>
                          <m:ctrlPr>
                            <a:rPr lang="es-CL" b="0" i="1" smtClean="0">
                              <a:latin typeface="Cambria Math" panose="02040503050406030204" pitchFamily="18" charset="0"/>
                            </a:rPr>
                          </m:ctrlPr>
                        </m:sSupPr>
                        <m:e>
                          <m:r>
                            <a:rPr lang="es-CL" b="0" i="1" smtClean="0">
                              <a:latin typeface="Cambria Math" panose="02040503050406030204" pitchFamily="18" charset="0"/>
                            </a:rPr>
                            <m:t>𝑖𝑜</m:t>
                          </m:r>
                        </m:e>
                        <m:sup>
                          <m:r>
                            <a:rPr lang="es-CL" b="0" i="1" smtClean="0">
                              <a:latin typeface="Cambria Math" panose="02040503050406030204" pitchFamily="18" charset="0"/>
                            </a:rPr>
                            <m:t>𝑝</m:t>
                          </m:r>
                          <m:r>
                            <a:rPr lang="es-CL" b="0" i="1" smtClean="0">
                              <a:latin typeface="Cambria Math" panose="02040503050406030204" pitchFamily="18" charset="0"/>
                            </a:rPr>
                            <m:t>,</m:t>
                          </m:r>
                          <m:r>
                            <a:rPr lang="es-CL" b="0" i="1" smtClean="0">
                              <a:latin typeface="Cambria Math" panose="02040503050406030204" pitchFamily="18" charset="0"/>
                            </a:rPr>
                            <m:t>𝑆</m:t>
                          </m:r>
                        </m:sup>
                      </m:sSup>
                      <m:sSup>
                        <m:sSupPr>
                          <m:ctrlPr>
                            <a:rPr lang="es-CL" b="0" i="1" smtClean="0">
                              <a:latin typeface="Cambria Math" panose="02040503050406030204" pitchFamily="18" charset="0"/>
                            </a:rPr>
                          </m:ctrlPr>
                        </m:sSupPr>
                        <m:e>
                          <m:r>
                            <a:rPr lang="es-CL" b="0" i="1" smtClean="0">
                              <a:latin typeface="Cambria Math" panose="02040503050406030204" pitchFamily="18" charset="0"/>
                            </a:rPr>
                            <m:t>𝑉</m:t>
                          </m:r>
                        </m:e>
                        <m:sup>
                          <m:r>
                            <a:rPr lang="es-CL" b="0" i="1" smtClean="0">
                              <a:latin typeface="Cambria Math" panose="02040503050406030204" pitchFamily="18" charset="0"/>
                            </a:rPr>
                            <m:t>𝑆</m:t>
                          </m:r>
                        </m:sup>
                      </m:sSup>
                    </m:oMath>
                  </m:oMathPara>
                </a14:m>
                <a:endParaRPr lang="es-CL" dirty="0"/>
              </a:p>
            </p:txBody>
          </p:sp>
        </mc:Choice>
        <mc:Fallback xmlns="">
          <p:sp>
            <p:nvSpPr>
              <p:cNvPr id="22" name="CuadroTexto 21">
                <a:extLst>
                  <a:ext uri="{FF2B5EF4-FFF2-40B4-BE49-F238E27FC236}">
                    <a16:creationId xmlns:a16="http://schemas.microsoft.com/office/drawing/2014/main" id="{9D94AE19-5A3E-998A-9DCB-A2699B6A36BF}"/>
                  </a:ext>
                </a:extLst>
              </p:cNvPr>
              <p:cNvSpPr txBox="1">
                <a:spLocks noRot="1" noChangeAspect="1" noMove="1" noResize="1" noEditPoints="1" noAdjustHandles="1" noChangeArrowheads="1" noChangeShapeType="1" noTextEdit="1"/>
              </p:cNvSpPr>
              <p:nvPr/>
            </p:nvSpPr>
            <p:spPr>
              <a:xfrm>
                <a:off x="7391594" y="2135900"/>
                <a:ext cx="1484765" cy="277897"/>
              </a:xfrm>
              <a:prstGeom prst="rect">
                <a:avLst/>
              </a:prstGeom>
              <a:blipFill>
                <a:blip r:embed="rId4"/>
                <a:stretch>
                  <a:fillRect l="-3704" r="-1235" b="-8696"/>
                </a:stretch>
              </a:blipFill>
            </p:spPr>
            <p:txBody>
              <a:bodyPr/>
              <a:lstStyle/>
              <a:p>
                <a:r>
                  <a:rPr lang="es-CL">
                    <a:noFill/>
                  </a:rPr>
                  <a:t> </a:t>
                </a:r>
              </a:p>
            </p:txBody>
          </p:sp>
        </mc:Fallback>
      </mc:AlternateContent>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21825790-F930-A2FD-1E35-B8605C7EC2FC}"/>
                  </a:ext>
                </a:extLst>
              </p:cNvPr>
              <p:cNvSpPr txBox="1"/>
              <p:nvPr/>
            </p:nvSpPr>
            <p:spPr>
              <a:xfrm>
                <a:off x="1755636" y="4397004"/>
                <a:ext cx="9009774" cy="71590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CL" i="1" smtClean="0">
                              <a:solidFill>
                                <a:schemeClr val="bg1"/>
                              </a:solidFill>
                              <a:latin typeface="Cambria Math" panose="02040503050406030204" pitchFamily="18" charset="0"/>
                            </a:rPr>
                          </m:ctrlPr>
                        </m:sSupPr>
                        <m:e>
                          <m:r>
                            <a:rPr lang="es-CL" b="0" i="1" smtClean="0">
                              <a:solidFill>
                                <a:schemeClr val="bg1"/>
                              </a:solidFill>
                              <a:latin typeface="Cambria Math" panose="02040503050406030204" pitchFamily="18" charset="0"/>
                              <a:ea typeface="Cambria Math" panose="02040503050406030204" pitchFamily="18" charset="0"/>
                            </a:rPr>
                            <m:t>𝜋</m:t>
                          </m:r>
                        </m:e>
                        <m:sup>
                          <m:r>
                            <a:rPr lang="es-CL" b="0" i="1" smtClean="0">
                              <a:solidFill>
                                <a:schemeClr val="bg1"/>
                              </a:solidFill>
                              <a:latin typeface="Cambria Math" panose="02040503050406030204" pitchFamily="18" charset="0"/>
                            </a:rPr>
                            <m:t>𝑆</m:t>
                          </m:r>
                        </m:sup>
                      </m:sSup>
                      <m:r>
                        <a:rPr lang="es-CL" b="0" i="1" smtClean="0">
                          <a:solidFill>
                            <a:schemeClr val="bg1"/>
                          </a:solidFill>
                          <a:latin typeface="Cambria Math" panose="02040503050406030204" pitchFamily="18" charset="0"/>
                        </a:rPr>
                        <m:t>=</m:t>
                      </m:r>
                      <m:sSup>
                        <m:sSupPr>
                          <m:ctrlPr>
                            <a:rPr lang="es-CL" b="0" i="1" smtClean="0">
                              <a:solidFill>
                                <a:schemeClr val="bg1"/>
                              </a:solidFill>
                              <a:latin typeface="Cambria Math" panose="02040503050406030204" pitchFamily="18" charset="0"/>
                            </a:rPr>
                          </m:ctrlPr>
                        </m:sSupPr>
                        <m:e>
                          <m:r>
                            <a:rPr lang="es-CL" b="0" i="1" smtClean="0">
                              <a:solidFill>
                                <a:schemeClr val="bg1"/>
                              </a:solidFill>
                              <a:latin typeface="Cambria Math" panose="02040503050406030204" pitchFamily="18" charset="0"/>
                            </a:rPr>
                            <m:t>𝑉</m:t>
                          </m:r>
                        </m:e>
                        <m:sup>
                          <m:r>
                            <a:rPr lang="es-CL" b="0" i="1" smtClean="0">
                              <a:solidFill>
                                <a:schemeClr val="bg1"/>
                              </a:solidFill>
                              <a:latin typeface="Cambria Math" panose="02040503050406030204" pitchFamily="18" charset="0"/>
                            </a:rPr>
                            <m:t>𝑆</m:t>
                          </m:r>
                        </m:sup>
                      </m:sSup>
                      <m:d>
                        <m:dPr>
                          <m:ctrlPr>
                            <a:rPr lang="es-CL" b="0" i="1" smtClean="0">
                              <a:solidFill>
                                <a:schemeClr val="bg1"/>
                              </a:solidFill>
                              <a:latin typeface="Cambria Math" panose="02040503050406030204" pitchFamily="18" charset="0"/>
                            </a:rPr>
                          </m:ctrlPr>
                        </m:dPr>
                        <m:e>
                          <m:nary>
                            <m:naryPr>
                              <m:chr m:val="∑"/>
                              <m:supHide m:val="on"/>
                              <m:ctrlPr>
                                <a:rPr lang="es-CL" b="0" i="1" smtClean="0">
                                  <a:solidFill>
                                    <a:schemeClr val="bg1"/>
                                  </a:solidFill>
                                  <a:latin typeface="Cambria Math" panose="02040503050406030204" pitchFamily="18" charset="0"/>
                                </a:rPr>
                              </m:ctrlPr>
                            </m:naryPr>
                            <m:sub>
                              <m:r>
                                <m:rPr>
                                  <m:brk m:alnAt="7"/>
                                </m:rPr>
                                <a:rPr lang="es-CL" b="0" i="1" smtClean="0">
                                  <a:solidFill>
                                    <a:schemeClr val="bg1"/>
                                  </a:solidFill>
                                  <a:latin typeface="Cambria Math" panose="02040503050406030204" pitchFamily="18" charset="0"/>
                                </a:rPr>
                                <m:t>𝑝</m:t>
                              </m:r>
                              <m:r>
                                <a:rPr lang="es-CL" b="0" i="1" smtClean="0">
                                  <a:solidFill>
                                    <a:schemeClr val="bg1"/>
                                  </a:solidFill>
                                  <a:latin typeface="Cambria Math" panose="02040503050406030204" pitchFamily="18" charset="0"/>
                                  <a:ea typeface="Cambria Math" panose="02040503050406030204" pitchFamily="18" charset="0"/>
                                </a:rPr>
                                <m:t>∈</m:t>
                              </m:r>
                              <m:r>
                                <a:rPr lang="es-CL" b="0" i="1" smtClean="0">
                                  <a:solidFill>
                                    <a:schemeClr val="bg1"/>
                                  </a:solidFill>
                                  <a:latin typeface="Cambria Math" panose="02040503050406030204" pitchFamily="18" charset="0"/>
                                  <a:ea typeface="Cambria Math" panose="02040503050406030204" pitchFamily="18" charset="0"/>
                                </a:rPr>
                                <m:t>𝑃𝑅𝑂𝐷𝑆</m:t>
                              </m:r>
                            </m:sub>
                            <m:sup/>
                            <m:e>
                              <m:sSup>
                                <m:sSupPr>
                                  <m:ctrlPr>
                                    <a:rPr lang="es-CL" b="0" i="1" smtClean="0">
                                      <a:solidFill>
                                        <a:schemeClr val="bg1"/>
                                      </a:solidFill>
                                      <a:latin typeface="Cambria Math" panose="02040503050406030204" pitchFamily="18" charset="0"/>
                                    </a:rPr>
                                  </m:ctrlPr>
                                </m:sSupPr>
                                <m:e>
                                  <m:r>
                                    <a:rPr lang="es-CL" b="0" i="1" smtClean="0">
                                      <a:solidFill>
                                        <a:schemeClr val="bg1"/>
                                      </a:solidFill>
                                      <a:latin typeface="Cambria Math" panose="02040503050406030204" pitchFamily="18" charset="0"/>
                                    </a:rPr>
                                    <m:t>𝑝𝑧</m:t>
                                  </m:r>
                                </m:e>
                                <m:sup>
                                  <m:r>
                                    <a:rPr lang="es-CL" b="0" i="1" smtClean="0">
                                      <a:solidFill>
                                        <a:schemeClr val="bg1"/>
                                      </a:solidFill>
                                      <a:latin typeface="Cambria Math" panose="02040503050406030204" pitchFamily="18" charset="0"/>
                                    </a:rPr>
                                    <m:t>𝑝</m:t>
                                  </m:r>
                                </m:sup>
                              </m:sSup>
                              <m:sSup>
                                <m:sSupPr>
                                  <m:ctrlPr>
                                    <a:rPr lang="es-CL" b="0" i="1" smtClean="0">
                                      <a:solidFill>
                                        <a:schemeClr val="bg1"/>
                                      </a:solidFill>
                                      <a:latin typeface="Cambria Math" panose="02040503050406030204" pitchFamily="18" charset="0"/>
                                    </a:rPr>
                                  </m:ctrlPr>
                                </m:sSupPr>
                                <m:e>
                                  <m:r>
                                    <a:rPr lang="es-CL" b="0" i="1" smtClean="0">
                                      <a:solidFill>
                                        <a:schemeClr val="bg1"/>
                                      </a:solidFill>
                                      <a:latin typeface="Cambria Math" panose="02040503050406030204" pitchFamily="18" charset="0"/>
                                    </a:rPr>
                                    <m:t>𝑠h𝑎𝑟𝑒</m:t>
                                  </m:r>
                                </m:e>
                                <m:sup>
                                  <m:r>
                                    <a:rPr lang="es-CL" b="0" i="1" smtClean="0">
                                      <a:solidFill>
                                        <a:schemeClr val="bg1"/>
                                      </a:solidFill>
                                      <a:latin typeface="Cambria Math" panose="02040503050406030204" pitchFamily="18" charset="0"/>
                                    </a:rPr>
                                    <m:t>𝑝</m:t>
                                  </m:r>
                                  <m:r>
                                    <a:rPr lang="es-CL" b="0" i="1" smtClean="0">
                                      <a:solidFill>
                                        <a:schemeClr val="bg1"/>
                                      </a:solidFill>
                                      <a:latin typeface="Cambria Math" panose="02040503050406030204" pitchFamily="18" charset="0"/>
                                    </a:rPr>
                                    <m:t>,</m:t>
                                  </m:r>
                                  <m:r>
                                    <a:rPr lang="es-CL" b="0" i="1" smtClean="0">
                                      <a:solidFill>
                                        <a:schemeClr val="bg1"/>
                                      </a:solidFill>
                                      <a:latin typeface="Cambria Math" panose="02040503050406030204" pitchFamily="18" charset="0"/>
                                    </a:rPr>
                                    <m:t>𝑆</m:t>
                                  </m:r>
                                </m:sup>
                              </m:sSup>
                            </m:e>
                          </m:nary>
                        </m:e>
                      </m:d>
                      <m:d>
                        <m:dPr>
                          <m:ctrlPr>
                            <a:rPr lang="es-CL" b="0" i="1" smtClean="0">
                              <a:solidFill>
                                <a:schemeClr val="bg1"/>
                              </a:solidFill>
                              <a:latin typeface="Cambria Math" panose="02040503050406030204" pitchFamily="18" charset="0"/>
                            </a:rPr>
                          </m:ctrlPr>
                        </m:dPr>
                        <m:e>
                          <m:r>
                            <a:rPr lang="es-CL" b="0" i="1" smtClean="0">
                              <a:solidFill>
                                <a:schemeClr val="bg1"/>
                              </a:solidFill>
                              <a:latin typeface="Cambria Math" panose="02040503050406030204" pitchFamily="18" charset="0"/>
                            </a:rPr>
                            <m:t>1−</m:t>
                          </m:r>
                          <m:sSup>
                            <m:sSupPr>
                              <m:ctrlPr>
                                <a:rPr lang="es-CL" b="0" i="1" smtClean="0">
                                  <a:solidFill>
                                    <a:schemeClr val="bg1"/>
                                  </a:solidFill>
                                  <a:latin typeface="Cambria Math" panose="02040503050406030204" pitchFamily="18" charset="0"/>
                                </a:rPr>
                              </m:ctrlPr>
                            </m:sSupPr>
                            <m:e>
                              <m:r>
                                <a:rPr lang="es-CL" b="0" i="1" smtClean="0">
                                  <a:solidFill>
                                    <a:schemeClr val="bg1"/>
                                  </a:solidFill>
                                  <a:latin typeface="Cambria Math" panose="02040503050406030204" pitchFamily="18" charset="0"/>
                                </a:rPr>
                                <m:t>𝑡𝑝𝑠</m:t>
                              </m:r>
                            </m:e>
                            <m:sup>
                              <m:r>
                                <a:rPr lang="es-CL" b="0" i="1" smtClean="0">
                                  <a:solidFill>
                                    <a:schemeClr val="bg1"/>
                                  </a:solidFill>
                                  <a:latin typeface="Cambria Math" panose="02040503050406030204" pitchFamily="18" charset="0"/>
                                </a:rPr>
                                <m:t>𝑆</m:t>
                              </m:r>
                            </m:sup>
                          </m:sSup>
                          <m:r>
                            <a:rPr lang="es-CL" b="0" i="1" smtClean="0">
                              <a:solidFill>
                                <a:schemeClr val="bg1"/>
                              </a:solidFill>
                              <a:latin typeface="Cambria Math" panose="02040503050406030204" pitchFamily="18" charset="0"/>
                            </a:rPr>
                            <m:t>−</m:t>
                          </m:r>
                          <m:sSup>
                            <m:sSupPr>
                              <m:ctrlPr>
                                <a:rPr lang="es-CL" b="0" i="1" smtClean="0">
                                  <a:solidFill>
                                    <a:schemeClr val="bg1"/>
                                  </a:solidFill>
                                  <a:latin typeface="Cambria Math" panose="02040503050406030204" pitchFamily="18" charset="0"/>
                                </a:rPr>
                              </m:ctrlPr>
                            </m:sSupPr>
                            <m:e>
                              <m:r>
                                <a:rPr lang="es-CL" b="0" i="1" smtClean="0">
                                  <a:solidFill>
                                    <a:schemeClr val="bg1"/>
                                  </a:solidFill>
                                  <a:latin typeface="Cambria Math" panose="02040503050406030204" pitchFamily="18" charset="0"/>
                                </a:rPr>
                                <m:t>𝑡𝑒𝑠</m:t>
                              </m:r>
                            </m:e>
                            <m:sup>
                              <m:r>
                                <a:rPr lang="es-CL" b="0" i="1" smtClean="0">
                                  <a:solidFill>
                                    <a:schemeClr val="bg1"/>
                                  </a:solidFill>
                                  <a:latin typeface="Cambria Math" panose="02040503050406030204" pitchFamily="18" charset="0"/>
                                </a:rPr>
                                <m:t>𝑆</m:t>
                              </m:r>
                            </m:sup>
                          </m:sSup>
                        </m:e>
                      </m:d>
                      <m:r>
                        <a:rPr lang="es-CL" b="0" i="1" smtClean="0">
                          <a:solidFill>
                            <a:schemeClr val="bg1"/>
                          </a:solidFill>
                          <a:latin typeface="Cambria Math" panose="02040503050406030204" pitchFamily="18" charset="0"/>
                        </a:rPr>
                        <m:t>−</m:t>
                      </m:r>
                      <m:sSup>
                        <m:sSupPr>
                          <m:ctrlPr>
                            <a:rPr lang="es-CL" b="0" i="1" smtClean="0">
                              <a:solidFill>
                                <a:schemeClr val="bg1"/>
                              </a:solidFill>
                              <a:latin typeface="Cambria Math" panose="02040503050406030204" pitchFamily="18" charset="0"/>
                            </a:rPr>
                          </m:ctrlPr>
                        </m:sSupPr>
                        <m:e>
                          <m:r>
                            <a:rPr lang="es-CL" b="0" i="1" smtClean="0">
                              <a:solidFill>
                                <a:schemeClr val="bg1"/>
                              </a:solidFill>
                              <a:latin typeface="Cambria Math" panose="02040503050406030204" pitchFamily="18" charset="0"/>
                            </a:rPr>
                            <m:t>𝐾</m:t>
                          </m:r>
                        </m:e>
                        <m:sup>
                          <m:r>
                            <a:rPr lang="es-CL" b="0" i="1" smtClean="0">
                              <a:solidFill>
                                <a:schemeClr val="bg1"/>
                              </a:solidFill>
                              <a:latin typeface="Cambria Math" panose="02040503050406030204" pitchFamily="18" charset="0"/>
                            </a:rPr>
                            <m:t>𝑆</m:t>
                          </m:r>
                        </m:sup>
                      </m:sSup>
                      <m:sSup>
                        <m:sSupPr>
                          <m:ctrlPr>
                            <a:rPr lang="es-CL" b="0" i="1" smtClean="0">
                              <a:solidFill>
                                <a:schemeClr val="bg1"/>
                              </a:solidFill>
                              <a:latin typeface="Cambria Math" panose="02040503050406030204" pitchFamily="18" charset="0"/>
                            </a:rPr>
                          </m:ctrlPr>
                        </m:sSupPr>
                        <m:e>
                          <m:r>
                            <a:rPr lang="es-CL" b="0" i="1" smtClean="0">
                              <a:solidFill>
                                <a:schemeClr val="bg1"/>
                              </a:solidFill>
                              <a:latin typeface="Cambria Math" panose="02040503050406030204" pitchFamily="18" charset="0"/>
                            </a:rPr>
                            <m:t>𝑝</m:t>
                          </m:r>
                        </m:e>
                        <m:sup>
                          <m:r>
                            <a:rPr lang="es-CL" b="0" i="1" smtClean="0">
                              <a:solidFill>
                                <a:schemeClr val="bg1"/>
                              </a:solidFill>
                              <a:latin typeface="Cambria Math" panose="02040503050406030204" pitchFamily="18" charset="0"/>
                            </a:rPr>
                            <m:t>𝑘</m:t>
                          </m:r>
                        </m:sup>
                      </m:sSup>
                      <m:r>
                        <a:rPr lang="es-CL" b="0" i="1" smtClean="0">
                          <a:solidFill>
                            <a:schemeClr val="bg1"/>
                          </a:solidFill>
                          <a:latin typeface="Cambria Math" panose="02040503050406030204" pitchFamily="18" charset="0"/>
                        </a:rPr>
                        <m:t>−</m:t>
                      </m:r>
                      <m:nary>
                        <m:naryPr>
                          <m:chr m:val="∑"/>
                          <m:supHide m:val="on"/>
                          <m:ctrlPr>
                            <a:rPr lang="es-CL" b="0" i="1" smtClean="0">
                              <a:solidFill>
                                <a:schemeClr val="bg1"/>
                              </a:solidFill>
                              <a:latin typeface="Cambria Math" panose="02040503050406030204" pitchFamily="18" charset="0"/>
                            </a:rPr>
                          </m:ctrlPr>
                        </m:naryPr>
                        <m:sub>
                          <m:r>
                            <m:rPr>
                              <m:brk m:alnAt="7"/>
                            </m:rPr>
                            <a:rPr lang="es-CL" b="0" i="1" smtClean="0">
                              <a:solidFill>
                                <a:schemeClr val="bg1"/>
                              </a:solidFill>
                              <a:latin typeface="Cambria Math" panose="02040503050406030204" pitchFamily="18" charset="0"/>
                              <a:ea typeface="Cambria Math" panose="02040503050406030204" pitchFamily="18" charset="0"/>
                            </a:rPr>
                            <m:t>ℓ</m:t>
                          </m:r>
                          <m:r>
                            <a:rPr lang="es-CL" b="0" i="1" smtClean="0">
                              <a:solidFill>
                                <a:schemeClr val="bg1"/>
                              </a:solidFill>
                              <a:latin typeface="Cambria Math" panose="02040503050406030204" pitchFamily="18" charset="0"/>
                              <a:ea typeface="Cambria Math" panose="02040503050406030204" pitchFamily="18" charset="0"/>
                            </a:rPr>
                            <m:t>∈</m:t>
                          </m:r>
                          <m:r>
                            <a:rPr lang="es-CL" b="0" i="1" smtClean="0">
                              <a:solidFill>
                                <a:schemeClr val="bg1"/>
                              </a:solidFill>
                              <a:latin typeface="Cambria Math" panose="02040503050406030204" pitchFamily="18" charset="0"/>
                              <a:ea typeface="Cambria Math" panose="02040503050406030204" pitchFamily="18" charset="0"/>
                            </a:rPr>
                            <m:t>ℒ</m:t>
                          </m:r>
                        </m:sub>
                        <m:sup/>
                        <m:e>
                          <m:sSup>
                            <m:sSupPr>
                              <m:ctrlPr>
                                <a:rPr lang="es-CL" b="0" i="1" smtClean="0">
                                  <a:solidFill>
                                    <a:schemeClr val="bg1"/>
                                  </a:solidFill>
                                  <a:latin typeface="Cambria Math" panose="02040503050406030204" pitchFamily="18" charset="0"/>
                                </a:rPr>
                              </m:ctrlPr>
                            </m:sSupPr>
                            <m:e>
                              <m:r>
                                <a:rPr lang="es-CL" b="0" i="1" smtClean="0">
                                  <a:solidFill>
                                    <a:schemeClr val="bg1"/>
                                  </a:solidFill>
                                  <a:latin typeface="Cambria Math" panose="02040503050406030204" pitchFamily="18" charset="0"/>
                                </a:rPr>
                                <m:t>𝑤</m:t>
                              </m:r>
                            </m:e>
                            <m:sup>
                              <m:r>
                                <a:rPr lang="es-CL" b="0" i="1" smtClean="0">
                                  <a:solidFill>
                                    <a:schemeClr val="bg1"/>
                                  </a:solidFill>
                                  <a:latin typeface="Cambria Math" panose="02040503050406030204" pitchFamily="18" charset="0"/>
                                  <a:ea typeface="Cambria Math" panose="02040503050406030204" pitchFamily="18" charset="0"/>
                                </a:rPr>
                                <m:t>ℓ</m:t>
                              </m:r>
                            </m:sup>
                          </m:sSup>
                          <m:sSup>
                            <m:sSupPr>
                              <m:ctrlPr>
                                <a:rPr lang="es-CL" b="0" i="1" smtClean="0">
                                  <a:solidFill>
                                    <a:schemeClr val="bg1"/>
                                  </a:solidFill>
                                  <a:latin typeface="Cambria Math" panose="02040503050406030204" pitchFamily="18" charset="0"/>
                                </a:rPr>
                              </m:ctrlPr>
                            </m:sSupPr>
                            <m:e>
                              <m:r>
                                <a:rPr lang="es-CL" b="0" i="1" smtClean="0">
                                  <a:solidFill>
                                    <a:schemeClr val="bg1"/>
                                  </a:solidFill>
                                  <a:latin typeface="Cambria Math" panose="02040503050406030204" pitchFamily="18" charset="0"/>
                                </a:rPr>
                                <m:t>𝐿</m:t>
                              </m:r>
                            </m:e>
                            <m:sup>
                              <m:r>
                                <a:rPr lang="es-CL" b="0" i="1" smtClean="0">
                                  <a:solidFill>
                                    <a:schemeClr val="bg1"/>
                                  </a:solidFill>
                                  <a:latin typeface="Cambria Math" panose="02040503050406030204" pitchFamily="18" charset="0"/>
                                  <a:ea typeface="Cambria Math" panose="02040503050406030204" pitchFamily="18" charset="0"/>
                                </a:rPr>
                                <m:t>ℓ,</m:t>
                              </m:r>
                              <m:r>
                                <a:rPr lang="es-CL" b="0" i="1" smtClean="0">
                                  <a:solidFill>
                                    <a:schemeClr val="bg1"/>
                                  </a:solidFill>
                                  <a:latin typeface="Cambria Math" panose="02040503050406030204" pitchFamily="18" charset="0"/>
                                  <a:ea typeface="Cambria Math" panose="02040503050406030204" pitchFamily="18" charset="0"/>
                                </a:rPr>
                                <m:t>𝑆</m:t>
                              </m:r>
                            </m:sup>
                          </m:sSup>
                        </m:e>
                      </m:nary>
                      <m:r>
                        <a:rPr lang="es-CL" b="0" i="1" smtClean="0">
                          <a:solidFill>
                            <a:schemeClr val="bg1"/>
                          </a:solidFill>
                          <a:latin typeface="Cambria Math" panose="02040503050406030204" pitchFamily="18" charset="0"/>
                        </a:rPr>
                        <m:t>−</m:t>
                      </m:r>
                      <m:nary>
                        <m:naryPr>
                          <m:chr m:val="∑"/>
                          <m:supHide m:val="on"/>
                          <m:ctrlPr>
                            <a:rPr lang="es-CL" b="0" i="1" smtClean="0">
                              <a:solidFill>
                                <a:schemeClr val="bg1"/>
                              </a:solidFill>
                              <a:latin typeface="Cambria Math" panose="02040503050406030204" pitchFamily="18" charset="0"/>
                            </a:rPr>
                          </m:ctrlPr>
                        </m:naryPr>
                        <m:sub>
                          <m:r>
                            <m:rPr>
                              <m:brk m:alnAt="7"/>
                            </m:rPr>
                            <a:rPr lang="es-CL" b="0" i="1" smtClean="0">
                              <a:solidFill>
                                <a:schemeClr val="bg1"/>
                              </a:solidFill>
                              <a:latin typeface="Cambria Math" panose="02040503050406030204" pitchFamily="18" charset="0"/>
                            </a:rPr>
                            <m:t>𝑝</m:t>
                          </m:r>
                          <m:r>
                            <a:rPr lang="es-CL" b="0" i="1" smtClean="0">
                              <a:solidFill>
                                <a:schemeClr val="bg1"/>
                              </a:solidFill>
                              <a:latin typeface="Cambria Math" panose="02040503050406030204" pitchFamily="18" charset="0"/>
                              <a:ea typeface="Cambria Math" panose="02040503050406030204" pitchFamily="18" charset="0"/>
                            </a:rPr>
                            <m:t>∈</m:t>
                          </m:r>
                          <m:r>
                            <a:rPr lang="es-CL" b="0" i="1" smtClean="0">
                              <a:solidFill>
                                <a:schemeClr val="bg1"/>
                              </a:solidFill>
                              <a:latin typeface="Cambria Math" panose="02040503050406030204" pitchFamily="18" charset="0"/>
                              <a:ea typeface="Cambria Math" panose="02040503050406030204" pitchFamily="18" charset="0"/>
                            </a:rPr>
                            <m:t>ℐ</m:t>
                          </m:r>
                          <m:r>
                            <a:rPr lang="es-CL" b="0" i="1" smtClean="0">
                              <a:solidFill>
                                <a:schemeClr val="bg1"/>
                              </a:solidFill>
                              <a:latin typeface="Cambria Math" panose="02040503050406030204" pitchFamily="18" charset="0"/>
                              <a:ea typeface="Cambria Math" panose="02040503050406030204" pitchFamily="18" charset="0"/>
                            </a:rPr>
                            <m:t>(</m:t>
                          </m:r>
                          <m:r>
                            <a:rPr lang="es-CL" b="0" i="1" smtClean="0">
                              <a:solidFill>
                                <a:schemeClr val="bg1"/>
                              </a:solidFill>
                              <a:latin typeface="Cambria Math" panose="02040503050406030204" pitchFamily="18" charset="0"/>
                              <a:ea typeface="Cambria Math" panose="02040503050406030204" pitchFamily="18" charset="0"/>
                            </a:rPr>
                            <m:t>𝑆</m:t>
                          </m:r>
                          <m:r>
                            <a:rPr lang="es-CL" b="0" i="1" smtClean="0">
                              <a:solidFill>
                                <a:schemeClr val="bg1"/>
                              </a:solidFill>
                              <a:latin typeface="Cambria Math" panose="02040503050406030204" pitchFamily="18" charset="0"/>
                              <a:ea typeface="Cambria Math" panose="02040503050406030204" pitchFamily="18" charset="0"/>
                            </a:rPr>
                            <m:t>)</m:t>
                          </m:r>
                        </m:sub>
                        <m:sup/>
                        <m:e>
                          <m:sSup>
                            <m:sSupPr>
                              <m:ctrlPr>
                                <a:rPr lang="es-CL" b="0" i="1" smtClean="0">
                                  <a:solidFill>
                                    <a:schemeClr val="bg1"/>
                                  </a:solidFill>
                                  <a:latin typeface="Cambria Math" panose="02040503050406030204" pitchFamily="18" charset="0"/>
                                </a:rPr>
                              </m:ctrlPr>
                            </m:sSupPr>
                            <m:e>
                              <m:r>
                                <a:rPr lang="es-CL" b="0" i="1" smtClean="0">
                                  <a:solidFill>
                                    <a:schemeClr val="bg1"/>
                                  </a:solidFill>
                                  <a:latin typeface="Cambria Math" panose="02040503050406030204" pitchFamily="18" charset="0"/>
                                </a:rPr>
                                <m:t>𝑖𝑜</m:t>
                              </m:r>
                            </m:e>
                            <m:sup>
                              <m:r>
                                <a:rPr lang="es-CL" b="0" i="1" smtClean="0">
                                  <a:solidFill>
                                    <a:schemeClr val="bg1"/>
                                  </a:solidFill>
                                  <a:latin typeface="Cambria Math" panose="02040503050406030204" pitchFamily="18" charset="0"/>
                                </a:rPr>
                                <m:t>𝑝</m:t>
                              </m:r>
                              <m:r>
                                <a:rPr lang="es-CL" b="0" i="1" smtClean="0">
                                  <a:solidFill>
                                    <a:schemeClr val="bg1"/>
                                  </a:solidFill>
                                  <a:latin typeface="Cambria Math" panose="02040503050406030204" pitchFamily="18" charset="0"/>
                                </a:rPr>
                                <m:t>,</m:t>
                              </m:r>
                              <m:r>
                                <a:rPr lang="es-CL" b="0" i="1" smtClean="0">
                                  <a:solidFill>
                                    <a:schemeClr val="bg1"/>
                                  </a:solidFill>
                                  <a:latin typeface="Cambria Math" panose="02040503050406030204" pitchFamily="18" charset="0"/>
                                </a:rPr>
                                <m:t>𝑆</m:t>
                              </m:r>
                            </m:sup>
                          </m:sSup>
                          <m:sSup>
                            <m:sSupPr>
                              <m:ctrlPr>
                                <a:rPr lang="es-CL" b="0" i="1" smtClean="0">
                                  <a:solidFill>
                                    <a:schemeClr val="bg1"/>
                                  </a:solidFill>
                                  <a:latin typeface="Cambria Math" panose="02040503050406030204" pitchFamily="18" charset="0"/>
                                </a:rPr>
                              </m:ctrlPr>
                            </m:sSupPr>
                            <m:e>
                              <m:r>
                                <a:rPr lang="es-CL" b="0" i="1" smtClean="0">
                                  <a:solidFill>
                                    <a:schemeClr val="bg1"/>
                                  </a:solidFill>
                                  <a:latin typeface="Cambria Math" panose="02040503050406030204" pitchFamily="18" charset="0"/>
                                </a:rPr>
                                <m:t>𝑉</m:t>
                              </m:r>
                            </m:e>
                            <m:sup>
                              <m:r>
                                <a:rPr lang="es-CL" b="0" i="1" smtClean="0">
                                  <a:solidFill>
                                    <a:schemeClr val="bg1"/>
                                  </a:solidFill>
                                  <a:latin typeface="Cambria Math" panose="02040503050406030204" pitchFamily="18" charset="0"/>
                                </a:rPr>
                                <m:t>𝑆</m:t>
                              </m:r>
                            </m:sup>
                          </m:sSup>
                          <m:sSup>
                            <m:sSupPr>
                              <m:ctrlPr>
                                <a:rPr lang="es-CL" b="0" i="1" smtClean="0">
                                  <a:solidFill>
                                    <a:schemeClr val="bg1"/>
                                  </a:solidFill>
                                  <a:latin typeface="Cambria Math" panose="02040503050406030204" pitchFamily="18" charset="0"/>
                                </a:rPr>
                              </m:ctrlPr>
                            </m:sSupPr>
                            <m:e>
                              <m:r>
                                <a:rPr lang="es-CL" b="0" i="1" smtClean="0">
                                  <a:solidFill>
                                    <a:schemeClr val="bg1"/>
                                  </a:solidFill>
                                  <a:latin typeface="Cambria Math" panose="02040503050406030204" pitchFamily="18" charset="0"/>
                                </a:rPr>
                                <m:t>𝑝</m:t>
                              </m:r>
                            </m:e>
                            <m:sup>
                              <m:r>
                                <a:rPr lang="es-CL" b="0" i="1" smtClean="0">
                                  <a:solidFill>
                                    <a:schemeClr val="bg1"/>
                                  </a:solidFill>
                                  <a:latin typeface="Cambria Math" panose="02040503050406030204" pitchFamily="18" charset="0"/>
                                </a:rPr>
                                <m:t>𝑝</m:t>
                              </m:r>
                            </m:sup>
                          </m:sSup>
                        </m:e>
                      </m:nary>
                    </m:oMath>
                  </m:oMathPara>
                </a14:m>
                <a:endParaRPr lang="es-CL" dirty="0">
                  <a:solidFill>
                    <a:schemeClr val="bg1"/>
                  </a:solidFill>
                </a:endParaRPr>
              </a:p>
            </p:txBody>
          </p:sp>
        </mc:Choice>
        <mc:Fallback xmlns="">
          <p:sp>
            <p:nvSpPr>
              <p:cNvPr id="23" name="CuadroTexto 22">
                <a:extLst>
                  <a:ext uri="{FF2B5EF4-FFF2-40B4-BE49-F238E27FC236}">
                    <a16:creationId xmlns:a16="http://schemas.microsoft.com/office/drawing/2014/main" id="{21825790-F930-A2FD-1E35-B8605C7EC2FC}"/>
                  </a:ext>
                </a:extLst>
              </p:cNvPr>
              <p:cNvSpPr txBox="1">
                <a:spLocks noRot="1" noChangeAspect="1" noMove="1" noResize="1" noEditPoints="1" noAdjustHandles="1" noChangeArrowheads="1" noChangeShapeType="1" noTextEdit="1"/>
              </p:cNvSpPr>
              <p:nvPr/>
            </p:nvSpPr>
            <p:spPr>
              <a:xfrm>
                <a:off x="1755636" y="4397004"/>
                <a:ext cx="9009774" cy="715902"/>
              </a:xfrm>
              <a:prstGeom prst="rect">
                <a:avLst/>
              </a:prstGeom>
              <a:blipFill>
                <a:blip r:embed="rId5"/>
                <a:stretch>
                  <a:fillRect/>
                </a:stretch>
              </a:blipFill>
            </p:spPr>
            <p:txBody>
              <a:bodyPr/>
              <a:lstStyle/>
              <a:p>
                <a:r>
                  <a:rPr lang="es-CL">
                    <a:noFill/>
                  </a:rPr>
                  <a:t> </a:t>
                </a:r>
              </a:p>
            </p:txBody>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a:p>
        </p:txBody>
      </p:sp>
      <p:sp>
        <p:nvSpPr>
          <p:cNvPr id="3" name="Text 1"/>
          <p:cNvSpPr/>
          <p:nvPr/>
        </p:nvSpPr>
        <p:spPr>
          <a:xfrm>
            <a:off x="457200" y="384048"/>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10</a:t>
            </a:r>
            <a:endParaRPr lang="en-US" sz="1400" dirty="0"/>
          </a:p>
        </p:txBody>
      </p:sp>
      <p:sp>
        <p:nvSpPr>
          <p:cNvPr id="4" name="Text 2"/>
          <p:cNvSpPr/>
          <p:nvPr/>
        </p:nvSpPr>
        <p:spPr>
          <a:xfrm>
            <a:off x="1051560" y="365760"/>
            <a:ext cx="10698480" cy="502920"/>
          </a:xfrm>
          <a:prstGeom prst="rect">
            <a:avLst/>
          </a:prstGeom>
          <a:noFill/>
          <a:ln/>
        </p:spPr>
        <p:txBody>
          <a:bodyPr wrap="square" lIns="0" tIns="0" rIns="0" bIns="0" rtlCol="0" anchor="ctr"/>
          <a:lstStyle/>
          <a:p>
            <a:pPr marL="0" indent="0" algn="l">
              <a:buNone/>
            </a:pPr>
            <a:r>
              <a:rPr lang="en-US" sz="2400" b="1" dirty="0">
                <a:solidFill>
                  <a:srgbClr val="1E2761"/>
                </a:solidFill>
                <a:latin typeface="Cambria" pitchFamily="34" charset="0"/>
                <a:ea typeface="Cambria" pitchFamily="34" charset="-122"/>
                <a:cs typeface="Cambria" pitchFamily="34" charset="-120"/>
              </a:rPr>
              <a:t>Productos y comercio exterior (1/2)</a:t>
            </a:r>
            <a:endParaRPr lang="en-US" sz="2400" dirty="0"/>
          </a:p>
        </p:txBody>
      </p:sp>
      <p:sp>
        <p:nvSpPr>
          <p:cNvPr id="5" name="Text 3"/>
          <p:cNvSpPr/>
          <p:nvPr/>
        </p:nvSpPr>
        <p:spPr>
          <a:xfrm>
            <a:off x="640080" y="1005840"/>
            <a:ext cx="10972800" cy="365760"/>
          </a:xfrm>
          <a:prstGeom prst="rect">
            <a:avLst/>
          </a:prstGeom>
          <a:noFill/>
          <a:ln/>
        </p:spPr>
        <p:txBody>
          <a:bodyPr wrap="square" lIns="0" tIns="0" rIns="0" bIns="0" rtlCol="0" anchor="ctr"/>
          <a:lstStyle/>
          <a:p>
            <a:pPr marL="0" indent="0" algn="l">
              <a:buNone/>
            </a:pPr>
            <a:r>
              <a:rPr lang="en-US" sz="1300" i="1" dirty="0">
                <a:solidFill>
                  <a:srgbClr val="64748B"/>
                </a:solidFill>
                <a:latin typeface="Calibri" pitchFamily="34" charset="0"/>
                <a:ea typeface="Calibri" pitchFamily="34" charset="-122"/>
                <a:cs typeface="Calibri" pitchFamily="34" charset="-120"/>
              </a:rPr>
              <a:t>Dos etapas en cada producto: transformación CET → agregación Armington.</a:t>
            </a:r>
            <a:endParaRPr lang="en-US" sz="1300" dirty="0"/>
          </a:p>
        </p:txBody>
      </p:sp>
      <p:sp>
        <p:nvSpPr>
          <p:cNvPr id="6" name="Shape 4"/>
          <p:cNvSpPr/>
          <p:nvPr/>
        </p:nvSpPr>
        <p:spPr>
          <a:xfrm>
            <a:off x="640080" y="1575874"/>
            <a:ext cx="5394960" cy="2926080"/>
          </a:xfrm>
          <a:prstGeom prst="rect">
            <a:avLst/>
          </a:prstGeom>
          <a:solidFill>
            <a:srgbClr val="1E2761"/>
          </a:solidFill>
          <a:ln w="12700">
            <a:solidFill>
              <a:srgbClr val="1E2761"/>
            </a:solidFill>
            <a:prstDash val="solid"/>
          </a:ln>
        </p:spPr>
        <p:txBody>
          <a:bodyPr/>
          <a:lstStyle/>
          <a:p>
            <a:endParaRPr lang="es-CL"/>
          </a:p>
        </p:txBody>
      </p:sp>
      <p:sp>
        <p:nvSpPr>
          <p:cNvPr id="7" name="Text 5"/>
          <p:cNvSpPr/>
          <p:nvPr/>
        </p:nvSpPr>
        <p:spPr>
          <a:xfrm>
            <a:off x="868680" y="1691640"/>
            <a:ext cx="4937760" cy="457200"/>
          </a:xfrm>
          <a:prstGeom prst="rect">
            <a:avLst/>
          </a:prstGeom>
          <a:noFill/>
          <a:ln/>
        </p:spPr>
        <p:txBody>
          <a:bodyPr wrap="square" lIns="0" tIns="0" rIns="0" bIns="0" rtlCol="0" anchor="ctr"/>
          <a:lstStyle/>
          <a:p>
            <a:pPr marL="0" indent="0" algn="l">
              <a:buNone/>
            </a:pPr>
            <a:r>
              <a:rPr lang="en-US" sz="2000" b="1" dirty="0">
                <a:solidFill>
                  <a:srgbClr val="D4A82A"/>
                </a:solidFill>
                <a:latin typeface="Cambria" pitchFamily="34" charset="0"/>
                <a:ea typeface="Cambria" pitchFamily="34" charset="-122"/>
                <a:cs typeface="Cambria" pitchFamily="34" charset="-120"/>
              </a:rPr>
              <a:t>Etapa 1 · CET</a:t>
            </a:r>
            <a:endParaRPr lang="en-US" sz="2000" dirty="0"/>
          </a:p>
        </p:txBody>
      </p:sp>
      <p:sp>
        <p:nvSpPr>
          <p:cNvPr id="8" name="Text 6"/>
          <p:cNvSpPr/>
          <p:nvPr/>
        </p:nvSpPr>
        <p:spPr>
          <a:xfrm>
            <a:off x="868680" y="2194560"/>
            <a:ext cx="4937760" cy="365760"/>
          </a:xfrm>
          <a:prstGeom prst="rect">
            <a:avLst/>
          </a:prstGeom>
          <a:noFill/>
          <a:ln/>
        </p:spPr>
        <p:txBody>
          <a:bodyPr wrap="square" lIns="0" tIns="0" rIns="0" bIns="0" rtlCol="0" anchor="ctr"/>
          <a:lstStyle/>
          <a:p>
            <a:pPr marL="0" indent="0" algn="l">
              <a:buNone/>
            </a:pPr>
            <a:r>
              <a:rPr lang="en-US" sz="1200" i="1" dirty="0">
                <a:solidFill>
                  <a:srgbClr val="CADCFC"/>
                </a:solidFill>
                <a:latin typeface="Calibri" pitchFamily="34" charset="0"/>
                <a:ea typeface="Calibri" pitchFamily="34" charset="-122"/>
                <a:cs typeface="Calibri" pitchFamily="34" charset="-120"/>
              </a:rPr>
              <a:t>Asignación producción → ventas domésticas / exportaciones</a:t>
            </a:r>
            <a:endParaRPr lang="en-US" sz="1200" dirty="0"/>
          </a:p>
        </p:txBody>
      </p:sp>
      <p:sp>
        <p:nvSpPr>
          <p:cNvPr id="10" name="Text 8"/>
          <p:cNvSpPr/>
          <p:nvPr/>
        </p:nvSpPr>
        <p:spPr>
          <a:xfrm>
            <a:off x="868680" y="3291840"/>
            <a:ext cx="4937760" cy="2926080"/>
          </a:xfrm>
          <a:prstGeom prst="rect">
            <a:avLst/>
          </a:prstGeom>
          <a:noFill/>
          <a:ln/>
        </p:spPr>
        <p:txBody>
          <a:bodyPr wrap="square" lIns="0" tIns="0" rIns="0" bIns="0" rtlCol="0" anchor="t"/>
          <a:lstStyle/>
          <a:p>
            <a:pPr marL="342900" indent="-342900" algn="l">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Z_p: oferta total del productor</a:t>
            </a:r>
            <a:endParaRPr lang="en-US" sz="1100" dirty="0"/>
          </a:p>
          <a:p>
            <a:pPr marL="342900" indent="-342900" algn="l">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DS_p: ventas domésticas</a:t>
            </a:r>
            <a:endParaRPr lang="en-US" sz="1100" dirty="0"/>
          </a:p>
          <a:p>
            <a:pPr marL="342900" indent="-342900" algn="l">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EX_p: exportaciones</a:t>
            </a:r>
            <a:endParaRPr lang="en-US" sz="1100" dirty="0"/>
          </a:p>
          <a:p>
            <a:pPr marL="342900" indent="-342900" algn="l">
              <a:spcAft>
                <a:spcPts val="500"/>
              </a:spcAft>
              <a:buSzPct val="100000"/>
              <a:buChar char="•"/>
            </a:pPr>
            <a:r>
              <a:rPr lang="en-US" sz="1100" b="1" dirty="0">
                <a:solidFill>
                  <a:srgbClr val="D4A82A"/>
                </a:solidFill>
                <a:latin typeface="Calibri" pitchFamily="34" charset="0"/>
                <a:ea typeface="Calibri" pitchFamily="34" charset="-122"/>
                <a:cs typeface="Calibri" pitchFamily="34" charset="-120"/>
              </a:rPr>
              <a:t>σ_t = 1.5 (elasticidad de transformación)</a:t>
            </a:r>
            <a:endParaRPr lang="en-US" sz="1100" dirty="0"/>
          </a:p>
          <a:p>
            <a:pPr marL="342900" indent="-342900" algn="l">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Bienes no exportables: DS_p = Z_p, EX_p = 0 (construcción, adm. pública, otros)</a:t>
            </a:r>
            <a:endParaRPr lang="en-US" sz="1100" dirty="0"/>
          </a:p>
        </p:txBody>
      </p:sp>
      <p:sp>
        <p:nvSpPr>
          <p:cNvPr id="11" name="Shape 9"/>
          <p:cNvSpPr/>
          <p:nvPr/>
        </p:nvSpPr>
        <p:spPr>
          <a:xfrm>
            <a:off x="6263640" y="1554480"/>
            <a:ext cx="5440680" cy="2947474"/>
          </a:xfrm>
          <a:prstGeom prst="rect">
            <a:avLst/>
          </a:prstGeom>
          <a:solidFill>
            <a:srgbClr val="4A6FA5"/>
          </a:solidFill>
          <a:ln w="12700">
            <a:solidFill>
              <a:srgbClr val="4A6FA5"/>
            </a:solidFill>
            <a:prstDash val="solid"/>
          </a:ln>
        </p:spPr>
        <p:txBody>
          <a:bodyPr/>
          <a:lstStyle/>
          <a:p>
            <a:endParaRPr lang="es-CL"/>
          </a:p>
        </p:txBody>
      </p:sp>
      <p:sp>
        <p:nvSpPr>
          <p:cNvPr id="12" name="Text 10"/>
          <p:cNvSpPr/>
          <p:nvPr/>
        </p:nvSpPr>
        <p:spPr>
          <a:xfrm>
            <a:off x="6492240" y="1691640"/>
            <a:ext cx="5120640" cy="457200"/>
          </a:xfrm>
          <a:prstGeom prst="rect">
            <a:avLst/>
          </a:prstGeom>
          <a:noFill/>
          <a:ln/>
        </p:spPr>
        <p:txBody>
          <a:bodyPr wrap="square" lIns="0" tIns="0" rIns="0" bIns="0" rtlCol="0" anchor="ctr"/>
          <a:lstStyle/>
          <a:p>
            <a:pPr marL="0" indent="0" algn="l">
              <a:buNone/>
            </a:pPr>
            <a:r>
              <a:rPr lang="en-US" sz="2000" b="1" dirty="0">
                <a:solidFill>
                  <a:srgbClr val="D4A82A"/>
                </a:solidFill>
                <a:latin typeface="Cambria" pitchFamily="34" charset="0"/>
                <a:ea typeface="Cambria" pitchFamily="34" charset="-122"/>
                <a:cs typeface="Cambria" pitchFamily="34" charset="-120"/>
              </a:rPr>
              <a:t>Etapa 2 · Armington</a:t>
            </a:r>
            <a:endParaRPr lang="en-US" sz="2000" dirty="0"/>
          </a:p>
        </p:txBody>
      </p:sp>
      <p:sp>
        <p:nvSpPr>
          <p:cNvPr id="13" name="Text 11"/>
          <p:cNvSpPr/>
          <p:nvPr/>
        </p:nvSpPr>
        <p:spPr>
          <a:xfrm>
            <a:off x="6492240" y="2194560"/>
            <a:ext cx="5120640" cy="365760"/>
          </a:xfrm>
          <a:prstGeom prst="rect">
            <a:avLst/>
          </a:prstGeom>
          <a:noFill/>
          <a:ln/>
        </p:spPr>
        <p:txBody>
          <a:bodyPr wrap="square" lIns="0" tIns="0" rIns="0" bIns="0" rtlCol="0" anchor="ctr"/>
          <a:lstStyle/>
          <a:p>
            <a:pPr marL="0" indent="0" algn="l">
              <a:buNone/>
            </a:pPr>
            <a:r>
              <a:rPr lang="en-US" sz="1200" i="1" dirty="0">
                <a:solidFill>
                  <a:srgbClr val="CADCFC"/>
                </a:solidFill>
                <a:latin typeface="Calibri" pitchFamily="34" charset="0"/>
                <a:ea typeface="Calibri" pitchFamily="34" charset="-122"/>
                <a:cs typeface="Calibri" pitchFamily="34" charset="-120"/>
              </a:rPr>
              <a:t>Agregación doméstico + importado → bien compuesto</a:t>
            </a:r>
            <a:endParaRPr lang="en-US" sz="1200" dirty="0"/>
          </a:p>
        </p:txBody>
      </p:sp>
      <p:sp>
        <p:nvSpPr>
          <p:cNvPr id="15" name="Text 13"/>
          <p:cNvSpPr/>
          <p:nvPr/>
        </p:nvSpPr>
        <p:spPr>
          <a:xfrm>
            <a:off x="6492240" y="3291840"/>
            <a:ext cx="5120640" cy="2926080"/>
          </a:xfrm>
          <a:prstGeom prst="rect">
            <a:avLst/>
          </a:prstGeom>
          <a:noFill/>
          <a:ln/>
        </p:spPr>
        <p:txBody>
          <a:bodyPr wrap="square" lIns="0" tIns="0" rIns="0" bIns="0" rtlCol="0" anchor="t"/>
          <a:lstStyle/>
          <a:p>
            <a:pPr marL="342900" indent="-342900" algn="l">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Q_p: bien compuesto (lo que ven hogares, gobierno, sectores)</a:t>
            </a:r>
            <a:endParaRPr lang="en-US" sz="1100" dirty="0"/>
          </a:p>
          <a:p>
            <a:pPr marL="342900" indent="-342900" algn="l">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DD_p = DS_p: parte doméstica del Armington = ventas internas del CET</a:t>
            </a:r>
            <a:endParaRPr lang="en-US" sz="1100" dirty="0"/>
          </a:p>
          <a:p>
            <a:pPr marL="342900" indent="-342900" algn="l">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M_p: importaciones</a:t>
            </a:r>
            <a:endParaRPr lang="en-US" sz="1100" dirty="0"/>
          </a:p>
          <a:p>
            <a:pPr marL="342900" indent="-342900" algn="l">
              <a:spcAft>
                <a:spcPts val="500"/>
              </a:spcAft>
              <a:buSzPct val="100000"/>
              <a:buChar char="•"/>
            </a:pPr>
            <a:r>
              <a:rPr lang="en-US" sz="1100" b="1" dirty="0">
                <a:solidFill>
                  <a:srgbClr val="D4A82A"/>
                </a:solidFill>
                <a:latin typeface="Calibri" pitchFamily="34" charset="0"/>
                <a:ea typeface="Calibri" pitchFamily="34" charset="-122"/>
                <a:cs typeface="Calibri" pitchFamily="34" charset="-120"/>
              </a:rPr>
              <a:t>σ_q = 2.0 (elasticidad de Armington)</a:t>
            </a:r>
            <a:endParaRPr lang="en-US" sz="1100" dirty="0"/>
          </a:p>
          <a:p>
            <a:pPr marL="342900" indent="-342900" algn="l">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Parámetros δ_m, γ_e calibrados de las participaciones SAM</a:t>
            </a:r>
            <a:endParaRPr lang="en-US" sz="1100" dirty="0"/>
          </a:p>
        </p:txBody>
      </p:sp>
      <p:sp>
        <p:nvSpPr>
          <p:cNvPr id="16" name="Text 14"/>
          <p:cNvSpPr/>
          <p:nvPr/>
        </p:nvSpPr>
        <p:spPr>
          <a:xfrm>
            <a:off x="457200" y="6492240"/>
            <a:ext cx="11247120" cy="274320"/>
          </a:xfrm>
          <a:prstGeom prst="rect">
            <a:avLst/>
          </a:prstGeom>
          <a:noFill/>
          <a:ln/>
        </p:spPr>
        <p:txBody>
          <a:bodyPr wrap="square"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MEGC 12 sectores · Chile 2023 · SII</a:t>
            </a:r>
            <a:endParaRPr lang="en-US" sz="900" dirty="0"/>
          </a:p>
        </p:txBody>
      </p:sp>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BEA67242-A408-B386-93C9-08025039B6F9}"/>
                  </a:ext>
                </a:extLst>
              </p:cNvPr>
              <p:cNvSpPr txBox="1"/>
              <p:nvPr/>
            </p:nvSpPr>
            <p:spPr>
              <a:xfrm>
                <a:off x="868680" y="2581891"/>
                <a:ext cx="4776692" cy="43992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CL" sz="1400" i="1" smtClean="0">
                              <a:solidFill>
                                <a:schemeClr val="bg1"/>
                              </a:solidFill>
                              <a:latin typeface="Cambria Math" panose="02040503050406030204" pitchFamily="18" charset="0"/>
                            </a:rPr>
                          </m:ctrlPr>
                        </m:sSupPr>
                        <m:e>
                          <m:r>
                            <a:rPr lang="es-CL" sz="1400" b="0" i="1" smtClean="0">
                              <a:solidFill>
                                <a:schemeClr val="bg1"/>
                              </a:solidFill>
                              <a:latin typeface="Cambria Math" panose="02040503050406030204" pitchFamily="18" charset="0"/>
                            </a:rPr>
                            <m:t>𝑍</m:t>
                          </m:r>
                        </m:e>
                        <m:sup>
                          <m:r>
                            <a:rPr lang="es-CL" sz="1400" b="0" i="1" smtClean="0">
                              <a:solidFill>
                                <a:schemeClr val="bg1"/>
                              </a:solidFill>
                              <a:latin typeface="Cambria Math" panose="02040503050406030204" pitchFamily="18" charset="0"/>
                            </a:rPr>
                            <m:t>𝑝</m:t>
                          </m:r>
                        </m:sup>
                      </m:sSup>
                      <m:r>
                        <a:rPr lang="es-CL" sz="1400" b="0" i="1" smtClean="0">
                          <a:solidFill>
                            <a:schemeClr val="bg1"/>
                          </a:solidFill>
                          <a:latin typeface="Cambria Math" panose="02040503050406030204" pitchFamily="18" charset="0"/>
                        </a:rPr>
                        <m:t>=</m:t>
                      </m:r>
                      <m:sSubSup>
                        <m:sSubSupPr>
                          <m:ctrlPr>
                            <a:rPr lang="es-CL" sz="1400" b="0" i="1" smtClean="0">
                              <a:solidFill>
                                <a:schemeClr val="bg1"/>
                              </a:solidFill>
                              <a:latin typeface="Cambria Math" panose="02040503050406030204" pitchFamily="18" charset="0"/>
                            </a:rPr>
                          </m:ctrlPr>
                        </m:sSubSupPr>
                        <m:e>
                          <m:r>
                            <a:rPr lang="es-CL" sz="1400" b="0" i="1" smtClean="0">
                              <a:solidFill>
                                <a:schemeClr val="bg1"/>
                              </a:solidFill>
                              <a:latin typeface="Cambria Math" panose="02040503050406030204" pitchFamily="18" charset="0"/>
                            </a:rPr>
                            <m:t>𝑎</m:t>
                          </m:r>
                        </m:e>
                        <m:sub>
                          <m:r>
                            <a:rPr lang="es-CL" sz="1400" b="0" i="1" smtClean="0">
                              <a:solidFill>
                                <a:schemeClr val="bg1"/>
                              </a:solidFill>
                              <a:latin typeface="Cambria Math" panose="02040503050406030204" pitchFamily="18" charset="0"/>
                            </a:rPr>
                            <m:t>𝑡</m:t>
                          </m:r>
                        </m:sub>
                        <m:sup>
                          <m:r>
                            <a:rPr lang="es-CL" sz="1400" b="0" i="1" smtClean="0">
                              <a:solidFill>
                                <a:schemeClr val="bg1"/>
                              </a:solidFill>
                              <a:latin typeface="Cambria Math" panose="02040503050406030204" pitchFamily="18" charset="0"/>
                            </a:rPr>
                            <m:t>𝑝</m:t>
                          </m:r>
                        </m:sup>
                      </m:sSubSup>
                      <m:sSup>
                        <m:sSupPr>
                          <m:ctrlPr>
                            <a:rPr lang="es-CL" sz="1400" b="0" i="1" smtClean="0">
                              <a:solidFill>
                                <a:schemeClr val="bg1"/>
                              </a:solidFill>
                              <a:latin typeface="Cambria Math" panose="02040503050406030204" pitchFamily="18" charset="0"/>
                            </a:rPr>
                          </m:ctrlPr>
                        </m:sSupPr>
                        <m:e>
                          <m:d>
                            <m:dPr>
                              <m:begChr m:val="["/>
                              <m:endChr m:val="]"/>
                              <m:ctrlPr>
                                <a:rPr lang="es-CL" sz="1400" i="1">
                                  <a:solidFill>
                                    <a:schemeClr val="bg1"/>
                                  </a:solidFill>
                                  <a:latin typeface="Cambria Math" panose="02040503050406030204" pitchFamily="18" charset="0"/>
                                </a:rPr>
                              </m:ctrlPr>
                            </m:dPr>
                            <m:e>
                              <m:sSubSup>
                                <m:sSubSupPr>
                                  <m:ctrlPr>
                                    <a:rPr lang="es-CL" sz="1400" i="1">
                                      <a:solidFill>
                                        <a:schemeClr val="bg1"/>
                                      </a:solidFill>
                                      <a:latin typeface="Cambria Math" panose="02040503050406030204" pitchFamily="18" charset="0"/>
                                    </a:rPr>
                                  </m:ctrlPr>
                                </m:sSubSupPr>
                                <m:e>
                                  <m:r>
                                    <a:rPr lang="es-CL" sz="1400" i="1">
                                      <a:solidFill>
                                        <a:schemeClr val="bg1"/>
                                      </a:solidFill>
                                      <a:latin typeface="Cambria Math" panose="02040503050406030204" pitchFamily="18" charset="0"/>
                                      <a:ea typeface="Cambria Math" panose="02040503050406030204" pitchFamily="18" charset="0"/>
                                    </a:rPr>
                                    <m:t>𝛾</m:t>
                                  </m:r>
                                </m:e>
                                <m:sub>
                                  <m:r>
                                    <a:rPr lang="es-CL" sz="1400" i="1">
                                      <a:solidFill>
                                        <a:schemeClr val="bg1"/>
                                      </a:solidFill>
                                      <a:latin typeface="Cambria Math" panose="02040503050406030204" pitchFamily="18" charset="0"/>
                                    </a:rPr>
                                    <m:t>𝑒</m:t>
                                  </m:r>
                                </m:sub>
                                <m:sup>
                                  <m:r>
                                    <a:rPr lang="es-CL" sz="1400" i="1">
                                      <a:solidFill>
                                        <a:schemeClr val="bg1"/>
                                      </a:solidFill>
                                      <a:latin typeface="Cambria Math" panose="02040503050406030204" pitchFamily="18" charset="0"/>
                                    </a:rPr>
                                    <m:t>𝑝</m:t>
                                  </m:r>
                                </m:sup>
                              </m:sSubSup>
                              <m:sSup>
                                <m:sSupPr>
                                  <m:ctrlPr>
                                    <a:rPr lang="es-CL" sz="1400" i="1">
                                      <a:solidFill>
                                        <a:schemeClr val="bg1"/>
                                      </a:solidFill>
                                      <a:latin typeface="Cambria Math" panose="02040503050406030204" pitchFamily="18" charset="0"/>
                                    </a:rPr>
                                  </m:ctrlPr>
                                </m:sSupPr>
                                <m:e>
                                  <m:d>
                                    <m:dPr>
                                      <m:ctrlPr>
                                        <a:rPr lang="es-CL" sz="1400" i="1">
                                          <a:solidFill>
                                            <a:schemeClr val="bg1"/>
                                          </a:solidFill>
                                          <a:latin typeface="Cambria Math" panose="02040503050406030204" pitchFamily="18" charset="0"/>
                                        </a:rPr>
                                      </m:ctrlPr>
                                    </m:dPr>
                                    <m:e>
                                      <m:sSup>
                                        <m:sSupPr>
                                          <m:ctrlPr>
                                            <a:rPr lang="es-CL" sz="1400" i="1">
                                              <a:solidFill>
                                                <a:schemeClr val="bg1"/>
                                              </a:solidFill>
                                              <a:latin typeface="Cambria Math" panose="02040503050406030204" pitchFamily="18" charset="0"/>
                                            </a:rPr>
                                          </m:ctrlPr>
                                        </m:sSupPr>
                                        <m:e>
                                          <m:r>
                                            <a:rPr lang="es-CL" sz="1400" i="1">
                                              <a:solidFill>
                                                <a:schemeClr val="bg1"/>
                                              </a:solidFill>
                                              <a:latin typeface="Cambria Math" panose="02040503050406030204" pitchFamily="18" charset="0"/>
                                            </a:rPr>
                                            <m:t>𝐸𝑋</m:t>
                                          </m:r>
                                        </m:e>
                                        <m:sup>
                                          <m:r>
                                            <a:rPr lang="es-CL" sz="1400" i="1">
                                              <a:solidFill>
                                                <a:schemeClr val="bg1"/>
                                              </a:solidFill>
                                              <a:latin typeface="Cambria Math" panose="02040503050406030204" pitchFamily="18" charset="0"/>
                                            </a:rPr>
                                            <m:t>𝑝</m:t>
                                          </m:r>
                                        </m:sup>
                                      </m:sSup>
                                    </m:e>
                                  </m:d>
                                </m:e>
                                <m:sup>
                                  <m:r>
                                    <a:rPr lang="es-CL" sz="1400" i="1">
                                      <a:solidFill>
                                        <a:schemeClr val="bg1"/>
                                      </a:solidFill>
                                      <a:latin typeface="Cambria Math" panose="02040503050406030204" pitchFamily="18" charset="0"/>
                                      <a:ea typeface="Cambria Math" panose="02040503050406030204" pitchFamily="18" charset="0"/>
                                    </a:rPr>
                                    <m:t>𝜌</m:t>
                                  </m:r>
                                  <m:r>
                                    <a:rPr lang="es-CL" sz="1400" i="1">
                                      <a:solidFill>
                                        <a:schemeClr val="bg1"/>
                                      </a:solidFill>
                                      <a:latin typeface="Cambria Math" panose="02040503050406030204" pitchFamily="18" charset="0"/>
                                      <a:ea typeface="Cambria Math" panose="02040503050406030204" pitchFamily="18" charset="0"/>
                                    </a:rPr>
                                    <m:t>𝑡</m:t>
                                  </m:r>
                                </m:sup>
                              </m:sSup>
                              <m:r>
                                <a:rPr lang="es-CL" sz="1400" i="1">
                                  <a:solidFill>
                                    <a:schemeClr val="bg1"/>
                                  </a:solidFill>
                                  <a:latin typeface="Cambria Math" panose="02040503050406030204" pitchFamily="18" charset="0"/>
                                </a:rPr>
                                <m:t>+</m:t>
                              </m:r>
                              <m:d>
                                <m:dPr>
                                  <m:ctrlPr>
                                    <a:rPr lang="es-CL" sz="1400" i="1">
                                      <a:solidFill>
                                        <a:schemeClr val="bg1"/>
                                      </a:solidFill>
                                      <a:latin typeface="Cambria Math" panose="02040503050406030204" pitchFamily="18" charset="0"/>
                                    </a:rPr>
                                  </m:ctrlPr>
                                </m:dPr>
                                <m:e>
                                  <m:r>
                                    <a:rPr lang="es-CL" sz="1400" i="1">
                                      <a:solidFill>
                                        <a:schemeClr val="bg1"/>
                                      </a:solidFill>
                                      <a:latin typeface="Cambria Math" panose="02040503050406030204" pitchFamily="18" charset="0"/>
                                    </a:rPr>
                                    <m:t>1−</m:t>
                                  </m:r>
                                  <m:sSubSup>
                                    <m:sSubSupPr>
                                      <m:ctrlPr>
                                        <a:rPr lang="es-CL" sz="1400" i="1">
                                          <a:solidFill>
                                            <a:schemeClr val="bg1"/>
                                          </a:solidFill>
                                          <a:latin typeface="Cambria Math" panose="02040503050406030204" pitchFamily="18" charset="0"/>
                                        </a:rPr>
                                      </m:ctrlPr>
                                    </m:sSubSupPr>
                                    <m:e>
                                      <m:r>
                                        <a:rPr lang="es-CL" sz="1400" i="1">
                                          <a:solidFill>
                                            <a:schemeClr val="bg1"/>
                                          </a:solidFill>
                                          <a:latin typeface="Cambria Math" panose="02040503050406030204" pitchFamily="18" charset="0"/>
                                          <a:ea typeface="Cambria Math" panose="02040503050406030204" pitchFamily="18" charset="0"/>
                                        </a:rPr>
                                        <m:t>𝛾</m:t>
                                      </m:r>
                                    </m:e>
                                    <m:sub>
                                      <m:r>
                                        <a:rPr lang="es-CL" sz="1400" i="1">
                                          <a:solidFill>
                                            <a:schemeClr val="bg1"/>
                                          </a:solidFill>
                                          <a:latin typeface="Cambria Math" panose="02040503050406030204" pitchFamily="18" charset="0"/>
                                        </a:rPr>
                                        <m:t>𝑒</m:t>
                                      </m:r>
                                    </m:sub>
                                    <m:sup>
                                      <m:r>
                                        <a:rPr lang="es-CL" sz="1400" i="1">
                                          <a:solidFill>
                                            <a:schemeClr val="bg1"/>
                                          </a:solidFill>
                                          <a:latin typeface="Cambria Math" panose="02040503050406030204" pitchFamily="18" charset="0"/>
                                        </a:rPr>
                                        <m:t>𝑝</m:t>
                                      </m:r>
                                    </m:sup>
                                  </m:sSubSup>
                                </m:e>
                              </m:d>
                              <m:sSup>
                                <m:sSupPr>
                                  <m:ctrlPr>
                                    <a:rPr lang="es-CL" sz="1400" i="1">
                                      <a:solidFill>
                                        <a:schemeClr val="bg1"/>
                                      </a:solidFill>
                                      <a:latin typeface="Cambria Math" panose="02040503050406030204" pitchFamily="18" charset="0"/>
                                    </a:rPr>
                                  </m:ctrlPr>
                                </m:sSupPr>
                                <m:e>
                                  <m:d>
                                    <m:dPr>
                                      <m:ctrlPr>
                                        <a:rPr lang="es-CL" sz="1400" i="1">
                                          <a:solidFill>
                                            <a:schemeClr val="bg1"/>
                                          </a:solidFill>
                                          <a:latin typeface="Cambria Math" panose="02040503050406030204" pitchFamily="18" charset="0"/>
                                        </a:rPr>
                                      </m:ctrlPr>
                                    </m:dPr>
                                    <m:e>
                                      <m:sSup>
                                        <m:sSupPr>
                                          <m:ctrlPr>
                                            <a:rPr lang="es-CL" sz="1400" i="1">
                                              <a:solidFill>
                                                <a:schemeClr val="bg1"/>
                                              </a:solidFill>
                                              <a:latin typeface="Cambria Math" panose="02040503050406030204" pitchFamily="18" charset="0"/>
                                            </a:rPr>
                                          </m:ctrlPr>
                                        </m:sSupPr>
                                        <m:e>
                                          <m:r>
                                            <a:rPr lang="es-CL" sz="1400" i="1">
                                              <a:solidFill>
                                                <a:schemeClr val="bg1"/>
                                              </a:solidFill>
                                              <a:latin typeface="Cambria Math" panose="02040503050406030204" pitchFamily="18" charset="0"/>
                                            </a:rPr>
                                            <m:t>𝐷𝑆</m:t>
                                          </m:r>
                                        </m:e>
                                        <m:sup>
                                          <m:r>
                                            <a:rPr lang="es-CL" sz="1400" i="1">
                                              <a:solidFill>
                                                <a:schemeClr val="bg1"/>
                                              </a:solidFill>
                                              <a:latin typeface="Cambria Math" panose="02040503050406030204" pitchFamily="18" charset="0"/>
                                            </a:rPr>
                                            <m:t>𝑝</m:t>
                                          </m:r>
                                        </m:sup>
                                      </m:sSup>
                                    </m:e>
                                  </m:d>
                                </m:e>
                                <m:sup>
                                  <m:r>
                                    <a:rPr lang="es-CL" sz="1400" i="1">
                                      <a:solidFill>
                                        <a:schemeClr val="bg1"/>
                                      </a:solidFill>
                                      <a:latin typeface="Cambria Math" panose="02040503050406030204" pitchFamily="18" charset="0"/>
                                      <a:ea typeface="Cambria Math" panose="02040503050406030204" pitchFamily="18" charset="0"/>
                                    </a:rPr>
                                    <m:t>𝜌</m:t>
                                  </m:r>
                                  <m:r>
                                    <a:rPr lang="es-CL" sz="1400" i="1">
                                      <a:solidFill>
                                        <a:schemeClr val="bg1"/>
                                      </a:solidFill>
                                      <a:latin typeface="Cambria Math" panose="02040503050406030204" pitchFamily="18" charset="0"/>
                                      <a:ea typeface="Cambria Math" panose="02040503050406030204" pitchFamily="18" charset="0"/>
                                    </a:rPr>
                                    <m:t>𝑡</m:t>
                                  </m:r>
                                </m:sup>
                              </m:sSup>
                            </m:e>
                          </m:d>
                          <m:r>
                            <m:rPr>
                              <m:nor/>
                            </m:rPr>
                            <a:rPr lang="es-CL" sz="1400" dirty="0">
                              <a:solidFill>
                                <a:schemeClr val="bg1"/>
                              </a:solidFill>
                            </a:rPr>
                            <m:t> </m:t>
                          </m:r>
                        </m:e>
                        <m:sup>
                          <m:f>
                            <m:fPr>
                              <m:type m:val="skw"/>
                              <m:ctrlPr>
                                <a:rPr lang="es-CL" sz="1400" b="0" i="1" smtClean="0">
                                  <a:solidFill>
                                    <a:schemeClr val="bg1"/>
                                  </a:solidFill>
                                  <a:latin typeface="Cambria Math" panose="02040503050406030204" pitchFamily="18" charset="0"/>
                                </a:rPr>
                              </m:ctrlPr>
                            </m:fPr>
                            <m:num>
                              <m:r>
                                <a:rPr lang="es-CL" sz="1400" b="0" i="1" smtClean="0">
                                  <a:solidFill>
                                    <a:schemeClr val="bg1"/>
                                  </a:solidFill>
                                  <a:latin typeface="Cambria Math" panose="02040503050406030204" pitchFamily="18" charset="0"/>
                                </a:rPr>
                                <m:t>1</m:t>
                              </m:r>
                            </m:num>
                            <m:den>
                              <m:r>
                                <a:rPr lang="es-CL" sz="1400" b="0" i="1" smtClean="0">
                                  <a:solidFill>
                                    <a:schemeClr val="bg1"/>
                                  </a:solidFill>
                                  <a:latin typeface="Cambria Math" panose="02040503050406030204" pitchFamily="18" charset="0"/>
                                  <a:ea typeface="Cambria Math" panose="02040503050406030204" pitchFamily="18" charset="0"/>
                                </a:rPr>
                                <m:t>𝜌</m:t>
                              </m:r>
                              <m:r>
                                <a:rPr lang="es-CL" sz="1400" b="0" i="1" smtClean="0">
                                  <a:solidFill>
                                    <a:schemeClr val="bg1"/>
                                  </a:solidFill>
                                  <a:latin typeface="Cambria Math" panose="02040503050406030204" pitchFamily="18" charset="0"/>
                                  <a:ea typeface="Cambria Math" panose="02040503050406030204" pitchFamily="18" charset="0"/>
                                </a:rPr>
                                <m:t>𝑡</m:t>
                              </m:r>
                            </m:den>
                          </m:f>
                        </m:sup>
                      </m:sSup>
                      <m:r>
                        <a:rPr lang="es-CL" sz="1400" b="0" i="1" smtClean="0">
                          <a:solidFill>
                            <a:schemeClr val="bg1"/>
                          </a:solidFill>
                          <a:latin typeface="Cambria Math" panose="02040503050406030204" pitchFamily="18" charset="0"/>
                        </a:rPr>
                        <m:t> ,  </m:t>
                      </m:r>
                      <m:r>
                        <a:rPr lang="es-CL" sz="1400" b="0" i="1" smtClean="0">
                          <a:solidFill>
                            <a:schemeClr val="bg1"/>
                          </a:solidFill>
                          <a:latin typeface="Cambria Math" panose="02040503050406030204" pitchFamily="18" charset="0"/>
                          <a:ea typeface="Cambria Math" panose="02040503050406030204" pitchFamily="18" charset="0"/>
                        </a:rPr>
                        <m:t>𝜌</m:t>
                      </m:r>
                      <m:r>
                        <a:rPr lang="es-CL" sz="1400" b="0" i="1" smtClean="0">
                          <a:solidFill>
                            <a:schemeClr val="bg1"/>
                          </a:solidFill>
                          <a:latin typeface="Cambria Math" panose="02040503050406030204" pitchFamily="18" charset="0"/>
                          <a:ea typeface="Cambria Math" panose="02040503050406030204" pitchFamily="18" charset="0"/>
                        </a:rPr>
                        <m:t>𝑡</m:t>
                      </m:r>
                      <m:r>
                        <a:rPr lang="es-CL" sz="1400" b="0" i="1" smtClean="0">
                          <a:solidFill>
                            <a:schemeClr val="bg1"/>
                          </a:solidFill>
                          <a:latin typeface="Cambria Math" panose="02040503050406030204" pitchFamily="18" charset="0"/>
                          <a:ea typeface="Cambria Math" panose="02040503050406030204" pitchFamily="18" charset="0"/>
                        </a:rPr>
                        <m:t>=</m:t>
                      </m:r>
                      <m:f>
                        <m:fPr>
                          <m:ctrlPr>
                            <a:rPr lang="es-CL" sz="1400" b="0" i="1" smtClean="0">
                              <a:solidFill>
                                <a:schemeClr val="bg1"/>
                              </a:solidFill>
                              <a:latin typeface="Cambria Math" panose="02040503050406030204" pitchFamily="18" charset="0"/>
                              <a:ea typeface="Cambria Math" panose="02040503050406030204" pitchFamily="18" charset="0"/>
                            </a:rPr>
                          </m:ctrlPr>
                        </m:fPr>
                        <m:num>
                          <m:sSub>
                            <m:sSubPr>
                              <m:ctrlPr>
                                <a:rPr lang="es-CL" sz="1400" b="0" i="1" smtClean="0">
                                  <a:solidFill>
                                    <a:schemeClr val="bg1"/>
                                  </a:solidFill>
                                  <a:latin typeface="Cambria Math" panose="02040503050406030204" pitchFamily="18" charset="0"/>
                                  <a:ea typeface="Cambria Math" panose="02040503050406030204" pitchFamily="18" charset="0"/>
                                </a:rPr>
                              </m:ctrlPr>
                            </m:sSubPr>
                            <m:e>
                              <m:r>
                                <a:rPr lang="es-CL" sz="1400" b="0" i="1" smtClean="0">
                                  <a:solidFill>
                                    <a:schemeClr val="bg1"/>
                                  </a:solidFill>
                                  <a:latin typeface="Cambria Math" panose="02040503050406030204" pitchFamily="18" charset="0"/>
                                  <a:ea typeface="Cambria Math" panose="02040503050406030204" pitchFamily="18" charset="0"/>
                                </a:rPr>
                                <m:t>𝜎</m:t>
                              </m:r>
                            </m:e>
                            <m:sub>
                              <m:r>
                                <a:rPr lang="es-CL" sz="1400" b="0" i="1" smtClean="0">
                                  <a:solidFill>
                                    <a:schemeClr val="bg1"/>
                                  </a:solidFill>
                                  <a:latin typeface="Cambria Math" panose="02040503050406030204" pitchFamily="18" charset="0"/>
                                  <a:ea typeface="Cambria Math" panose="02040503050406030204" pitchFamily="18" charset="0"/>
                                </a:rPr>
                                <m:t>𝑡</m:t>
                              </m:r>
                            </m:sub>
                          </m:sSub>
                          <m:r>
                            <a:rPr lang="es-CL" sz="1400" b="0" i="1" smtClean="0">
                              <a:solidFill>
                                <a:schemeClr val="bg1"/>
                              </a:solidFill>
                              <a:latin typeface="Cambria Math" panose="02040503050406030204" pitchFamily="18" charset="0"/>
                              <a:ea typeface="Cambria Math" panose="02040503050406030204" pitchFamily="18" charset="0"/>
                            </a:rPr>
                            <m:t>+1</m:t>
                          </m:r>
                        </m:num>
                        <m:den>
                          <m:sSub>
                            <m:sSubPr>
                              <m:ctrlPr>
                                <a:rPr lang="es-CL" sz="1400" b="0" i="1" smtClean="0">
                                  <a:solidFill>
                                    <a:schemeClr val="bg1"/>
                                  </a:solidFill>
                                  <a:latin typeface="Cambria Math" panose="02040503050406030204" pitchFamily="18" charset="0"/>
                                  <a:ea typeface="Cambria Math" panose="02040503050406030204" pitchFamily="18" charset="0"/>
                                </a:rPr>
                              </m:ctrlPr>
                            </m:sSubPr>
                            <m:e>
                              <m:r>
                                <a:rPr lang="es-CL" sz="1400" b="0" i="1" smtClean="0">
                                  <a:solidFill>
                                    <a:schemeClr val="bg1"/>
                                  </a:solidFill>
                                  <a:latin typeface="Cambria Math" panose="02040503050406030204" pitchFamily="18" charset="0"/>
                                  <a:ea typeface="Cambria Math" panose="02040503050406030204" pitchFamily="18" charset="0"/>
                                </a:rPr>
                                <m:t>𝜎</m:t>
                              </m:r>
                            </m:e>
                            <m:sub>
                              <m:r>
                                <a:rPr lang="es-CL" sz="1400" b="0" i="1" smtClean="0">
                                  <a:solidFill>
                                    <a:schemeClr val="bg1"/>
                                  </a:solidFill>
                                  <a:latin typeface="Cambria Math" panose="02040503050406030204" pitchFamily="18" charset="0"/>
                                  <a:ea typeface="Cambria Math" panose="02040503050406030204" pitchFamily="18" charset="0"/>
                                </a:rPr>
                                <m:t>𝑡</m:t>
                              </m:r>
                            </m:sub>
                          </m:sSub>
                        </m:den>
                      </m:f>
                    </m:oMath>
                  </m:oMathPara>
                </a14:m>
                <a:endParaRPr lang="es-CL" sz="1400" dirty="0">
                  <a:solidFill>
                    <a:schemeClr val="bg1"/>
                  </a:solidFill>
                </a:endParaRPr>
              </a:p>
            </p:txBody>
          </p:sp>
        </mc:Choice>
        <mc:Fallback xmlns="">
          <p:sp>
            <p:nvSpPr>
              <p:cNvPr id="17" name="CuadroTexto 16">
                <a:extLst>
                  <a:ext uri="{FF2B5EF4-FFF2-40B4-BE49-F238E27FC236}">
                    <a16:creationId xmlns:a16="http://schemas.microsoft.com/office/drawing/2014/main" id="{BEA67242-A408-B386-93C9-08025039B6F9}"/>
                  </a:ext>
                </a:extLst>
              </p:cNvPr>
              <p:cNvSpPr txBox="1">
                <a:spLocks noRot="1" noChangeAspect="1" noMove="1" noResize="1" noEditPoints="1" noAdjustHandles="1" noChangeArrowheads="1" noChangeShapeType="1" noTextEdit="1"/>
              </p:cNvSpPr>
              <p:nvPr/>
            </p:nvSpPr>
            <p:spPr>
              <a:xfrm>
                <a:off x="868680" y="2581891"/>
                <a:ext cx="4776692" cy="439929"/>
              </a:xfrm>
              <a:prstGeom prst="rect">
                <a:avLst/>
              </a:prstGeom>
              <a:blipFill>
                <a:blip r:embed="rId3"/>
                <a:stretch>
                  <a:fillRect l="-383" t="-63889" r="-255" b="-70833"/>
                </a:stretch>
              </a:blipFill>
            </p:spPr>
            <p:txBody>
              <a:bodyPr/>
              <a:lstStyle/>
              <a:p>
                <a:r>
                  <a:rPr lang="es-CL">
                    <a:noFill/>
                  </a:rPr>
                  <a:t> </a:t>
                </a:r>
              </a:p>
            </p:txBody>
          </p:sp>
        </mc:Fallback>
      </mc:AlternateContent>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469F2D64-B934-94C5-E3AB-43F03CFF1748}"/>
                  </a:ext>
                </a:extLst>
              </p:cNvPr>
              <p:cNvSpPr txBox="1"/>
              <p:nvPr/>
            </p:nvSpPr>
            <p:spPr>
              <a:xfrm>
                <a:off x="6492240" y="2431796"/>
                <a:ext cx="4902432" cy="47019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CL" sz="1400" i="1" smtClean="0">
                              <a:solidFill>
                                <a:schemeClr val="bg1"/>
                              </a:solidFill>
                              <a:latin typeface="Cambria Math" panose="02040503050406030204" pitchFamily="18" charset="0"/>
                            </a:rPr>
                          </m:ctrlPr>
                        </m:sSupPr>
                        <m:e>
                          <m:r>
                            <a:rPr lang="es-CL" sz="1400" b="0" i="1" smtClean="0">
                              <a:solidFill>
                                <a:schemeClr val="bg1"/>
                              </a:solidFill>
                              <a:latin typeface="Cambria Math" panose="02040503050406030204" pitchFamily="18" charset="0"/>
                            </a:rPr>
                            <m:t>𝑄</m:t>
                          </m:r>
                        </m:e>
                        <m:sup>
                          <m:r>
                            <a:rPr lang="es-CL" sz="1400" b="0" i="1" smtClean="0">
                              <a:solidFill>
                                <a:schemeClr val="bg1"/>
                              </a:solidFill>
                              <a:latin typeface="Cambria Math" panose="02040503050406030204" pitchFamily="18" charset="0"/>
                            </a:rPr>
                            <m:t>𝑝</m:t>
                          </m:r>
                        </m:sup>
                      </m:sSup>
                      <m:r>
                        <a:rPr lang="es-CL" sz="1400" b="0" i="1" smtClean="0">
                          <a:solidFill>
                            <a:schemeClr val="bg1"/>
                          </a:solidFill>
                          <a:latin typeface="Cambria Math" panose="02040503050406030204" pitchFamily="18" charset="0"/>
                        </a:rPr>
                        <m:t>=</m:t>
                      </m:r>
                      <m:sSubSup>
                        <m:sSubSupPr>
                          <m:ctrlPr>
                            <a:rPr lang="es-CL" sz="1400" b="0" i="1" smtClean="0">
                              <a:solidFill>
                                <a:schemeClr val="bg1"/>
                              </a:solidFill>
                              <a:latin typeface="Cambria Math" panose="02040503050406030204" pitchFamily="18" charset="0"/>
                            </a:rPr>
                          </m:ctrlPr>
                        </m:sSubSupPr>
                        <m:e>
                          <m:r>
                            <a:rPr lang="es-CL" sz="1400" b="0" i="1" smtClean="0">
                              <a:solidFill>
                                <a:schemeClr val="bg1"/>
                              </a:solidFill>
                              <a:latin typeface="Cambria Math" panose="02040503050406030204" pitchFamily="18" charset="0"/>
                            </a:rPr>
                            <m:t>𝑎</m:t>
                          </m:r>
                        </m:e>
                        <m:sub>
                          <m:r>
                            <a:rPr lang="es-CL" sz="1400" b="0" i="1" smtClean="0">
                              <a:solidFill>
                                <a:schemeClr val="bg1"/>
                              </a:solidFill>
                              <a:latin typeface="Cambria Math" panose="02040503050406030204" pitchFamily="18" charset="0"/>
                            </a:rPr>
                            <m:t>𝑞</m:t>
                          </m:r>
                        </m:sub>
                        <m:sup>
                          <m:r>
                            <a:rPr lang="es-CL" sz="1400" b="0" i="1" smtClean="0">
                              <a:solidFill>
                                <a:schemeClr val="bg1"/>
                              </a:solidFill>
                              <a:latin typeface="Cambria Math" panose="02040503050406030204" pitchFamily="18" charset="0"/>
                            </a:rPr>
                            <m:t>𝑝</m:t>
                          </m:r>
                        </m:sup>
                      </m:sSubSup>
                      <m:sSup>
                        <m:sSupPr>
                          <m:ctrlPr>
                            <a:rPr lang="es-CL" sz="1400" b="0" i="1" smtClean="0">
                              <a:solidFill>
                                <a:schemeClr val="bg1"/>
                              </a:solidFill>
                              <a:latin typeface="Cambria Math" panose="02040503050406030204" pitchFamily="18" charset="0"/>
                            </a:rPr>
                          </m:ctrlPr>
                        </m:sSupPr>
                        <m:e>
                          <m:d>
                            <m:dPr>
                              <m:begChr m:val="["/>
                              <m:endChr m:val="]"/>
                              <m:ctrlPr>
                                <a:rPr lang="es-CL" sz="1400" i="1">
                                  <a:solidFill>
                                    <a:schemeClr val="bg1"/>
                                  </a:solidFill>
                                  <a:latin typeface="Cambria Math" panose="02040503050406030204" pitchFamily="18" charset="0"/>
                                </a:rPr>
                              </m:ctrlPr>
                            </m:dPr>
                            <m:e>
                              <m:sSubSup>
                                <m:sSubSupPr>
                                  <m:ctrlPr>
                                    <a:rPr lang="es-CL" sz="1400" i="1">
                                      <a:solidFill>
                                        <a:schemeClr val="bg1"/>
                                      </a:solidFill>
                                      <a:latin typeface="Cambria Math" panose="02040503050406030204" pitchFamily="18" charset="0"/>
                                    </a:rPr>
                                  </m:ctrlPr>
                                </m:sSubSupPr>
                                <m:e>
                                  <m:r>
                                    <a:rPr lang="es-CL" sz="1400" i="1" smtClean="0">
                                      <a:solidFill>
                                        <a:schemeClr val="bg1"/>
                                      </a:solidFill>
                                      <a:latin typeface="Cambria Math" panose="02040503050406030204" pitchFamily="18" charset="0"/>
                                      <a:ea typeface="Cambria Math" panose="02040503050406030204" pitchFamily="18" charset="0"/>
                                    </a:rPr>
                                    <m:t>𝛿</m:t>
                                  </m:r>
                                </m:e>
                                <m:sub>
                                  <m:r>
                                    <a:rPr lang="es-CL" sz="1400" b="0" i="1" smtClean="0">
                                      <a:solidFill>
                                        <a:schemeClr val="bg1"/>
                                      </a:solidFill>
                                      <a:latin typeface="Cambria Math" panose="02040503050406030204" pitchFamily="18" charset="0"/>
                                    </a:rPr>
                                    <m:t>𝑚</m:t>
                                  </m:r>
                                </m:sub>
                                <m:sup>
                                  <m:r>
                                    <a:rPr lang="es-CL" sz="1400" i="1">
                                      <a:solidFill>
                                        <a:schemeClr val="bg1"/>
                                      </a:solidFill>
                                      <a:latin typeface="Cambria Math" panose="02040503050406030204" pitchFamily="18" charset="0"/>
                                    </a:rPr>
                                    <m:t>𝑝</m:t>
                                  </m:r>
                                </m:sup>
                              </m:sSubSup>
                              <m:sSup>
                                <m:sSupPr>
                                  <m:ctrlPr>
                                    <a:rPr lang="es-CL" sz="1400" i="1">
                                      <a:solidFill>
                                        <a:schemeClr val="bg1"/>
                                      </a:solidFill>
                                      <a:latin typeface="Cambria Math" panose="02040503050406030204" pitchFamily="18" charset="0"/>
                                    </a:rPr>
                                  </m:ctrlPr>
                                </m:sSupPr>
                                <m:e>
                                  <m:d>
                                    <m:dPr>
                                      <m:ctrlPr>
                                        <a:rPr lang="es-CL" sz="1400" i="1">
                                          <a:solidFill>
                                            <a:schemeClr val="bg1"/>
                                          </a:solidFill>
                                          <a:latin typeface="Cambria Math" panose="02040503050406030204" pitchFamily="18" charset="0"/>
                                        </a:rPr>
                                      </m:ctrlPr>
                                    </m:dPr>
                                    <m:e>
                                      <m:sSup>
                                        <m:sSupPr>
                                          <m:ctrlPr>
                                            <a:rPr lang="es-CL" sz="1400" i="1">
                                              <a:solidFill>
                                                <a:schemeClr val="bg1"/>
                                              </a:solidFill>
                                              <a:latin typeface="Cambria Math" panose="02040503050406030204" pitchFamily="18" charset="0"/>
                                            </a:rPr>
                                          </m:ctrlPr>
                                        </m:sSupPr>
                                        <m:e>
                                          <m:r>
                                            <a:rPr lang="es-CL" sz="1400" b="0" i="1" smtClean="0">
                                              <a:solidFill>
                                                <a:schemeClr val="bg1"/>
                                              </a:solidFill>
                                              <a:latin typeface="Cambria Math" panose="02040503050406030204" pitchFamily="18" charset="0"/>
                                            </a:rPr>
                                            <m:t>𝑀</m:t>
                                          </m:r>
                                        </m:e>
                                        <m:sup>
                                          <m:r>
                                            <a:rPr lang="es-CL" sz="1400" i="1">
                                              <a:solidFill>
                                                <a:schemeClr val="bg1"/>
                                              </a:solidFill>
                                              <a:latin typeface="Cambria Math" panose="02040503050406030204" pitchFamily="18" charset="0"/>
                                            </a:rPr>
                                            <m:t>𝑝</m:t>
                                          </m:r>
                                        </m:sup>
                                      </m:sSup>
                                    </m:e>
                                  </m:d>
                                </m:e>
                                <m:sup>
                                  <m:r>
                                    <a:rPr lang="es-CL" sz="1400" i="1">
                                      <a:solidFill>
                                        <a:schemeClr val="bg1"/>
                                      </a:solidFill>
                                      <a:latin typeface="Cambria Math" panose="02040503050406030204" pitchFamily="18" charset="0"/>
                                      <a:ea typeface="Cambria Math" panose="02040503050406030204" pitchFamily="18" charset="0"/>
                                    </a:rPr>
                                    <m:t>𝜌</m:t>
                                  </m:r>
                                  <m:r>
                                    <a:rPr lang="es-CL" sz="1400" b="0" i="1" smtClean="0">
                                      <a:solidFill>
                                        <a:schemeClr val="bg1"/>
                                      </a:solidFill>
                                      <a:latin typeface="Cambria Math" panose="02040503050406030204" pitchFamily="18" charset="0"/>
                                      <a:ea typeface="Cambria Math" panose="02040503050406030204" pitchFamily="18" charset="0"/>
                                    </a:rPr>
                                    <m:t>𝑞</m:t>
                                  </m:r>
                                </m:sup>
                              </m:sSup>
                              <m:r>
                                <a:rPr lang="es-CL" sz="1400" i="1">
                                  <a:solidFill>
                                    <a:schemeClr val="bg1"/>
                                  </a:solidFill>
                                  <a:latin typeface="Cambria Math" panose="02040503050406030204" pitchFamily="18" charset="0"/>
                                </a:rPr>
                                <m:t>+</m:t>
                              </m:r>
                              <m:d>
                                <m:dPr>
                                  <m:ctrlPr>
                                    <a:rPr lang="es-CL" sz="1400" i="1">
                                      <a:solidFill>
                                        <a:schemeClr val="bg1"/>
                                      </a:solidFill>
                                      <a:latin typeface="Cambria Math" panose="02040503050406030204" pitchFamily="18" charset="0"/>
                                    </a:rPr>
                                  </m:ctrlPr>
                                </m:dPr>
                                <m:e>
                                  <m:r>
                                    <a:rPr lang="es-CL" sz="1400" i="1">
                                      <a:solidFill>
                                        <a:schemeClr val="bg1"/>
                                      </a:solidFill>
                                      <a:latin typeface="Cambria Math" panose="02040503050406030204" pitchFamily="18" charset="0"/>
                                    </a:rPr>
                                    <m:t>1−</m:t>
                                  </m:r>
                                  <m:sSubSup>
                                    <m:sSubSupPr>
                                      <m:ctrlPr>
                                        <a:rPr lang="es-CL" sz="1400" i="1">
                                          <a:solidFill>
                                            <a:schemeClr val="bg1"/>
                                          </a:solidFill>
                                          <a:latin typeface="Cambria Math" panose="02040503050406030204" pitchFamily="18" charset="0"/>
                                        </a:rPr>
                                      </m:ctrlPr>
                                    </m:sSubSupPr>
                                    <m:e>
                                      <m:r>
                                        <a:rPr lang="es-CL" sz="1400" i="1" smtClean="0">
                                          <a:solidFill>
                                            <a:schemeClr val="bg1"/>
                                          </a:solidFill>
                                          <a:latin typeface="Cambria Math" panose="02040503050406030204" pitchFamily="18" charset="0"/>
                                          <a:ea typeface="Cambria Math" panose="02040503050406030204" pitchFamily="18" charset="0"/>
                                        </a:rPr>
                                        <m:t>𝛿</m:t>
                                      </m:r>
                                    </m:e>
                                    <m:sub>
                                      <m:r>
                                        <a:rPr lang="es-CL" sz="1400" b="0" i="1" smtClean="0">
                                          <a:solidFill>
                                            <a:schemeClr val="bg1"/>
                                          </a:solidFill>
                                          <a:latin typeface="Cambria Math" panose="02040503050406030204" pitchFamily="18" charset="0"/>
                                        </a:rPr>
                                        <m:t>𝑚</m:t>
                                      </m:r>
                                    </m:sub>
                                    <m:sup>
                                      <m:r>
                                        <a:rPr lang="es-CL" sz="1400" i="1">
                                          <a:solidFill>
                                            <a:schemeClr val="bg1"/>
                                          </a:solidFill>
                                          <a:latin typeface="Cambria Math" panose="02040503050406030204" pitchFamily="18" charset="0"/>
                                        </a:rPr>
                                        <m:t>𝑝</m:t>
                                      </m:r>
                                    </m:sup>
                                  </m:sSubSup>
                                </m:e>
                              </m:d>
                              <m:sSup>
                                <m:sSupPr>
                                  <m:ctrlPr>
                                    <a:rPr lang="es-CL" sz="1400" i="1">
                                      <a:solidFill>
                                        <a:schemeClr val="bg1"/>
                                      </a:solidFill>
                                      <a:latin typeface="Cambria Math" panose="02040503050406030204" pitchFamily="18" charset="0"/>
                                    </a:rPr>
                                  </m:ctrlPr>
                                </m:sSupPr>
                                <m:e>
                                  <m:d>
                                    <m:dPr>
                                      <m:ctrlPr>
                                        <a:rPr lang="es-CL" sz="1400" i="1">
                                          <a:solidFill>
                                            <a:schemeClr val="bg1"/>
                                          </a:solidFill>
                                          <a:latin typeface="Cambria Math" panose="02040503050406030204" pitchFamily="18" charset="0"/>
                                        </a:rPr>
                                      </m:ctrlPr>
                                    </m:dPr>
                                    <m:e>
                                      <m:sSup>
                                        <m:sSupPr>
                                          <m:ctrlPr>
                                            <a:rPr lang="es-CL" sz="1400" i="1">
                                              <a:solidFill>
                                                <a:schemeClr val="bg1"/>
                                              </a:solidFill>
                                              <a:latin typeface="Cambria Math" panose="02040503050406030204" pitchFamily="18" charset="0"/>
                                            </a:rPr>
                                          </m:ctrlPr>
                                        </m:sSupPr>
                                        <m:e>
                                          <m:r>
                                            <a:rPr lang="es-CL" sz="1400" i="1">
                                              <a:solidFill>
                                                <a:schemeClr val="bg1"/>
                                              </a:solidFill>
                                              <a:latin typeface="Cambria Math" panose="02040503050406030204" pitchFamily="18" charset="0"/>
                                            </a:rPr>
                                            <m:t>𝐷</m:t>
                                          </m:r>
                                          <m:r>
                                            <a:rPr lang="es-CL" sz="1400" b="0" i="1" smtClean="0">
                                              <a:solidFill>
                                                <a:schemeClr val="bg1"/>
                                              </a:solidFill>
                                              <a:latin typeface="Cambria Math" panose="02040503050406030204" pitchFamily="18" charset="0"/>
                                            </a:rPr>
                                            <m:t>𝐷</m:t>
                                          </m:r>
                                        </m:e>
                                        <m:sup>
                                          <m:r>
                                            <a:rPr lang="es-CL" sz="1400" i="1">
                                              <a:solidFill>
                                                <a:schemeClr val="bg1"/>
                                              </a:solidFill>
                                              <a:latin typeface="Cambria Math" panose="02040503050406030204" pitchFamily="18" charset="0"/>
                                            </a:rPr>
                                            <m:t>𝑝</m:t>
                                          </m:r>
                                        </m:sup>
                                      </m:sSup>
                                    </m:e>
                                  </m:d>
                                </m:e>
                                <m:sup>
                                  <m:r>
                                    <a:rPr lang="es-CL" sz="1400" i="1">
                                      <a:solidFill>
                                        <a:schemeClr val="bg1"/>
                                      </a:solidFill>
                                      <a:latin typeface="Cambria Math" panose="02040503050406030204" pitchFamily="18" charset="0"/>
                                      <a:ea typeface="Cambria Math" panose="02040503050406030204" pitchFamily="18" charset="0"/>
                                    </a:rPr>
                                    <m:t>𝜌</m:t>
                                  </m:r>
                                  <m:r>
                                    <a:rPr lang="es-CL" sz="1400" b="0" i="1" smtClean="0">
                                      <a:solidFill>
                                        <a:schemeClr val="bg1"/>
                                      </a:solidFill>
                                      <a:latin typeface="Cambria Math" panose="02040503050406030204" pitchFamily="18" charset="0"/>
                                      <a:ea typeface="Cambria Math" panose="02040503050406030204" pitchFamily="18" charset="0"/>
                                    </a:rPr>
                                    <m:t>𝑞</m:t>
                                  </m:r>
                                </m:sup>
                              </m:sSup>
                            </m:e>
                          </m:d>
                          <m:r>
                            <m:rPr>
                              <m:nor/>
                            </m:rPr>
                            <a:rPr lang="es-CL" sz="1400" dirty="0">
                              <a:solidFill>
                                <a:schemeClr val="bg1"/>
                              </a:solidFill>
                            </a:rPr>
                            <m:t> </m:t>
                          </m:r>
                        </m:e>
                        <m:sup>
                          <m:f>
                            <m:fPr>
                              <m:type m:val="skw"/>
                              <m:ctrlPr>
                                <a:rPr lang="es-CL" sz="1400" b="0" i="1" smtClean="0">
                                  <a:solidFill>
                                    <a:schemeClr val="bg1"/>
                                  </a:solidFill>
                                  <a:latin typeface="Cambria Math" panose="02040503050406030204" pitchFamily="18" charset="0"/>
                                </a:rPr>
                              </m:ctrlPr>
                            </m:fPr>
                            <m:num>
                              <m:r>
                                <a:rPr lang="es-CL" sz="1400" b="0" i="1" smtClean="0">
                                  <a:solidFill>
                                    <a:schemeClr val="bg1"/>
                                  </a:solidFill>
                                  <a:latin typeface="Cambria Math" panose="02040503050406030204" pitchFamily="18" charset="0"/>
                                </a:rPr>
                                <m:t>1</m:t>
                              </m:r>
                            </m:num>
                            <m:den>
                              <m:r>
                                <a:rPr lang="es-CL" sz="1400" b="0" i="1" smtClean="0">
                                  <a:solidFill>
                                    <a:schemeClr val="bg1"/>
                                  </a:solidFill>
                                  <a:latin typeface="Cambria Math" panose="02040503050406030204" pitchFamily="18" charset="0"/>
                                  <a:ea typeface="Cambria Math" panose="02040503050406030204" pitchFamily="18" charset="0"/>
                                </a:rPr>
                                <m:t>𝜌</m:t>
                              </m:r>
                              <m:r>
                                <a:rPr lang="es-CL" sz="1400" b="0" i="1" smtClean="0">
                                  <a:solidFill>
                                    <a:schemeClr val="bg1"/>
                                  </a:solidFill>
                                  <a:latin typeface="Cambria Math" panose="02040503050406030204" pitchFamily="18" charset="0"/>
                                  <a:ea typeface="Cambria Math" panose="02040503050406030204" pitchFamily="18" charset="0"/>
                                </a:rPr>
                                <m:t>𝑞</m:t>
                              </m:r>
                            </m:den>
                          </m:f>
                        </m:sup>
                      </m:sSup>
                      <m:r>
                        <a:rPr lang="es-CL" sz="1400" b="0" i="1" smtClean="0">
                          <a:solidFill>
                            <a:schemeClr val="bg1"/>
                          </a:solidFill>
                          <a:latin typeface="Cambria Math" panose="02040503050406030204" pitchFamily="18" charset="0"/>
                        </a:rPr>
                        <m:t> ,  </m:t>
                      </m:r>
                      <m:r>
                        <a:rPr lang="es-CL" sz="1400" b="0" i="1" smtClean="0">
                          <a:solidFill>
                            <a:schemeClr val="bg1"/>
                          </a:solidFill>
                          <a:latin typeface="Cambria Math" panose="02040503050406030204" pitchFamily="18" charset="0"/>
                          <a:ea typeface="Cambria Math" panose="02040503050406030204" pitchFamily="18" charset="0"/>
                        </a:rPr>
                        <m:t>𝜌</m:t>
                      </m:r>
                      <m:r>
                        <a:rPr lang="es-CL" sz="1400" b="0" i="1" smtClean="0">
                          <a:solidFill>
                            <a:schemeClr val="bg1"/>
                          </a:solidFill>
                          <a:latin typeface="Cambria Math" panose="02040503050406030204" pitchFamily="18" charset="0"/>
                          <a:ea typeface="Cambria Math" panose="02040503050406030204" pitchFamily="18" charset="0"/>
                        </a:rPr>
                        <m:t>𝑞</m:t>
                      </m:r>
                      <m:r>
                        <a:rPr lang="es-CL" sz="1400" b="0" i="1" smtClean="0">
                          <a:solidFill>
                            <a:schemeClr val="bg1"/>
                          </a:solidFill>
                          <a:latin typeface="Cambria Math" panose="02040503050406030204" pitchFamily="18" charset="0"/>
                          <a:ea typeface="Cambria Math" panose="02040503050406030204" pitchFamily="18" charset="0"/>
                        </a:rPr>
                        <m:t>=</m:t>
                      </m:r>
                      <m:f>
                        <m:fPr>
                          <m:ctrlPr>
                            <a:rPr lang="es-CL" sz="1400" b="0" i="1" smtClean="0">
                              <a:solidFill>
                                <a:schemeClr val="bg1"/>
                              </a:solidFill>
                              <a:latin typeface="Cambria Math" panose="02040503050406030204" pitchFamily="18" charset="0"/>
                              <a:ea typeface="Cambria Math" panose="02040503050406030204" pitchFamily="18" charset="0"/>
                            </a:rPr>
                          </m:ctrlPr>
                        </m:fPr>
                        <m:num>
                          <m:sSub>
                            <m:sSubPr>
                              <m:ctrlPr>
                                <a:rPr lang="es-CL" sz="1400" b="0" i="1" smtClean="0">
                                  <a:solidFill>
                                    <a:schemeClr val="bg1"/>
                                  </a:solidFill>
                                  <a:latin typeface="Cambria Math" panose="02040503050406030204" pitchFamily="18" charset="0"/>
                                  <a:ea typeface="Cambria Math" panose="02040503050406030204" pitchFamily="18" charset="0"/>
                                </a:rPr>
                              </m:ctrlPr>
                            </m:sSubPr>
                            <m:e>
                              <m:r>
                                <a:rPr lang="es-CL" sz="1400" b="0" i="1" smtClean="0">
                                  <a:solidFill>
                                    <a:schemeClr val="bg1"/>
                                  </a:solidFill>
                                  <a:latin typeface="Cambria Math" panose="02040503050406030204" pitchFamily="18" charset="0"/>
                                  <a:ea typeface="Cambria Math" panose="02040503050406030204" pitchFamily="18" charset="0"/>
                                </a:rPr>
                                <m:t>𝜎</m:t>
                              </m:r>
                            </m:e>
                            <m:sub>
                              <m:r>
                                <a:rPr lang="es-CL" sz="1400" b="0" i="1" smtClean="0">
                                  <a:solidFill>
                                    <a:schemeClr val="bg1"/>
                                  </a:solidFill>
                                  <a:latin typeface="Cambria Math" panose="02040503050406030204" pitchFamily="18" charset="0"/>
                                  <a:ea typeface="Cambria Math" panose="02040503050406030204" pitchFamily="18" charset="0"/>
                                </a:rPr>
                                <m:t>𝑞</m:t>
                              </m:r>
                            </m:sub>
                          </m:sSub>
                          <m:r>
                            <a:rPr lang="es-CL" sz="1400" b="0" i="1" smtClean="0">
                              <a:solidFill>
                                <a:schemeClr val="bg1"/>
                              </a:solidFill>
                              <a:latin typeface="Cambria Math" panose="02040503050406030204" pitchFamily="18" charset="0"/>
                              <a:ea typeface="Cambria Math" panose="02040503050406030204" pitchFamily="18" charset="0"/>
                            </a:rPr>
                            <m:t>+1</m:t>
                          </m:r>
                        </m:num>
                        <m:den>
                          <m:sSub>
                            <m:sSubPr>
                              <m:ctrlPr>
                                <a:rPr lang="es-CL" sz="1400" b="0" i="1" smtClean="0">
                                  <a:solidFill>
                                    <a:schemeClr val="bg1"/>
                                  </a:solidFill>
                                  <a:latin typeface="Cambria Math" panose="02040503050406030204" pitchFamily="18" charset="0"/>
                                  <a:ea typeface="Cambria Math" panose="02040503050406030204" pitchFamily="18" charset="0"/>
                                </a:rPr>
                              </m:ctrlPr>
                            </m:sSubPr>
                            <m:e>
                              <m:r>
                                <a:rPr lang="es-CL" sz="1400" b="0" i="1" smtClean="0">
                                  <a:solidFill>
                                    <a:schemeClr val="bg1"/>
                                  </a:solidFill>
                                  <a:latin typeface="Cambria Math" panose="02040503050406030204" pitchFamily="18" charset="0"/>
                                  <a:ea typeface="Cambria Math" panose="02040503050406030204" pitchFamily="18" charset="0"/>
                                </a:rPr>
                                <m:t>𝜎</m:t>
                              </m:r>
                            </m:e>
                            <m:sub>
                              <m:r>
                                <a:rPr lang="es-CL" sz="1400" b="0" i="1" smtClean="0">
                                  <a:solidFill>
                                    <a:schemeClr val="bg1"/>
                                  </a:solidFill>
                                  <a:latin typeface="Cambria Math" panose="02040503050406030204" pitchFamily="18" charset="0"/>
                                  <a:ea typeface="Cambria Math" panose="02040503050406030204" pitchFamily="18" charset="0"/>
                                </a:rPr>
                                <m:t>𝑞</m:t>
                              </m:r>
                            </m:sub>
                          </m:sSub>
                        </m:den>
                      </m:f>
                    </m:oMath>
                  </m:oMathPara>
                </a14:m>
                <a:endParaRPr lang="es-CL" sz="1400" dirty="0">
                  <a:solidFill>
                    <a:schemeClr val="bg1"/>
                  </a:solidFill>
                </a:endParaRPr>
              </a:p>
            </p:txBody>
          </p:sp>
        </mc:Choice>
        <mc:Fallback xmlns="">
          <p:sp>
            <p:nvSpPr>
              <p:cNvPr id="18" name="CuadroTexto 17">
                <a:extLst>
                  <a:ext uri="{FF2B5EF4-FFF2-40B4-BE49-F238E27FC236}">
                    <a16:creationId xmlns:a16="http://schemas.microsoft.com/office/drawing/2014/main" id="{469F2D64-B934-94C5-E3AB-43F03CFF1748}"/>
                  </a:ext>
                </a:extLst>
              </p:cNvPr>
              <p:cNvSpPr txBox="1">
                <a:spLocks noRot="1" noChangeAspect="1" noMove="1" noResize="1" noEditPoints="1" noAdjustHandles="1" noChangeArrowheads="1" noChangeShapeType="1" noTextEdit="1"/>
              </p:cNvSpPr>
              <p:nvPr/>
            </p:nvSpPr>
            <p:spPr>
              <a:xfrm>
                <a:off x="6492240" y="2431796"/>
                <a:ext cx="4902432" cy="470193"/>
              </a:xfrm>
              <a:prstGeom prst="rect">
                <a:avLst/>
              </a:prstGeom>
              <a:blipFill>
                <a:blip r:embed="rId4"/>
                <a:stretch>
                  <a:fillRect l="-746" t="-55844" r="-373" b="-63636"/>
                </a:stretch>
              </a:blipFill>
            </p:spPr>
            <p:txBody>
              <a:bodyPr/>
              <a:lstStyle/>
              <a:p>
                <a:r>
                  <a:rPr lang="es-CL">
                    <a:noFill/>
                  </a:rPr>
                  <a:t> </a:t>
                </a:r>
              </a:p>
            </p:txBody>
          </p:sp>
        </mc:Fallback>
      </mc:AlternateContent>
      <p:sp>
        <p:nvSpPr>
          <p:cNvPr id="19" name="Shape 9">
            <a:extLst>
              <a:ext uri="{FF2B5EF4-FFF2-40B4-BE49-F238E27FC236}">
                <a16:creationId xmlns:a16="http://schemas.microsoft.com/office/drawing/2014/main" id="{68A62162-E6DF-2FEF-037F-CCC44922A5C3}"/>
              </a:ext>
            </a:extLst>
          </p:cNvPr>
          <p:cNvSpPr/>
          <p:nvPr/>
        </p:nvSpPr>
        <p:spPr>
          <a:xfrm>
            <a:off x="750498" y="4706228"/>
            <a:ext cx="10953822" cy="1642814"/>
          </a:xfrm>
          <a:prstGeom prst="rect">
            <a:avLst/>
          </a:prstGeom>
          <a:solidFill>
            <a:srgbClr val="4A6FA5"/>
          </a:solidFill>
          <a:ln w="12700">
            <a:solidFill>
              <a:srgbClr val="4A6FA5"/>
            </a:solidFill>
            <a:prstDash val="solid"/>
          </a:ln>
        </p:spPr>
        <p:txBody>
          <a:bodyPr/>
          <a:lstStyle/>
          <a:p>
            <a:endParaRPr lang="es-CL"/>
          </a:p>
        </p:txBody>
      </p:sp>
      <p:sp>
        <p:nvSpPr>
          <p:cNvPr id="20" name="Text 10">
            <a:extLst>
              <a:ext uri="{FF2B5EF4-FFF2-40B4-BE49-F238E27FC236}">
                <a16:creationId xmlns:a16="http://schemas.microsoft.com/office/drawing/2014/main" id="{D3D7E3BA-597C-12BE-2D49-EB650D722C87}"/>
              </a:ext>
            </a:extLst>
          </p:cNvPr>
          <p:cNvSpPr/>
          <p:nvPr/>
        </p:nvSpPr>
        <p:spPr>
          <a:xfrm>
            <a:off x="914400" y="4754880"/>
            <a:ext cx="5120640" cy="457200"/>
          </a:xfrm>
          <a:prstGeom prst="rect">
            <a:avLst/>
          </a:prstGeom>
          <a:noFill/>
          <a:ln/>
        </p:spPr>
        <p:txBody>
          <a:bodyPr wrap="square" lIns="0" tIns="0" rIns="0" bIns="0" rtlCol="0" anchor="ctr"/>
          <a:lstStyle/>
          <a:p>
            <a:pPr marL="0" indent="0" algn="l">
              <a:buNone/>
            </a:pPr>
            <a:r>
              <a:rPr lang="en-US" sz="2000" b="1" dirty="0" err="1">
                <a:solidFill>
                  <a:srgbClr val="D4A82A"/>
                </a:solidFill>
                <a:latin typeface="Cambria" pitchFamily="34" charset="0"/>
                <a:ea typeface="Cambria" pitchFamily="34" charset="-122"/>
                <a:cs typeface="Cambria" pitchFamily="34" charset="-120"/>
              </a:rPr>
              <a:t>Absorción</a:t>
            </a:r>
            <a:r>
              <a:rPr lang="en-US" sz="2000" b="1" dirty="0">
                <a:solidFill>
                  <a:srgbClr val="D4A82A"/>
                </a:solidFill>
                <a:latin typeface="Cambria" pitchFamily="34" charset="0"/>
                <a:ea typeface="Cambria" pitchFamily="34" charset="-122"/>
                <a:cs typeface="Cambria" pitchFamily="34" charset="-120"/>
              </a:rPr>
              <a:t> </a:t>
            </a:r>
            <a:r>
              <a:rPr lang="en-US" sz="2000" b="1" dirty="0" err="1">
                <a:solidFill>
                  <a:srgbClr val="D4A82A"/>
                </a:solidFill>
                <a:latin typeface="Cambria" pitchFamily="34" charset="0"/>
                <a:ea typeface="Cambria" pitchFamily="34" charset="-122"/>
                <a:cs typeface="Cambria" pitchFamily="34" charset="-120"/>
              </a:rPr>
              <a:t>Doméstica</a:t>
            </a:r>
            <a:r>
              <a:rPr lang="en-US" sz="2000" b="1" dirty="0">
                <a:solidFill>
                  <a:srgbClr val="D4A82A"/>
                </a:solidFill>
                <a:latin typeface="Cambria" pitchFamily="34" charset="0"/>
                <a:ea typeface="Cambria" pitchFamily="34" charset="-122"/>
                <a:cs typeface="Cambria" pitchFamily="34" charset="-120"/>
              </a:rPr>
              <a:t> </a:t>
            </a:r>
            <a:endParaRPr lang="en-US" sz="2000" dirty="0"/>
          </a:p>
        </p:txBody>
      </p:sp>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16A8327C-0602-E6FD-E572-7E5F9CC26100}"/>
                  </a:ext>
                </a:extLst>
              </p:cNvPr>
              <p:cNvSpPr txBox="1"/>
              <p:nvPr/>
            </p:nvSpPr>
            <p:spPr>
              <a:xfrm>
                <a:off x="1026282" y="5304751"/>
                <a:ext cx="5351658" cy="67249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CL" i="1" smtClean="0">
                              <a:solidFill>
                                <a:schemeClr val="bg1"/>
                              </a:solidFill>
                              <a:latin typeface="Cambria Math" panose="02040503050406030204" pitchFamily="18" charset="0"/>
                            </a:rPr>
                          </m:ctrlPr>
                        </m:sSupPr>
                        <m:e>
                          <m:r>
                            <a:rPr lang="es-CL" b="0" i="1" smtClean="0">
                              <a:solidFill>
                                <a:schemeClr val="bg1"/>
                              </a:solidFill>
                              <a:latin typeface="Cambria Math" panose="02040503050406030204" pitchFamily="18" charset="0"/>
                            </a:rPr>
                            <m:t>𝑇𝐷</m:t>
                          </m:r>
                          <m:r>
                            <a:rPr lang="es-CL" b="0" i="1" smtClean="0">
                              <a:solidFill>
                                <a:schemeClr val="bg1"/>
                              </a:solidFill>
                              <a:latin typeface="Cambria Math" panose="02040503050406030204" pitchFamily="18" charset="0"/>
                            </a:rPr>
                            <m:t>_</m:t>
                          </m:r>
                          <m:r>
                            <a:rPr lang="es-CL" b="0" i="1" smtClean="0">
                              <a:solidFill>
                                <a:schemeClr val="bg1"/>
                              </a:solidFill>
                              <a:latin typeface="Cambria Math" panose="02040503050406030204" pitchFamily="18" charset="0"/>
                            </a:rPr>
                            <m:t>𝐷𝑜𝑚</m:t>
                          </m:r>
                        </m:e>
                        <m:sup>
                          <m:r>
                            <a:rPr lang="es-CL" b="0" i="1" smtClean="0">
                              <a:solidFill>
                                <a:schemeClr val="bg1"/>
                              </a:solidFill>
                              <a:latin typeface="Cambria Math" panose="02040503050406030204" pitchFamily="18" charset="0"/>
                            </a:rPr>
                            <m:t>𝑝</m:t>
                          </m:r>
                        </m:sup>
                      </m:sSup>
                      <m:r>
                        <a:rPr lang="es-CL" b="0" i="1" smtClean="0">
                          <a:solidFill>
                            <a:schemeClr val="bg1"/>
                          </a:solidFill>
                          <a:latin typeface="Cambria Math" panose="02040503050406030204" pitchFamily="18" charset="0"/>
                        </a:rPr>
                        <m:t>=</m:t>
                      </m:r>
                      <m:sSup>
                        <m:sSupPr>
                          <m:ctrlPr>
                            <a:rPr lang="es-CL" b="0" i="1" smtClean="0">
                              <a:solidFill>
                                <a:schemeClr val="bg1"/>
                              </a:solidFill>
                              <a:latin typeface="Cambria Math" panose="02040503050406030204" pitchFamily="18" charset="0"/>
                            </a:rPr>
                          </m:ctrlPr>
                        </m:sSupPr>
                        <m:e>
                          <m:r>
                            <a:rPr lang="es-CL" b="0" i="1" smtClean="0">
                              <a:solidFill>
                                <a:schemeClr val="bg1"/>
                              </a:solidFill>
                              <a:latin typeface="Cambria Math" panose="02040503050406030204" pitchFamily="18" charset="0"/>
                            </a:rPr>
                            <m:t>𝐷</m:t>
                          </m:r>
                        </m:e>
                        <m:sup>
                          <m:r>
                            <a:rPr lang="es-CL" b="0" i="1" smtClean="0">
                              <a:solidFill>
                                <a:schemeClr val="bg1"/>
                              </a:solidFill>
                              <a:latin typeface="Cambria Math" panose="02040503050406030204" pitchFamily="18" charset="0"/>
                            </a:rPr>
                            <m:t>𝑝</m:t>
                          </m:r>
                        </m:sup>
                      </m:sSup>
                      <m:r>
                        <a:rPr lang="es-CL" b="0" i="1" smtClean="0">
                          <a:solidFill>
                            <a:schemeClr val="bg1"/>
                          </a:solidFill>
                          <a:latin typeface="Cambria Math" panose="02040503050406030204" pitchFamily="18" charset="0"/>
                        </a:rPr>
                        <m:t>+</m:t>
                      </m:r>
                      <m:sSup>
                        <m:sSupPr>
                          <m:ctrlPr>
                            <a:rPr lang="es-CL" b="0" i="1" smtClean="0">
                              <a:solidFill>
                                <a:schemeClr val="bg1"/>
                              </a:solidFill>
                              <a:latin typeface="Cambria Math" panose="02040503050406030204" pitchFamily="18" charset="0"/>
                            </a:rPr>
                          </m:ctrlPr>
                        </m:sSupPr>
                        <m:e>
                          <m:r>
                            <a:rPr lang="es-CL" b="0" i="1" smtClean="0">
                              <a:solidFill>
                                <a:schemeClr val="bg1"/>
                              </a:solidFill>
                              <a:latin typeface="Cambria Math" panose="02040503050406030204" pitchFamily="18" charset="0"/>
                            </a:rPr>
                            <m:t>𝐺𝐺</m:t>
                          </m:r>
                        </m:e>
                        <m:sup>
                          <m:r>
                            <a:rPr lang="es-CL" b="0" i="1" smtClean="0">
                              <a:solidFill>
                                <a:schemeClr val="bg1"/>
                              </a:solidFill>
                              <a:latin typeface="Cambria Math" panose="02040503050406030204" pitchFamily="18" charset="0"/>
                            </a:rPr>
                            <m:t>𝑝</m:t>
                          </m:r>
                        </m:sup>
                      </m:sSup>
                      <m:r>
                        <a:rPr lang="es-CL" b="0" i="1" smtClean="0">
                          <a:solidFill>
                            <a:schemeClr val="bg1"/>
                          </a:solidFill>
                          <a:latin typeface="Cambria Math" panose="02040503050406030204" pitchFamily="18" charset="0"/>
                        </a:rPr>
                        <m:t>+</m:t>
                      </m:r>
                      <m:sSup>
                        <m:sSupPr>
                          <m:ctrlPr>
                            <a:rPr lang="es-CL" b="0" i="1" smtClean="0">
                              <a:solidFill>
                                <a:schemeClr val="bg1"/>
                              </a:solidFill>
                              <a:latin typeface="Cambria Math" panose="02040503050406030204" pitchFamily="18" charset="0"/>
                            </a:rPr>
                          </m:ctrlPr>
                        </m:sSupPr>
                        <m:e>
                          <m:r>
                            <a:rPr lang="es-CL" b="0" i="1" smtClean="0">
                              <a:solidFill>
                                <a:schemeClr val="bg1"/>
                              </a:solidFill>
                              <a:latin typeface="Cambria Math" panose="02040503050406030204" pitchFamily="18" charset="0"/>
                            </a:rPr>
                            <m:t>𝐼</m:t>
                          </m:r>
                        </m:e>
                        <m:sup>
                          <m:r>
                            <a:rPr lang="es-CL" b="0" i="1" smtClean="0">
                              <a:solidFill>
                                <a:schemeClr val="bg1"/>
                              </a:solidFill>
                              <a:latin typeface="Cambria Math" panose="02040503050406030204" pitchFamily="18" charset="0"/>
                            </a:rPr>
                            <m:t>𝑝</m:t>
                          </m:r>
                        </m:sup>
                      </m:sSup>
                      <m:r>
                        <a:rPr lang="es-CL" b="0" i="1" smtClean="0">
                          <a:solidFill>
                            <a:schemeClr val="bg1"/>
                          </a:solidFill>
                          <a:latin typeface="Cambria Math" panose="02040503050406030204" pitchFamily="18" charset="0"/>
                        </a:rPr>
                        <m:t>+</m:t>
                      </m:r>
                      <m:sSup>
                        <m:sSupPr>
                          <m:ctrlPr>
                            <a:rPr lang="es-CL" b="0" i="1" smtClean="0">
                              <a:solidFill>
                                <a:schemeClr val="bg1"/>
                              </a:solidFill>
                              <a:latin typeface="Cambria Math" panose="02040503050406030204" pitchFamily="18" charset="0"/>
                            </a:rPr>
                          </m:ctrlPr>
                        </m:sSupPr>
                        <m:e>
                          <m:r>
                            <a:rPr lang="es-CL" b="0" i="1" smtClean="0">
                              <a:solidFill>
                                <a:schemeClr val="bg1"/>
                              </a:solidFill>
                              <a:latin typeface="Cambria Math" panose="02040503050406030204" pitchFamily="18" charset="0"/>
                            </a:rPr>
                            <m:t>𝑉𝐴𝑅𝐸𝑋𝐼𝑆</m:t>
                          </m:r>
                        </m:e>
                        <m:sup>
                          <m:r>
                            <a:rPr lang="es-CL" b="0" i="1" smtClean="0">
                              <a:solidFill>
                                <a:schemeClr val="bg1"/>
                              </a:solidFill>
                              <a:latin typeface="Cambria Math" panose="02040503050406030204" pitchFamily="18" charset="0"/>
                            </a:rPr>
                            <m:t>𝑝</m:t>
                          </m:r>
                        </m:sup>
                      </m:sSup>
                      <m:r>
                        <a:rPr lang="es-CL" b="0" i="1" smtClean="0">
                          <a:solidFill>
                            <a:schemeClr val="bg1"/>
                          </a:solidFill>
                          <a:latin typeface="Cambria Math" panose="02040503050406030204" pitchFamily="18" charset="0"/>
                        </a:rPr>
                        <m:t>+</m:t>
                      </m:r>
                      <m:nary>
                        <m:naryPr>
                          <m:chr m:val="∑"/>
                          <m:supHide m:val="on"/>
                          <m:ctrlPr>
                            <a:rPr lang="es-CL" b="0" i="1" smtClean="0">
                              <a:solidFill>
                                <a:schemeClr val="bg1"/>
                              </a:solidFill>
                              <a:latin typeface="Cambria Math" panose="02040503050406030204" pitchFamily="18" charset="0"/>
                            </a:rPr>
                          </m:ctrlPr>
                        </m:naryPr>
                        <m:sub>
                          <m:r>
                            <m:rPr>
                              <m:brk m:alnAt="7"/>
                            </m:rPr>
                            <a:rPr lang="es-CL" b="0" i="1" smtClean="0">
                              <a:solidFill>
                                <a:schemeClr val="bg1"/>
                              </a:solidFill>
                              <a:latin typeface="Cambria Math" panose="02040503050406030204" pitchFamily="18" charset="0"/>
                            </a:rPr>
                            <m:t>𝑠</m:t>
                          </m:r>
                          <m:r>
                            <a:rPr lang="es-CL" b="0" i="1" smtClean="0">
                              <a:solidFill>
                                <a:schemeClr val="bg1"/>
                              </a:solidFill>
                              <a:latin typeface="Cambria Math" panose="02040503050406030204" pitchFamily="18" charset="0"/>
                              <a:ea typeface="Cambria Math" panose="02040503050406030204" pitchFamily="18" charset="0"/>
                            </a:rPr>
                            <m:t>∈</m:t>
                          </m:r>
                          <m:r>
                            <a:rPr lang="es-CL" b="0" i="1" smtClean="0">
                              <a:solidFill>
                                <a:schemeClr val="bg1"/>
                              </a:solidFill>
                              <a:latin typeface="Cambria Math" panose="02040503050406030204" pitchFamily="18" charset="0"/>
                              <a:ea typeface="Cambria Math" panose="02040503050406030204" pitchFamily="18" charset="0"/>
                            </a:rPr>
                            <m:t>𝑆𝐸𝐶</m:t>
                          </m:r>
                        </m:sub>
                        <m:sup/>
                        <m:e>
                          <m:sSup>
                            <m:sSupPr>
                              <m:ctrlPr>
                                <a:rPr lang="es-CL" b="0" i="1" smtClean="0">
                                  <a:solidFill>
                                    <a:schemeClr val="bg1"/>
                                  </a:solidFill>
                                  <a:latin typeface="Cambria Math" panose="02040503050406030204" pitchFamily="18" charset="0"/>
                                </a:rPr>
                              </m:ctrlPr>
                            </m:sSupPr>
                            <m:e>
                              <m:r>
                                <a:rPr lang="es-CL" b="0" i="1" smtClean="0">
                                  <a:solidFill>
                                    <a:schemeClr val="bg1"/>
                                  </a:solidFill>
                                  <a:latin typeface="Cambria Math" panose="02040503050406030204" pitchFamily="18" charset="0"/>
                                </a:rPr>
                                <m:t>𝑋</m:t>
                              </m:r>
                            </m:e>
                            <m:sup>
                              <m:r>
                                <a:rPr lang="es-CL" b="0" i="1" smtClean="0">
                                  <a:solidFill>
                                    <a:schemeClr val="bg1"/>
                                  </a:solidFill>
                                  <a:latin typeface="Cambria Math" panose="02040503050406030204" pitchFamily="18" charset="0"/>
                                </a:rPr>
                                <m:t>𝑝</m:t>
                              </m:r>
                              <m:r>
                                <a:rPr lang="es-CL" b="0" i="1" smtClean="0">
                                  <a:solidFill>
                                    <a:schemeClr val="bg1"/>
                                  </a:solidFill>
                                  <a:latin typeface="Cambria Math" panose="02040503050406030204" pitchFamily="18" charset="0"/>
                                </a:rPr>
                                <m:t>,</m:t>
                              </m:r>
                              <m:r>
                                <a:rPr lang="es-CL" b="0" i="1" smtClean="0">
                                  <a:solidFill>
                                    <a:schemeClr val="bg1"/>
                                  </a:solidFill>
                                  <a:latin typeface="Cambria Math" panose="02040503050406030204" pitchFamily="18" charset="0"/>
                                </a:rPr>
                                <m:t>𝑠</m:t>
                              </m:r>
                            </m:sup>
                          </m:sSup>
                        </m:e>
                      </m:nary>
                    </m:oMath>
                  </m:oMathPara>
                </a14:m>
                <a:endParaRPr lang="es-CL" dirty="0">
                  <a:solidFill>
                    <a:schemeClr val="bg1"/>
                  </a:solidFill>
                </a:endParaRPr>
              </a:p>
            </p:txBody>
          </p:sp>
        </mc:Choice>
        <mc:Fallback xmlns="">
          <p:sp>
            <p:nvSpPr>
              <p:cNvPr id="21" name="CuadroTexto 20">
                <a:extLst>
                  <a:ext uri="{FF2B5EF4-FFF2-40B4-BE49-F238E27FC236}">
                    <a16:creationId xmlns:a16="http://schemas.microsoft.com/office/drawing/2014/main" id="{16A8327C-0602-E6FD-E572-7E5F9CC26100}"/>
                  </a:ext>
                </a:extLst>
              </p:cNvPr>
              <p:cNvSpPr txBox="1">
                <a:spLocks noRot="1" noChangeAspect="1" noMove="1" noResize="1" noEditPoints="1" noAdjustHandles="1" noChangeArrowheads="1" noChangeShapeType="1" noTextEdit="1"/>
              </p:cNvSpPr>
              <p:nvPr/>
            </p:nvSpPr>
            <p:spPr>
              <a:xfrm>
                <a:off x="1026282" y="5304751"/>
                <a:ext cx="5351658" cy="672492"/>
              </a:xfrm>
              <a:prstGeom prst="rect">
                <a:avLst/>
              </a:prstGeom>
              <a:blipFill>
                <a:blip r:embed="rId5"/>
                <a:stretch>
                  <a:fillRect/>
                </a:stretch>
              </a:blipFill>
            </p:spPr>
            <p:txBody>
              <a:bodyPr/>
              <a:lstStyle/>
              <a:p>
                <a:r>
                  <a:rPr lang="es-CL">
                    <a:noFill/>
                  </a:rPr>
                  <a:t> </a:t>
                </a:r>
              </a:p>
            </p:txBody>
          </p:sp>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a:p>
        </p:txBody>
      </p:sp>
      <p:sp>
        <p:nvSpPr>
          <p:cNvPr id="3" name="Text 1"/>
          <p:cNvSpPr/>
          <p:nvPr/>
        </p:nvSpPr>
        <p:spPr>
          <a:xfrm>
            <a:off x="457200" y="384048"/>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11</a:t>
            </a:r>
            <a:endParaRPr lang="en-US" sz="1400" dirty="0"/>
          </a:p>
        </p:txBody>
      </p:sp>
      <p:sp>
        <p:nvSpPr>
          <p:cNvPr id="4" name="Text 2"/>
          <p:cNvSpPr/>
          <p:nvPr/>
        </p:nvSpPr>
        <p:spPr>
          <a:xfrm>
            <a:off x="1051560" y="365760"/>
            <a:ext cx="10698480" cy="502920"/>
          </a:xfrm>
          <a:prstGeom prst="rect">
            <a:avLst/>
          </a:prstGeom>
          <a:noFill/>
          <a:ln/>
        </p:spPr>
        <p:txBody>
          <a:bodyPr wrap="square" lIns="0" tIns="0" rIns="0" bIns="0" rtlCol="0" anchor="ctr"/>
          <a:lstStyle/>
          <a:p>
            <a:pPr marL="0" indent="0" algn="l">
              <a:buNone/>
            </a:pPr>
            <a:r>
              <a:rPr lang="en-US" sz="2400" b="1" dirty="0">
                <a:solidFill>
                  <a:srgbClr val="1E2761"/>
                </a:solidFill>
                <a:latin typeface="Cambria" pitchFamily="34" charset="0"/>
                <a:ea typeface="Cambria" pitchFamily="34" charset="-122"/>
                <a:cs typeface="Cambria" pitchFamily="34" charset="-120"/>
              </a:rPr>
              <a:t>Productos y comercio exterior (2/2)</a:t>
            </a:r>
            <a:endParaRPr lang="en-US" sz="2400" dirty="0"/>
          </a:p>
        </p:txBody>
      </p:sp>
      <p:sp>
        <p:nvSpPr>
          <p:cNvPr id="5" name="Text 3"/>
          <p:cNvSpPr/>
          <p:nvPr/>
        </p:nvSpPr>
        <p:spPr>
          <a:xfrm>
            <a:off x="640080" y="1005840"/>
            <a:ext cx="10972800" cy="365760"/>
          </a:xfrm>
          <a:prstGeom prst="rect">
            <a:avLst/>
          </a:prstGeom>
          <a:noFill/>
          <a:ln/>
        </p:spPr>
        <p:txBody>
          <a:bodyPr wrap="square" lIns="0" tIns="0" rIns="0" bIns="0" rtlCol="0" anchor="ctr"/>
          <a:lstStyle/>
          <a:p>
            <a:pPr marL="0" indent="0" algn="l">
              <a:buNone/>
            </a:pPr>
            <a:r>
              <a:rPr lang="en-US" sz="1300" i="1" dirty="0">
                <a:solidFill>
                  <a:srgbClr val="64748B"/>
                </a:solidFill>
                <a:latin typeface="Calibri" pitchFamily="34" charset="0"/>
                <a:ea typeface="Calibri" pitchFamily="34" charset="-122"/>
                <a:cs typeface="Calibri" pitchFamily="34" charset="-120"/>
              </a:rPr>
              <a:t>Identidades tributarias y vínculo con precios externos.</a:t>
            </a:r>
            <a:endParaRPr lang="en-US" sz="1300" dirty="0"/>
          </a:p>
        </p:txBody>
      </p:sp>
      <p:sp>
        <p:nvSpPr>
          <p:cNvPr id="6" name="Shape 4"/>
          <p:cNvSpPr/>
          <p:nvPr/>
        </p:nvSpPr>
        <p:spPr>
          <a:xfrm>
            <a:off x="640080" y="1554480"/>
            <a:ext cx="11064240" cy="2286000"/>
          </a:xfrm>
          <a:prstGeom prst="rect">
            <a:avLst/>
          </a:prstGeom>
          <a:solidFill>
            <a:srgbClr val="F5F7FA"/>
          </a:solidFill>
          <a:ln w="9525">
            <a:solidFill>
              <a:srgbClr val="E2E8F0"/>
            </a:solidFill>
            <a:prstDash val="solid"/>
          </a:ln>
        </p:spPr>
        <p:txBody>
          <a:bodyPr/>
          <a:lstStyle/>
          <a:p>
            <a:endParaRPr lang="es-CL"/>
          </a:p>
        </p:txBody>
      </p:sp>
      <p:sp>
        <p:nvSpPr>
          <p:cNvPr id="7" name="Shape 5"/>
          <p:cNvSpPr/>
          <p:nvPr/>
        </p:nvSpPr>
        <p:spPr>
          <a:xfrm>
            <a:off x="640080" y="1554480"/>
            <a:ext cx="73152" cy="2286000"/>
          </a:xfrm>
          <a:prstGeom prst="rect">
            <a:avLst/>
          </a:prstGeom>
          <a:solidFill>
            <a:srgbClr val="D4A82A"/>
          </a:solidFill>
          <a:ln w="12700">
            <a:solidFill>
              <a:srgbClr val="D4A82A"/>
            </a:solidFill>
            <a:prstDash val="solid"/>
          </a:ln>
        </p:spPr>
        <p:txBody>
          <a:bodyPr/>
          <a:lstStyle/>
          <a:p>
            <a:endParaRPr lang="es-CL"/>
          </a:p>
        </p:txBody>
      </p:sp>
      <p:sp>
        <p:nvSpPr>
          <p:cNvPr id="8" name="Text 6"/>
          <p:cNvSpPr/>
          <p:nvPr/>
        </p:nvSpPr>
        <p:spPr>
          <a:xfrm>
            <a:off x="868680" y="1691640"/>
            <a:ext cx="10607040" cy="411480"/>
          </a:xfrm>
          <a:prstGeom prst="rect">
            <a:avLst/>
          </a:prstGeom>
          <a:noFill/>
          <a:ln/>
        </p:spPr>
        <p:txBody>
          <a:bodyPr wrap="square" lIns="0" tIns="0" rIns="0" bIns="0" rtlCol="0" anchor="ctr"/>
          <a:lstStyle/>
          <a:p>
            <a:pPr marL="0" indent="0" algn="l">
              <a:buNone/>
            </a:pPr>
            <a:r>
              <a:rPr lang="en-US" sz="1600" b="1" dirty="0">
                <a:solidFill>
                  <a:srgbClr val="1E2761"/>
                </a:solidFill>
                <a:latin typeface="Cambria" pitchFamily="34" charset="0"/>
                <a:ea typeface="Cambria" pitchFamily="34" charset="-122"/>
                <a:cs typeface="Cambria" pitchFamily="34" charset="-120"/>
              </a:rPr>
              <a:t>Recaudación indirecta y vínculo de precios</a:t>
            </a:r>
            <a:endParaRPr lang="en-US" sz="1600" dirty="0"/>
          </a:p>
        </p:txBody>
      </p:sp>
      <p:sp>
        <p:nvSpPr>
          <p:cNvPr id="9" name="Text 7"/>
          <p:cNvSpPr/>
          <p:nvPr/>
        </p:nvSpPr>
        <p:spPr>
          <a:xfrm>
            <a:off x="868680" y="2194560"/>
            <a:ext cx="10607040" cy="1645920"/>
          </a:xfrm>
          <a:prstGeom prst="rect">
            <a:avLst/>
          </a:prstGeom>
          <a:noFill/>
          <a:ln/>
        </p:spPr>
        <p:txBody>
          <a:bodyPr wrap="square" lIns="0" tIns="0" rIns="0" bIns="0" rtlCol="0" anchor="t"/>
          <a:lstStyle/>
          <a:p>
            <a:pPr marL="0" indent="0" algn="l">
              <a:spcAft>
                <a:spcPts val="400"/>
              </a:spcAft>
              <a:buNone/>
            </a:pPr>
            <a:endParaRPr lang="en-US" sz="1300" dirty="0">
              <a:solidFill>
                <a:srgbClr val="1E2761"/>
              </a:solidFill>
              <a:latin typeface="Consolas" pitchFamily="34" charset="0"/>
              <a:ea typeface="Consolas" pitchFamily="34" charset="-122"/>
              <a:cs typeface="Consolas" pitchFamily="34" charset="-120"/>
            </a:endParaRPr>
          </a:p>
          <a:p>
            <a:pPr marL="0" indent="0" algn="l">
              <a:spcAft>
                <a:spcPts val="400"/>
              </a:spcAft>
              <a:buNone/>
            </a:pPr>
            <a:endParaRPr lang="en-US" sz="1300" dirty="0">
              <a:solidFill>
                <a:srgbClr val="1E2761"/>
              </a:solidFill>
              <a:latin typeface="Consolas" pitchFamily="34" charset="0"/>
              <a:ea typeface="Consolas" pitchFamily="34" charset="-122"/>
              <a:cs typeface="Consolas" pitchFamily="34" charset="-120"/>
            </a:endParaRPr>
          </a:p>
          <a:p>
            <a:pPr marL="0" indent="0" algn="l">
              <a:spcAft>
                <a:spcPts val="400"/>
              </a:spcAft>
              <a:buNone/>
            </a:pPr>
            <a:endParaRPr lang="en-US" sz="1300" dirty="0">
              <a:solidFill>
                <a:srgbClr val="1E2761"/>
              </a:solidFill>
              <a:latin typeface="Consolas" pitchFamily="34" charset="0"/>
              <a:ea typeface="Consolas" pitchFamily="34" charset="-122"/>
              <a:cs typeface="Consolas" pitchFamily="34" charset="-120"/>
            </a:endParaRPr>
          </a:p>
          <a:p>
            <a:pPr marL="0" indent="0" algn="l">
              <a:spcAft>
                <a:spcPts val="400"/>
              </a:spcAft>
              <a:buNone/>
            </a:pPr>
            <a:endParaRPr lang="en-US" sz="1300" dirty="0">
              <a:solidFill>
                <a:srgbClr val="1E2761"/>
              </a:solidFill>
              <a:latin typeface="Consolas" pitchFamily="34" charset="0"/>
              <a:ea typeface="Consolas" pitchFamily="34" charset="-122"/>
              <a:cs typeface="Consolas" pitchFamily="34" charset="-120"/>
            </a:endParaRPr>
          </a:p>
          <a:p>
            <a:pPr marL="0" indent="0" algn="l">
              <a:spcAft>
                <a:spcPts val="400"/>
              </a:spcAft>
              <a:buNone/>
            </a:pPr>
            <a:endParaRPr lang="en-US" sz="1300" dirty="0">
              <a:solidFill>
                <a:srgbClr val="1E2761"/>
              </a:solidFill>
              <a:latin typeface="Consolas" pitchFamily="34" charset="0"/>
              <a:ea typeface="Consolas" pitchFamily="34" charset="-122"/>
              <a:cs typeface="Consolas" pitchFamily="34" charset="-120"/>
            </a:endParaRPr>
          </a:p>
        </p:txBody>
      </p:sp>
      <p:sp>
        <p:nvSpPr>
          <p:cNvPr id="10" name="Shape 8"/>
          <p:cNvSpPr/>
          <p:nvPr/>
        </p:nvSpPr>
        <p:spPr>
          <a:xfrm>
            <a:off x="640080" y="4114800"/>
            <a:ext cx="11064240" cy="2194560"/>
          </a:xfrm>
          <a:prstGeom prst="rect">
            <a:avLst/>
          </a:prstGeom>
          <a:solidFill>
            <a:srgbClr val="1E2761"/>
          </a:solidFill>
          <a:ln w="12700">
            <a:solidFill>
              <a:srgbClr val="1E2761"/>
            </a:solidFill>
            <a:prstDash val="solid"/>
          </a:ln>
        </p:spPr>
        <p:txBody>
          <a:bodyPr/>
          <a:lstStyle/>
          <a:p>
            <a:endParaRPr lang="es-CL"/>
          </a:p>
        </p:txBody>
      </p:sp>
      <p:sp>
        <p:nvSpPr>
          <p:cNvPr id="11" name="Text 9"/>
          <p:cNvSpPr/>
          <p:nvPr/>
        </p:nvSpPr>
        <p:spPr>
          <a:xfrm>
            <a:off x="868680" y="4251960"/>
            <a:ext cx="10607040" cy="365760"/>
          </a:xfrm>
          <a:prstGeom prst="rect">
            <a:avLst/>
          </a:prstGeom>
          <a:noFill/>
          <a:ln/>
        </p:spPr>
        <p:txBody>
          <a:bodyPr wrap="square" lIns="0" tIns="0" rIns="0" bIns="0" rtlCol="0" anchor="ctr"/>
          <a:lstStyle/>
          <a:p>
            <a:pPr marL="0" indent="0" algn="l">
              <a:buNone/>
            </a:pPr>
            <a:r>
              <a:rPr lang="en-US" sz="1400" b="1" dirty="0">
                <a:solidFill>
                  <a:srgbClr val="D4A82A"/>
                </a:solidFill>
                <a:latin typeface="Cambria" pitchFamily="34" charset="0"/>
                <a:ea typeface="Cambria" pitchFamily="34" charset="-122"/>
                <a:cs typeface="Cambria" pitchFamily="34" charset="-120"/>
              </a:rPr>
              <a:t>Implicación importante</a:t>
            </a:r>
            <a:endParaRPr lang="en-US" sz="1400" dirty="0"/>
          </a:p>
        </p:txBody>
      </p:sp>
      <p:sp>
        <p:nvSpPr>
          <p:cNvPr id="12" name="Text 10"/>
          <p:cNvSpPr/>
          <p:nvPr/>
        </p:nvSpPr>
        <p:spPr>
          <a:xfrm>
            <a:off x="868680" y="4663440"/>
            <a:ext cx="10607040" cy="1554480"/>
          </a:xfrm>
          <a:prstGeom prst="rect">
            <a:avLst/>
          </a:prstGeom>
          <a:noFill/>
          <a:ln/>
        </p:spPr>
        <p:txBody>
          <a:bodyPr wrap="square" lIns="0" tIns="0" rIns="0" bIns="0" rtlCol="0" anchor="t"/>
          <a:lstStyle/>
          <a:p>
            <a:pPr marL="0" indent="0" algn="l">
              <a:buNone/>
            </a:pPr>
            <a:r>
              <a:rPr lang="en-US" sz="1200" dirty="0">
                <a:solidFill>
                  <a:srgbClr val="FFFFFF"/>
                </a:solidFill>
                <a:latin typeface="Calibri" pitchFamily="34" charset="0"/>
                <a:ea typeface="Calibri" pitchFamily="34" charset="-122"/>
                <a:cs typeface="Calibri" pitchFamily="34" charset="-120"/>
              </a:rPr>
              <a:t>El tipo de cambio real (exr) es </a:t>
            </a:r>
            <a:r>
              <a:rPr lang="en-US" sz="1200" b="1" dirty="0">
                <a:solidFill>
                  <a:srgbClr val="D4A82A"/>
                </a:solidFill>
                <a:latin typeface="Calibri" pitchFamily="34" charset="0"/>
                <a:ea typeface="Calibri" pitchFamily="34" charset="-122"/>
                <a:cs typeface="Calibri" pitchFamily="34" charset="-120"/>
              </a:rPr>
              <a:t>endógeno</a:t>
            </a:r>
            <a:r>
              <a:rPr lang="en-US" sz="1200" dirty="0">
                <a:solidFill>
                  <a:srgbClr val="FFFFFF"/>
                </a:solidFill>
                <a:latin typeface="Calibri" pitchFamily="34" charset="0"/>
                <a:ea typeface="Calibri" pitchFamily="34" charset="-122"/>
                <a:cs typeface="Calibri" pitchFamily="34" charset="-120"/>
              </a:rPr>
              <a:t> en esta versión del modelo. Esto significa que los precios pm_p, pe_p, pd_p y p_p transmiten el ajuste necesario para compatibilizar el equilibrio comercial con un nivel </a:t>
            </a:r>
            <a:r>
              <a:rPr lang="en-US" sz="1200" b="1" dirty="0">
                <a:solidFill>
                  <a:srgbClr val="D4A82A"/>
                </a:solidFill>
                <a:latin typeface="Calibri" pitchFamily="34" charset="0"/>
                <a:ea typeface="Calibri" pitchFamily="34" charset="-122"/>
                <a:cs typeface="Calibri" pitchFamily="34" charset="-120"/>
              </a:rPr>
              <a:t>fijo de ahorro externo</a:t>
            </a:r>
            <a:r>
              <a:rPr lang="en-US" sz="1200" dirty="0">
                <a:solidFill>
                  <a:srgbClr val="FFFFFF"/>
                </a:solidFill>
                <a:latin typeface="Calibri" pitchFamily="34" charset="0"/>
                <a:ea typeface="Calibri" pitchFamily="34" charset="-122"/>
                <a:cs typeface="Calibri" pitchFamily="34" charset="-120"/>
              </a:rPr>
              <a:t>.</a:t>
            </a:r>
            <a:endParaRPr lang="en-US" sz="1200" dirty="0"/>
          </a:p>
          <a:p>
            <a:pPr marL="0" indent="0" algn="l">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marL="0" indent="0" algn="l">
              <a:buNone/>
            </a:pPr>
            <a:r>
              <a:rPr lang="en-US" sz="1200" dirty="0">
                <a:solidFill>
                  <a:srgbClr val="FFFFFF"/>
                </a:solidFill>
                <a:latin typeface="Calibri" pitchFamily="34" charset="0"/>
                <a:ea typeface="Calibri" pitchFamily="34" charset="-122"/>
                <a:cs typeface="Calibri" pitchFamily="34" charset="-120"/>
              </a:rPr>
              <a:t>Los choques tributarios se absorben vía precios relativos (competitividad y términos de intercambio), no vía financiamiento externo. Esta elección de cierre es decisiva para la lectura de los resultados.</a:t>
            </a:r>
            <a:endParaRPr lang="en-US" sz="1200" dirty="0"/>
          </a:p>
        </p:txBody>
      </p:sp>
      <p:sp>
        <p:nvSpPr>
          <p:cNvPr id="13" name="Text 11"/>
          <p:cNvSpPr/>
          <p:nvPr/>
        </p:nvSpPr>
        <p:spPr>
          <a:xfrm>
            <a:off x="457200" y="6492240"/>
            <a:ext cx="11247120" cy="274320"/>
          </a:xfrm>
          <a:prstGeom prst="rect">
            <a:avLst/>
          </a:prstGeom>
          <a:noFill/>
          <a:ln/>
        </p:spPr>
        <p:txBody>
          <a:bodyPr wrap="square"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MEGC 12 sectores · Chile 2023 · SII</a:t>
            </a:r>
            <a:endParaRPr lang="en-US" sz="900" dirty="0"/>
          </a:p>
        </p:txBody>
      </p:sp>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E4B8F725-07F4-B1C1-47C8-0974A1883D56}"/>
                  </a:ext>
                </a:extLst>
              </p:cNvPr>
              <p:cNvSpPr txBox="1"/>
              <p:nvPr/>
            </p:nvSpPr>
            <p:spPr>
              <a:xfrm>
                <a:off x="868680" y="2290902"/>
                <a:ext cx="262668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CL" i="1" smtClean="0">
                              <a:latin typeface="Cambria Math" panose="02040503050406030204" pitchFamily="18" charset="0"/>
                            </a:rPr>
                          </m:ctrlPr>
                        </m:sSupPr>
                        <m:e>
                          <m:r>
                            <a:rPr lang="es-CL" b="0" i="1" smtClean="0">
                              <a:latin typeface="Cambria Math" panose="02040503050406030204" pitchFamily="18" charset="0"/>
                            </a:rPr>
                            <m:t>𝑉𝐴𝑇</m:t>
                          </m:r>
                        </m:e>
                        <m:sup>
                          <m:r>
                            <a:rPr lang="es-CL" b="0" i="1" smtClean="0">
                              <a:latin typeface="Cambria Math" panose="02040503050406030204" pitchFamily="18" charset="0"/>
                            </a:rPr>
                            <m:t>𝑝</m:t>
                          </m:r>
                        </m:sup>
                      </m:sSup>
                      <m:r>
                        <a:rPr lang="es-CL" b="0" i="1" smtClean="0">
                          <a:latin typeface="Cambria Math" panose="02040503050406030204" pitchFamily="18" charset="0"/>
                        </a:rPr>
                        <m:t>=</m:t>
                      </m:r>
                      <m:sSup>
                        <m:sSupPr>
                          <m:ctrlPr>
                            <a:rPr lang="es-CL" b="0" i="1" smtClean="0">
                              <a:latin typeface="Cambria Math" panose="02040503050406030204" pitchFamily="18" charset="0"/>
                            </a:rPr>
                          </m:ctrlPr>
                        </m:sSupPr>
                        <m:e>
                          <m:r>
                            <a:rPr lang="es-CL" b="0" i="1" smtClean="0">
                              <a:latin typeface="Cambria Math" panose="02040503050406030204" pitchFamily="18" charset="0"/>
                            </a:rPr>
                            <m:t>𝑣𝑎𝑡</m:t>
                          </m:r>
                        </m:e>
                        <m:sup>
                          <m:r>
                            <a:rPr lang="es-CL" b="0" i="1" smtClean="0">
                              <a:latin typeface="Cambria Math" panose="02040503050406030204" pitchFamily="18" charset="0"/>
                            </a:rPr>
                            <m:t>𝑝</m:t>
                          </m:r>
                        </m:sup>
                      </m:sSup>
                      <m:sSup>
                        <m:sSupPr>
                          <m:ctrlPr>
                            <a:rPr lang="es-CL" b="0" i="1" smtClean="0">
                              <a:latin typeface="Cambria Math" panose="02040503050406030204" pitchFamily="18" charset="0"/>
                            </a:rPr>
                          </m:ctrlPr>
                        </m:sSupPr>
                        <m:e>
                          <m:r>
                            <a:rPr lang="es-CL" b="0" i="1" smtClean="0">
                              <a:latin typeface="Cambria Math" panose="02040503050406030204" pitchFamily="18" charset="0"/>
                            </a:rPr>
                            <m:t>𝑝</m:t>
                          </m:r>
                        </m:e>
                        <m:sup>
                          <m:r>
                            <a:rPr lang="es-CL" b="0" i="1" smtClean="0">
                              <a:latin typeface="Cambria Math" panose="02040503050406030204" pitchFamily="18" charset="0"/>
                            </a:rPr>
                            <m:t>𝑝</m:t>
                          </m:r>
                        </m:sup>
                      </m:sSup>
                      <m:sSup>
                        <m:sSupPr>
                          <m:ctrlPr>
                            <a:rPr lang="es-CL" b="0" i="1" smtClean="0">
                              <a:latin typeface="Cambria Math" panose="02040503050406030204" pitchFamily="18" charset="0"/>
                            </a:rPr>
                          </m:ctrlPr>
                        </m:sSupPr>
                        <m:e>
                          <m:r>
                            <a:rPr lang="es-CL" b="0" i="1" smtClean="0">
                              <a:latin typeface="Cambria Math" panose="02040503050406030204" pitchFamily="18" charset="0"/>
                            </a:rPr>
                            <m:t>𝑇𝐷</m:t>
                          </m:r>
                          <m:r>
                            <a:rPr lang="es-CL" b="0" i="1" smtClean="0">
                              <a:latin typeface="Cambria Math" panose="02040503050406030204" pitchFamily="18" charset="0"/>
                            </a:rPr>
                            <m:t>_</m:t>
                          </m:r>
                          <m:r>
                            <a:rPr lang="es-CL" b="0" i="1" smtClean="0">
                              <a:latin typeface="Cambria Math" panose="02040503050406030204" pitchFamily="18" charset="0"/>
                            </a:rPr>
                            <m:t>𝐷𝑜𝑚</m:t>
                          </m:r>
                        </m:e>
                        <m:sup>
                          <m:r>
                            <a:rPr lang="es-CL" b="0" i="1" smtClean="0">
                              <a:latin typeface="Cambria Math" panose="02040503050406030204" pitchFamily="18" charset="0"/>
                            </a:rPr>
                            <m:t>𝑝</m:t>
                          </m:r>
                        </m:sup>
                      </m:sSup>
                    </m:oMath>
                  </m:oMathPara>
                </a14:m>
                <a:endParaRPr lang="es-CL" dirty="0"/>
              </a:p>
            </p:txBody>
          </p:sp>
        </mc:Choice>
        <mc:Fallback xmlns="">
          <p:sp>
            <p:nvSpPr>
              <p:cNvPr id="14" name="CuadroTexto 13">
                <a:extLst>
                  <a:ext uri="{FF2B5EF4-FFF2-40B4-BE49-F238E27FC236}">
                    <a16:creationId xmlns:a16="http://schemas.microsoft.com/office/drawing/2014/main" id="{E4B8F725-07F4-B1C1-47C8-0974A1883D56}"/>
                  </a:ext>
                </a:extLst>
              </p:cNvPr>
              <p:cNvSpPr txBox="1">
                <a:spLocks noRot="1" noChangeAspect="1" noMove="1" noResize="1" noEditPoints="1" noAdjustHandles="1" noChangeArrowheads="1" noChangeShapeType="1" noTextEdit="1"/>
              </p:cNvSpPr>
              <p:nvPr/>
            </p:nvSpPr>
            <p:spPr>
              <a:xfrm>
                <a:off x="868680" y="2290902"/>
                <a:ext cx="2626681" cy="276999"/>
              </a:xfrm>
              <a:prstGeom prst="rect">
                <a:avLst/>
              </a:prstGeom>
              <a:blipFill>
                <a:blip r:embed="rId3"/>
                <a:stretch>
                  <a:fillRect l="-1860" r="-465" b="-26667"/>
                </a:stretch>
              </a:blipFill>
            </p:spPr>
            <p:txBody>
              <a:bodyPr/>
              <a:lstStyle/>
              <a:p>
                <a:r>
                  <a:rPr lang="es-CL">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1210838B-5F17-656A-7595-7E6CFE0760CC}"/>
                  </a:ext>
                </a:extLst>
              </p:cNvPr>
              <p:cNvSpPr txBox="1"/>
              <p:nvPr/>
            </p:nvSpPr>
            <p:spPr>
              <a:xfrm>
                <a:off x="868680" y="2636481"/>
                <a:ext cx="419627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CL" i="1" smtClean="0">
                              <a:latin typeface="Cambria Math" panose="02040503050406030204" pitchFamily="18" charset="0"/>
                            </a:rPr>
                          </m:ctrlPr>
                        </m:sSupPr>
                        <m:e>
                          <m:r>
                            <a:rPr lang="es-CL" b="0" i="1" smtClean="0">
                              <a:latin typeface="Cambria Math" panose="02040503050406030204" pitchFamily="18" charset="0"/>
                            </a:rPr>
                            <m:t>𝐴𝑅𝐴𝑁𝐶𝐸𝐿</m:t>
                          </m:r>
                        </m:e>
                        <m:sup>
                          <m:r>
                            <a:rPr lang="es-CL" b="0" i="1" smtClean="0">
                              <a:latin typeface="Cambria Math" panose="02040503050406030204" pitchFamily="18" charset="0"/>
                            </a:rPr>
                            <m:t>𝑝</m:t>
                          </m:r>
                        </m:sup>
                      </m:sSup>
                      <m:r>
                        <a:rPr lang="es-CL" b="0" i="1" smtClean="0">
                          <a:latin typeface="Cambria Math" panose="02040503050406030204" pitchFamily="18" charset="0"/>
                        </a:rPr>
                        <m:t>=</m:t>
                      </m:r>
                      <m:sSup>
                        <m:sSupPr>
                          <m:ctrlPr>
                            <a:rPr lang="es-CL" b="0" i="1" smtClean="0">
                              <a:latin typeface="Cambria Math" panose="02040503050406030204" pitchFamily="18" charset="0"/>
                            </a:rPr>
                          </m:ctrlPr>
                        </m:sSupPr>
                        <m:e>
                          <m:r>
                            <a:rPr lang="es-CL" b="0" i="1" smtClean="0">
                              <a:latin typeface="Cambria Math" panose="02040503050406030204" pitchFamily="18" charset="0"/>
                            </a:rPr>
                            <m:t>𝑡𝑎𝑟</m:t>
                          </m:r>
                          <m:r>
                            <a:rPr lang="es-CL" b="0" i="1" smtClean="0">
                              <a:latin typeface="Cambria Math" panose="02040503050406030204" pitchFamily="18" charset="0"/>
                            </a:rPr>
                            <m:t>_</m:t>
                          </m:r>
                          <m:r>
                            <a:rPr lang="es-CL" b="0" i="1" smtClean="0">
                              <a:latin typeface="Cambria Math" panose="02040503050406030204" pitchFamily="18" charset="0"/>
                            </a:rPr>
                            <m:t>𝑟𝑎𝑡𝑒</m:t>
                          </m:r>
                        </m:e>
                        <m:sup>
                          <m:r>
                            <a:rPr lang="es-CL" b="0" i="1" smtClean="0">
                              <a:latin typeface="Cambria Math" panose="02040503050406030204" pitchFamily="18" charset="0"/>
                            </a:rPr>
                            <m:t>𝑝</m:t>
                          </m:r>
                        </m:sup>
                      </m:sSup>
                      <m:sSup>
                        <m:sSupPr>
                          <m:ctrlPr>
                            <a:rPr lang="es-CL" b="0" i="1" smtClean="0">
                              <a:latin typeface="Cambria Math" panose="02040503050406030204" pitchFamily="18" charset="0"/>
                            </a:rPr>
                          </m:ctrlPr>
                        </m:sSupPr>
                        <m:e>
                          <m:r>
                            <a:rPr lang="es-CL" b="0" i="1" smtClean="0">
                              <a:latin typeface="Cambria Math" panose="02040503050406030204" pitchFamily="18" charset="0"/>
                            </a:rPr>
                            <m:t>𝑝𝑤𝑜𝑟𝑙𝑑𝑚</m:t>
                          </m:r>
                        </m:e>
                        <m:sup>
                          <m:r>
                            <a:rPr lang="es-CL" b="0" i="1" smtClean="0">
                              <a:latin typeface="Cambria Math" panose="02040503050406030204" pitchFamily="18" charset="0"/>
                            </a:rPr>
                            <m:t>𝑝</m:t>
                          </m:r>
                        </m:sup>
                      </m:sSup>
                      <m:r>
                        <a:rPr lang="es-CL" b="0" i="1" smtClean="0">
                          <a:latin typeface="Cambria Math" panose="02040503050406030204" pitchFamily="18" charset="0"/>
                        </a:rPr>
                        <m:t>𝑒𝑥𝑟</m:t>
                      </m:r>
                      <m:sSup>
                        <m:sSupPr>
                          <m:ctrlPr>
                            <a:rPr lang="es-CL" b="0" i="1" smtClean="0">
                              <a:latin typeface="Cambria Math" panose="02040503050406030204" pitchFamily="18" charset="0"/>
                            </a:rPr>
                          </m:ctrlPr>
                        </m:sSupPr>
                        <m:e>
                          <m:r>
                            <a:rPr lang="es-CL" b="0" i="1" smtClean="0">
                              <a:latin typeface="Cambria Math" panose="02040503050406030204" pitchFamily="18" charset="0"/>
                            </a:rPr>
                            <m:t>𝑀</m:t>
                          </m:r>
                        </m:e>
                        <m:sup>
                          <m:r>
                            <a:rPr lang="es-CL" b="0" i="1" smtClean="0">
                              <a:latin typeface="Cambria Math" panose="02040503050406030204" pitchFamily="18" charset="0"/>
                            </a:rPr>
                            <m:t>𝑝</m:t>
                          </m:r>
                        </m:sup>
                      </m:sSup>
                    </m:oMath>
                  </m:oMathPara>
                </a14:m>
                <a:endParaRPr lang="es-CL" dirty="0"/>
              </a:p>
            </p:txBody>
          </p:sp>
        </mc:Choice>
        <mc:Fallback xmlns="">
          <p:sp>
            <p:nvSpPr>
              <p:cNvPr id="15" name="CuadroTexto 14">
                <a:extLst>
                  <a:ext uri="{FF2B5EF4-FFF2-40B4-BE49-F238E27FC236}">
                    <a16:creationId xmlns:a16="http://schemas.microsoft.com/office/drawing/2014/main" id="{1210838B-5F17-656A-7595-7E6CFE0760CC}"/>
                  </a:ext>
                </a:extLst>
              </p:cNvPr>
              <p:cNvSpPr txBox="1">
                <a:spLocks noRot="1" noChangeAspect="1" noMove="1" noResize="1" noEditPoints="1" noAdjustHandles="1" noChangeArrowheads="1" noChangeShapeType="1" noTextEdit="1"/>
              </p:cNvSpPr>
              <p:nvPr/>
            </p:nvSpPr>
            <p:spPr>
              <a:xfrm>
                <a:off x="868680" y="2636481"/>
                <a:ext cx="4196277" cy="276999"/>
              </a:xfrm>
              <a:prstGeom prst="rect">
                <a:avLst/>
              </a:prstGeom>
              <a:blipFill>
                <a:blip r:embed="rId4"/>
                <a:stretch>
                  <a:fillRect l="-872" t="-2174" b="-32609"/>
                </a:stretch>
              </a:blipFill>
            </p:spPr>
            <p:txBody>
              <a:bodyPr/>
              <a:lstStyle/>
              <a:p>
                <a:r>
                  <a:rPr lang="es-CL">
                    <a:noFill/>
                  </a:rPr>
                  <a:t> </a:t>
                </a:r>
              </a:p>
            </p:txBody>
          </p:sp>
        </mc:Fallback>
      </mc:AlternateContent>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9BB9A514-65DB-4FBF-5B76-DD85116D3CED}"/>
                  </a:ext>
                </a:extLst>
              </p:cNvPr>
              <p:cNvSpPr txBox="1"/>
              <p:nvPr/>
            </p:nvSpPr>
            <p:spPr>
              <a:xfrm>
                <a:off x="822960" y="2982060"/>
                <a:ext cx="636347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CL" i="1" smtClean="0">
                              <a:latin typeface="Cambria Math" panose="02040503050406030204" pitchFamily="18" charset="0"/>
                            </a:rPr>
                          </m:ctrlPr>
                        </m:sSupPr>
                        <m:e>
                          <m:r>
                            <a:rPr lang="es-CL" b="0" i="1" smtClean="0">
                              <a:latin typeface="Cambria Math" panose="02040503050406030204" pitchFamily="18" charset="0"/>
                            </a:rPr>
                            <m:t>𝑝𝑚</m:t>
                          </m:r>
                        </m:e>
                        <m:sup>
                          <m:r>
                            <a:rPr lang="es-CL" b="0" i="1" smtClean="0">
                              <a:latin typeface="Cambria Math" panose="02040503050406030204" pitchFamily="18" charset="0"/>
                            </a:rPr>
                            <m:t>𝑝</m:t>
                          </m:r>
                        </m:sup>
                      </m:sSup>
                      <m:r>
                        <a:rPr lang="es-CL" b="0" i="1" smtClean="0">
                          <a:latin typeface="Cambria Math" panose="02040503050406030204" pitchFamily="18" charset="0"/>
                        </a:rPr>
                        <m:t>=</m:t>
                      </m:r>
                      <m:sSup>
                        <m:sSupPr>
                          <m:ctrlPr>
                            <a:rPr lang="es-CL" b="0" i="1" smtClean="0">
                              <a:latin typeface="Cambria Math" panose="02040503050406030204" pitchFamily="18" charset="0"/>
                            </a:rPr>
                          </m:ctrlPr>
                        </m:sSupPr>
                        <m:e>
                          <m:r>
                            <a:rPr lang="es-CL" b="0" i="1" smtClean="0">
                              <a:latin typeface="Cambria Math" panose="02040503050406030204" pitchFamily="18" charset="0"/>
                            </a:rPr>
                            <m:t>𝑝𝑤𝑜𝑟𝑙𝑑𝑚</m:t>
                          </m:r>
                        </m:e>
                        <m:sup>
                          <m:r>
                            <a:rPr lang="es-CL" b="0" i="1" smtClean="0">
                              <a:latin typeface="Cambria Math" panose="02040503050406030204" pitchFamily="18" charset="0"/>
                            </a:rPr>
                            <m:t>𝑝</m:t>
                          </m:r>
                        </m:sup>
                      </m:sSup>
                      <m:r>
                        <a:rPr lang="es-CL" b="0" i="1" smtClean="0">
                          <a:latin typeface="Cambria Math" panose="02040503050406030204" pitchFamily="18" charset="0"/>
                        </a:rPr>
                        <m:t>𝑒𝑥𝑟</m:t>
                      </m:r>
                      <m:d>
                        <m:dPr>
                          <m:ctrlPr>
                            <a:rPr lang="es-CL" b="0" i="1" smtClean="0">
                              <a:latin typeface="Cambria Math" panose="02040503050406030204" pitchFamily="18" charset="0"/>
                            </a:rPr>
                          </m:ctrlPr>
                        </m:dPr>
                        <m:e>
                          <m:r>
                            <a:rPr lang="es-CL" b="0" i="1" smtClean="0">
                              <a:latin typeface="Cambria Math" panose="02040503050406030204" pitchFamily="18" charset="0"/>
                            </a:rPr>
                            <m:t>1+</m:t>
                          </m:r>
                          <m:sSup>
                            <m:sSupPr>
                              <m:ctrlPr>
                                <a:rPr lang="es-CL" b="0" i="1" smtClean="0">
                                  <a:latin typeface="Cambria Math" panose="02040503050406030204" pitchFamily="18" charset="0"/>
                                </a:rPr>
                              </m:ctrlPr>
                            </m:sSupPr>
                            <m:e>
                              <m:r>
                                <a:rPr lang="es-CL" b="0" i="1" smtClean="0">
                                  <a:latin typeface="Cambria Math" panose="02040503050406030204" pitchFamily="18" charset="0"/>
                                </a:rPr>
                                <m:t>𝑡𝑎𝑥</m:t>
                              </m:r>
                              <m:r>
                                <a:rPr lang="es-CL" b="0" i="1" smtClean="0">
                                  <a:latin typeface="Cambria Math" panose="02040503050406030204" pitchFamily="18" charset="0"/>
                                </a:rPr>
                                <m:t>_</m:t>
                              </m:r>
                              <m:r>
                                <a:rPr lang="es-CL" b="0" i="1" smtClean="0">
                                  <a:latin typeface="Cambria Math" panose="02040503050406030204" pitchFamily="18" charset="0"/>
                                </a:rPr>
                                <m:t>𝑟𝑎𝑡𝑒</m:t>
                              </m:r>
                            </m:e>
                            <m:sup>
                              <m:r>
                                <a:rPr lang="es-CL" b="0" i="1" smtClean="0">
                                  <a:latin typeface="Cambria Math" panose="02040503050406030204" pitchFamily="18" charset="0"/>
                                </a:rPr>
                                <m:t>𝑝</m:t>
                              </m:r>
                            </m:sup>
                          </m:sSup>
                        </m:e>
                      </m:d>
                      <m:r>
                        <a:rPr lang="es-CL" b="0" i="1" smtClean="0">
                          <a:latin typeface="Cambria Math" panose="02040503050406030204" pitchFamily="18" charset="0"/>
                        </a:rPr>
                        <m:t> ,     </m:t>
                      </m:r>
                      <m:sSup>
                        <m:sSupPr>
                          <m:ctrlPr>
                            <a:rPr lang="es-CL" b="0" i="1" smtClean="0">
                              <a:latin typeface="Cambria Math" panose="02040503050406030204" pitchFamily="18" charset="0"/>
                            </a:rPr>
                          </m:ctrlPr>
                        </m:sSupPr>
                        <m:e>
                          <m:r>
                            <a:rPr lang="es-CL" b="0" i="1" smtClean="0">
                              <a:latin typeface="Cambria Math" panose="02040503050406030204" pitchFamily="18" charset="0"/>
                            </a:rPr>
                            <m:t>𝑝𝑒</m:t>
                          </m:r>
                        </m:e>
                        <m:sup>
                          <m:r>
                            <a:rPr lang="es-CL" b="0" i="1" smtClean="0">
                              <a:latin typeface="Cambria Math" panose="02040503050406030204" pitchFamily="18" charset="0"/>
                            </a:rPr>
                            <m:t>𝑝</m:t>
                          </m:r>
                        </m:sup>
                      </m:sSup>
                      <m:r>
                        <a:rPr lang="es-CL" b="0" i="1" smtClean="0">
                          <a:latin typeface="Cambria Math" panose="02040503050406030204" pitchFamily="18" charset="0"/>
                        </a:rPr>
                        <m:t>=</m:t>
                      </m:r>
                      <m:sSup>
                        <m:sSupPr>
                          <m:ctrlPr>
                            <a:rPr lang="es-CL" b="0" i="1" smtClean="0">
                              <a:latin typeface="Cambria Math" panose="02040503050406030204" pitchFamily="18" charset="0"/>
                            </a:rPr>
                          </m:ctrlPr>
                        </m:sSupPr>
                        <m:e>
                          <m:r>
                            <a:rPr lang="es-CL" b="0" i="1" smtClean="0">
                              <a:latin typeface="Cambria Math" panose="02040503050406030204" pitchFamily="18" charset="0"/>
                            </a:rPr>
                            <m:t>𝑝𝑤𝑜𝑟𝑙𝑑𝑒</m:t>
                          </m:r>
                        </m:e>
                        <m:sup>
                          <m:r>
                            <a:rPr lang="es-CL" b="0" i="1" smtClean="0">
                              <a:latin typeface="Cambria Math" panose="02040503050406030204" pitchFamily="18" charset="0"/>
                            </a:rPr>
                            <m:t>𝑝</m:t>
                          </m:r>
                        </m:sup>
                      </m:sSup>
                      <m:r>
                        <a:rPr lang="es-CL" b="0" i="1" smtClean="0">
                          <a:latin typeface="Cambria Math" panose="02040503050406030204" pitchFamily="18" charset="0"/>
                        </a:rPr>
                        <m:t>𝑒𝑥</m:t>
                      </m:r>
                    </m:oMath>
                  </m:oMathPara>
                </a14:m>
                <a:endParaRPr lang="es-CL" dirty="0"/>
              </a:p>
            </p:txBody>
          </p:sp>
        </mc:Choice>
        <mc:Fallback xmlns="">
          <p:sp>
            <p:nvSpPr>
              <p:cNvPr id="16" name="CuadroTexto 15">
                <a:extLst>
                  <a:ext uri="{FF2B5EF4-FFF2-40B4-BE49-F238E27FC236}">
                    <a16:creationId xmlns:a16="http://schemas.microsoft.com/office/drawing/2014/main" id="{9BB9A514-65DB-4FBF-5B76-DD85116D3CED}"/>
                  </a:ext>
                </a:extLst>
              </p:cNvPr>
              <p:cNvSpPr txBox="1">
                <a:spLocks noRot="1" noChangeAspect="1" noMove="1" noResize="1" noEditPoints="1" noAdjustHandles="1" noChangeArrowheads="1" noChangeShapeType="1" noTextEdit="1"/>
              </p:cNvSpPr>
              <p:nvPr/>
            </p:nvSpPr>
            <p:spPr>
              <a:xfrm>
                <a:off x="822960" y="2982060"/>
                <a:ext cx="6363473" cy="276999"/>
              </a:xfrm>
              <a:prstGeom prst="rect">
                <a:avLst/>
              </a:prstGeom>
              <a:blipFill>
                <a:blip r:embed="rId5"/>
                <a:stretch>
                  <a:fillRect l="-862" t="-2174" r="-383" b="-32609"/>
                </a:stretch>
              </a:blipFill>
            </p:spPr>
            <p:txBody>
              <a:bodyPr/>
              <a:lstStyle/>
              <a:p>
                <a:r>
                  <a:rPr lang="es-CL">
                    <a:noFill/>
                  </a:rPr>
                  <a:t> </a:t>
                </a:r>
              </a:p>
            </p:txBody>
          </p:sp>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a:p>
        </p:txBody>
      </p:sp>
      <p:sp>
        <p:nvSpPr>
          <p:cNvPr id="3" name="Text 1"/>
          <p:cNvSpPr/>
          <p:nvPr/>
        </p:nvSpPr>
        <p:spPr>
          <a:xfrm>
            <a:off x="457200" y="384048"/>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12</a:t>
            </a:r>
            <a:endParaRPr lang="en-US" sz="1400" dirty="0"/>
          </a:p>
        </p:txBody>
      </p:sp>
      <p:sp>
        <p:nvSpPr>
          <p:cNvPr id="4" name="Text 2"/>
          <p:cNvSpPr/>
          <p:nvPr/>
        </p:nvSpPr>
        <p:spPr>
          <a:xfrm>
            <a:off x="1051560" y="365760"/>
            <a:ext cx="10698480" cy="502920"/>
          </a:xfrm>
          <a:prstGeom prst="rect">
            <a:avLst/>
          </a:prstGeom>
          <a:noFill/>
          <a:ln/>
        </p:spPr>
        <p:txBody>
          <a:bodyPr wrap="square" lIns="0" tIns="0" rIns="0" bIns="0" rtlCol="0" anchor="ctr"/>
          <a:lstStyle/>
          <a:p>
            <a:pPr marL="0" indent="0" algn="l">
              <a:buNone/>
            </a:pPr>
            <a:r>
              <a:rPr lang="en-US" sz="2400" b="1" dirty="0">
                <a:solidFill>
                  <a:srgbClr val="1E2761"/>
                </a:solidFill>
                <a:latin typeface="Cambria" pitchFamily="34" charset="0"/>
                <a:ea typeface="Cambria" pitchFamily="34" charset="-122"/>
                <a:cs typeface="Cambria" pitchFamily="34" charset="-120"/>
              </a:rPr>
              <a:t>Bloque de firmas</a:t>
            </a:r>
            <a:endParaRPr lang="en-US" sz="2400" dirty="0"/>
          </a:p>
        </p:txBody>
      </p:sp>
      <p:sp>
        <p:nvSpPr>
          <p:cNvPr id="5" name="Text 3"/>
          <p:cNvSpPr/>
          <p:nvPr/>
        </p:nvSpPr>
        <p:spPr>
          <a:xfrm>
            <a:off x="640080" y="1005840"/>
            <a:ext cx="10972800" cy="365760"/>
          </a:xfrm>
          <a:prstGeom prst="rect">
            <a:avLst/>
          </a:prstGeom>
          <a:noFill/>
          <a:ln/>
        </p:spPr>
        <p:txBody>
          <a:bodyPr wrap="square" lIns="0" tIns="0" rIns="0" bIns="0" rtlCol="0" anchor="ctr"/>
          <a:lstStyle/>
          <a:p>
            <a:pPr marL="0" indent="0" algn="l">
              <a:buNone/>
            </a:pPr>
            <a:r>
              <a:rPr lang="en-US" sz="1300" i="1" dirty="0">
                <a:solidFill>
                  <a:srgbClr val="64748B"/>
                </a:solidFill>
                <a:latin typeface="Calibri" pitchFamily="34" charset="0"/>
                <a:ea typeface="Calibri" pitchFamily="34" charset="-122"/>
                <a:cs typeface="Calibri" pitchFamily="34" charset="-120"/>
              </a:rPr>
              <a:t>Punto conceptual clave: las firmas son una institución financiera, no una unidad productiva.</a:t>
            </a:r>
            <a:endParaRPr lang="en-US" sz="1300" dirty="0"/>
          </a:p>
        </p:txBody>
      </p:sp>
      <p:sp>
        <p:nvSpPr>
          <p:cNvPr id="6" name="Shape 4"/>
          <p:cNvSpPr/>
          <p:nvPr/>
        </p:nvSpPr>
        <p:spPr>
          <a:xfrm>
            <a:off x="5166360" y="2468880"/>
            <a:ext cx="1828800" cy="1371600"/>
          </a:xfrm>
          <a:prstGeom prst="rect">
            <a:avLst/>
          </a:prstGeom>
          <a:solidFill>
            <a:srgbClr val="1E2761"/>
          </a:solidFill>
          <a:ln w="12700">
            <a:solidFill>
              <a:srgbClr val="1E2761"/>
            </a:solidFill>
            <a:prstDash val="solid"/>
          </a:ln>
        </p:spPr>
        <p:txBody>
          <a:bodyPr/>
          <a:lstStyle/>
          <a:p>
            <a:endParaRPr lang="es-CL"/>
          </a:p>
        </p:txBody>
      </p:sp>
      <p:sp>
        <p:nvSpPr>
          <p:cNvPr id="7" name="Text 5"/>
          <p:cNvSpPr/>
          <p:nvPr/>
        </p:nvSpPr>
        <p:spPr>
          <a:xfrm>
            <a:off x="5166360" y="2468880"/>
            <a:ext cx="1828800" cy="13716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FIRMAS</a:t>
            </a:r>
            <a:endParaRPr lang="en-US" sz="1400" dirty="0"/>
          </a:p>
          <a:p>
            <a:pPr marL="0" indent="0" algn="ctr">
              <a:buNone/>
            </a:pPr>
            <a:r>
              <a:rPr lang="en-US" sz="1400" b="1" dirty="0">
                <a:solidFill>
                  <a:srgbClr val="FFFFFF"/>
                </a:solidFill>
                <a:latin typeface="Cambria" pitchFamily="34" charset="0"/>
                <a:ea typeface="Cambria" pitchFamily="34" charset="-122"/>
                <a:cs typeface="Cambria" pitchFamily="34" charset="-120"/>
              </a:rPr>
              <a:t>INGF</a:t>
            </a:r>
            <a:endParaRPr lang="en-US" sz="1400" dirty="0"/>
          </a:p>
        </p:txBody>
      </p:sp>
      <p:sp>
        <p:nvSpPr>
          <p:cNvPr id="8" name="Shape 6"/>
          <p:cNvSpPr/>
          <p:nvPr/>
        </p:nvSpPr>
        <p:spPr>
          <a:xfrm>
            <a:off x="822960" y="2468880"/>
            <a:ext cx="3291840" cy="502920"/>
          </a:xfrm>
          <a:prstGeom prst="rect">
            <a:avLst/>
          </a:prstGeom>
          <a:solidFill>
            <a:srgbClr val="CADCFC"/>
          </a:solidFill>
          <a:ln w="12700">
            <a:solidFill>
              <a:srgbClr val="E2E8F0"/>
            </a:solidFill>
            <a:prstDash val="solid"/>
          </a:ln>
        </p:spPr>
        <p:txBody>
          <a:bodyPr/>
          <a:lstStyle/>
          <a:p>
            <a:endParaRPr lang="es-CL"/>
          </a:p>
        </p:txBody>
      </p:sp>
      <p:sp>
        <p:nvSpPr>
          <p:cNvPr id="9" name="Text 7"/>
          <p:cNvSpPr/>
          <p:nvPr/>
        </p:nvSpPr>
        <p:spPr>
          <a:xfrm>
            <a:off x="822960" y="2468880"/>
            <a:ext cx="3291840" cy="502920"/>
          </a:xfrm>
          <a:prstGeom prst="rect">
            <a:avLst/>
          </a:prstGeom>
          <a:noFill/>
          <a:ln/>
        </p:spPr>
        <p:txBody>
          <a:bodyPr wrap="square" lIns="0" tIns="0" rIns="0" bIns="0"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Renta del capital corporativo (K_F · p^k)</a:t>
            </a:r>
            <a:endParaRPr lang="en-US" sz="1100" dirty="0"/>
          </a:p>
        </p:txBody>
      </p:sp>
      <p:sp>
        <p:nvSpPr>
          <p:cNvPr id="10" name="Shape 8"/>
          <p:cNvSpPr/>
          <p:nvPr/>
        </p:nvSpPr>
        <p:spPr>
          <a:xfrm>
            <a:off x="4114800" y="2715768"/>
            <a:ext cx="1051560" cy="0"/>
          </a:xfrm>
          <a:prstGeom prst="line">
            <a:avLst/>
          </a:prstGeom>
          <a:noFill/>
          <a:ln w="19050">
            <a:solidFill>
              <a:srgbClr val="4A6FA5"/>
            </a:solidFill>
            <a:prstDash val="solid"/>
            <a:tailEnd type="triangle"/>
          </a:ln>
        </p:spPr>
        <p:txBody>
          <a:bodyPr/>
          <a:lstStyle/>
          <a:p>
            <a:endParaRPr lang="es-CL"/>
          </a:p>
        </p:txBody>
      </p:sp>
      <p:sp>
        <p:nvSpPr>
          <p:cNvPr id="11" name="Shape 9"/>
          <p:cNvSpPr/>
          <p:nvPr/>
        </p:nvSpPr>
        <p:spPr>
          <a:xfrm>
            <a:off x="822960" y="3154680"/>
            <a:ext cx="3291840" cy="502920"/>
          </a:xfrm>
          <a:prstGeom prst="rect">
            <a:avLst/>
          </a:prstGeom>
          <a:solidFill>
            <a:srgbClr val="CADCFC"/>
          </a:solidFill>
          <a:ln w="12700">
            <a:solidFill>
              <a:srgbClr val="E2E8F0"/>
            </a:solidFill>
            <a:prstDash val="solid"/>
          </a:ln>
        </p:spPr>
        <p:txBody>
          <a:bodyPr/>
          <a:lstStyle/>
          <a:p>
            <a:endParaRPr lang="es-CL"/>
          </a:p>
        </p:txBody>
      </p:sp>
      <p:sp>
        <p:nvSpPr>
          <p:cNvPr id="12" name="Text 10"/>
          <p:cNvSpPr/>
          <p:nvPr/>
        </p:nvSpPr>
        <p:spPr>
          <a:xfrm>
            <a:off x="822960" y="3154680"/>
            <a:ext cx="3291840" cy="502920"/>
          </a:xfrm>
          <a:prstGeom prst="rect">
            <a:avLst/>
          </a:prstGeom>
          <a:noFill/>
          <a:ln/>
        </p:spPr>
        <p:txBody>
          <a:bodyPr wrap="square" lIns="0" tIns="0" rIns="0" bIns="0"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Contribuciones sociales asignadas (θ_cs · CONTSOC)</a:t>
            </a:r>
            <a:endParaRPr lang="en-US" sz="1100" dirty="0"/>
          </a:p>
        </p:txBody>
      </p:sp>
      <p:sp>
        <p:nvSpPr>
          <p:cNvPr id="13" name="Shape 11"/>
          <p:cNvSpPr/>
          <p:nvPr/>
        </p:nvSpPr>
        <p:spPr>
          <a:xfrm>
            <a:off x="4114800" y="3401568"/>
            <a:ext cx="1051560" cy="0"/>
          </a:xfrm>
          <a:prstGeom prst="line">
            <a:avLst/>
          </a:prstGeom>
          <a:noFill/>
          <a:ln w="19050">
            <a:solidFill>
              <a:srgbClr val="4A6FA5"/>
            </a:solidFill>
            <a:prstDash val="solid"/>
            <a:tailEnd type="triangle"/>
          </a:ln>
        </p:spPr>
        <p:txBody>
          <a:bodyPr/>
          <a:lstStyle/>
          <a:p>
            <a:endParaRPr lang="es-CL"/>
          </a:p>
        </p:txBody>
      </p:sp>
      <p:sp>
        <p:nvSpPr>
          <p:cNvPr id="14" name="Shape 12"/>
          <p:cNvSpPr/>
          <p:nvPr/>
        </p:nvSpPr>
        <p:spPr>
          <a:xfrm>
            <a:off x="8046720" y="1783080"/>
            <a:ext cx="3657600" cy="502920"/>
          </a:xfrm>
          <a:prstGeom prst="rect">
            <a:avLst/>
          </a:prstGeom>
          <a:solidFill>
            <a:srgbClr val="F5F7FA"/>
          </a:solidFill>
          <a:ln w="12700">
            <a:solidFill>
              <a:srgbClr val="E2E8F0"/>
            </a:solidFill>
            <a:prstDash val="solid"/>
          </a:ln>
        </p:spPr>
        <p:txBody>
          <a:bodyPr/>
          <a:lstStyle/>
          <a:p>
            <a:endParaRPr lang="es-CL"/>
          </a:p>
        </p:txBody>
      </p:sp>
      <p:sp>
        <p:nvSpPr>
          <p:cNvPr id="15" name="Text 13"/>
          <p:cNvSpPr/>
          <p:nvPr/>
        </p:nvSpPr>
        <p:spPr>
          <a:xfrm>
            <a:off x="8046720" y="1783080"/>
            <a:ext cx="3657600" cy="502920"/>
          </a:xfrm>
          <a:prstGeom prst="rect">
            <a:avLst/>
          </a:prstGeom>
          <a:noFill/>
          <a:ln/>
        </p:spPr>
        <p:txBody>
          <a:bodyPr wrap="square" lIns="0" tIns="0" rIns="0" bIns="0"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Dividendos a hogares (TREMP)</a:t>
            </a:r>
            <a:endParaRPr lang="en-US" sz="1100" dirty="0"/>
          </a:p>
        </p:txBody>
      </p:sp>
      <p:sp>
        <p:nvSpPr>
          <p:cNvPr id="16" name="Shape 14"/>
          <p:cNvSpPr/>
          <p:nvPr/>
        </p:nvSpPr>
        <p:spPr>
          <a:xfrm>
            <a:off x="6995160" y="2029968"/>
            <a:ext cx="1051560" cy="0"/>
          </a:xfrm>
          <a:prstGeom prst="line">
            <a:avLst/>
          </a:prstGeom>
          <a:noFill/>
          <a:ln w="19050">
            <a:solidFill>
              <a:srgbClr val="4A6FA5"/>
            </a:solidFill>
            <a:prstDash val="solid"/>
            <a:tailEnd type="triangle"/>
          </a:ln>
        </p:spPr>
        <p:txBody>
          <a:bodyPr/>
          <a:lstStyle/>
          <a:p>
            <a:endParaRPr lang="es-CL"/>
          </a:p>
        </p:txBody>
      </p:sp>
      <p:sp>
        <p:nvSpPr>
          <p:cNvPr id="17" name="Shape 15"/>
          <p:cNvSpPr/>
          <p:nvPr/>
        </p:nvSpPr>
        <p:spPr>
          <a:xfrm>
            <a:off x="8046720" y="2423160"/>
            <a:ext cx="3657600" cy="502920"/>
          </a:xfrm>
          <a:prstGeom prst="rect">
            <a:avLst/>
          </a:prstGeom>
          <a:solidFill>
            <a:srgbClr val="F5F7FA"/>
          </a:solidFill>
          <a:ln w="12700">
            <a:solidFill>
              <a:srgbClr val="E2E8F0"/>
            </a:solidFill>
            <a:prstDash val="solid"/>
          </a:ln>
        </p:spPr>
        <p:txBody>
          <a:bodyPr/>
          <a:lstStyle/>
          <a:p>
            <a:endParaRPr lang="es-CL"/>
          </a:p>
        </p:txBody>
      </p:sp>
      <p:sp>
        <p:nvSpPr>
          <p:cNvPr id="18" name="Text 16"/>
          <p:cNvSpPr/>
          <p:nvPr/>
        </p:nvSpPr>
        <p:spPr>
          <a:xfrm>
            <a:off x="8046720" y="2423160"/>
            <a:ext cx="3657600" cy="502920"/>
          </a:xfrm>
          <a:prstGeom prst="rect">
            <a:avLst/>
          </a:prstGeom>
          <a:noFill/>
          <a:ln/>
        </p:spPr>
        <p:txBody>
          <a:bodyPr wrap="square" lIns="0" tIns="0" rIns="0" bIns="0"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IDPC / FIT (fit · K_F · p^k)</a:t>
            </a:r>
            <a:endParaRPr lang="en-US" sz="1100" dirty="0"/>
          </a:p>
        </p:txBody>
      </p:sp>
      <p:sp>
        <p:nvSpPr>
          <p:cNvPr id="19" name="Shape 17"/>
          <p:cNvSpPr/>
          <p:nvPr/>
        </p:nvSpPr>
        <p:spPr>
          <a:xfrm>
            <a:off x="6995160" y="2670048"/>
            <a:ext cx="1051560" cy="0"/>
          </a:xfrm>
          <a:prstGeom prst="line">
            <a:avLst/>
          </a:prstGeom>
          <a:noFill/>
          <a:ln w="19050">
            <a:solidFill>
              <a:srgbClr val="4A6FA5"/>
            </a:solidFill>
            <a:prstDash val="solid"/>
            <a:tailEnd type="triangle"/>
          </a:ln>
        </p:spPr>
        <p:txBody>
          <a:bodyPr/>
          <a:lstStyle/>
          <a:p>
            <a:endParaRPr lang="es-CL"/>
          </a:p>
        </p:txBody>
      </p:sp>
      <p:sp>
        <p:nvSpPr>
          <p:cNvPr id="20" name="Shape 18"/>
          <p:cNvSpPr/>
          <p:nvPr/>
        </p:nvSpPr>
        <p:spPr>
          <a:xfrm>
            <a:off x="8046720" y="3063240"/>
            <a:ext cx="3657600" cy="502920"/>
          </a:xfrm>
          <a:prstGeom prst="rect">
            <a:avLst/>
          </a:prstGeom>
          <a:solidFill>
            <a:srgbClr val="F5F7FA"/>
          </a:solidFill>
          <a:ln w="12700">
            <a:solidFill>
              <a:srgbClr val="E2E8F0"/>
            </a:solidFill>
            <a:prstDash val="solid"/>
          </a:ln>
        </p:spPr>
        <p:txBody>
          <a:bodyPr/>
          <a:lstStyle/>
          <a:p>
            <a:endParaRPr lang="es-CL"/>
          </a:p>
        </p:txBody>
      </p:sp>
      <p:sp>
        <p:nvSpPr>
          <p:cNvPr id="21" name="Text 19"/>
          <p:cNvSpPr/>
          <p:nvPr/>
        </p:nvSpPr>
        <p:spPr>
          <a:xfrm>
            <a:off x="8046720" y="3063240"/>
            <a:ext cx="3657600" cy="502920"/>
          </a:xfrm>
          <a:prstGeom prst="rect">
            <a:avLst/>
          </a:prstGeom>
          <a:noFill/>
          <a:ln/>
        </p:spPr>
        <p:txBody>
          <a:bodyPr wrap="square" lIns="0" tIns="0" rIns="0" bIns="0"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Prestaciones sociales (PRESTSOC_F)</a:t>
            </a:r>
            <a:endParaRPr lang="en-US" sz="1100" dirty="0"/>
          </a:p>
        </p:txBody>
      </p:sp>
      <p:sp>
        <p:nvSpPr>
          <p:cNvPr id="22" name="Shape 20"/>
          <p:cNvSpPr/>
          <p:nvPr/>
        </p:nvSpPr>
        <p:spPr>
          <a:xfrm>
            <a:off x="6995160" y="3310128"/>
            <a:ext cx="1051560" cy="0"/>
          </a:xfrm>
          <a:prstGeom prst="line">
            <a:avLst/>
          </a:prstGeom>
          <a:noFill/>
          <a:ln w="19050">
            <a:solidFill>
              <a:srgbClr val="4A6FA5"/>
            </a:solidFill>
            <a:prstDash val="solid"/>
            <a:tailEnd type="triangle"/>
          </a:ln>
        </p:spPr>
        <p:txBody>
          <a:bodyPr/>
          <a:lstStyle/>
          <a:p>
            <a:endParaRPr lang="es-CL"/>
          </a:p>
        </p:txBody>
      </p:sp>
      <p:sp>
        <p:nvSpPr>
          <p:cNvPr id="23" name="Shape 21"/>
          <p:cNvSpPr/>
          <p:nvPr/>
        </p:nvSpPr>
        <p:spPr>
          <a:xfrm>
            <a:off x="8046720" y="3703320"/>
            <a:ext cx="3657600" cy="502920"/>
          </a:xfrm>
          <a:prstGeom prst="rect">
            <a:avLst/>
          </a:prstGeom>
          <a:solidFill>
            <a:srgbClr val="F5F7FA"/>
          </a:solidFill>
          <a:ln w="12700">
            <a:solidFill>
              <a:srgbClr val="E2E8F0"/>
            </a:solidFill>
            <a:prstDash val="solid"/>
          </a:ln>
        </p:spPr>
        <p:txBody>
          <a:bodyPr/>
          <a:lstStyle/>
          <a:p>
            <a:endParaRPr lang="es-CL"/>
          </a:p>
        </p:txBody>
      </p:sp>
      <p:sp>
        <p:nvSpPr>
          <p:cNvPr id="24" name="Text 22"/>
          <p:cNvSpPr/>
          <p:nvPr/>
        </p:nvSpPr>
        <p:spPr>
          <a:xfrm>
            <a:off x="8046720" y="3703320"/>
            <a:ext cx="3657600" cy="502920"/>
          </a:xfrm>
          <a:prstGeom prst="rect">
            <a:avLst/>
          </a:prstGeom>
          <a:noFill/>
          <a:ln/>
        </p:spPr>
        <p:txBody>
          <a:bodyPr wrap="square" lIns="0" tIns="0" rIns="0" bIns="0"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Transferencias al gobierno (TR_F_G)</a:t>
            </a:r>
            <a:endParaRPr lang="en-US" sz="1100" dirty="0"/>
          </a:p>
        </p:txBody>
      </p:sp>
      <p:sp>
        <p:nvSpPr>
          <p:cNvPr id="25" name="Shape 23"/>
          <p:cNvSpPr/>
          <p:nvPr/>
        </p:nvSpPr>
        <p:spPr>
          <a:xfrm>
            <a:off x="6995160" y="3950208"/>
            <a:ext cx="1051560" cy="0"/>
          </a:xfrm>
          <a:prstGeom prst="line">
            <a:avLst/>
          </a:prstGeom>
          <a:noFill/>
          <a:ln w="19050">
            <a:solidFill>
              <a:srgbClr val="4A6FA5"/>
            </a:solidFill>
            <a:prstDash val="solid"/>
            <a:tailEnd type="triangle"/>
          </a:ln>
        </p:spPr>
        <p:txBody>
          <a:bodyPr/>
          <a:lstStyle/>
          <a:p>
            <a:endParaRPr lang="es-CL"/>
          </a:p>
        </p:txBody>
      </p:sp>
      <p:sp>
        <p:nvSpPr>
          <p:cNvPr id="26" name="Shape 24"/>
          <p:cNvSpPr/>
          <p:nvPr/>
        </p:nvSpPr>
        <p:spPr>
          <a:xfrm>
            <a:off x="8046720" y="4343400"/>
            <a:ext cx="3657600" cy="502920"/>
          </a:xfrm>
          <a:prstGeom prst="rect">
            <a:avLst/>
          </a:prstGeom>
          <a:solidFill>
            <a:srgbClr val="D4A82A"/>
          </a:solidFill>
          <a:ln w="12700">
            <a:solidFill>
              <a:srgbClr val="E2E8F0"/>
            </a:solidFill>
            <a:prstDash val="solid"/>
          </a:ln>
        </p:spPr>
        <p:txBody>
          <a:bodyPr/>
          <a:lstStyle/>
          <a:p>
            <a:endParaRPr lang="es-CL"/>
          </a:p>
        </p:txBody>
      </p:sp>
      <p:sp>
        <p:nvSpPr>
          <p:cNvPr id="27" name="Text 25"/>
          <p:cNvSpPr/>
          <p:nvPr/>
        </p:nvSpPr>
        <p:spPr>
          <a:xfrm>
            <a:off x="8046720" y="4343400"/>
            <a:ext cx="3657600" cy="502920"/>
          </a:xfrm>
          <a:prstGeom prst="rect">
            <a:avLst/>
          </a:prstGeom>
          <a:noFill/>
          <a:ln/>
        </p:spPr>
        <p:txBody>
          <a:bodyPr wrap="square" lIns="0" tIns="0" rIns="0" bIns="0"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Ahorro corporativo (SAV_F · residuo)</a:t>
            </a:r>
            <a:endParaRPr lang="en-US" sz="1100" dirty="0"/>
          </a:p>
        </p:txBody>
      </p:sp>
      <p:sp>
        <p:nvSpPr>
          <p:cNvPr id="28" name="Shape 26"/>
          <p:cNvSpPr/>
          <p:nvPr/>
        </p:nvSpPr>
        <p:spPr>
          <a:xfrm>
            <a:off x="6995160" y="4590288"/>
            <a:ext cx="1051560" cy="0"/>
          </a:xfrm>
          <a:prstGeom prst="line">
            <a:avLst/>
          </a:prstGeom>
          <a:noFill/>
          <a:ln w="19050">
            <a:solidFill>
              <a:srgbClr val="4A6FA5"/>
            </a:solidFill>
            <a:prstDash val="solid"/>
            <a:tailEnd type="triangle"/>
          </a:ln>
        </p:spPr>
        <p:txBody>
          <a:bodyPr/>
          <a:lstStyle/>
          <a:p>
            <a:endParaRPr lang="es-CL"/>
          </a:p>
        </p:txBody>
      </p:sp>
      <p:sp>
        <p:nvSpPr>
          <p:cNvPr id="29" name="Shape 27"/>
          <p:cNvSpPr/>
          <p:nvPr/>
        </p:nvSpPr>
        <p:spPr>
          <a:xfrm>
            <a:off x="640080" y="5166360"/>
            <a:ext cx="11064240" cy="1143000"/>
          </a:xfrm>
          <a:prstGeom prst="rect">
            <a:avLst/>
          </a:prstGeom>
          <a:solidFill>
            <a:srgbClr val="C2562E"/>
          </a:solidFill>
          <a:ln w="12700">
            <a:solidFill>
              <a:srgbClr val="C2562E"/>
            </a:solidFill>
            <a:prstDash val="solid"/>
          </a:ln>
        </p:spPr>
        <p:txBody>
          <a:bodyPr/>
          <a:lstStyle/>
          <a:p>
            <a:endParaRPr lang="es-CL"/>
          </a:p>
        </p:txBody>
      </p:sp>
      <p:sp>
        <p:nvSpPr>
          <p:cNvPr id="30" name="Text 28"/>
          <p:cNvSpPr/>
          <p:nvPr/>
        </p:nvSpPr>
        <p:spPr>
          <a:xfrm>
            <a:off x="868680" y="5212080"/>
            <a:ext cx="10607040" cy="1051560"/>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Lectura importante para política tributaria: </a:t>
            </a:r>
            <a:r>
              <a:rPr lang="en-US" sz="1200" dirty="0">
                <a:solidFill>
                  <a:srgbClr val="FFFFFF"/>
                </a:solidFill>
                <a:latin typeface="Calibri" pitchFamily="34" charset="0"/>
                <a:ea typeface="Calibri" pitchFamily="34" charset="-122"/>
                <a:cs typeface="Calibri" pitchFamily="34" charset="-120"/>
              </a:rPr>
              <a:t>el IDPC se modela sobre la renta del capital a nivel institucional, </a:t>
            </a:r>
            <a:r>
              <a:rPr lang="en-US" sz="1200" b="1" i="1" dirty="0">
                <a:solidFill>
                  <a:srgbClr val="FFFFFF"/>
                </a:solidFill>
                <a:latin typeface="Calibri" pitchFamily="34" charset="0"/>
                <a:ea typeface="Calibri" pitchFamily="34" charset="-122"/>
                <a:cs typeface="Calibri" pitchFamily="34" charset="-120"/>
              </a:rPr>
              <a:t>no</a:t>
            </a:r>
            <a:r>
              <a:rPr lang="en-US" sz="1200" dirty="0">
                <a:solidFill>
                  <a:srgbClr val="FFFFFF"/>
                </a:solidFill>
                <a:latin typeface="Calibri" pitchFamily="34" charset="0"/>
                <a:ea typeface="Calibri" pitchFamily="34" charset="-122"/>
                <a:cs typeface="Calibri" pitchFamily="34" charset="-120"/>
              </a:rPr>
              <a:t> como cuña sobre el costo de uso del capital en las decisiones productivas. Por tanto, sus efectos se transmiten principalmente vía ahorro empresarial e inversión, no por sustitución K-L directa.</a:t>
            </a:r>
            <a:endParaRPr lang="en-US" sz="1200" dirty="0"/>
          </a:p>
        </p:txBody>
      </p:sp>
      <p:sp>
        <p:nvSpPr>
          <p:cNvPr id="31" name="Text 29"/>
          <p:cNvSpPr/>
          <p:nvPr/>
        </p:nvSpPr>
        <p:spPr>
          <a:xfrm>
            <a:off x="457200" y="6492240"/>
            <a:ext cx="11247120" cy="274320"/>
          </a:xfrm>
          <a:prstGeom prst="rect">
            <a:avLst/>
          </a:prstGeom>
          <a:noFill/>
          <a:ln/>
        </p:spPr>
        <p:txBody>
          <a:bodyPr wrap="square"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MEGC 12 sectores · Chile 2023 · SII</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a:p>
        </p:txBody>
      </p:sp>
      <p:sp>
        <p:nvSpPr>
          <p:cNvPr id="3" name="Text 1"/>
          <p:cNvSpPr/>
          <p:nvPr/>
        </p:nvSpPr>
        <p:spPr>
          <a:xfrm>
            <a:off x="457200" y="384048"/>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13</a:t>
            </a:r>
            <a:endParaRPr lang="en-US" sz="1400" dirty="0"/>
          </a:p>
        </p:txBody>
      </p:sp>
      <p:sp>
        <p:nvSpPr>
          <p:cNvPr id="4" name="Text 2"/>
          <p:cNvSpPr/>
          <p:nvPr/>
        </p:nvSpPr>
        <p:spPr>
          <a:xfrm>
            <a:off x="1051560" y="365760"/>
            <a:ext cx="10698480" cy="502920"/>
          </a:xfrm>
          <a:prstGeom prst="rect">
            <a:avLst/>
          </a:prstGeom>
          <a:noFill/>
          <a:ln/>
        </p:spPr>
        <p:txBody>
          <a:bodyPr wrap="square" lIns="0" tIns="0" rIns="0" bIns="0" rtlCol="0" anchor="ctr"/>
          <a:lstStyle/>
          <a:p>
            <a:pPr marL="0" indent="0" algn="l">
              <a:buNone/>
            </a:pPr>
            <a:r>
              <a:rPr lang="en-US" sz="2400" b="1" dirty="0">
                <a:solidFill>
                  <a:srgbClr val="1E2761"/>
                </a:solidFill>
                <a:latin typeface="Cambria" pitchFamily="34" charset="0"/>
                <a:ea typeface="Cambria" pitchFamily="34" charset="-122"/>
                <a:cs typeface="Cambria" pitchFamily="34" charset="-120"/>
              </a:rPr>
              <a:t>Gobierno y bloque ahorro–inversión</a:t>
            </a:r>
            <a:endParaRPr lang="en-US" sz="2400" dirty="0"/>
          </a:p>
        </p:txBody>
      </p:sp>
      <p:sp>
        <p:nvSpPr>
          <p:cNvPr id="5" name="Text 3"/>
          <p:cNvSpPr/>
          <p:nvPr/>
        </p:nvSpPr>
        <p:spPr>
          <a:xfrm>
            <a:off x="640080" y="1005840"/>
            <a:ext cx="10972800" cy="365760"/>
          </a:xfrm>
          <a:prstGeom prst="rect">
            <a:avLst/>
          </a:prstGeom>
          <a:noFill/>
          <a:ln/>
        </p:spPr>
        <p:txBody>
          <a:bodyPr wrap="square" lIns="0" tIns="0" rIns="0" bIns="0" rtlCol="0" anchor="ctr"/>
          <a:lstStyle/>
          <a:p>
            <a:pPr marL="0" indent="0" algn="l">
              <a:buNone/>
            </a:pPr>
            <a:r>
              <a:rPr lang="en-US" sz="1300" i="1" dirty="0">
                <a:solidFill>
                  <a:srgbClr val="64748B"/>
                </a:solidFill>
                <a:latin typeface="Calibri" pitchFamily="34" charset="0"/>
                <a:ea typeface="Calibri" pitchFamily="34" charset="-122"/>
                <a:cs typeface="Calibri" pitchFamily="34" charset="-120"/>
              </a:rPr>
              <a:t>El gobierno opera como sistema contable; el cierre ahorro-inversión ya no es puramente neoclásico.</a:t>
            </a:r>
            <a:endParaRPr lang="en-US" sz="1300" dirty="0"/>
          </a:p>
        </p:txBody>
      </p:sp>
      <p:sp>
        <p:nvSpPr>
          <p:cNvPr id="6" name="Shape 4"/>
          <p:cNvSpPr/>
          <p:nvPr/>
        </p:nvSpPr>
        <p:spPr>
          <a:xfrm>
            <a:off x="640080" y="1554480"/>
            <a:ext cx="5486400" cy="4754880"/>
          </a:xfrm>
          <a:prstGeom prst="rect">
            <a:avLst/>
          </a:prstGeom>
          <a:solidFill>
            <a:srgbClr val="F5F7FA"/>
          </a:solidFill>
          <a:ln w="9525">
            <a:solidFill>
              <a:srgbClr val="E2E8F0"/>
            </a:solidFill>
            <a:prstDash val="solid"/>
          </a:ln>
        </p:spPr>
        <p:txBody>
          <a:bodyPr/>
          <a:lstStyle/>
          <a:p>
            <a:endParaRPr lang="es-CL"/>
          </a:p>
        </p:txBody>
      </p:sp>
      <p:sp>
        <p:nvSpPr>
          <p:cNvPr id="7" name="Shape 5"/>
          <p:cNvSpPr/>
          <p:nvPr/>
        </p:nvSpPr>
        <p:spPr>
          <a:xfrm>
            <a:off x="640080" y="1554480"/>
            <a:ext cx="73152" cy="4754880"/>
          </a:xfrm>
          <a:prstGeom prst="rect">
            <a:avLst/>
          </a:prstGeom>
          <a:solidFill>
            <a:srgbClr val="1E2761"/>
          </a:solidFill>
          <a:ln w="12700">
            <a:solidFill>
              <a:srgbClr val="1E2761"/>
            </a:solidFill>
            <a:prstDash val="solid"/>
          </a:ln>
        </p:spPr>
        <p:txBody>
          <a:bodyPr/>
          <a:lstStyle/>
          <a:p>
            <a:endParaRPr lang="es-CL"/>
          </a:p>
        </p:txBody>
      </p:sp>
      <p:sp>
        <p:nvSpPr>
          <p:cNvPr id="8" name="Text 6"/>
          <p:cNvSpPr/>
          <p:nvPr/>
        </p:nvSpPr>
        <p:spPr>
          <a:xfrm>
            <a:off x="868680" y="1691640"/>
            <a:ext cx="5120640" cy="457200"/>
          </a:xfrm>
          <a:prstGeom prst="rect">
            <a:avLst/>
          </a:prstGeom>
          <a:noFill/>
          <a:ln/>
        </p:spPr>
        <p:txBody>
          <a:bodyPr wrap="square" lIns="0" tIns="0" rIns="0" bIns="0" rtlCol="0" anchor="ctr"/>
          <a:lstStyle/>
          <a:p>
            <a:pPr marL="0" indent="0" algn="l">
              <a:buNone/>
            </a:pPr>
            <a:r>
              <a:rPr lang="en-US" sz="1800" b="1" dirty="0">
                <a:solidFill>
                  <a:srgbClr val="1E2761"/>
                </a:solidFill>
                <a:latin typeface="Cambria" pitchFamily="34" charset="0"/>
                <a:ea typeface="Cambria" pitchFamily="34" charset="-122"/>
                <a:cs typeface="Cambria" pitchFamily="34" charset="-120"/>
              </a:rPr>
              <a:t>Gobierno</a:t>
            </a:r>
            <a:endParaRPr lang="en-US" sz="1800" dirty="0"/>
          </a:p>
        </p:txBody>
      </p:sp>
      <p:sp>
        <p:nvSpPr>
          <p:cNvPr id="9" name="Text 7"/>
          <p:cNvSpPr/>
          <p:nvPr/>
        </p:nvSpPr>
        <p:spPr>
          <a:xfrm>
            <a:off x="868680" y="2148840"/>
            <a:ext cx="5120640" cy="320040"/>
          </a:xfrm>
          <a:prstGeom prst="rect">
            <a:avLst/>
          </a:prstGeom>
          <a:noFill/>
          <a:ln/>
        </p:spPr>
        <p:txBody>
          <a:bodyPr wrap="square" lIns="0" tIns="0" rIns="0" bIns="0" rtlCol="0" anchor="ctr"/>
          <a:lstStyle/>
          <a:p>
            <a:pPr marL="0" indent="0" algn="l">
              <a:buNone/>
            </a:pPr>
            <a:r>
              <a:rPr lang="en-US" sz="1100" i="1" dirty="0">
                <a:solidFill>
                  <a:srgbClr val="64748B"/>
                </a:solidFill>
                <a:latin typeface="Calibri" pitchFamily="34" charset="0"/>
                <a:ea typeface="Calibri" pitchFamily="34" charset="-122"/>
                <a:cs typeface="Calibri" pitchFamily="34" charset="-120"/>
              </a:rPr>
              <a:t>Sistema contable de cierre macroeconómico</a:t>
            </a:r>
            <a:endParaRPr lang="en-US" sz="1100" dirty="0"/>
          </a:p>
        </p:txBody>
      </p:sp>
      <p:sp>
        <p:nvSpPr>
          <p:cNvPr id="10" name="Text 8"/>
          <p:cNvSpPr/>
          <p:nvPr/>
        </p:nvSpPr>
        <p:spPr>
          <a:xfrm>
            <a:off x="868680" y="2514600"/>
            <a:ext cx="5029200" cy="3749040"/>
          </a:xfrm>
          <a:prstGeom prst="rect">
            <a:avLst/>
          </a:prstGeom>
          <a:noFill/>
          <a:ln/>
        </p:spPr>
        <p:txBody>
          <a:bodyPr wrap="square" lIns="0" tIns="0" rIns="0" bIns="0" rtlCol="0" anchor="t"/>
          <a:lstStyle/>
          <a:p>
            <a:pPr marL="0" indent="0" algn="l">
              <a:spcAft>
                <a:spcPts val="200"/>
              </a:spcAft>
              <a:buNone/>
            </a:pPr>
            <a:r>
              <a:rPr lang="en-US" sz="1200" b="1" dirty="0">
                <a:solidFill>
                  <a:srgbClr val="1E2761"/>
                </a:solidFill>
                <a:latin typeface="Calibri" pitchFamily="34" charset="0"/>
                <a:ea typeface="Calibri" pitchFamily="34" charset="-122"/>
                <a:cs typeface="Calibri" pitchFamily="34" charset="-120"/>
              </a:rPr>
              <a:t>Ingresos:</a:t>
            </a:r>
            <a:endParaRPr lang="en-US" sz="1200" dirty="0"/>
          </a:p>
          <a:p>
            <a:pPr marL="342900" indent="-342900" algn="l">
              <a:spcAft>
                <a:spcPts val="200"/>
              </a:spcAft>
              <a:buSzPct val="100000"/>
              <a:buChar char="•"/>
            </a:pPr>
            <a:r>
              <a:rPr lang="en-US" sz="1100" dirty="0">
                <a:solidFill>
                  <a:srgbClr val="2D3748"/>
                </a:solidFill>
                <a:latin typeface="Calibri" pitchFamily="34" charset="0"/>
                <a:ea typeface="Calibri" pitchFamily="34" charset="-122"/>
                <a:cs typeface="Calibri" pitchFamily="34" charset="-120"/>
              </a:rPr>
              <a:t>PIT, IDPC/FIT, IVA, impuestos a la producción, específicos, aranceles</a:t>
            </a:r>
            <a:endParaRPr lang="en-US" sz="1200" dirty="0"/>
          </a:p>
          <a:p>
            <a:pPr marL="0" indent="0" algn="l">
              <a:spcAft>
                <a:spcPts val="200"/>
              </a:spcAft>
              <a:buNone/>
            </a:pPr>
            <a:r>
              <a:rPr lang="en-US" sz="400" dirty="0">
                <a:solidFill>
                  <a:srgbClr val="2D3748"/>
                </a:solidFill>
                <a:latin typeface="Calibri" pitchFamily="34" charset="0"/>
                <a:ea typeface="Calibri" pitchFamily="34" charset="-122"/>
                <a:cs typeface="Calibri" pitchFamily="34" charset="-120"/>
              </a:rPr>
              <a:t> </a:t>
            </a:r>
            <a:endParaRPr lang="en-US" sz="1200" dirty="0"/>
          </a:p>
          <a:p>
            <a:pPr marL="0" indent="0" algn="l">
              <a:spcAft>
                <a:spcPts val="200"/>
              </a:spcAft>
              <a:buNone/>
            </a:pPr>
            <a:r>
              <a:rPr lang="en-US" sz="1200" b="1" dirty="0">
                <a:solidFill>
                  <a:srgbClr val="1E2761"/>
                </a:solidFill>
                <a:latin typeface="Calibri" pitchFamily="34" charset="0"/>
                <a:ea typeface="Calibri" pitchFamily="34" charset="-122"/>
                <a:cs typeface="Calibri" pitchFamily="34" charset="-120"/>
              </a:rPr>
              <a:t>Gastos:</a:t>
            </a:r>
            <a:endParaRPr lang="en-US" sz="1200" dirty="0"/>
          </a:p>
          <a:p>
            <a:pPr marL="342900" indent="-342900" algn="l">
              <a:spcAft>
                <a:spcPts val="200"/>
              </a:spcAft>
              <a:buSzPct val="100000"/>
              <a:buChar char="•"/>
            </a:pPr>
            <a:r>
              <a:rPr lang="en-US" sz="1100" dirty="0">
                <a:solidFill>
                  <a:srgbClr val="2D3748"/>
                </a:solidFill>
                <a:latin typeface="Calibri" pitchFamily="34" charset="0"/>
                <a:ea typeface="Calibri" pitchFamily="34" charset="-122"/>
                <a:cs typeface="Calibri" pitchFamily="34" charset="-120"/>
              </a:rPr>
              <a:t>Gasto público fijo en bienes (GG_p)</a:t>
            </a:r>
            <a:endParaRPr lang="en-US" sz="1200" dirty="0"/>
          </a:p>
          <a:p>
            <a:pPr marL="342900" indent="-342900" algn="l">
              <a:spcAft>
                <a:spcPts val="200"/>
              </a:spcAft>
              <a:buSzPct val="100000"/>
              <a:buChar char="•"/>
            </a:pPr>
            <a:r>
              <a:rPr lang="en-US" sz="1100" dirty="0">
                <a:solidFill>
                  <a:srgbClr val="2D3748"/>
                </a:solidFill>
                <a:latin typeface="Calibri" pitchFamily="34" charset="0"/>
                <a:ea typeface="Calibri" pitchFamily="34" charset="-122"/>
                <a:cs typeface="Calibri" pitchFamily="34" charset="-120"/>
              </a:rPr>
              <a:t>Transferencias y prestaciones sociales</a:t>
            </a:r>
            <a:endParaRPr lang="en-US" sz="1200" dirty="0"/>
          </a:p>
          <a:p>
            <a:pPr marL="0" indent="0" algn="l">
              <a:spcAft>
                <a:spcPts val="200"/>
              </a:spcAft>
              <a:buNone/>
            </a:pPr>
            <a:r>
              <a:rPr lang="en-US" sz="400" dirty="0">
                <a:solidFill>
                  <a:srgbClr val="2D3748"/>
                </a:solidFill>
                <a:latin typeface="Calibri" pitchFamily="34" charset="0"/>
                <a:ea typeface="Calibri" pitchFamily="34" charset="-122"/>
                <a:cs typeface="Calibri" pitchFamily="34" charset="-120"/>
              </a:rPr>
              <a:t> </a:t>
            </a:r>
            <a:endParaRPr lang="en-US" sz="1200" dirty="0"/>
          </a:p>
          <a:p>
            <a:pPr marL="0" indent="0" algn="l">
              <a:spcAft>
                <a:spcPts val="200"/>
              </a:spcAft>
              <a:buNone/>
            </a:pPr>
            <a:r>
              <a:rPr lang="en-US" sz="1200" b="1" dirty="0">
                <a:solidFill>
                  <a:srgbClr val="1E2761"/>
                </a:solidFill>
                <a:latin typeface="Calibri" pitchFamily="34" charset="0"/>
                <a:ea typeface="Calibri" pitchFamily="34" charset="-122"/>
                <a:cs typeface="Calibri" pitchFamily="34" charset="-120"/>
              </a:rPr>
              <a:t>Cierre:</a:t>
            </a:r>
            <a:endParaRPr lang="en-US" sz="1200" dirty="0"/>
          </a:p>
          <a:p>
            <a:pPr marL="342900" indent="-342900" algn="l">
              <a:spcAft>
                <a:spcPts val="200"/>
              </a:spcAft>
              <a:buSzPct val="100000"/>
              <a:buChar char="•"/>
            </a:pPr>
            <a:r>
              <a:rPr lang="en-US" sz="1100" dirty="0">
                <a:solidFill>
                  <a:srgbClr val="2D3748"/>
                </a:solidFill>
                <a:latin typeface="Calibri" pitchFamily="34" charset="0"/>
                <a:ea typeface="Calibri" pitchFamily="34" charset="-122"/>
                <a:cs typeface="Calibri" pitchFamily="34" charset="-120"/>
              </a:rPr>
              <a:t>SAV_G como residuo: ahorro fiscal</a:t>
            </a:r>
            <a:endParaRPr lang="en-US" sz="1200" dirty="0"/>
          </a:p>
        </p:txBody>
      </p:sp>
      <p:sp>
        <p:nvSpPr>
          <p:cNvPr id="11" name="Shape 9"/>
          <p:cNvSpPr/>
          <p:nvPr/>
        </p:nvSpPr>
        <p:spPr>
          <a:xfrm>
            <a:off x="6309360" y="1554480"/>
            <a:ext cx="5486400" cy="4754880"/>
          </a:xfrm>
          <a:prstGeom prst="rect">
            <a:avLst/>
          </a:prstGeom>
          <a:solidFill>
            <a:srgbClr val="F5F7FA"/>
          </a:solidFill>
          <a:ln w="9525">
            <a:solidFill>
              <a:srgbClr val="E2E8F0"/>
            </a:solidFill>
            <a:prstDash val="solid"/>
          </a:ln>
        </p:spPr>
        <p:txBody>
          <a:bodyPr/>
          <a:lstStyle/>
          <a:p>
            <a:endParaRPr lang="es-CL"/>
          </a:p>
        </p:txBody>
      </p:sp>
      <p:sp>
        <p:nvSpPr>
          <p:cNvPr id="12" name="Shape 10"/>
          <p:cNvSpPr/>
          <p:nvPr/>
        </p:nvSpPr>
        <p:spPr>
          <a:xfrm>
            <a:off x="6309360" y="1554480"/>
            <a:ext cx="73152" cy="4754880"/>
          </a:xfrm>
          <a:prstGeom prst="rect">
            <a:avLst/>
          </a:prstGeom>
          <a:solidFill>
            <a:srgbClr val="D4A82A"/>
          </a:solidFill>
          <a:ln w="12700">
            <a:solidFill>
              <a:srgbClr val="D4A82A"/>
            </a:solidFill>
            <a:prstDash val="solid"/>
          </a:ln>
        </p:spPr>
        <p:txBody>
          <a:bodyPr/>
          <a:lstStyle/>
          <a:p>
            <a:endParaRPr lang="es-CL"/>
          </a:p>
        </p:txBody>
      </p:sp>
      <p:sp>
        <p:nvSpPr>
          <p:cNvPr id="13" name="Text 11"/>
          <p:cNvSpPr/>
          <p:nvPr/>
        </p:nvSpPr>
        <p:spPr>
          <a:xfrm>
            <a:off x="6537960" y="1691640"/>
            <a:ext cx="5120640" cy="457200"/>
          </a:xfrm>
          <a:prstGeom prst="rect">
            <a:avLst/>
          </a:prstGeom>
          <a:noFill/>
          <a:ln/>
        </p:spPr>
        <p:txBody>
          <a:bodyPr wrap="square" lIns="0" tIns="0" rIns="0" bIns="0" rtlCol="0" anchor="ctr"/>
          <a:lstStyle/>
          <a:p>
            <a:pPr marL="0" indent="0" algn="l">
              <a:buNone/>
            </a:pPr>
            <a:r>
              <a:rPr lang="en-US" sz="1800" b="1" dirty="0">
                <a:solidFill>
                  <a:srgbClr val="1E2761"/>
                </a:solidFill>
                <a:latin typeface="Cambria" pitchFamily="34" charset="0"/>
                <a:ea typeface="Cambria" pitchFamily="34" charset="-122"/>
                <a:cs typeface="Cambria" pitchFamily="34" charset="-120"/>
              </a:rPr>
              <a:t>Ahorro–Inversión</a:t>
            </a:r>
            <a:endParaRPr lang="en-US" sz="1800" dirty="0"/>
          </a:p>
        </p:txBody>
      </p:sp>
      <p:sp>
        <p:nvSpPr>
          <p:cNvPr id="14" name="Text 12"/>
          <p:cNvSpPr/>
          <p:nvPr/>
        </p:nvSpPr>
        <p:spPr>
          <a:xfrm>
            <a:off x="6537960" y="2148840"/>
            <a:ext cx="5120640" cy="320040"/>
          </a:xfrm>
          <a:prstGeom prst="rect">
            <a:avLst/>
          </a:prstGeom>
          <a:noFill/>
          <a:ln/>
        </p:spPr>
        <p:txBody>
          <a:bodyPr wrap="square" lIns="0" tIns="0" rIns="0" bIns="0" rtlCol="0" anchor="ctr"/>
          <a:lstStyle/>
          <a:p>
            <a:pPr marL="0" indent="0" algn="l">
              <a:buNone/>
            </a:pPr>
            <a:r>
              <a:rPr lang="en-US" sz="1100" i="1" dirty="0">
                <a:solidFill>
                  <a:srgbClr val="64748B"/>
                </a:solidFill>
                <a:latin typeface="Calibri" pitchFamily="34" charset="0"/>
                <a:ea typeface="Calibri" pitchFamily="34" charset="-122"/>
                <a:cs typeface="Calibri" pitchFamily="34" charset="-120"/>
              </a:rPr>
              <a:t>Cierre no neoclásico</a:t>
            </a:r>
            <a:endParaRPr lang="en-US" sz="1100" dirty="0"/>
          </a:p>
        </p:txBody>
      </p:sp>
      <p:sp>
        <p:nvSpPr>
          <p:cNvPr id="15" name="Text 13"/>
          <p:cNvSpPr/>
          <p:nvPr/>
        </p:nvSpPr>
        <p:spPr>
          <a:xfrm>
            <a:off x="6537960" y="2514600"/>
            <a:ext cx="5029200" cy="3749040"/>
          </a:xfrm>
          <a:prstGeom prst="rect">
            <a:avLst/>
          </a:prstGeom>
          <a:noFill/>
          <a:ln/>
        </p:spPr>
        <p:txBody>
          <a:bodyPr wrap="square" lIns="0" tIns="0" rIns="0" bIns="0" rtlCol="0" anchor="t"/>
          <a:lstStyle/>
          <a:p>
            <a:pPr marL="342900" indent="-342900" algn="l">
              <a:spcAft>
                <a:spcPts val="400"/>
              </a:spcAft>
              <a:buSzPct val="100000"/>
              <a:buChar char="•"/>
            </a:pPr>
            <a:r>
              <a:rPr lang="en-US" sz="1200" dirty="0">
                <a:solidFill>
                  <a:srgbClr val="2D3748"/>
                </a:solidFill>
                <a:latin typeface="Calibri" pitchFamily="34" charset="0"/>
                <a:ea typeface="Calibri" pitchFamily="34" charset="-122"/>
                <a:cs typeface="Calibri" pitchFamily="34" charset="-120"/>
              </a:rPr>
              <a:t>Inversión pública: fija en su nivel base (inv_adj_G = 1).</a:t>
            </a:r>
            <a:endParaRPr lang="en-US" sz="1200" dirty="0"/>
          </a:p>
          <a:p>
            <a:pPr marL="342900" indent="-342900" algn="l">
              <a:spcAft>
                <a:spcPts val="400"/>
              </a:spcAft>
              <a:buSzPct val="100000"/>
              <a:buChar char="•"/>
            </a:pPr>
            <a:r>
              <a:rPr lang="en-US" sz="1200" dirty="0">
                <a:solidFill>
                  <a:srgbClr val="2D3748"/>
                </a:solidFill>
                <a:latin typeface="Calibri" pitchFamily="34" charset="0"/>
                <a:ea typeface="Calibri" pitchFamily="34" charset="-122"/>
                <a:cs typeface="Calibri" pitchFamily="34" charset="-120"/>
              </a:rPr>
              <a:t>Inversión privada (hogares y firmas): variable, responde al ahorro con amortiguación.</a:t>
            </a:r>
            <a:endParaRPr lang="en-US" sz="1200" dirty="0"/>
          </a:p>
          <a:p>
            <a:pPr marL="0" indent="0" algn="l">
              <a:spcAft>
                <a:spcPts val="400"/>
              </a:spcAft>
              <a:buNone/>
            </a:pPr>
            <a:r>
              <a:rPr lang="en-US" sz="400" dirty="0">
                <a:solidFill>
                  <a:srgbClr val="2D3748"/>
                </a:solidFill>
                <a:latin typeface="Calibri" pitchFamily="34" charset="0"/>
                <a:ea typeface="Calibri" pitchFamily="34" charset="-122"/>
                <a:cs typeface="Calibri" pitchFamily="34" charset="-120"/>
              </a:rPr>
              <a:t> </a:t>
            </a:r>
            <a:endParaRPr lang="en-US" sz="1200" dirty="0"/>
          </a:p>
          <a:p>
            <a:pPr marL="0" indent="0" algn="l">
              <a:spcAft>
                <a:spcPts val="400"/>
              </a:spcAft>
              <a:buNone/>
            </a:pPr>
            <a:r>
              <a:rPr lang="en-US" sz="1400" b="1" dirty="0">
                <a:solidFill>
                  <a:srgbClr val="C2562E"/>
                </a:solidFill>
                <a:latin typeface="Calibri" pitchFamily="34" charset="0"/>
                <a:ea typeface="Calibri" pitchFamily="34" charset="-122"/>
                <a:cs typeface="Calibri" pitchFamily="34" charset="-120"/>
              </a:rPr>
              <a:t>η = 0.5</a:t>
            </a:r>
            <a:endParaRPr lang="en-US" sz="1200" dirty="0"/>
          </a:p>
          <a:p>
            <a:pPr marL="0" indent="0" algn="l">
              <a:spcAft>
                <a:spcPts val="400"/>
              </a:spcAft>
              <a:buNone/>
            </a:pPr>
            <a:r>
              <a:rPr lang="en-US" sz="1100" dirty="0">
                <a:solidFill>
                  <a:srgbClr val="2D3748"/>
                </a:solidFill>
                <a:latin typeface="Calibri" pitchFamily="34" charset="0"/>
                <a:ea typeface="Calibri" pitchFamily="34" charset="-122"/>
                <a:cs typeface="Calibri" pitchFamily="34" charset="-120"/>
              </a:rPr>
              <a:t>Parámetro de amortiguación. Con este valor, la inversión privada responde al ahorro con elasticidad menor que uno.</a:t>
            </a:r>
            <a:endParaRPr lang="en-US" sz="1200" dirty="0"/>
          </a:p>
        </p:txBody>
      </p:sp>
      <p:sp>
        <p:nvSpPr>
          <p:cNvPr id="16" name="Text 14"/>
          <p:cNvSpPr/>
          <p:nvPr/>
        </p:nvSpPr>
        <p:spPr>
          <a:xfrm>
            <a:off x="457200" y="6492240"/>
            <a:ext cx="11247120" cy="274320"/>
          </a:xfrm>
          <a:prstGeom prst="rect">
            <a:avLst/>
          </a:prstGeom>
          <a:noFill/>
          <a:ln/>
        </p:spPr>
        <p:txBody>
          <a:bodyPr wrap="square"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MEGC 12 sectores · Chile 2023 · SII</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a:p>
        </p:txBody>
      </p:sp>
      <p:sp>
        <p:nvSpPr>
          <p:cNvPr id="3" name="Text 1"/>
          <p:cNvSpPr/>
          <p:nvPr/>
        </p:nvSpPr>
        <p:spPr>
          <a:xfrm>
            <a:off x="457200" y="384048"/>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14</a:t>
            </a:r>
            <a:endParaRPr lang="en-US" sz="1400" dirty="0"/>
          </a:p>
        </p:txBody>
      </p:sp>
      <p:sp>
        <p:nvSpPr>
          <p:cNvPr id="4" name="Text 2"/>
          <p:cNvSpPr/>
          <p:nvPr/>
        </p:nvSpPr>
        <p:spPr>
          <a:xfrm>
            <a:off x="1051560" y="365760"/>
            <a:ext cx="10698480" cy="502920"/>
          </a:xfrm>
          <a:prstGeom prst="rect">
            <a:avLst/>
          </a:prstGeom>
          <a:noFill/>
          <a:ln/>
        </p:spPr>
        <p:txBody>
          <a:bodyPr wrap="square" lIns="0" tIns="0" rIns="0" bIns="0" rtlCol="0" anchor="ctr"/>
          <a:lstStyle/>
          <a:p>
            <a:pPr marL="0" indent="0" algn="l">
              <a:buNone/>
            </a:pPr>
            <a:r>
              <a:rPr lang="en-US" sz="2400" b="1" dirty="0">
                <a:solidFill>
                  <a:srgbClr val="1E2761"/>
                </a:solidFill>
                <a:latin typeface="Cambria" pitchFamily="34" charset="0"/>
                <a:ea typeface="Cambria" pitchFamily="34" charset="-122"/>
                <a:cs typeface="Cambria" pitchFamily="34" charset="-120"/>
              </a:rPr>
              <a:t>Cierre </a:t>
            </a:r>
            <a:r>
              <a:rPr lang="en-US" sz="2400" b="1" dirty="0" err="1">
                <a:solidFill>
                  <a:srgbClr val="1E2761"/>
                </a:solidFill>
                <a:latin typeface="Cambria" pitchFamily="34" charset="0"/>
                <a:ea typeface="Cambria" pitchFamily="34" charset="-122"/>
                <a:cs typeface="Cambria" pitchFamily="34" charset="-120"/>
              </a:rPr>
              <a:t>macroeconómico</a:t>
            </a:r>
            <a:endParaRPr lang="en-US" sz="2400" dirty="0"/>
          </a:p>
        </p:txBody>
      </p:sp>
      <p:sp>
        <p:nvSpPr>
          <p:cNvPr id="5" name="Text 3"/>
          <p:cNvSpPr/>
          <p:nvPr/>
        </p:nvSpPr>
        <p:spPr>
          <a:xfrm>
            <a:off x="640080" y="1005840"/>
            <a:ext cx="10972800" cy="365760"/>
          </a:xfrm>
          <a:prstGeom prst="rect">
            <a:avLst/>
          </a:prstGeom>
          <a:noFill/>
          <a:ln/>
        </p:spPr>
        <p:txBody>
          <a:bodyPr wrap="square" lIns="0" tIns="0" rIns="0" bIns="0" rtlCol="0" anchor="ctr"/>
          <a:lstStyle/>
          <a:p>
            <a:pPr marL="0" indent="0" algn="l">
              <a:buNone/>
            </a:pPr>
            <a:r>
              <a:rPr lang="en-US" sz="1300" i="1" dirty="0">
                <a:solidFill>
                  <a:srgbClr val="64748B"/>
                </a:solidFill>
                <a:latin typeface="Calibri" pitchFamily="34" charset="0"/>
                <a:ea typeface="Calibri" pitchFamily="34" charset="-122"/>
                <a:cs typeface="Calibri" pitchFamily="34" charset="-120"/>
              </a:rPr>
              <a:t>Sin esto, los resultados no se interpretan correctamente.</a:t>
            </a:r>
            <a:endParaRPr lang="en-US" sz="1300" dirty="0"/>
          </a:p>
        </p:txBody>
      </p:sp>
      <p:sp>
        <p:nvSpPr>
          <p:cNvPr id="6" name="Shape 4"/>
          <p:cNvSpPr/>
          <p:nvPr/>
        </p:nvSpPr>
        <p:spPr>
          <a:xfrm>
            <a:off x="640080" y="1563716"/>
            <a:ext cx="2697480" cy="3840480"/>
          </a:xfrm>
          <a:prstGeom prst="rect">
            <a:avLst/>
          </a:prstGeom>
          <a:solidFill>
            <a:srgbClr val="F5F7FA"/>
          </a:solidFill>
          <a:ln w="9525">
            <a:solidFill>
              <a:srgbClr val="E2E8F0"/>
            </a:solidFill>
            <a:prstDash val="solid"/>
          </a:ln>
        </p:spPr>
        <p:txBody>
          <a:bodyPr/>
          <a:lstStyle/>
          <a:p>
            <a:endParaRPr lang="es-CL"/>
          </a:p>
        </p:txBody>
      </p:sp>
      <p:sp>
        <p:nvSpPr>
          <p:cNvPr id="7" name="Shape 5"/>
          <p:cNvSpPr/>
          <p:nvPr/>
        </p:nvSpPr>
        <p:spPr>
          <a:xfrm>
            <a:off x="868680" y="1737360"/>
            <a:ext cx="594360" cy="594360"/>
          </a:xfrm>
          <a:prstGeom prst="ellipse">
            <a:avLst/>
          </a:prstGeom>
          <a:solidFill>
            <a:srgbClr val="D4A82A"/>
          </a:solidFill>
          <a:ln w="12700">
            <a:solidFill>
              <a:srgbClr val="D4A82A"/>
            </a:solidFill>
            <a:prstDash val="solid"/>
          </a:ln>
        </p:spPr>
        <p:txBody>
          <a:bodyPr/>
          <a:lstStyle/>
          <a:p>
            <a:endParaRPr lang="es-CL"/>
          </a:p>
        </p:txBody>
      </p:sp>
      <p:sp>
        <p:nvSpPr>
          <p:cNvPr id="8" name="Text 6"/>
          <p:cNvSpPr/>
          <p:nvPr/>
        </p:nvSpPr>
        <p:spPr>
          <a:xfrm>
            <a:off x="868680" y="1737360"/>
            <a:ext cx="594360" cy="594360"/>
          </a:xfrm>
          <a:prstGeom prst="rect">
            <a:avLst/>
          </a:prstGeom>
          <a:noFill/>
          <a:ln/>
        </p:spPr>
        <p:txBody>
          <a:bodyPr wrap="square" lIns="0" tIns="0" rIns="0" bIns="0" rtlCol="0" anchor="ctr"/>
          <a:lstStyle/>
          <a:p>
            <a:pPr marL="0" indent="0" algn="ctr">
              <a:buNone/>
            </a:pPr>
            <a:r>
              <a:rPr lang="en-US" sz="1800" b="1" dirty="0">
                <a:solidFill>
                  <a:srgbClr val="1E2761"/>
                </a:solidFill>
                <a:latin typeface="Cambria" pitchFamily="34" charset="0"/>
                <a:ea typeface="Cambria" pitchFamily="34" charset="-122"/>
                <a:cs typeface="Cambria" pitchFamily="34" charset="-120"/>
              </a:rPr>
              <a:t>1</a:t>
            </a:r>
            <a:endParaRPr lang="en-US" sz="1800" dirty="0"/>
          </a:p>
        </p:txBody>
      </p:sp>
      <p:sp>
        <p:nvSpPr>
          <p:cNvPr id="9" name="Text 7"/>
          <p:cNvSpPr/>
          <p:nvPr/>
        </p:nvSpPr>
        <p:spPr>
          <a:xfrm>
            <a:off x="822960" y="2423160"/>
            <a:ext cx="2331720" cy="822960"/>
          </a:xfrm>
          <a:prstGeom prst="rect">
            <a:avLst/>
          </a:prstGeom>
          <a:noFill/>
          <a:ln/>
        </p:spPr>
        <p:txBody>
          <a:bodyPr wrap="square" lIns="0" tIns="0" rIns="0" bIns="0" rtlCol="0" anchor="t"/>
          <a:lstStyle/>
          <a:p>
            <a:pPr marL="0" indent="0" algn="l">
              <a:buNone/>
            </a:pPr>
            <a:r>
              <a:rPr lang="en-US" sz="1300" b="1" dirty="0">
                <a:solidFill>
                  <a:srgbClr val="1E2761"/>
                </a:solidFill>
                <a:latin typeface="Cambria" pitchFamily="34" charset="0"/>
                <a:ea typeface="Cambria" pitchFamily="34" charset="-122"/>
                <a:cs typeface="Cambria" pitchFamily="34" charset="-120"/>
              </a:rPr>
              <a:t>Curva salarial Blanchflower–Oswald</a:t>
            </a:r>
            <a:endParaRPr lang="en-US" sz="1300" dirty="0"/>
          </a:p>
        </p:txBody>
      </p:sp>
      <mc:AlternateContent xmlns:mc="http://schemas.openxmlformats.org/markup-compatibility/2006" xmlns:a14="http://schemas.microsoft.com/office/drawing/2010/main">
        <mc:Choice Requires="a14">
          <p:sp>
            <p:nvSpPr>
              <p:cNvPr id="10" name="Text 8"/>
              <p:cNvSpPr/>
              <p:nvPr/>
            </p:nvSpPr>
            <p:spPr>
              <a:xfrm>
                <a:off x="822960" y="3246120"/>
                <a:ext cx="2331720" cy="2103120"/>
              </a:xfrm>
              <a:prstGeom prst="rect">
                <a:avLst/>
              </a:prstGeom>
              <a:noFill/>
              <a:ln/>
            </p:spPr>
            <p:txBody>
              <a:bodyPr wrap="square" lIns="0" tIns="0" rIns="0" bIns="0" rtlCol="0" anchor="t"/>
              <a:lstStyle/>
              <a:p>
                <a:pPr marL="0" indent="0" algn="l">
                  <a:buNone/>
                </a:pPr>
                <a14:m>
                  <m:oMathPara xmlns:m="http://schemas.openxmlformats.org/officeDocument/2006/math">
                    <m:oMathParaPr>
                      <m:jc m:val="centerGroup"/>
                    </m:oMathParaPr>
                    <m:oMath xmlns:m="http://schemas.openxmlformats.org/officeDocument/2006/math">
                      <m:r>
                        <a:rPr lang="es-CL" sz="1100" b="0" i="1" smtClean="0">
                          <a:solidFill>
                            <a:srgbClr val="2D3748"/>
                          </a:solidFill>
                          <a:latin typeface="Cambria Math" panose="02040503050406030204" pitchFamily="18" charset="0"/>
                          <a:ea typeface="Calibri" pitchFamily="34" charset="-122"/>
                          <a:cs typeface="Calibri" pitchFamily="34" charset="-120"/>
                        </a:rPr>
                        <m:t>𝑤</m:t>
                      </m:r>
                      <m:r>
                        <a:rPr lang="es-CL" sz="1100" b="0" i="1" smtClean="0">
                          <a:solidFill>
                            <a:srgbClr val="2D3748"/>
                          </a:solidFill>
                          <a:latin typeface="Cambria Math" panose="02040503050406030204" pitchFamily="18" charset="0"/>
                          <a:ea typeface="Calibri" pitchFamily="34" charset="-122"/>
                          <a:cs typeface="Calibri" pitchFamily="34" charset="-120"/>
                        </a:rPr>
                        <m:t>=</m:t>
                      </m:r>
                      <m:sSup>
                        <m:sSupPr>
                          <m:ctrlPr>
                            <a:rPr lang="en-US" sz="1100" b="0" i="1" smtClean="0">
                              <a:solidFill>
                                <a:srgbClr val="2D3748"/>
                              </a:solidFill>
                              <a:latin typeface="Cambria Math" panose="02040503050406030204" pitchFamily="18" charset="0"/>
                              <a:ea typeface="Calibri" pitchFamily="34" charset="-122"/>
                              <a:cs typeface="Calibri" pitchFamily="34" charset="-120"/>
                            </a:rPr>
                          </m:ctrlPr>
                        </m:sSupPr>
                        <m:e>
                          <m:r>
                            <a:rPr lang="es-CL" sz="1100" b="0" i="1" smtClean="0">
                              <a:solidFill>
                                <a:srgbClr val="2D3748"/>
                              </a:solidFill>
                              <a:latin typeface="Cambria Math" panose="02040503050406030204" pitchFamily="18" charset="0"/>
                              <a:ea typeface="Calibri" pitchFamily="34" charset="-122"/>
                              <a:cs typeface="Calibri" pitchFamily="34" charset="-120"/>
                            </a:rPr>
                            <m:t>𝑤</m:t>
                          </m:r>
                        </m:e>
                        <m:sup>
                          <m:r>
                            <a:rPr lang="es-CL" sz="1100" b="0" i="1" smtClean="0">
                              <a:solidFill>
                                <a:srgbClr val="2D3748"/>
                              </a:solidFill>
                              <a:latin typeface="Cambria Math" panose="02040503050406030204" pitchFamily="18" charset="0"/>
                              <a:ea typeface="Calibri" pitchFamily="34" charset="-122"/>
                              <a:cs typeface="Calibri" pitchFamily="34" charset="-120"/>
                            </a:rPr>
                            <m:t>𝑝𝑜𝑡</m:t>
                          </m:r>
                        </m:sup>
                      </m:sSup>
                      <m:sSup>
                        <m:sSupPr>
                          <m:ctrlPr>
                            <a:rPr lang="en-US" sz="1100" b="0" i="1" smtClean="0">
                              <a:solidFill>
                                <a:srgbClr val="2D3748"/>
                              </a:solidFill>
                              <a:latin typeface="Cambria Math" panose="02040503050406030204" pitchFamily="18" charset="0"/>
                              <a:ea typeface="Calibri" pitchFamily="34" charset="-122"/>
                              <a:cs typeface="Calibri" pitchFamily="34" charset="-120"/>
                            </a:rPr>
                          </m:ctrlPr>
                        </m:sSupPr>
                        <m:e>
                          <m:d>
                            <m:dPr>
                              <m:ctrlPr>
                                <a:rPr lang="en-US" sz="1100" b="0" i="1" smtClean="0">
                                  <a:solidFill>
                                    <a:srgbClr val="2D3748"/>
                                  </a:solidFill>
                                  <a:latin typeface="Cambria Math" panose="02040503050406030204" pitchFamily="18" charset="0"/>
                                  <a:ea typeface="Calibri" pitchFamily="34" charset="-122"/>
                                  <a:cs typeface="Calibri" pitchFamily="34" charset="-120"/>
                                </a:rPr>
                              </m:ctrlPr>
                            </m:dPr>
                            <m:e>
                              <m:f>
                                <m:fPr>
                                  <m:ctrlPr>
                                    <a:rPr lang="en-US" sz="1100" b="0" i="1" smtClean="0">
                                      <a:solidFill>
                                        <a:srgbClr val="2D3748"/>
                                      </a:solidFill>
                                      <a:latin typeface="Cambria Math" panose="02040503050406030204" pitchFamily="18" charset="0"/>
                                      <a:ea typeface="Calibri" pitchFamily="34" charset="-122"/>
                                      <a:cs typeface="Calibri" pitchFamily="34" charset="-120"/>
                                    </a:rPr>
                                  </m:ctrlPr>
                                </m:fPr>
                                <m:num>
                                  <m:r>
                                    <a:rPr lang="es-CL" sz="1100" b="0" i="1" smtClean="0">
                                      <a:solidFill>
                                        <a:srgbClr val="2D3748"/>
                                      </a:solidFill>
                                      <a:latin typeface="Cambria Math" panose="02040503050406030204" pitchFamily="18" charset="0"/>
                                      <a:ea typeface="Calibri" pitchFamily="34" charset="-122"/>
                                      <a:cs typeface="Calibri" pitchFamily="34" charset="-120"/>
                                    </a:rPr>
                                    <m:t>𝐿𝐷</m:t>
                                  </m:r>
                                </m:num>
                                <m:den>
                                  <m:sSup>
                                    <m:sSupPr>
                                      <m:ctrlPr>
                                        <a:rPr lang="en-US" sz="1100" b="0" i="1" smtClean="0">
                                          <a:solidFill>
                                            <a:srgbClr val="2D3748"/>
                                          </a:solidFill>
                                          <a:latin typeface="Cambria Math" panose="02040503050406030204" pitchFamily="18" charset="0"/>
                                          <a:ea typeface="Calibri" pitchFamily="34" charset="-122"/>
                                          <a:cs typeface="Calibri" pitchFamily="34" charset="-120"/>
                                        </a:rPr>
                                      </m:ctrlPr>
                                    </m:sSupPr>
                                    <m:e>
                                      <m:r>
                                        <a:rPr lang="es-CL" sz="1100" b="0" i="1" smtClean="0">
                                          <a:solidFill>
                                            <a:srgbClr val="2D3748"/>
                                          </a:solidFill>
                                          <a:latin typeface="Cambria Math" panose="02040503050406030204" pitchFamily="18" charset="0"/>
                                          <a:ea typeface="Calibri" pitchFamily="34" charset="-122"/>
                                          <a:cs typeface="Calibri" pitchFamily="34" charset="-120"/>
                                        </a:rPr>
                                        <m:t>𝐿</m:t>
                                      </m:r>
                                    </m:e>
                                    <m:sup>
                                      <m:r>
                                        <a:rPr lang="es-CL" sz="1100" b="0" i="1" smtClean="0">
                                          <a:solidFill>
                                            <a:srgbClr val="2D3748"/>
                                          </a:solidFill>
                                          <a:latin typeface="Cambria Math" panose="02040503050406030204" pitchFamily="18" charset="0"/>
                                          <a:ea typeface="Calibri" pitchFamily="34" charset="-122"/>
                                          <a:cs typeface="Calibri" pitchFamily="34" charset="-120"/>
                                        </a:rPr>
                                        <m:t>𝐹𝑂𝑅𝐶𝐸</m:t>
                                      </m:r>
                                    </m:sup>
                                  </m:sSup>
                                </m:den>
                              </m:f>
                            </m:e>
                          </m:d>
                        </m:e>
                        <m:sup>
                          <m:r>
                            <a:rPr lang="en-US" sz="1100" b="0" i="1" smtClean="0">
                              <a:solidFill>
                                <a:srgbClr val="2D3748"/>
                              </a:solidFill>
                              <a:latin typeface="Cambria Math" panose="02040503050406030204" pitchFamily="18" charset="0"/>
                              <a:ea typeface="Cambria Math" panose="02040503050406030204" pitchFamily="18" charset="0"/>
                              <a:cs typeface="Calibri" pitchFamily="34" charset="-120"/>
                            </a:rPr>
                            <m:t>𝜙</m:t>
                          </m:r>
                        </m:sup>
                      </m:sSup>
                    </m:oMath>
                  </m:oMathPara>
                </a14:m>
                <a:endParaRPr lang="en-US" sz="1100" dirty="0"/>
              </a:p>
              <a:p>
                <a:pPr marL="0" indent="0" algn="l">
                  <a:buNone/>
                </a:pPr>
                <a:r>
                  <a:rPr lang="en-US" sz="1100" dirty="0">
                    <a:solidFill>
                      <a:srgbClr val="2D3748"/>
                    </a:solidFill>
                    <a:latin typeface="Calibri" pitchFamily="34" charset="0"/>
                    <a:ea typeface="Calibri" pitchFamily="34" charset="-122"/>
                    <a:cs typeface="Calibri" pitchFamily="34" charset="-120"/>
                  </a:rPr>
                  <a:t>φ = 0.1</a:t>
                </a:r>
                <a:endParaRPr lang="en-US" sz="1100" dirty="0"/>
              </a:p>
              <a:p>
                <a:pPr marL="0" indent="0" algn="l">
                  <a:buNone/>
                </a:pPr>
                <a:r>
                  <a:rPr lang="en-US" sz="1100" dirty="0">
                    <a:solidFill>
                      <a:srgbClr val="2D3748"/>
                    </a:solidFill>
                    <a:latin typeface="Calibri" pitchFamily="34" charset="0"/>
                    <a:ea typeface="Calibri" pitchFamily="34" charset="-122"/>
                    <a:cs typeface="Calibri" pitchFamily="34" charset="-120"/>
                  </a:rPr>
                  <a:t>Sustituye el supuesto de pleno </a:t>
                </a:r>
                <a:r>
                  <a:rPr lang="en-US" sz="1100" dirty="0" err="1">
                    <a:solidFill>
                      <a:srgbClr val="2D3748"/>
                    </a:solidFill>
                    <a:latin typeface="Calibri" pitchFamily="34" charset="0"/>
                    <a:ea typeface="Calibri" pitchFamily="34" charset="-122"/>
                    <a:cs typeface="Calibri" pitchFamily="34" charset="-120"/>
                  </a:rPr>
                  <a:t>empleo</a:t>
                </a:r>
                <a:r>
                  <a:rPr lang="en-US" sz="1100" dirty="0">
                    <a:solidFill>
                      <a:srgbClr val="2D3748"/>
                    </a:solidFill>
                    <a:latin typeface="Calibri" pitchFamily="34" charset="0"/>
                    <a:ea typeface="Calibri" pitchFamily="34" charset="-122"/>
                    <a:cs typeface="Calibri" pitchFamily="34" charset="-120"/>
                  </a:rPr>
                  <a:t>.</a:t>
                </a:r>
              </a:p>
              <a:p>
                <a:pPr marL="0" indent="0" algn="l">
                  <a:buNone/>
                </a:pPr>
                <a:r>
                  <a:rPr lang="en-US" sz="1100" dirty="0"/>
                  <a:t>Con LD </a:t>
                </a:r>
                <a:r>
                  <a:rPr lang="en-US" sz="1100" dirty="0" err="1"/>
                  <a:t>como</a:t>
                </a:r>
                <a:r>
                  <a:rPr lang="en-US" sz="1100" dirty="0"/>
                  <a:t> </a:t>
                </a:r>
                <a:r>
                  <a:rPr lang="en-US" sz="1100" dirty="0" err="1"/>
                  <a:t>demanda</a:t>
                </a:r>
                <a:r>
                  <a:rPr lang="en-US" sz="1100" dirty="0"/>
                  <a:t> </a:t>
                </a:r>
                <a:r>
                  <a:rPr lang="en-US" sz="1100" dirty="0" err="1"/>
                  <a:t>agregada</a:t>
                </a:r>
                <a:r>
                  <a:rPr lang="en-US" sz="1100" dirty="0"/>
                  <a:t> de </a:t>
                </a:r>
                <a:r>
                  <a:rPr lang="en-US" sz="1100" dirty="0" err="1"/>
                  <a:t>trabajo</a:t>
                </a:r>
                <a:r>
                  <a:rPr lang="en-US" sz="1100" dirty="0"/>
                  <a:t> y </a:t>
                </a:r>
                <a14:m>
                  <m:oMath xmlns:m="http://schemas.openxmlformats.org/officeDocument/2006/math">
                    <m:sSup>
                      <m:sSupPr>
                        <m:ctrlPr>
                          <a:rPr lang="en-US" sz="1100" i="1" smtClean="0">
                            <a:latin typeface="Cambria Math" panose="02040503050406030204" pitchFamily="18" charset="0"/>
                          </a:rPr>
                        </m:ctrlPr>
                      </m:sSupPr>
                      <m:e>
                        <m:r>
                          <a:rPr lang="es-CL" sz="1100" b="0" i="1" smtClean="0">
                            <a:latin typeface="Cambria Math" panose="02040503050406030204" pitchFamily="18" charset="0"/>
                          </a:rPr>
                          <m:t>𝐿</m:t>
                        </m:r>
                      </m:e>
                      <m:sup>
                        <m:r>
                          <a:rPr lang="es-CL" sz="1100" b="0" i="1" smtClean="0">
                            <a:latin typeface="Cambria Math" panose="02040503050406030204" pitchFamily="18" charset="0"/>
                          </a:rPr>
                          <m:t>𝐹𝑂𝑅𝐶𝐸</m:t>
                        </m:r>
                      </m:sup>
                    </m:sSup>
                  </m:oMath>
                </a14:m>
                <a:r>
                  <a:rPr lang="en-US" sz="1100" dirty="0"/>
                  <a:t> </a:t>
                </a:r>
                <a:r>
                  <a:rPr lang="en-US" sz="1100" dirty="0" err="1"/>
                  <a:t>como</a:t>
                </a:r>
                <a:r>
                  <a:rPr lang="en-US" sz="1100" dirty="0"/>
                  <a:t> la </a:t>
                </a:r>
                <a:r>
                  <a:rPr lang="en-US" sz="1100" dirty="0" err="1"/>
                  <a:t>fuerza</a:t>
                </a:r>
                <a:r>
                  <a:rPr lang="en-US" sz="1100" dirty="0"/>
                  <a:t> </a:t>
                </a:r>
                <a:r>
                  <a:rPr lang="en-US" sz="1100" dirty="0" err="1"/>
                  <a:t>laboral</a:t>
                </a:r>
                <a:r>
                  <a:rPr lang="en-US" sz="1100" dirty="0"/>
                  <a:t> </a:t>
                </a:r>
                <a:r>
                  <a:rPr lang="en-US" sz="1100" dirty="0" err="1"/>
                  <a:t>exógena</a:t>
                </a:r>
                <a:endParaRPr lang="en-US" sz="1100" dirty="0"/>
              </a:p>
            </p:txBody>
          </p:sp>
        </mc:Choice>
        <mc:Fallback xmlns="">
          <p:sp>
            <p:nvSpPr>
              <p:cNvPr id="10" name="Text 8"/>
              <p:cNvSpPr>
                <a:spLocks noRot="1" noChangeAspect="1" noMove="1" noResize="1" noEditPoints="1" noAdjustHandles="1" noChangeArrowheads="1" noChangeShapeType="1" noTextEdit="1"/>
              </p:cNvSpPr>
              <p:nvPr/>
            </p:nvSpPr>
            <p:spPr>
              <a:xfrm>
                <a:off x="822960" y="3246120"/>
                <a:ext cx="2331720" cy="2103120"/>
              </a:xfrm>
              <a:prstGeom prst="rect">
                <a:avLst/>
              </a:prstGeom>
              <a:blipFill>
                <a:blip r:embed="rId3"/>
                <a:stretch>
                  <a:fillRect l="-3655" t="-290"/>
                </a:stretch>
              </a:blipFill>
              <a:ln/>
            </p:spPr>
            <p:txBody>
              <a:bodyPr/>
              <a:lstStyle/>
              <a:p>
                <a:r>
                  <a:rPr lang="es-CL">
                    <a:noFill/>
                  </a:rPr>
                  <a:t> </a:t>
                </a:r>
              </a:p>
            </p:txBody>
          </p:sp>
        </mc:Fallback>
      </mc:AlternateContent>
      <p:sp>
        <p:nvSpPr>
          <p:cNvPr id="11" name="Shape 9"/>
          <p:cNvSpPr/>
          <p:nvPr/>
        </p:nvSpPr>
        <p:spPr>
          <a:xfrm>
            <a:off x="3474720" y="1554480"/>
            <a:ext cx="2697480" cy="3840480"/>
          </a:xfrm>
          <a:prstGeom prst="rect">
            <a:avLst/>
          </a:prstGeom>
          <a:solidFill>
            <a:srgbClr val="F5F7FA"/>
          </a:solidFill>
          <a:ln w="9525">
            <a:solidFill>
              <a:srgbClr val="E2E8F0"/>
            </a:solidFill>
            <a:prstDash val="solid"/>
          </a:ln>
        </p:spPr>
        <p:txBody>
          <a:bodyPr/>
          <a:lstStyle/>
          <a:p>
            <a:endParaRPr lang="es-CL"/>
          </a:p>
        </p:txBody>
      </p:sp>
      <p:sp>
        <p:nvSpPr>
          <p:cNvPr id="12" name="Shape 10"/>
          <p:cNvSpPr/>
          <p:nvPr/>
        </p:nvSpPr>
        <p:spPr>
          <a:xfrm>
            <a:off x="3703320" y="1737360"/>
            <a:ext cx="594360" cy="594360"/>
          </a:xfrm>
          <a:prstGeom prst="ellipse">
            <a:avLst/>
          </a:prstGeom>
          <a:solidFill>
            <a:srgbClr val="D4A82A"/>
          </a:solidFill>
          <a:ln w="12700">
            <a:solidFill>
              <a:srgbClr val="D4A82A"/>
            </a:solidFill>
            <a:prstDash val="solid"/>
          </a:ln>
        </p:spPr>
        <p:txBody>
          <a:bodyPr/>
          <a:lstStyle/>
          <a:p>
            <a:endParaRPr lang="es-CL"/>
          </a:p>
        </p:txBody>
      </p:sp>
      <p:sp>
        <p:nvSpPr>
          <p:cNvPr id="13" name="Text 11"/>
          <p:cNvSpPr/>
          <p:nvPr/>
        </p:nvSpPr>
        <p:spPr>
          <a:xfrm>
            <a:off x="3703320" y="1737360"/>
            <a:ext cx="594360" cy="594360"/>
          </a:xfrm>
          <a:prstGeom prst="rect">
            <a:avLst/>
          </a:prstGeom>
          <a:noFill/>
          <a:ln/>
        </p:spPr>
        <p:txBody>
          <a:bodyPr wrap="square" lIns="0" tIns="0" rIns="0" bIns="0" rtlCol="0" anchor="ctr"/>
          <a:lstStyle/>
          <a:p>
            <a:pPr marL="0" indent="0" algn="ctr">
              <a:buNone/>
            </a:pPr>
            <a:r>
              <a:rPr lang="en-US" sz="1800" b="1" dirty="0">
                <a:solidFill>
                  <a:srgbClr val="1E2761"/>
                </a:solidFill>
                <a:latin typeface="Cambria" pitchFamily="34" charset="0"/>
                <a:ea typeface="Cambria" pitchFamily="34" charset="-122"/>
                <a:cs typeface="Cambria" pitchFamily="34" charset="-120"/>
              </a:rPr>
              <a:t>2</a:t>
            </a:r>
            <a:endParaRPr lang="en-US" sz="1800" dirty="0"/>
          </a:p>
        </p:txBody>
      </p:sp>
      <p:sp>
        <p:nvSpPr>
          <p:cNvPr id="14" name="Text 12"/>
          <p:cNvSpPr/>
          <p:nvPr/>
        </p:nvSpPr>
        <p:spPr>
          <a:xfrm>
            <a:off x="3657600" y="2423160"/>
            <a:ext cx="2331720" cy="822960"/>
          </a:xfrm>
          <a:prstGeom prst="rect">
            <a:avLst/>
          </a:prstGeom>
          <a:noFill/>
          <a:ln/>
        </p:spPr>
        <p:txBody>
          <a:bodyPr wrap="square" lIns="0" tIns="0" rIns="0" bIns="0" rtlCol="0" anchor="t"/>
          <a:lstStyle/>
          <a:p>
            <a:pPr marL="0" indent="0" algn="l">
              <a:buNone/>
            </a:pPr>
            <a:r>
              <a:rPr lang="en-US" sz="1300" b="1" dirty="0">
                <a:solidFill>
                  <a:srgbClr val="1E2761"/>
                </a:solidFill>
                <a:latin typeface="Cambria" pitchFamily="34" charset="0"/>
                <a:ea typeface="Cambria" pitchFamily="34" charset="-122"/>
                <a:cs typeface="Cambria" pitchFamily="34" charset="-120"/>
              </a:rPr>
              <a:t>Desempleo endógeno</a:t>
            </a:r>
            <a:endParaRPr lang="en-US" sz="1300" dirty="0"/>
          </a:p>
        </p:txBody>
      </p:sp>
      <mc:AlternateContent xmlns:mc="http://schemas.openxmlformats.org/markup-compatibility/2006" xmlns:a14="http://schemas.microsoft.com/office/drawing/2010/main">
        <mc:Choice Requires="a14">
          <p:sp>
            <p:nvSpPr>
              <p:cNvPr id="15" name="Text 13"/>
              <p:cNvSpPr/>
              <p:nvPr/>
            </p:nvSpPr>
            <p:spPr>
              <a:xfrm>
                <a:off x="3657600" y="3246120"/>
                <a:ext cx="2331720" cy="2103120"/>
              </a:xfrm>
              <a:prstGeom prst="rect">
                <a:avLst/>
              </a:prstGeom>
              <a:noFill/>
              <a:ln/>
            </p:spPr>
            <p:txBody>
              <a:bodyPr wrap="square" lIns="0" tIns="0" rIns="0" bIns="0" rtlCol="0" anchor="t"/>
              <a:lstStyle/>
              <a:p>
                <a:pPr marL="0" indent="0" algn="l">
                  <a:buNone/>
                </a:pPr>
                <a14:m>
                  <m:oMathPara xmlns:m="http://schemas.openxmlformats.org/officeDocument/2006/math">
                    <m:oMathParaPr>
                      <m:jc m:val="centerGroup"/>
                    </m:oMathParaPr>
                    <m:oMath xmlns:m="http://schemas.openxmlformats.org/officeDocument/2006/math">
                      <m:r>
                        <a:rPr lang="es-CL" sz="1100" b="0" i="1" smtClean="0">
                          <a:solidFill>
                            <a:srgbClr val="2D3748"/>
                          </a:solidFill>
                          <a:latin typeface="Cambria Math" panose="02040503050406030204" pitchFamily="18" charset="0"/>
                          <a:ea typeface="Calibri" pitchFamily="34" charset="-122"/>
                          <a:cs typeface="Calibri" pitchFamily="34" charset="-120"/>
                        </a:rPr>
                        <m:t>𝑢</m:t>
                      </m:r>
                      <m:r>
                        <a:rPr lang="es-CL" sz="1100" b="0" i="1" smtClean="0">
                          <a:solidFill>
                            <a:srgbClr val="2D3748"/>
                          </a:solidFill>
                          <a:latin typeface="Cambria Math" panose="02040503050406030204" pitchFamily="18" charset="0"/>
                          <a:ea typeface="Calibri" pitchFamily="34" charset="-122"/>
                          <a:cs typeface="Calibri" pitchFamily="34" charset="-120"/>
                        </a:rPr>
                        <m:t>=</m:t>
                      </m:r>
                      <m:f>
                        <m:fPr>
                          <m:ctrlPr>
                            <a:rPr lang="en-US" sz="1100" b="0" i="1" smtClean="0">
                              <a:solidFill>
                                <a:srgbClr val="2D3748"/>
                              </a:solidFill>
                              <a:latin typeface="Cambria Math" panose="02040503050406030204" pitchFamily="18" charset="0"/>
                              <a:ea typeface="Calibri" pitchFamily="34" charset="-122"/>
                              <a:cs typeface="Calibri" pitchFamily="34" charset="-120"/>
                            </a:rPr>
                          </m:ctrlPr>
                        </m:fPr>
                        <m:num>
                          <m:sSup>
                            <m:sSupPr>
                              <m:ctrlPr>
                                <a:rPr lang="en-US" sz="1100" b="0" i="1" smtClean="0">
                                  <a:solidFill>
                                    <a:srgbClr val="2D3748"/>
                                  </a:solidFill>
                                  <a:latin typeface="Cambria Math" panose="02040503050406030204" pitchFamily="18" charset="0"/>
                                  <a:ea typeface="Calibri" pitchFamily="34" charset="-122"/>
                                  <a:cs typeface="Calibri" pitchFamily="34" charset="-120"/>
                                </a:rPr>
                              </m:ctrlPr>
                            </m:sSupPr>
                            <m:e>
                              <m:r>
                                <a:rPr lang="es-CL" sz="1100" b="0" i="1" smtClean="0">
                                  <a:solidFill>
                                    <a:srgbClr val="2D3748"/>
                                  </a:solidFill>
                                  <a:latin typeface="Cambria Math" panose="02040503050406030204" pitchFamily="18" charset="0"/>
                                  <a:ea typeface="Calibri" pitchFamily="34" charset="-122"/>
                                  <a:cs typeface="Calibri" pitchFamily="34" charset="-120"/>
                                </a:rPr>
                                <m:t>𝐿</m:t>
                              </m:r>
                            </m:e>
                            <m:sup>
                              <m:r>
                                <a:rPr lang="es-CL" sz="1100" b="0" i="1" smtClean="0">
                                  <a:solidFill>
                                    <a:srgbClr val="2D3748"/>
                                  </a:solidFill>
                                  <a:latin typeface="Cambria Math" panose="02040503050406030204" pitchFamily="18" charset="0"/>
                                  <a:ea typeface="Calibri" pitchFamily="34" charset="-122"/>
                                  <a:cs typeface="Calibri" pitchFamily="34" charset="-120"/>
                                </a:rPr>
                                <m:t>𝐹𝑂𝑅𝐶𝐸</m:t>
                              </m:r>
                            </m:sup>
                          </m:sSup>
                          <m:r>
                            <a:rPr lang="es-CL" sz="1100" b="0" i="1" smtClean="0">
                              <a:solidFill>
                                <a:srgbClr val="2D3748"/>
                              </a:solidFill>
                              <a:latin typeface="Cambria Math" panose="02040503050406030204" pitchFamily="18" charset="0"/>
                              <a:ea typeface="Calibri" pitchFamily="34" charset="-122"/>
                              <a:cs typeface="Calibri" pitchFamily="34" charset="-120"/>
                            </a:rPr>
                            <m:t>−</m:t>
                          </m:r>
                          <m:r>
                            <a:rPr lang="es-CL" sz="1100" b="0" i="1" smtClean="0">
                              <a:solidFill>
                                <a:srgbClr val="2D3748"/>
                              </a:solidFill>
                              <a:latin typeface="Cambria Math" panose="02040503050406030204" pitchFamily="18" charset="0"/>
                              <a:ea typeface="Calibri" pitchFamily="34" charset="-122"/>
                              <a:cs typeface="Calibri" pitchFamily="34" charset="-120"/>
                            </a:rPr>
                            <m:t>𝐿𝐷</m:t>
                          </m:r>
                        </m:num>
                        <m:den>
                          <m:sSup>
                            <m:sSupPr>
                              <m:ctrlPr>
                                <a:rPr lang="en-US" sz="1100" b="0" i="1" smtClean="0">
                                  <a:solidFill>
                                    <a:srgbClr val="2D3748"/>
                                  </a:solidFill>
                                  <a:latin typeface="Cambria Math" panose="02040503050406030204" pitchFamily="18" charset="0"/>
                                  <a:ea typeface="Calibri" pitchFamily="34" charset="-122"/>
                                  <a:cs typeface="Calibri" pitchFamily="34" charset="-120"/>
                                </a:rPr>
                              </m:ctrlPr>
                            </m:sSupPr>
                            <m:e>
                              <m:r>
                                <a:rPr lang="es-CL" sz="1100" b="0" i="1" smtClean="0">
                                  <a:solidFill>
                                    <a:srgbClr val="2D3748"/>
                                  </a:solidFill>
                                  <a:latin typeface="Cambria Math" panose="02040503050406030204" pitchFamily="18" charset="0"/>
                                  <a:ea typeface="Calibri" pitchFamily="34" charset="-122"/>
                                  <a:cs typeface="Calibri" pitchFamily="34" charset="-120"/>
                                </a:rPr>
                                <m:t>𝐿</m:t>
                              </m:r>
                            </m:e>
                            <m:sup>
                              <m:r>
                                <a:rPr lang="es-CL" sz="1100" b="0" i="1" smtClean="0">
                                  <a:solidFill>
                                    <a:srgbClr val="2D3748"/>
                                  </a:solidFill>
                                  <a:latin typeface="Cambria Math" panose="02040503050406030204" pitchFamily="18" charset="0"/>
                                  <a:ea typeface="Calibri" pitchFamily="34" charset="-122"/>
                                  <a:cs typeface="Calibri" pitchFamily="34" charset="-120"/>
                                </a:rPr>
                                <m:t>𝐹𝑂𝑅𝐶𝐸</m:t>
                              </m:r>
                            </m:sup>
                          </m:sSup>
                        </m:den>
                      </m:f>
                    </m:oMath>
                  </m:oMathPara>
                </a14:m>
                <a:endParaRPr lang="en-US" sz="1100" dirty="0"/>
              </a:p>
              <a:p>
                <a:pPr marL="0" indent="0" algn="l">
                  <a:buNone/>
                </a:pPr>
                <a:r>
                  <a:rPr lang="en-US" sz="1100" dirty="0">
                    <a:solidFill>
                      <a:srgbClr val="2D3748"/>
                    </a:solidFill>
                    <a:latin typeface="Calibri" pitchFamily="34" charset="0"/>
                    <a:ea typeface="Calibri" pitchFamily="34" charset="-122"/>
                    <a:cs typeface="Calibri" pitchFamily="34" charset="-120"/>
                  </a:rPr>
                  <a:t>Base 8.7% para los 3 tipos de trabajo.</a:t>
                </a:r>
                <a:endParaRPr lang="en-US" sz="1100" dirty="0"/>
              </a:p>
              <a:p>
                <a:pPr marL="0" indent="0" algn="l">
                  <a:buNone/>
                </a:pPr>
                <a:r>
                  <a:rPr lang="en-US" sz="1100" dirty="0">
                    <a:solidFill>
                      <a:srgbClr val="2D3748"/>
                    </a:solidFill>
                    <a:latin typeface="Calibri" pitchFamily="34" charset="0"/>
                    <a:ea typeface="Calibri" pitchFamily="34" charset="-122"/>
                    <a:cs typeface="Calibri" pitchFamily="34" charset="-120"/>
                  </a:rPr>
                  <a:t>Los choques se absorben en empleo + salarios.</a:t>
                </a:r>
                <a:endParaRPr lang="en-US" sz="1100" dirty="0"/>
              </a:p>
            </p:txBody>
          </p:sp>
        </mc:Choice>
        <mc:Fallback xmlns="">
          <p:sp>
            <p:nvSpPr>
              <p:cNvPr id="15" name="Text 13"/>
              <p:cNvSpPr>
                <a:spLocks noRot="1" noChangeAspect="1" noMove="1" noResize="1" noEditPoints="1" noAdjustHandles="1" noChangeArrowheads="1" noChangeShapeType="1" noTextEdit="1"/>
              </p:cNvSpPr>
              <p:nvPr/>
            </p:nvSpPr>
            <p:spPr>
              <a:xfrm>
                <a:off x="3657600" y="3246120"/>
                <a:ext cx="2331720" cy="2103120"/>
              </a:xfrm>
              <a:prstGeom prst="rect">
                <a:avLst/>
              </a:prstGeom>
              <a:blipFill>
                <a:blip r:embed="rId4"/>
                <a:stretch>
                  <a:fillRect l="-3655"/>
                </a:stretch>
              </a:blipFill>
              <a:ln/>
            </p:spPr>
            <p:txBody>
              <a:bodyPr/>
              <a:lstStyle/>
              <a:p>
                <a:r>
                  <a:rPr lang="es-CL">
                    <a:noFill/>
                  </a:rPr>
                  <a:t> </a:t>
                </a:r>
              </a:p>
            </p:txBody>
          </p:sp>
        </mc:Fallback>
      </mc:AlternateContent>
      <p:sp>
        <p:nvSpPr>
          <p:cNvPr id="16" name="Shape 14"/>
          <p:cNvSpPr/>
          <p:nvPr/>
        </p:nvSpPr>
        <p:spPr>
          <a:xfrm>
            <a:off x="6309360" y="1554480"/>
            <a:ext cx="2697480" cy="3840480"/>
          </a:xfrm>
          <a:prstGeom prst="rect">
            <a:avLst/>
          </a:prstGeom>
          <a:solidFill>
            <a:srgbClr val="F5F7FA"/>
          </a:solidFill>
          <a:ln w="9525">
            <a:solidFill>
              <a:srgbClr val="E2E8F0"/>
            </a:solidFill>
            <a:prstDash val="solid"/>
          </a:ln>
        </p:spPr>
        <p:txBody>
          <a:bodyPr/>
          <a:lstStyle/>
          <a:p>
            <a:endParaRPr lang="es-CL"/>
          </a:p>
        </p:txBody>
      </p:sp>
      <p:sp>
        <p:nvSpPr>
          <p:cNvPr id="17" name="Shape 15"/>
          <p:cNvSpPr/>
          <p:nvPr/>
        </p:nvSpPr>
        <p:spPr>
          <a:xfrm>
            <a:off x="6537960" y="1737360"/>
            <a:ext cx="594360" cy="594360"/>
          </a:xfrm>
          <a:prstGeom prst="ellipse">
            <a:avLst/>
          </a:prstGeom>
          <a:solidFill>
            <a:srgbClr val="D4A82A"/>
          </a:solidFill>
          <a:ln w="12700">
            <a:solidFill>
              <a:srgbClr val="D4A82A"/>
            </a:solidFill>
            <a:prstDash val="solid"/>
          </a:ln>
        </p:spPr>
        <p:txBody>
          <a:bodyPr/>
          <a:lstStyle/>
          <a:p>
            <a:endParaRPr lang="es-CL"/>
          </a:p>
        </p:txBody>
      </p:sp>
      <p:sp>
        <p:nvSpPr>
          <p:cNvPr id="18" name="Text 16"/>
          <p:cNvSpPr/>
          <p:nvPr/>
        </p:nvSpPr>
        <p:spPr>
          <a:xfrm>
            <a:off x="6537960" y="1737360"/>
            <a:ext cx="594360" cy="594360"/>
          </a:xfrm>
          <a:prstGeom prst="rect">
            <a:avLst/>
          </a:prstGeom>
          <a:noFill/>
          <a:ln/>
        </p:spPr>
        <p:txBody>
          <a:bodyPr wrap="square" lIns="0" tIns="0" rIns="0" bIns="0" rtlCol="0" anchor="ctr"/>
          <a:lstStyle/>
          <a:p>
            <a:pPr marL="0" indent="0" algn="ctr">
              <a:buNone/>
            </a:pPr>
            <a:r>
              <a:rPr lang="en-US" sz="1800" b="1" dirty="0">
                <a:solidFill>
                  <a:srgbClr val="1E2761"/>
                </a:solidFill>
                <a:latin typeface="Cambria" pitchFamily="34" charset="0"/>
                <a:ea typeface="Cambria" pitchFamily="34" charset="-122"/>
                <a:cs typeface="Cambria" pitchFamily="34" charset="-120"/>
              </a:rPr>
              <a:t>3</a:t>
            </a:r>
            <a:endParaRPr lang="en-US" sz="1800" dirty="0"/>
          </a:p>
        </p:txBody>
      </p:sp>
      <p:sp>
        <p:nvSpPr>
          <p:cNvPr id="19" name="Text 17"/>
          <p:cNvSpPr/>
          <p:nvPr/>
        </p:nvSpPr>
        <p:spPr>
          <a:xfrm>
            <a:off x="6492240" y="2423160"/>
            <a:ext cx="2331720" cy="822960"/>
          </a:xfrm>
          <a:prstGeom prst="rect">
            <a:avLst/>
          </a:prstGeom>
          <a:noFill/>
          <a:ln/>
        </p:spPr>
        <p:txBody>
          <a:bodyPr wrap="square" lIns="0" tIns="0" rIns="0" bIns="0" rtlCol="0" anchor="t"/>
          <a:lstStyle/>
          <a:p>
            <a:pPr marL="0" indent="0" algn="l">
              <a:buNone/>
            </a:pPr>
            <a:r>
              <a:rPr lang="en-US" sz="1300" b="1" dirty="0">
                <a:solidFill>
                  <a:srgbClr val="1E2761"/>
                </a:solidFill>
                <a:latin typeface="Cambria" pitchFamily="34" charset="0"/>
                <a:ea typeface="Cambria" pitchFamily="34" charset="-122"/>
                <a:cs typeface="Cambria" pitchFamily="34" charset="-120"/>
              </a:rPr>
              <a:t>Ahorro externo fijo</a:t>
            </a:r>
            <a:endParaRPr lang="en-US" sz="1300" dirty="0"/>
          </a:p>
        </p:txBody>
      </p:sp>
      <mc:AlternateContent xmlns:mc="http://schemas.openxmlformats.org/markup-compatibility/2006" xmlns:a14="http://schemas.microsoft.com/office/drawing/2010/main">
        <mc:Choice Requires="a14">
          <p:sp>
            <p:nvSpPr>
              <p:cNvPr id="20" name="Text 18"/>
              <p:cNvSpPr/>
              <p:nvPr/>
            </p:nvSpPr>
            <p:spPr>
              <a:xfrm>
                <a:off x="6492240" y="3246120"/>
                <a:ext cx="2331720" cy="2103120"/>
              </a:xfrm>
              <a:prstGeom prst="rect">
                <a:avLst/>
              </a:prstGeom>
              <a:noFill/>
              <a:ln/>
            </p:spPr>
            <p:txBody>
              <a:bodyPr wrap="square" lIns="0" tIns="0" rIns="0" bIns="0" rtlCol="0" anchor="t"/>
              <a:lstStyle/>
              <a:p>
                <a:pPr marL="0" indent="0" algn="l">
                  <a:buNone/>
                </a:pPr>
                <a14:m>
                  <m:oMathPara xmlns:m="http://schemas.openxmlformats.org/officeDocument/2006/math">
                    <m:oMathParaPr>
                      <m:jc m:val="centerGroup"/>
                    </m:oMathParaPr>
                    <m:oMath xmlns:m="http://schemas.openxmlformats.org/officeDocument/2006/math">
                      <m:sSup>
                        <m:sSupPr>
                          <m:ctrlPr>
                            <a:rPr lang="en-US" sz="1100" i="1" smtClean="0">
                              <a:solidFill>
                                <a:srgbClr val="2D3748"/>
                              </a:solidFill>
                              <a:latin typeface="Cambria Math" panose="02040503050406030204" pitchFamily="18" charset="0"/>
                              <a:ea typeface="Calibri" pitchFamily="34" charset="-122"/>
                              <a:cs typeface="Calibri" pitchFamily="34" charset="-120"/>
                            </a:rPr>
                          </m:ctrlPr>
                        </m:sSupPr>
                        <m:e>
                          <m:r>
                            <a:rPr lang="es-CL" sz="1100" b="0" i="1" smtClean="0">
                              <a:solidFill>
                                <a:srgbClr val="2D3748"/>
                              </a:solidFill>
                              <a:latin typeface="Cambria Math" panose="02040503050406030204" pitchFamily="18" charset="0"/>
                              <a:ea typeface="Calibri" pitchFamily="34" charset="-122"/>
                              <a:cs typeface="Calibri" pitchFamily="34" charset="-120"/>
                            </a:rPr>
                            <m:t>𝑆𝐴𝑉</m:t>
                          </m:r>
                        </m:e>
                        <m:sup>
                          <m:r>
                            <a:rPr lang="es-CL" sz="1100" b="0" i="1" smtClean="0">
                              <a:solidFill>
                                <a:srgbClr val="2D3748"/>
                              </a:solidFill>
                              <a:latin typeface="Cambria Math" panose="02040503050406030204" pitchFamily="18" charset="0"/>
                              <a:ea typeface="Calibri" pitchFamily="34" charset="-122"/>
                              <a:cs typeface="Calibri" pitchFamily="34" charset="-120"/>
                            </a:rPr>
                            <m:t>𝐸𝑋𝑇</m:t>
                          </m:r>
                        </m:sup>
                      </m:sSup>
                      <m:r>
                        <a:rPr lang="es-CL" sz="1100" b="0" i="1" smtClean="0">
                          <a:solidFill>
                            <a:srgbClr val="2D3748"/>
                          </a:solidFill>
                          <a:latin typeface="Cambria Math" panose="02040503050406030204" pitchFamily="18" charset="0"/>
                          <a:ea typeface="Calibri" pitchFamily="34" charset="-122"/>
                          <a:cs typeface="Calibri" pitchFamily="34" charset="-120"/>
                        </a:rPr>
                        <m:t>=</m:t>
                      </m:r>
                      <m:sSubSup>
                        <m:sSubSupPr>
                          <m:ctrlPr>
                            <a:rPr lang="en-US" sz="1100" b="0" i="1" smtClean="0">
                              <a:solidFill>
                                <a:srgbClr val="2D3748"/>
                              </a:solidFill>
                              <a:latin typeface="Cambria Math" panose="02040503050406030204" pitchFamily="18" charset="0"/>
                              <a:ea typeface="Calibri" pitchFamily="34" charset="-122"/>
                              <a:cs typeface="Calibri" pitchFamily="34" charset="-120"/>
                            </a:rPr>
                          </m:ctrlPr>
                        </m:sSubSupPr>
                        <m:e>
                          <m:r>
                            <a:rPr lang="es-CL" sz="1100" b="0" i="1" smtClean="0">
                              <a:solidFill>
                                <a:srgbClr val="2D3748"/>
                              </a:solidFill>
                              <a:latin typeface="Cambria Math" panose="02040503050406030204" pitchFamily="18" charset="0"/>
                              <a:ea typeface="Calibri" pitchFamily="34" charset="-122"/>
                              <a:cs typeface="Calibri" pitchFamily="34" charset="-120"/>
                            </a:rPr>
                            <m:t>𝑆𝐴𝑉</m:t>
                          </m:r>
                        </m:e>
                        <m:sub>
                          <m:r>
                            <a:rPr lang="es-CL" sz="1100" b="0" i="1" smtClean="0">
                              <a:solidFill>
                                <a:srgbClr val="2D3748"/>
                              </a:solidFill>
                              <a:latin typeface="Cambria Math" panose="02040503050406030204" pitchFamily="18" charset="0"/>
                              <a:ea typeface="Calibri" pitchFamily="34" charset="-122"/>
                              <a:cs typeface="Calibri" pitchFamily="34" charset="-120"/>
                            </a:rPr>
                            <m:t>𝑡𝑎𝑟𝑔𝑒𝑡</m:t>
                          </m:r>
                        </m:sub>
                        <m:sup>
                          <m:r>
                            <a:rPr lang="es-CL" sz="1100" b="0" i="1" smtClean="0">
                              <a:solidFill>
                                <a:srgbClr val="2D3748"/>
                              </a:solidFill>
                              <a:latin typeface="Cambria Math" panose="02040503050406030204" pitchFamily="18" charset="0"/>
                              <a:ea typeface="Calibri" pitchFamily="34" charset="-122"/>
                              <a:cs typeface="Calibri" pitchFamily="34" charset="-120"/>
                            </a:rPr>
                            <m:t>𝐸𝑋𝑇</m:t>
                          </m:r>
                        </m:sup>
                      </m:sSubSup>
                    </m:oMath>
                  </m:oMathPara>
                </a14:m>
                <a:endParaRPr lang="en-US" sz="1100" dirty="0"/>
              </a:p>
              <a:p>
                <a:pPr marL="0" indent="0" algn="l">
                  <a:buNone/>
                </a:pPr>
                <a:r>
                  <a:rPr lang="en-US" sz="1100" dirty="0">
                    <a:solidFill>
                      <a:srgbClr val="2D3748"/>
                    </a:solidFill>
                    <a:latin typeface="Calibri" pitchFamily="34" charset="0"/>
                    <a:ea typeface="Calibri" pitchFamily="34" charset="-122"/>
                    <a:cs typeface="Calibri" pitchFamily="34" charset="-120"/>
                  </a:rPr>
                  <a:t>Tipo de cambio real endógeno.</a:t>
                </a:r>
                <a:endParaRPr lang="en-US" sz="1100" dirty="0"/>
              </a:p>
              <a:p>
                <a:pPr marL="0" indent="0" algn="l">
                  <a:buNone/>
                </a:pPr>
                <a:r>
                  <a:rPr lang="en-US" sz="1100" dirty="0">
                    <a:solidFill>
                      <a:srgbClr val="2D3748"/>
                    </a:solidFill>
                    <a:latin typeface="Calibri" pitchFamily="34" charset="0"/>
                    <a:ea typeface="Calibri" pitchFamily="34" charset="-122"/>
                    <a:cs typeface="Calibri" pitchFamily="34" charset="-120"/>
                  </a:rPr>
                  <a:t>Ajuste vía precios relativos.</a:t>
                </a:r>
                <a:endParaRPr lang="en-US" sz="1100" dirty="0"/>
              </a:p>
            </p:txBody>
          </p:sp>
        </mc:Choice>
        <mc:Fallback xmlns="">
          <p:sp>
            <p:nvSpPr>
              <p:cNvPr id="20" name="Text 18"/>
              <p:cNvSpPr>
                <a:spLocks noRot="1" noChangeAspect="1" noMove="1" noResize="1" noEditPoints="1" noAdjustHandles="1" noChangeArrowheads="1" noChangeShapeType="1" noTextEdit="1"/>
              </p:cNvSpPr>
              <p:nvPr/>
            </p:nvSpPr>
            <p:spPr>
              <a:xfrm>
                <a:off x="6492240" y="3246120"/>
                <a:ext cx="2331720" cy="2103120"/>
              </a:xfrm>
              <a:prstGeom prst="rect">
                <a:avLst/>
              </a:prstGeom>
              <a:blipFill>
                <a:blip r:embed="rId5"/>
                <a:stretch>
                  <a:fillRect l="-3655"/>
                </a:stretch>
              </a:blipFill>
              <a:ln/>
            </p:spPr>
            <p:txBody>
              <a:bodyPr/>
              <a:lstStyle/>
              <a:p>
                <a:r>
                  <a:rPr lang="es-CL">
                    <a:noFill/>
                  </a:rPr>
                  <a:t> </a:t>
                </a:r>
              </a:p>
            </p:txBody>
          </p:sp>
        </mc:Fallback>
      </mc:AlternateContent>
      <p:sp>
        <p:nvSpPr>
          <p:cNvPr id="21" name="Shape 19"/>
          <p:cNvSpPr/>
          <p:nvPr/>
        </p:nvSpPr>
        <p:spPr>
          <a:xfrm>
            <a:off x="9144000" y="1554480"/>
            <a:ext cx="2697480" cy="3840480"/>
          </a:xfrm>
          <a:prstGeom prst="rect">
            <a:avLst/>
          </a:prstGeom>
          <a:solidFill>
            <a:srgbClr val="F5F7FA"/>
          </a:solidFill>
          <a:ln w="9525">
            <a:solidFill>
              <a:srgbClr val="E2E8F0"/>
            </a:solidFill>
            <a:prstDash val="solid"/>
          </a:ln>
        </p:spPr>
        <p:txBody>
          <a:bodyPr/>
          <a:lstStyle/>
          <a:p>
            <a:endParaRPr lang="es-CL"/>
          </a:p>
        </p:txBody>
      </p:sp>
      <p:sp>
        <p:nvSpPr>
          <p:cNvPr id="22" name="Shape 20"/>
          <p:cNvSpPr/>
          <p:nvPr/>
        </p:nvSpPr>
        <p:spPr>
          <a:xfrm>
            <a:off x="9372600" y="1737360"/>
            <a:ext cx="594360" cy="594360"/>
          </a:xfrm>
          <a:prstGeom prst="ellipse">
            <a:avLst/>
          </a:prstGeom>
          <a:solidFill>
            <a:srgbClr val="D4A82A"/>
          </a:solidFill>
          <a:ln w="12700">
            <a:solidFill>
              <a:srgbClr val="D4A82A"/>
            </a:solidFill>
            <a:prstDash val="solid"/>
          </a:ln>
        </p:spPr>
        <p:txBody>
          <a:bodyPr/>
          <a:lstStyle/>
          <a:p>
            <a:endParaRPr lang="es-CL"/>
          </a:p>
        </p:txBody>
      </p:sp>
      <p:sp>
        <p:nvSpPr>
          <p:cNvPr id="23" name="Text 21"/>
          <p:cNvSpPr/>
          <p:nvPr/>
        </p:nvSpPr>
        <p:spPr>
          <a:xfrm>
            <a:off x="9372600" y="1737360"/>
            <a:ext cx="594360" cy="594360"/>
          </a:xfrm>
          <a:prstGeom prst="rect">
            <a:avLst/>
          </a:prstGeom>
          <a:noFill/>
          <a:ln/>
        </p:spPr>
        <p:txBody>
          <a:bodyPr wrap="square" lIns="0" tIns="0" rIns="0" bIns="0" rtlCol="0" anchor="ctr"/>
          <a:lstStyle/>
          <a:p>
            <a:pPr marL="0" indent="0" algn="ctr">
              <a:buNone/>
            </a:pPr>
            <a:r>
              <a:rPr lang="en-US" sz="1800" b="1" dirty="0">
                <a:solidFill>
                  <a:srgbClr val="1E2761"/>
                </a:solidFill>
                <a:latin typeface="Cambria" pitchFamily="34" charset="0"/>
                <a:ea typeface="Cambria" pitchFamily="34" charset="-122"/>
                <a:cs typeface="Cambria" pitchFamily="34" charset="-120"/>
              </a:rPr>
              <a:t>4</a:t>
            </a:r>
            <a:endParaRPr lang="en-US" sz="1800" dirty="0"/>
          </a:p>
        </p:txBody>
      </p:sp>
      <p:sp>
        <p:nvSpPr>
          <p:cNvPr id="24" name="Text 22"/>
          <p:cNvSpPr/>
          <p:nvPr/>
        </p:nvSpPr>
        <p:spPr>
          <a:xfrm>
            <a:off x="9326880" y="2423160"/>
            <a:ext cx="2331720" cy="822960"/>
          </a:xfrm>
          <a:prstGeom prst="rect">
            <a:avLst/>
          </a:prstGeom>
          <a:noFill/>
          <a:ln/>
        </p:spPr>
        <p:txBody>
          <a:bodyPr wrap="square" lIns="0" tIns="0" rIns="0" bIns="0" rtlCol="0" anchor="t"/>
          <a:lstStyle/>
          <a:p>
            <a:pPr marL="0" indent="0" algn="l">
              <a:buNone/>
            </a:pPr>
            <a:r>
              <a:rPr lang="en-US" sz="1300" b="1" dirty="0">
                <a:solidFill>
                  <a:srgbClr val="1E2761"/>
                </a:solidFill>
                <a:latin typeface="Cambria" pitchFamily="34" charset="0"/>
                <a:ea typeface="Cambria" pitchFamily="34" charset="-122"/>
                <a:cs typeface="Cambria" pitchFamily="34" charset="-120"/>
              </a:rPr>
              <a:t>Capital pleno empleo</a:t>
            </a:r>
            <a:endParaRPr lang="en-US" sz="1300" dirty="0"/>
          </a:p>
        </p:txBody>
      </p:sp>
      <mc:AlternateContent xmlns:mc="http://schemas.openxmlformats.org/markup-compatibility/2006" xmlns:a14="http://schemas.microsoft.com/office/drawing/2010/main">
        <mc:Choice Requires="a14">
          <p:sp>
            <p:nvSpPr>
              <p:cNvPr id="25" name="Text 23"/>
              <p:cNvSpPr/>
              <p:nvPr/>
            </p:nvSpPr>
            <p:spPr>
              <a:xfrm>
                <a:off x="9326880" y="3246120"/>
                <a:ext cx="2331720" cy="2103120"/>
              </a:xfrm>
              <a:prstGeom prst="rect">
                <a:avLst/>
              </a:prstGeom>
              <a:noFill/>
              <a:ln/>
            </p:spPr>
            <p:txBody>
              <a:bodyPr wrap="square" lIns="0" tIns="0" rIns="0" bIns="0" rtlCol="0" anchor="t"/>
              <a:lstStyle/>
              <a:p>
                <a:pPr marL="0" indent="0" algn="l">
                  <a:buNone/>
                </a:pPr>
                <a:r>
                  <a:rPr lang="en-US" sz="1100" dirty="0">
                    <a:solidFill>
                      <a:srgbClr val="2D3748"/>
                    </a:solidFill>
                    <a:latin typeface="Calibri" pitchFamily="34" charset="0"/>
                    <a:ea typeface="Calibri" pitchFamily="34" charset="-122"/>
                    <a:cs typeface="Calibri" pitchFamily="34" charset="-120"/>
                  </a:rPr>
                  <a:t> </a:t>
                </a:r>
                <a14:m>
                  <m:oMath xmlns:m="http://schemas.openxmlformats.org/officeDocument/2006/math">
                    <m:sSup>
                      <m:sSupPr>
                        <m:ctrlPr>
                          <a:rPr lang="en-US" sz="1100" i="1" smtClean="0">
                            <a:solidFill>
                              <a:srgbClr val="2D3748"/>
                            </a:solidFill>
                            <a:latin typeface="Cambria Math" panose="02040503050406030204" pitchFamily="18" charset="0"/>
                            <a:ea typeface="Calibri" pitchFamily="34" charset="-122"/>
                            <a:cs typeface="Calibri" pitchFamily="34" charset="-120"/>
                          </a:rPr>
                        </m:ctrlPr>
                      </m:sSupPr>
                      <m:e>
                        <m:r>
                          <a:rPr lang="es-CL" sz="1100" b="0" i="1" smtClean="0">
                            <a:solidFill>
                              <a:srgbClr val="2D3748"/>
                            </a:solidFill>
                            <a:latin typeface="Cambria Math" panose="02040503050406030204" pitchFamily="18" charset="0"/>
                            <a:ea typeface="Calibri" pitchFamily="34" charset="-122"/>
                            <a:cs typeface="Calibri" pitchFamily="34" charset="-120"/>
                          </a:rPr>
                          <m:t>𝐾</m:t>
                        </m:r>
                      </m:e>
                      <m:sup>
                        <m:r>
                          <a:rPr lang="es-CL" sz="1100" b="0" i="1" smtClean="0">
                            <a:solidFill>
                              <a:srgbClr val="2D3748"/>
                            </a:solidFill>
                            <a:latin typeface="Cambria Math" panose="02040503050406030204" pitchFamily="18" charset="0"/>
                            <a:ea typeface="Calibri" pitchFamily="34" charset="-122"/>
                            <a:cs typeface="Calibri" pitchFamily="34" charset="-120"/>
                          </a:rPr>
                          <m:t>𝑇𝑂𝑇</m:t>
                        </m:r>
                      </m:sup>
                    </m:sSup>
                    <m:r>
                      <a:rPr lang="es-CL" sz="1100" b="0" i="1" smtClean="0">
                        <a:solidFill>
                          <a:srgbClr val="2D3748"/>
                        </a:solidFill>
                        <a:latin typeface="Cambria Math" panose="02040503050406030204" pitchFamily="18" charset="0"/>
                        <a:ea typeface="Calibri" pitchFamily="34" charset="-122"/>
                        <a:cs typeface="Calibri" pitchFamily="34" charset="-120"/>
                      </a:rPr>
                      <m:t>=</m:t>
                    </m:r>
                    <m:nary>
                      <m:naryPr>
                        <m:chr m:val="∑"/>
                        <m:supHide m:val="on"/>
                        <m:ctrlPr>
                          <a:rPr lang="en-US" sz="1100" b="0" i="1" smtClean="0">
                            <a:solidFill>
                              <a:srgbClr val="2D3748"/>
                            </a:solidFill>
                            <a:latin typeface="Cambria Math" panose="02040503050406030204" pitchFamily="18" charset="0"/>
                            <a:ea typeface="Calibri" pitchFamily="34" charset="-122"/>
                            <a:cs typeface="Calibri" pitchFamily="34" charset="-120"/>
                          </a:rPr>
                        </m:ctrlPr>
                      </m:naryPr>
                      <m:sub>
                        <m:r>
                          <m:rPr>
                            <m:brk m:alnAt="7"/>
                          </m:rPr>
                          <a:rPr lang="es-CL" sz="1100" b="0" i="1" smtClean="0">
                            <a:solidFill>
                              <a:srgbClr val="2D3748"/>
                            </a:solidFill>
                            <a:latin typeface="Cambria Math" panose="02040503050406030204" pitchFamily="18" charset="0"/>
                            <a:ea typeface="Calibri" pitchFamily="34" charset="-122"/>
                            <a:cs typeface="Calibri" pitchFamily="34" charset="-120"/>
                          </a:rPr>
                          <m:t>𝑠</m:t>
                        </m:r>
                        <m:r>
                          <a:rPr lang="es-CL" sz="1100" b="0" i="1" smtClean="0">
                            <a:solidFill>
                              <a:srgbClr val="2D3748"/>
                            </a:solidFill>
                            <a:latin typeface="Cambria Math" panose="02040503050406030204" pitchFamily="18" charset="0"/>
                            <a:ea typeface="Cambria Math" panose="02040503050406030204" pitchFamily="18" charset="0"/>
                            <a:cs typeface="Calibri" pitchFamily="34" charset="-120"/>
                          </a:rPr>
                          <m:t>∈</m:t>
                        </m:r>
                        <m:r>
                          <a:rPr lang="es-CL" sz="1100" b="0" i="1" smtClean="0">
                            <a:solidFill>
                              <a:srgbClr val="2D3748"/>
                            </a:solidFill>
                            <a:latin typeface="Cambria Math" panose="02040503050406030204" pitchFamily="18" charset="0"/>
                            <a:ea typeface="Cambria Math" panose="02040503050406030204" pitchFamily="18" charset="0"/>
                            <a:cs typeface="Calibri" pitchFamily="34" charset="-120"/>
                          </a:rPr>
                          <m:t>𝑆𝐸𝐶𝑇𝑂𝑅𝐸𝑆</m:t>
                        </m:r>
                      </m:sub>
                      <m:sup/>
                      <m:e>
                        <m:sSup>
                          <m:sSupPr>
                            <m:ctrlPr>
                              <a:rPr lang="en-US" sz="1100" b="0" i="1" smtClean="0">
                                <a:solidFill>
                                  <a:srgbClr val="2D3748"/>
                                </a:solidFill>
                                <a:latin typeface="Cambria Math" panose="02040503050406030204" pitchFamily="18" charset="0"/>
                                <a:ea typeface="Calibri" pitchFamily="34" charset="-122"/>
                                <a:cs typeface="Calibri" pitchFamily="34" charset="-120"/>
                              </a:rPr>
                            </m:ctrlPr>
                          </m:sSupPr>
                          <m:e>
                            <m:r>
                              <a:rPr lang="es-CL" sz="1100" b="0" i="1" smtClean="0">
                                <a:solidFill>
                                  <a:srgbClr val="2D3748"/>
                                </a:solidFill>
                                <a:latin typeface="Cambria Math" panose="02040503050406030204" pitchFamily="18" charset="0"/>
                                <a:ea typeface="Calibri" pitchFamily="34" charset="-122"/>
                                <a:cs typeface="Calibri" pitchFamily="34" charset="-120"/>
                              </a:rPr>
                              <m:t>𝐾</m:t>
                            </m:r>
                          </m:e>
                          <m:sup>
                            <m:r>
                              <a:rPr lang="es-CL" sz="1100" b="0" i="1" smtClean="0">
                                <a:solidFill>
                                  <a:srgbClr val="2D3748"/>
                                </a:solidFill>
                                <a:latin typeface="Cambria Math" panose="02040503050406030204" pitchFamily="18" charset="0"/>
                                <a:ea typeface="Calibri" pitchFamily="34" charset="-122"/>
                                <a:cs typeface="Calibri" pitchFamily="34" charset="-120"/>
                              </a:rPr>
                              <m:t>𝑠</m:t>
                            </m:r>
                          </m:sup>
                        </m:sSup>
                      </m:e>
                    </m:nary>
                  </m:oMath>
                </a14:m>
                <a:r>
                  <a:rPr lang="en-US" sz="1100" dirty="0">
                    <a:solidFill>
                      <a:srgbClr val="2D3748"/>
                    </a:solidFill>
                    <a:latin typeface="Calibri" pitchFamily="34" charset="0"/>
                    <a:ea typeface="Calibri" pitchFamily="34" charset="-122"/>
                    <a:cs typeface="Calibri" pitchFamily="34" charset="-120"/>
                  </a:rPr>
                  <a:t> </a:t>
                </a:r>
                <a:endParaRPr lang="en-US" sz="1100" dirty="0"/>
              </a:p>
              <a:p>
                <a:pPr marL="0" indent="0" algn="l">
                  <a:buNone/>
                </a:pPr>
                <a:endParaRPr lang="en-US" sz="1100" dirty="0">
                  <a:solidFill>
                    <a:srgbClr val="2D3748"/>
                  </a:solidFill>
                  <a:latin typeface="Calibri" pitchFamily="34" charset="0"/>
                  <a:ea typeface="Calibri" pitchFamily="34" charset="-122"/>
                  <a:cs typeface="Calibri" pitchFamily="34" charset="-120"/>
                </a:endParaRPr>
              </a:p>
              <a:p>
                <a:pPr marL="0" indent="0" algn="l">
                  <a:buNone/>
                </a:pPr>
                <a14:m>
                  <m:oMath xmlns:m="http://schemas.openxmlformats.org/officeDocument/2006/math">
                    <m:sSup>
                      <m:sSupPr>
                        <m:ctrlPr>
                          <a:rPr lang="en-US" sz="1100" i="1" smtClean="0">
                            <a:solidFill>
                              <a:srgbClr val="2D3748"/>
                            </a:solidFill>
                            <a:latin typeface="Cambria Math" panose="02040503050406030204" pitchFamily="18" charset="0"/>
                            <a:ea typeface="Calibri" pitchFamily="34" charset="-122"/>
                            <a:cs typeface="Calibri" pitchFamily="34" charset="-120"/>
                          </a:rPr>
                        </m:ctrlPr>
                      </m:sSupPr>
                      <m:e>
                        <m:r>
                          <a:rPr lang="es-CL" sz="1100" b="0" i="1" smtClean="0">
                            <a:solidFill>
                              <a:srgbClr val="2D3748"/>
                            </a:solidFill>
                            <a:latin typeface="Cambria Math" panose="02040503050406030204" pitchFamily="18" charset="0"/>
                            <a:ea typeface="Calibri" pitchFamily="34" charset="-122"/>
                            <a:cs typeface="Calibri" pitchFamily="34" charset="-120"/>
                          </a:rPr>
                          <m:t>𝑝</m:t>
                        </m:r>
                      </m:e>
                      <m:sup>
                        <m:r>
                          <a:rPr lang="es-CL" sz="1100" b="0" i="1" smtClean="0">
                            <a:solidFill>
                              <a:srgbClr val="2D3748"/>
                            </a:solidFill>
                            <a:latin typeface="Cambria Math" panose="02040503050406030204" pitchFamily="18" charset="0"/>
                            <a:ea typeface="Calibri" pitchFamily="34" charset="-122"/>
                            <a:cs typeface="Calibri" pitchFamily="34" charset="-120"/>
                          </a:rPr>
                          <m:t>𝑘</m:t>
                        </m:r>
                      </m:sup>
                    </m:sSup>
                  </m:oMath>
                </a14:m>
                <a:r>
                  <a:rPr lang="en-US" sz="1100" dirty="0">
                    <a:solidFill>
                      <a:srgbClr val="2D3748"/>
                    </a:solidFill>
                    <a:latin typeface="Calibri" pitchFamily="34" charset="0"/>
                    <a:ea typeface="Calibri" pitchFamily="34" charset="-122"/>
                    <a:cs typeface="Calibri" pitchFamily="34" charset="-120"/>
                  </a:rPr>
                  <a:t> es el precio de escasez del factor.</a:t>
                </a:r>
                <a:endParaRPr lang="en-US" sz="1100" dirty="0"/>
              </a:p>
              <a:p>
                <a:pPr marL="0" indent="0" algn="l">
                  <a:buNone/>
                </a:pPr>
                <a:r>
                  <a:rPr lang="en-US" sz="1100" dirty="0">
                    <a:solidFill>
                      <a:srgbClr val="2D3748"/>
                    </a:solidFill>
                    <a:latin typeface="Calibri" pitchFamily="34" charset="0"/>
                    <a:ea typeface="Calibri" pitchFamily="34" charset="-122"/>
                    <a:cs typeface="Calibri" pitchFamily="34" charset="-120"/>
                  </a:rPr>
                  <a:t>Numerario nominal exógeno.</a:t>
                </a:r>
                <a:endParaRPr lang="en-US" sz="1100" dirty="0"/>
              </a:p>
            </p:txBody>
          </p:sp>
        </mc:Choice>
        <mc:Fallback xmlns="">
          <p:sp>
            <p:nvSpPr>
              <p:cNvPr id="25" name="Text 23"/>
              <p:cNvSpPr>
                <a:spLocks noRot="1" noChangeAspect="1" noMove="1" noResize="1" noEditPoints="1" noAdjustHandles="1" noChangeArrowheads="1" noChangeShapeType="1" noTextEdit="1"/>
              </p:cNvSpPr>
              <p:nvPr/>
            </p:nvSpPr>
            <p:spPr>
              <a:xfrm>
                <a:off x="9326880" y="3246120"/>
                <a:ext cx="2331720" cy="2103120"/>
              </a:xfrm>
              <a:prstGeom prst="rect">
                <a:avLst/>
              </a:prstGeom>
              <a:blipFill>
                <a:blip r:embed="rId6"/>
                <a:stretch>
                  <a:fillRect l="-3655" t="-13913"/>
                </a:stretch>
              </a:blipFill>
              <a:ln/>
            </p:spPr>
            <p:txBody>
              <a:bodyPr/>
              <a:lstStyle/>
              <a:p>
                <a:r>
                  <a:rPr lang="es-CL">
                    <a:noFill/>
                  </a:rPr>
                  <a:t> </a:t>
                </a:r>
              </a:p>
            </p:txBody>
          </p:sp>
        </mc:Fallback>
      </mc:AlternateContent>
      <p:sp>
        <p:nvSpPr>
          <p:cNvPr id="26" name="Shape 24"/>
          <p:cNvSpPr/>
          <p:nvPr/>
        </p:nvSpPr>
        <p:spPr>
          <a:xfrm>
            <a:off x="640080" y="5623560"/>
            <a:ext cx="11155680" cy="685800"/>
          </a:xfrm>
          <a:prstGeom prst="rect">
            <a:avLst/>
          </a:prstGeom>
          <a:solidFill>
            <a:srgbClr val="1E2761"/>
          </a:solidFill>
          <a:ln w="12700">
            <a:solidFill>
              <a:srgbClr val="1E2761"/>
            </a:solidFill>
            <a:prstDash val="solid"/>
          </a:ln>
        </p:spPr>
        <p:txBody>
          <a:bodyPr/>
          <a:lstStyle/>
          <a:p>
            <a:endParaRPr lang="es-CL"/>
          </a:p>
        </p:txBody>
      </p:sp>
      <p:sp>
        <p:nvSpPr>
          <p:cNvPr id="27" name="Text 25"/>
          <p:cNvSpPr/>
          <p:nvPr/>
        </p:nvSpPr>
        <p:spPr>
          <a:xfrm>
            <a:off x="868680" y="5623560"/>
            <a:ext cx="10789920" cy="685800"/>
          </a:xfrm>
          <a:prstGeom prst="rect">
            <a:avLst/>
          </a:prstGeom>
          <a:noFill/>
          <a:ln/>
        </p:spPr>
        <p:txBody>
          <a:bodyPr wrap="square" lIns="0" tIns="0" rIns="0" bIns="0" rtlCol="0" anchor="ctr"/>
          <a:lstStyle/>
          <a:p>
            <a:pPr marL="0" indent="0" algn="l">
              <a:buNone/>
            </a:pPr>
            <a:r>
              <a:rPr lang="en-US" sz="1200" b="1" dirty="0">
                <a:solidFill>
                  <a:srgbClr val="D4A82A"/>
                </a:solidFill>
                <a:latin typeface="Calibri" pitchFamily="34" charset="0"/>
                <a:ea typeface="Calibri" pitchFamily="34" charset="-122"/>
                <a:cs typeface="Calibri" pitchFamily="34" charset="-120"/>
              </a:rPr>
              <a:t>Consecuencia: </a:t>
            </a:r>
            <a:r>
              <a:rPr lang="en-US" sz="1200" dirty="0">
                <a:solidFill>
                  <a:srgbClr val="FFFFFF"/>
                </a:solidFill>
                <a:latin typeface="Calibri" pitchFamily="34" charset="0"/>
                <a:ea typeface="Calibri" pitchFamily="34" charset="-122"/>
                <a:cs typeface="Calibri" pitchFamily="34" charset="-120"/>
              </a:rPr>
              <a:t>los shocks tributarios no se absorben aumentando financiamiento externo; aparecen necesariamente en empleo, precios relativos y balance comercial.</a:t>
            </a:r>
            <a:endParaRPr lang="en-US" sz="1200" dirty="0"/>
          </a:p>
        </p:txBody>
      </p:sp>
      <p:sp>
        <p:nvSpPr>
          <p:cNvPr id="28" name="Text 26"/>
          <p:cNvSpPr/>
          <p:nvPr/>
        </p:nvSpPr>
        <p:spPr>
          <a:xfrm>
            <a:off x="457200" y="6492240"/>
            <a:ext cx="11247120" cy="274320"/>
          </a:xfrm>
          <a:prstGeom prst="rect">
            <a:avLst/>
          </a:prstGeom>
          <a:noFill/>
          <a:ln/>
        </p:spPr>
        <p:txBody>
          <a:bodyPr wrap="square"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MEGC 12 sectores · Chile 2023 · SII</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a:p>
        </p:txBody>
      </p:sp>
      <p:sp>
        <p:nvSpPr>
          <p:cNvPr id="3" name="Text 1"/>
          <p:cNvSpPr/>
          <p:nvPr/>
        </p:nvSpPr>
        <p:spPr>
          <a:xfrm>
            <a:off x="457200" y="384048"/>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15</a:t>
            </a:r>
            <a:endParaRPr lang="en-US" sz="1400" dirty="0"/>
          </a:p>
        </p:txBody>
      </p:sp>
      <p:sp>
        <p:nvSpPr>
          <p:cNvPr id="4" name="Text 2"/>
          <p:cNvSpPr/>
          <p:nvPr/>
        </p:nvSpPr>
        <p:spPr>
          <a:xfrm>
            <a:off x="1051560" y="365760"/>
            <a:ext cx="10698480" cy="502920"/>
          </a:xfrm>
          <a:prstGeom prst="rect">
            <a:avLst/>
          </a:prstGeom>
          <a:noFill/>
          <a:ln/>
        </p:spPr>
        <p:txBody>
          <a:bodyPr wrap="square" lIns="0" tIns="0" rIns="0" bIns="0" rtlCol="0" anchor="ctr"/>
          <a:lstStyle/>
          <a:p>
            <a:pPr marL="0" indent="0" algn="l">
              <a:buNone/>
            </a:pPr>
            <a:r>
              <a:rPr lang="en-US" sz="2400" b="1" dirty="0">
                <a:solidFill>
                  <a:srgbClr val="1E2761"/>
                </a:solidFill>
                <a:latin typeface="Cambria" pitchFamily="34" charset="0"/>
                <a:ea typeface="Cambria" pitchFamily="34" charset="-122"/>
                <a:cs typeface="Cambria" pitchFamily="34" charset="-120"/>
              </a:rPr>
              <a:t>Shock 1: Aumento del IVA (+1%)</a:t>
            </a:r>
            <a:endParaRPr lang="en-US" sz="2400" dirty="0"/>
          </a:p>
        </p:txBody>
      </p:sp>
      <p:sp>
        <p:nvSpPr>
          <p:cNvPr id="5" name="Shape 3"/>
          <p:cNvSpPr/>
          <p:nvPr/>
        </p:nvSpPr>
        <p:spPr>
          <a:xfrm>
            <a:off x="640080" y="1280160"/>
            <a:ext cx="5029200" cy="5029200"/>
          </a:xfrm>
          <a:prstGeom prst="rect">
            <a:avLst/>
          </a:prstGeom>
          <a:solidFill>
            <a:srgbClr val="F5F7FA"/>
          </a:solidFill>
          <a:ln w="9525">
            <a:solidFill>
              <a:srgbClr val="E2E8F0"/>
            </a:solidFill>
            <a:prstDash val="solid"/>
          </a:ln>
        </p:spPr>
        <p:txBody>
          <a:bodyPr/>
          <a:lstStyle/>
          <a:p>
            <a:endParaRPr lang="es-CL"/>
          </a:p>
        </p:txBody>
      </p:sp>
      <p:sp>
        <p:nvSpPr>
          <p:cNvPr id="6" name="Shape 4"/>
          <p:cNvSpPr/>
          <p:nvPr/>
        </p:nvSpPr>
        <p:spPr>
          <a:xfrm>
            <a:off x="640080" y="1280160"/>
            <a:ext cx="73152" cy="5029200"/>
          </a:xfrm>
          <a:prstGeom prst="rect">
            <a:avLst/>
          </a:prstGeom>
          <a:solidFill>
            <a:srgbClr val="C2562E"/>
          </a:solidFill>
          <a:ln w="12700">
            <a:solidFill>
              <a:srgbClr val="C2562E"/>
            </a:solidFill>
            <a:prstDash val="solid"/>
          </a:ln>
        </p:spPr>
        <p:txBody>
          <a:bodyPr/>
          <a:lstStyle/>
          <a:p>
            <a:endParaRPr lang="es-CL"/>
          </a:p>
        </p:txBody>
      </p:sp>
      <p:sp>
        <p:nvSpPr>
          <p:cNvPr id="7" name="Text 5"/>
          <p:cNvSpPr/>
          <p:nvPr/>
        </p:nvSpPr>
        <p:spPr>
          <a:xfrm>
            <a:off x="868680" y="1417320"/>
            <a:ext cx="4663440" cy="457200"/>
          </a:xfrm>
          <a:prstGeom prst="rect">
            <a:avLst/>
          </a:prstGeom>
          <a:noFill/>
          <a:ln/>
        </p:spPr>
        <p:txBody>
          <a:bodyPr wrap="square" lIns="0" tIns="0" rIns="0" bIns="0" rtlCol="0" anchor="ctr"/>
          <a:lstStyle/>
          <a:p>
            <a:pPr marL="0" indent="0" algn="l">
              <a:buNone/>
            </a:pPr>
            <a:r>
              <a:rPr lang="en-US" sz="1500" b="1" dirty="0">
                <a:solidFill>
                  <a:srgbClr val="1E2761"/>
                </a:solidFill>
                <a:latin typeface="Cambria" pitchFamily="34" charset="0"/>
                <a:ea typeface="Cambria" pitchFamily="34" charset="-122"/>
                <a:cs typeface="Cambria" pitchFamily="34" charset="-120"/>
              </a:rPr>
              <a:t>Mecanismo de transmisión</a:t>
            </a:r>
            <a:endParaRPr lang="en-US" sz="1500" dirty="0"/>
          </a:p>
        </p:txBody>
      </p:sp>
      <p:sp>
        <p:nvSpPr>
          <p:cNvPr id="8" name="Text 6"/>
          <p:cNvSpPr/>
          <p:nvPr/>
        </p:nvSpPr>
        <p:spPr>
          <a:xfrm>
            <a:off x="868680" y="1920240"/>
            <a:ext cx="4663440" cy="4206240"/>
          </a:xfrm>
          <a:prstGeom prst="rect">
            <a:avLst/>
          </a:prstGeom>
          <a:noFill/>
          <a:ln/>
        </p:spPr>
        <p:txBody>
          <a:bodyPr wrap="square" lIns="0" tIns="0" rIns="0" bIns="0" rtlCol="0" anchor="t"/>
          <a:lstStyle/>
          <a:p>
            <a:pPr marL="342900" indent="-342900" algn="l">
              <a:spcAft>
                <a:spcPts val="500"/>
              </a:spcAft>
              <a:buSzPct val="100000"/>
              <a:buChar char="•"/>
            </a:pPr>
            <a:r>
              <a:rPr lang="en-US" sz="1200" dirty="0">
                <a:solidFill>
                  <a:srgbClr val="2D3748"/>
                </a:solidFill>
                <a:latin typeface="Calibri" pitchFamily="34" charset="0"/>
                <a:ea typeface="Calibri" pitchFamily="34" charset="-122"/>
                <a:cs typeface="Calibri" pitchFamily="34" charset="-120"/>
              </a:rPr>
              <a:t>↑ Precio al consumidor (p_c)</a:t>
            </a:r>
            <a:endParaRPr lang="en-US" sz="1200" dirty="0"/>
          </a:p>
          <a:p>
            <a:pPr marL="342900" indent="-342900" algn="l">
              <a:spcAft>
                <a:spcPts val="500"/>
              </a:spcAft>
              <a:buSzPct val="100000"/>
              <a:buChar char="•"/>
            </a:pPr>
            <a:r>
              <a:rPr lang="en-US" sz="1200" dirty="0">
                <a:solidFill>
                  <a:srgbClr val="2D3748"/>
                </a:solidFill>
                <a:latin typeface="Calibri" pitchFamily="34" charset="0"/>
                <a:ea typeface="Calibri" pitchFamily="34" charset="-122"/>
                <a:cs typeface="Calibri" pitchFamily="34" charset="-120"/>
              </a:rPr>
              <a:t>↓ Ingreso real → ↓ consumo</a:t>
            </a:r>
            <a:endParaRPr lang="en-US" sz="1200" dirty="0"/>
          </a:p>
          <a:p>
            <a:pPr marL="342900" indent="-342900" algn="l">
              <a:spcAft>
                <a:spcPts val="500"/>
              </a:spcAft>
              <a:buSzPct val="100000"/>
              <a:buChar char="•"/>
            </a:pPr>
            <a:r>
              <a:rPr lang="en-US" sz="1200" dirty="0">
                <a:solidFill>
                  <a:srgbClr val="2D3748"/>
                </a:solidFill>
                <a:latin typeface="Calibri" pitchFamily="34" charset="0"/>
                <a:ea typeface="Calibri" pitchFamily="34" charset="-122"/>
                <a:cs typeface="Calibri" pitchFamily="34" charset="-120"/>
              </a:rPr>
              <a:t>↓ Absorción interna → ↓ importaciones</a:t>
            </a:r>
            <a:endParaRPr lang="en-US" sz="1200" dirty="0"/>
          </a:p>
          <a:p>
            <a:pPr marL="342900" indent="-342900" algn="l">
              <a:spcAft>
                <a:spcPts val="500"/>
              </a:spcAft>
              <a:buSzPct val="100000"/>
              <a:buChar char="•"/>
            </a:pPr>
            <a:r>
              <a:rPr lang="en-US" sz="1200" dirty="0">
                <a:solidFill>
                  <a:srgbClr val="2D3748"/>
                </a:solidFill>
                <a:latin typeface="Calibri" pitchFamily="34" charset="0"/>
                <a:ea typeface="Calibri" pitchFamily="34" charset="-122"/>
                <a:cs typeface="Calibri" pitchFamily="34" charset="-120"/>
              </a:rPr>
              <a:t>↓ Producción → ↓ empleo / salarios</a:t>
            </a:r>
            <a:endParaRPr lang="en-US" sz="1200" dirty="0"/>
          </a:p>
          <a:p>
            <a:pPr marL="342900" indent="-342900" algn="l">
              <a:spcAft>
                <a:spcPts val="500"/>
              </a:spcAft>
              <a:buSzPct val="100000"/>
              <a:buChar char="•"/>
            </a:pPr>
            <a:r>
              <a:rPr lang="en-US" sz="1200" dirty="0">
                <a:solidFill>
                  <a:srgbClr val="2D3748"/>
                </a:solidFill>
                <a:latin typeface="Calibri" pitchFamily="34" charset="0"/>
                <a:ea typeface="Calibri" pitchFamily="34" charset="-122"/>
                <a:cs typeface="Calibri" pitchFamily="34" charset="-120"/>
              </a:rPr>
              <a:t>↓ Presión externa → ajuste cambiario</a:t>
            </a:r>
            <a:endParaRPr lang="en-US" sz="1200" dirty="0"/>
          </a:p>
          <a:p>
            <a:pPr marL="342900" indent="-342900" algn="l">
              <a:spcAft>
                <a:spcPts val="500"/>
              </a:spcAft>
              <a:buSzPct val="100000"/>
              <a:buChar char="•"/>
            </a:pPr>
            <a:r>
              <a:rPr lang="en-US" sz="1200" dirty="0">
                <a:solidFill>
                  <a:srgbClr val="2D3748"/>
                </a:solidFill>
                <a:latin typeface="Calibri" pitchFamily="34" charset="0"/>
                <a:ea typeface="Calibri" pitchFamily="34" charset="-122"/>
                <a:cs typeface="Calibri" pitchFamily="34" charset="-120"/>
              </a:rPr>
              <a:t>↓ Exportaciones (efecto secundario)</a:t>
            </a:r>
            <a:endParaRPr lang="en-US" sz="1200" dirty="0"/>
          </a:p>
          <a:p>
            <a:pPr marL="342900" indent="-342900" algn="l">
              <a:spcAft>
                <a:spcPts val="500"/>
              </a:spcAft>
              <a:buSzPct val="100000"/>
              <a:buChar char="•"/>
            </a:pPr>
            <a:r>
              <a:rPr lang="en-US" sz="1200" b="1" dirty="0">
                <a:solidFill>
                  <a:srgbClr val="2F7D58"/>
                </a:solidFill>
                <a:latin typeface="Calibri" pitchFamily="34" charset="0"/>
                <a:ea typeface="Calibri" pitchFamily="34" charset="-122"/>
                <a:cs typeface="Calibri" pitchFamily="34" charset="-120"/>
              </a:rPr>
              <a:t>↑ Recaudación IVA directa</a:t>
            </a:r>
            <a:endParaRPr lang="en-US" sz="1200" dirty="0"/>
          </a:p>
        </p:txBody>
      </p:sp>
      <p:sp>
        <p:nvSpPr>
          <p:cNvPr id="9" name="Text 7"/>
          <p:cNvSpPr/>
          <p:nvPr/>
        </p:nvSpPr>
        <p:spPr>
          <a:xfrm>
            <a:off x="5943600" y="1280160"/>
            <a:ext cx="5760720" cy="365760"/>
          </a:xfrm>
          <a:prstGeom prst="rect">
            <a:avLst/>
          </a:prstGeom>
          <a:noFill/>
          <a:ln/>
        </p:spPr>
        <p:txBody>
          <a:bodyPr wrap="square" lIns="0" tIns="0" rIns="0" bIns="0" rtlCol="0" anchor="ctr"/>
          <a:lstStyle/>
          <a:p>
            <a:pPr marL="0" indent="0" algn="l">
              <a:buNone/>
            </a:pPr>
            <a:r>
              <a:rPr lang="en-US" sz="1500" b="1" dirty="0">
                <a:solidFill>
                  <a:srgbClr val="1E2761"/>
                </a:solidFill>
                <a:latin typeface="Cambria" pitchFamily="34" charset="0"/>
                <a:ea typeface="Cambria" pitchFamily="34" charset="-122"/>
                <a:cs typeface="Cambria" pitchFamily="34" charset="-120"/>
              </a:rPr>
              <a:t>Resultados agregados</a:t>
            </a:r>
            <a:endParaRPr lang="en-US" sz="1500" dirty="0"/>
          </a:p>
        </p:txBody>
      </p:sp>
      <p:graphicFrame>
        <p:nvGraphicFramePr>
          <p:cNvPr id="17" name="Table 0"/>
          <p:cNvGraphicFramePr>
            <a:graphicFrameLocks noGrp="1"/>
          </p:cNvGraphicFramePr>
          <p:nvPr>
            <p:extLst>
              <p:ext uri="{D42A27DB-BD31-4B8C-83A1-F6EECF244321}">
                <p14:modId xmlns:p14="http://schemas.microsoft.com/office/powerpoint/2010/main" val="2253709140"/>
              </p:ext>
            </p:extLst>
          </p:nvPr>
        </p:nvGraphicFramePr>
        <p:xfrm>
          <a:off x="5943600" y="1737360"/>
          <a:ext cx="5760720" cy="3398520"/>
        </p:xfrm>
        <a:graphic>
          <a:graphicData uri="http://schemas.openxmlformats.org/drawingml/2006/table">
            <a:tbl>
              <a:tblPr/>
              <a:tblGrid>
                <a:gridCol w="1600200">
                  <a:extLst>
                    <a:ext uri="{9D8B030D-6E8A-4147-A177-3AD203B41FA5}">
                      <a16:colId xmlns:a16="http://schemas.microsoft.com/office/drawing/2014/main" val="20000"/>
                    </a:ext>
                  </a:extLst>
                </a:gridCol>
                <a:gridCol w="1600200">
                  <a:extLst>
                    <a:ext uri="{9D8B030D-6E8A-4147-A177-3AD203B41FA5}">
                      <a16:colId xmlns:a16="http://schemas.microsoft.com/office/drawing/2014/main" val="3022578564"/>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819052671"/>
                    </a:ext>
                  </a:extLst>
                </a:gridCol>
              </a:tblGrid>
              <a:tr h="411480">
                <a:tc gridSpan="2">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Variable</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hMerge="1">
                  <a:txBody>
                    <a:bodyPr/>
                    <a:lstStyle/>
                    <a:p>
                      <a:endParaRPr lang="es-CL"/>
                    </a:p>
                  </a:txBody>
                  <a:tcPr/>
                </a:tc>
                <a:tc gridSpan="2">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Cambio</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hMerge="1">
                  <a:txBody>
                    <a:bodyPr/>
                    <a:lstStyle/>
                    <a:p>
                      <a:endParaRPr lang="es-CL"/>
                    </a:p>
                  </a:txBody>
                  <a:tcPr/>
                </a:tc>
                <a:extLst>
                  <a:ext uri="{0D108BD9-81ED-4DB2-BD59-A6C34878D82A}">
                    <a16:rowId xmlns:a16="http://schemas.microsoft.com/office/drawing/2014/main" val="10000"/>
                  </a:ext>
                </a:extLst>
              </a:tr>
              <a:tr h="411480">
                <a:tc gridSpan="2">
                  <a:txBody>
                    <a:bodyPr/>
                    <a:lstStyle/>
                    <a:p>
                      <a:pPr marL="0" indent="0" algn="l">
                        <a:buNone/>
                      </a:pPr>
                      <a:r>
                        <a:rPr lang="en-US" sz="1100" dirty="0">
                          <a:solidFill>
                            <a:srgbClr val="2D3748"/>
                          </a:solidFill>
                          <a:latin typeface="Calibri" pitchFamily="34" charset="0"/>
                          <a:ea typeface="Calibri" pitchFamily="34" charset="-122"/>
                          <a:cs typeface="Calibri" pitchFamily="34" charset="-120"/>
                        </a:rPr>
                        <a:t>PIB real</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tc gridSpan="2">
                  <a:txBody>
                    <a:bodyPr/>
                    <a:lstStyle/>
                    <a:p>
                      <a:pPr marL="0" indent="0" algn="l">
                        <a:buNone/>
                      </a:pPr>
                      <a:r>
                        <a:rPr lang="en-US" sz="1100" dirty="0">
                          <a:solidFill>
                            <a:srgbClr val="2D3748"/>
                          </a:solidFill>
                          <a:latin typeface="Calibri" pitchFamily="34" charset="0"/>
                          <a:ea typeface="Calibri" pitchFamily="34" charset="-122"/>
                          <a:cs typeface="Calibri" pitchFamily="34" charset="-120"/>
                        </a:rPr>
                        <a:t>−0.1176%</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extLst>
                  <a:ext uri="{0D108BD9-81ED-4DB2-BD59-A6C34878D82A}">
                    <a16:rowId xmlns:a16="http://schemas.microsoft.com/office/drawing/2014/main" val="10001"/>
                  </a:ext>
                </a:extLst>
              </a:tr>
              <a:tr h="411480">
                <a:tc gridSpan="2">
                  <a:txBody>
                    <a:bodyPr/>
                    <a:lstStyle/>
                    <a:p>
                      <a:pPr marL="0" indent="0" algn="l">
                        <a:buNone/>
                      </a:pPr>
                      <a:r>
                        <a:rPr lang="en-US" sz="1100" dirty="0">
                          <a:solidFill>
                            <a:srgbClr val="2D3748"/>
                          </a:solidFill>
                          <a:latin typeface="Calibri" pitchFamily="34" charset="0"/>
                          <a:ea typeface="Calibri" pitchFamily="34" charset="-122"/>
                          <a:cs typeface="Calibri" pitchFamily="34" charset="-120"/>
                        </a:rPr>
                        <a:t>Consumo real</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tc gridSpan="2">
                  <a:txBody>
                    <a:bodyPr/>
                    <a:lstStyle/>
                    <a:p>
                      <a:pPr marL="0" indent="0" algn="l">
                        <a:buNone/>
                      </a:pPr>
                      <a:r>
                        <a:rPr lang="en-US" sz="1100" dirty="0">
                          <a:solidFill>
                            <a:srgbClr val="2D3748"/>
                          </a:solidFill>
                          <a:latin typeface="Calibri" pitchFamily="34" charset="0"/>
                          <a:ea typeface="Calibri" pitchFamily="34" charset="-122"/>
                          <a:cs typeface="Calibri" pitchFamily="34" charset="-120"/>
                        </a:rPr>
                        <a:t>−0.1385%</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extLst>
                  <a:ext uri="{0D108BD9-81ED-4DB2-BD59-A6C34878D82A}">
                    <a16:rowId xmlns:a16="http://schemas.microsoft.com/office/drawing/2014/main" val="10002"/>
                  </a:ext>
                </a:extLst>
              </a:tr>
              <a:tr h="411480">
                <a:tc gridSpan="2">
                  <a:txBody>
                    <a:bodyPr/>
                    <a:lstStyle/>
                    <a:p>
                      <a:pPr marL="0" indent="0" algn="l">
                        <a:buNone/>
                      </a:pPr>
                      <a:r>
                        <a:rPr lang="en-US" sz="1100" dirty="0">
                          <a:solidFill>
                            <a:srgbClr val="2D3748"/>
                          </a:solidFill>
                          <a:latin typeface="Calibri" pitchFamily="34" charset="0"/>
                          <a:ea typeface="Calibri" pitchFamily="34" charset="-122"/>
                          <a:cs typeface="Calibri" pitchFamily="34" charset="-120"/>
                        </a:rPr>
                        <a:t>Inversión real</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tc gridSpan="2">
                  <a:txBody>
                    <a:bodyPr/>
                    <a:lstStyle/>
                    <a:p>
                      <a:pPr marL="0" indent="0" algn="l">
                        <a:buNone/>
                      </a:pPr>
                      <a:r>
                        <a:rPr lang="en-US" sz="1100" dirty="0">
                          <a:solidFill>
                            <a:srgbClr val="2D3748"/>
                          </a:solidFill>
                          <a:latin typeface="Calibri" pitchFamily="34" charset="0"/>
                          <a:ea typeface="Calibri" pitchFamily="34" charset="-122"/>
                          <a:cs typeface="Calibri" pitchFamily="34" charset="-120"/>
                        </a:rPr>
                        <a:t>−0.0713%</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extLst>
                  <a:ext uri="{0D108BD9-81ED-4DB2-BD59-A6C34878D82A}">
                    <a16:rowId xmlns:a16="http://schemas.microsoft.com/office/drawing/2014/main" val="10003"/>
                  </a:ext>
                </a:extLst>
              </a:tr>
              <a:tr h="411480">
                <a:tc gridSpan="2">
                  <a:txBody>
                    <a:bodyPr/>
                    <a:lstStyle/>
                    <a:p>
                      <a:pPr marL="0" indent="0" algn="l">
                        <a:buNone/>
                      </a:pPr>
                      <a:r>
                        <a:rPr lang="en-US" sz="1100" dirty="0">
                          <a:solidFill>
                            <a:srgbClr val="2D3748"/>
                          </a:solidFill>
                          <a:latin typeface="Calibri" pitchFamily="34" charset="0"/>
                          <a:ea typeface="Calibri" pitchFamily="34" charset="-122"/>
                          <a:cs typeface="Calibri" pitchFamily="34" charset="-120"/>
                        </a:rPr>
                        <a:t>Exportaciones reales</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tc gridSpan="2">
                  <a:txBody>
                    <a:bodyPr/>
                    <a:lstStyle/>
                    <a:p>
                      <a:pPr marL="0" indent="0" algn="l">
                        <a:buNone/>
                      </a:pPr>
                      <a:r>
                        <a:rPr lang="en-US" sz="1100" dirty="0">
                          <a:solidFill>
                            <a:srgbClr val="2D3748"/>
                          </a:solidFill>
                          <a:latin typeface="Calibri" pitchFamily="34" charset="0"/>
                          <a:ea typeface="Calibri" pitchFamily="34" charset="-122"/>
                          <a:cs typeface="Calibri" pitchFamily="34" charset="-120"/>
                        </a:rPr>
                        <a:t>−0.1441%</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extLst>
                  <a:ext uri="{0D108BD9-81ED-4DB2-BD59-A6C34878D82A}">
                    <a16:rowId xmlns:a16="http://schemas.microsoft.com/office/drawing/2014/main" val="10004"/>
                  </a:ext>
                </a:extLst>
              </a:tr>
              <a:tr h="411480">
                <a:tc gridSpan="2">
                  <a:txBody>
                    <a:bodyPr/>
                    <a:lstStyle/>
                    <a:p>
                      <a:pPr marL="0" indent="0" algn="l">
                        <a:buNone/>
                      </a:pPr>
                      <a:r>
                        <a:rPr lang="en-US" sz="1100" dirty="0">
                          <a:solidFill>
                            <a:srgbClr val="2D3748"/>
                          </a:solidFill>
                          <a:latin typeface="Calibri" pitchFamily="34" charset="0"/>
                          <a:ea typeface="Calibri" pitchFamily="34" charset="-122"/>
                          <a:cs typeface="Calibri" pitchFamily="34" charset="-120"/>
                        </a:rPr>
                        <a:t>Importaciones reales</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tc gridSpan="2">
                  <a:txBody>
                    <a:bodyPr/>
                    <a:lstStyle/>
                    <a:p>
                      <a:pPr marL="0" indent="0" algn="l">
                        <a:buNone/>
                      </a:pPr>
                      <a:r>
                        <a:rPr lang="en-US" sz="1100" dirty="0">
                          <a:solidFill>
                            <a:srgbClr val="2D3748"/>
                          </a:solidFill>
                          <a:latin typeface="Calibri" pitchFamily="34" charset="0"/>
                          <a:ea typeface="Calibri" pitchFamily="34" charset="-122"/>
                          <a:cs typeface="Calibri" pitchFamily="34" charset="-120"/>
                        </a:rPr>
                        <a:t>−0.0934%</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extLst>
                  <a:ext uri="{0D108BD9-81ED-4DB2-BD59-A6C34878D82A}">
                    <a16:rowId xmlns:a16="http://schemas.microsoft.com/office/drawing/2014/main" val="10005"/>
                  </a:ext>
                </a:extLst>
              </a:tr>
              <a:tr h="205740">
                <a:tc>
                  <a:txBody>
                    <a:bodyPr/>
                    <a:lstStyle/>
                    <a:p>
                      <a:pPr marL="0" indent="0" algn="l">
                        <a:buNone/>
                      </a:pPr>
                      <a:r>
                        <a:rPr lang="en-US" sz="1100" dirty="0">
                          <a:solidFill>
                            <a:srgbClr val="2D3748"/>
                          </a:solidFill>
                          <a:latin typeface="Calibri" pitchFamily="34" charset="0"/>
                          <a:ea typeface="Calibri" pitchFamily="34" charset="-122"/>
                          <a:cs typeface="Calibri" pitchFamily="34" charset="-120"/>
                        </a:rPr>
                        <a:t>Desempleo (media)</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r>
                        <a:rPr lang="en-US" sz="1100" dirty="0">
                          <a:solidFill>
                            <a:srgbClr val="2D3748"/>
                          </a:solidFill>
                          <a:latin typeface="Calibri" pitchFamily="34" charset="0"/>
                          <a:ea typeface="Calibri" pitchFamily="34" charset="-122"/>
                          <a:cs typeface="Calibri" pitchFamily="34" charset="-120"/>
                        </a:rPr>
                        <a:t>+0.45 pp</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6"/>
                  </a:ext>
                </a:extLst>
              </a:tr>
              <a:tr h="205740">
                <a:tc>
                  <a:txBody>
                    <a:bodyPr/>
                    <a:lstStyle/>
                    <a:p>
                      <a:pPr marL="0" indent="0" algn="l">
                        <a:buNone/>
                      </a:pPr>
                      <a:r>
                        <a:rPr lang="en-US" sz="1100" dirty="0">
                          <a:latin typeface="Calibri" charset="0"/>
                          <a:ea typeface="Calibri" charset="0"/>
                          <a:cs typeface="Calibri" charset="0"/>
                        </a:rPr>
                        <a:t>IVA</a:t>
                      </a: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r>
                        <a:rPr lang="en-US" sz="1100" dirty="0">
                          <a:latin typeface="Calibri" charset="0"/>
                          <a:ea typeface="Calibri" charset="0"/>
                          <a:cs typeface="Calibri" charset="0"/>
                        </a:rPr>
                        <a:t>+</a:t>
                      </a:r>
                      <a:r>
                        <a:rPr lang="en-US" sz="1100" kern="1200" dirty="0">
                          <a:solidFill>
                            <a:srgbClr val="2D3748"/>
                          </a:solidFill>
                          <a:latin typeface="Calibri" pitchFamily="34" charset="0"/>
                          <a:ea typeface="Calibri" pitchFamily="34" charset="-122"/>
                          <a:cs typeface="Calibri" pitchFamily="34" charset="-120"/>
                        </a:rPr>
                        <a:t>0.0455 pp PIB</a:t>
                      </a: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17929380"/>
                  </a:ext>
                </a:extLst>
              </a:tr>
              <a:tr h="411480">
                <a:tc gridSpan="2">
                  <a:txBody>
                    <a:bodyPr/>
                    <a:lstStyle/>
                    <a:p>
                      <a:pPr marL="0" indent="0" algn="l">
                        <a:buNone/>
                      </a:pPr>
                      <a:r>
                        <a:rPr lang="en-US" sz="1100" dirty="0">
                          <a:solidFill>
                            <a:srgbClr val="2D3748"/>
                          </a:solidFill>
                          <a:latin typeface="Calibri" pitchFamily="34" charset="0"/>
                          <a:ea typeface="Calibri" pitchFamily="34" charset="-122"/>
                          <a:cs typeface="Calibri" pitchFamily="34" charset="-120"/>
                        </a:rPr>
                        <a:t>Recaudación total</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tc gridSpan="2">
                  <a:txBody>
                    <a:bodyPr/>
                    <a:lstStyle/>
                    <a:p>
                      <a:pPr marL="0" indent="0" algn="l">
                        <a:buNone/>
                      </a:pPr>
                      <a:r>
                        <a:rPr lang="en-US" sz="1100" dirty="0">
                          <a:solidFill>
                            <a:srgbClr val="2D3748"/>
                          </a:solidFill>
                          <a:latin typeface="Calibri" pitchFamily="34" charset="0"/>
                          <a:ea typeface="Calibri" pitchFamily="34" charset="-122"/>
                          <a:cs typeface="Calibri" pitchFamily="34" charset="-120"/>
                        </a:rPr>
                        <a:t>+0.0019 pp PIB</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extLst>
                  <a:ext uri="{0D108BD9-81ED-4DB2-BD59-A6C34878D82A}">
                    <a16:rowId xmlns:a16="http://schemas.microsoft.com/office/drawing/2014/main" val="10007"/>
                  </a:ext>
                </a:extLst>
              </a:tr>
            </a:tbl>
          </a:graphicData>
        </a:graphic>
      </p:graphicFrame>
      <p:sp>
        <p:nvSpPr>
          <p:cNvPr id="11" name="Shape 8"/>
          <p:cNvSpPr/>
          <p:nvPr/>
        </p:nvSpPr>
        <p:spPr>
          <a:xfrm>
            <a:off x="5943600" y="5303520"/>
            <a:ext cx="5760720" cy="1005840"/>
          </a:xfrm>
          <a:prstGeom prst="rect">
            <a:avLst/>
          </a:prstGeom>
          <a:solidFill>
            <a:srgbClr val="1E2761"/>
          </a:solidFill>
          <a:ln w="12700">
            <a:solidFill>
              <a:srgbClr val="1E2761"/>
            </a:solidFill>
            <a:prstDash val="solid"/>
          </a:ln>
        </p:spPr>
        <p:txBody>
          <a:bodyPr/>
          <a:lstStyle/>
          <a:p>
            <a:endParaRPr lang="es-CL"/>
          </a:p>
        </p:txBody>
      </p:sp>
      <p:sp>
        <p:nvSpPr>
          <p:cNvPr id="12" name="Text 9"/>
          <p:cNvSpPr/>
          <p:nvPr/>
        </p:nvSpPr>
        <p:spPr>
          <a:xfrm>
            <a:off x="6126480" y="5349240"/>
            <a:ext cx="5486400" cy="914400"/>
          </a:xfrm>
          <a:prstGeom prst="rect">
            <a:avLst/>
          </a:prstGeom>
          <a:noFill/>
          <a:ln/>
        </p:spPr>
        <p:txBody>
          <a:bodyPr wrap="square" lIns="0" tIns="0" rIns="0" bIns="0" rtlCol="0" anchor="ctr"/>
          <a:lstStyle/>
          <a:p>
            <a:pPr marL="0" indent="0" algn="l">
              <a:buNone/>
            </a:pPr>
            <a:r>
              <a:rPr lang="en-US" sz="1100" b="1" dirty="0">
                <a:solidFill>
                  <a:srgbClr val="D4A82A"/>
                </a:solidFill>
                <a:latin typeface="Calibri" pitchFamily="34" charset="0"/>
                <a:ea typeface="Calibri" pitchFamily="34" charset="-122"/>
                <a:cs typeface="Calibri" pitchFamily="34" charset="-120"/>
              </a:rPr>
              <a:t>Lectura: </a:t>
            </a:r>
            <a:r>
              <a:rPr lang="en-US" sz="1100" dirty="0">
                <a:solidFill>
                  <a:srgbClr val="FFFFFF"/>
                </a:solidFill>
                <a:latin typeface="Calibri" pitchFamily="34" charset="0"/>
                <a:ea typeface="Calibri" pitchFamily="34" charset="-122"/>
                <a:cs typeface="Calibri" pitchFamily="34" charset="-120"/>
              </a:rPr>
              <a:t>compresión moderada de absorción interna y ajuste externo vía precios relativos. La recaudación neta apenas sube porque la base se contrae.</a:t>
            </a:r>
            <a:endParaRPr lang="en-US" sz="1100" dirty="0"/>
          </a:p>
        </p:txBody>
      </p:sp>
      <p:sp>
        <p:nvSpPr>
          <p:cNvPr id="13" name="Text 10"/>
          <p:cNvSpPr/>
          <p:nvPr/>
        </p:nvSpPr>
        <p:spPr>
          <a:xfrm>
            <a:off x="457200" y="6492240"/>
            <a:ext cx="11247120" cy="274320"/>
          </a:xfrm>
          <a:prstGeom prst="rect">
            <a:avLst/>
          </a:prstGeom>
          <a:noFill/>
          <a:ln/>
        </p:spPr>
        <p:txBody>
          <a:bodyPr wrap="square"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Fuente: Tablas 2-4 del paper técnico</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a:p>
        </p:txBody>
      </p:sp>
      <p:sp>
        <p:nvSpPr>
          <p:cNvPr id="3" name="Text 1"/>
          <p:cNvSpPr/>
          <p:nvPr/>
        </p:nvSpPr>
        <p:spPr>
          <a:xfrm>
            <a:off x="457200" y="384048"/>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16</a:t>
            </a:r>
            <a:endParaRPr lang="en-US" sz="1400" dirty="0"/>
          </a:p>
        </p:txBody>
      </p:sp>
      <p:sp>
        <p:nvSpPr>
          <p:cNvPr id="4" name="Text 2"/>
          <p:cNvSpPr/>
          <p:nvPr/>
        </p:nvSpPr>
        <p:spPr>
          <a:xfrm>
            <a:off x="1051560" y="365760"/>
            <a:ext cx="10698480" cy="502920"/>
          </a:xfrm>
          <a:prstGeom prst="rect">
            <a:avLst/>
          </a:prstGeom>
          <a:noFill/>
          <a:ln/>
        </p:spPr>
        <p:txBody>
          <a:bodyPr wrap="square" lIns="0" tIns="0" rIns="0" bIns="0" rtlCol="0" anchor="ctr"/>
          <a:lstStyle/>
          <a:p>
            <a:pPr marL="0" indent="0" algn="l">
              <a:buNone/>
            </a:pPr>
            <a:r>
              <a:rPr lang="en-US" sz="2400" b="1" dirty="0">
                <a:solidFill>
                  <a:srgbClr val="1E2761"/>
                </a:solidFill>
                <a:latin typeface="Cambria" pitchFamily="34" charset="0"/>
                <a:ea typeface="Cambria" pitchFamily="34" charset="-122"/>
                <a:cs typeface="Cambria" pitchFamily="34" charset="-120"/>
              </a:rPr>
              <a:t>Shock 2: Aumento del PIT (+10%)</a:t>
            </a:r>
            <a:endParaRPr lang="en-US" sz="2400" dirty="0"/>
          </a:p>
        </p:txBody>
      </p:sp>
      <p:sp>
        <p:nvSpPr>
          <p:cNvPr id="5" name="Shape 3"/>
          <p:cNvSpPr/>
          <p:nvPr/>
        </p:nvSpPr>
        <p:spPr>
          <a:xfrm>
            <a:off x="640080" y="1280160"/>
            <a:ext cx="5029200" cy="5029200"/>
          </a:xfrm>
          <a:prstGeom prst="rect">
            <a:avLst/>
          </a:prstGeom>
          <a:solidFill>
            <a:srgbClr val="F5F7FA"/>
          </a:solidFill>
          <a:ln w="9525">
            <a:solidFill>
              <a:srgbClr val="E2E8F0"/>
            </a:solidFill>
            <a:prstDash val="solid"/>
          </a:ln>
        </p:spPr>
        <p:txBody>
          <a:bodyPr/>
          <a:lstStyle/>
          <a:p>
            <a:endParaRPr lang="es-CL"/>
          </a:p>
        </p:txBody>
      </p:sp>
      <p:sp>
        <p:nvSpPr>
          <p:cNvPr id="6" name="Shape 4"/>
          <p:cNvSpPr/>
          <p:nvPr/>
        </p:nvSpPr>
        <p:spPr>
          <a:xfrm>
            <a:off x="640080" y="1280160"/>
            <a:ext cx="73152" cy="5029200"/>
          </a:xfrm>
          <a:prstGeom prst="rect">
            <a:avLst/>
          </a:prstGeom>
          <a:solidFill>
            <a:srgbClr val="C2562E"/>
          </a:solidFill>
          <a:ln w="12700">
            <a:solidFill>
              <a:srgbClr val="C2562E"/>
            </a:solidFill>
            <a:prstDash val="solid"/>
          </a:ln>
        </p:spPr>
        <p:txBody>
          <a:bodyPr/>
          <a:lstStyle/>
          <a:p>
            <a:endParaRPr lang="es-CL"/>
          </a:p>
        </p:txBody>
      </p:sp>
      <p:sp>
        <p:nvSpPr>
          <p:cNvPr id="7" name="Text 5"/>
          <p:cNvSpPr/>
          <p:nvPr/>
        </p:nvSpPr>
        <p:spPr>
          <a:xfrm>
            <a:off x="868680" y="1417320"/>
            <a:ext cx="4663440" cy="457200"/>
          </a:xfrm>
          <a:prstGeom prst="rect">
            <a:avLst/>
          </a:prstGeom>
          <a:noFill/>
          <a:ln/>
        </p:spPr>
        <p:txBody>
          <a:bodyPr wrap="square" lIns="0" tIns="0" rIns="0" bIns="0" rtlCol="0" anchor="ctr"/>
          <a:lstStyle/>
          <a:p>
            <a:pPr marL="0" indent="0" algn="l">
              <a:buNone/>
            </a:pPr>
            <a:r>
              <a:rPr lang="en-US" sz="1500" b="1" dirty="0">
                <a:solidFill>
                  <a:srgbClr val="1E2761"/>
                </a:solidFill>
                <a:latin typeface="Cambria" pitchFamily="34" charset="0"/>
                <a:ea typeface="Cambria" pitchFamily="34" charset="-122"/>
                <a:cs typeface="Cambria" pitchFamily="34" charset="-120"/>
              </a:rPr>
              <a:t>Mecanismo de transmisión</a:t>
            </a:r>
            <a:endParaRPr lang="en-US" sz="1500" dirty="0"/>
          </a:p>
        </p:txBody>
      </p:sp>
      <p:sp>
        <p:nvSpPr>
          <p:cNvPr id="8" name="Text 6"/>
          <p:cNvSpPr/>
          <p:nvPr/>
        </p:nvSpPr>
        <p:spPr>
          <a:xfrm>
            <a:off x="868680" y="1920240"/>
            <a:ext cx="4663440" cy="4206240"/>
          </a:xfrm>
          <a:prstGeom prst="rect">
            <a:avLst/>
          </a:prstGeom>
          <a:noFill/>
          <a:ln/>
        </p:spPr>
        <p:txBody>
          <a:bodyPr wrap="square" lIns="0" tIns="0" rIns="0" bIns="0" rtlCol="0" anchor="t"/>
          <a:lstStyle/>
          <a:p>
            <a:pPr marL="342900" indent="-342900" algn="l">
              <a:spcAft>
                <a:spcPts val="500"/>
              </a:spcAft>
              <a:buSzPct val="100000"/>
              <a:buChar char="•"/>
            </a:pPr>
            <a:r>
              <a:rPr lang="en-US" sz="1200" dirty="0">
                <a:solidFill>
                  <a:srgbClr val="2D3748"/>
                </a:solidFill>
                <a:latin typeface="Calibri" pitchFamily="34" charset="0"/>
                <a:ea typeface="Calibri" pitchFamily="34" charset="-122"/>
                <a:cs typeface="Calibri" pitchFamily="34" charset="-120"/>
              </a:rPr>
              <a:t>↓ Ingreso disponible hogares</a:t>
            </a:r>
            <a:endParaRPr lang="en-US" sz="1200" dirty="0"/>
          </a:p>
          <a:p>
            <a:pPr marL="342900" indent="-342900" algn="l">
              <a:spcAft>
                <a:spcPts val="500"/>
              </a:spcAft>
              <a:buSzPct val="100000"/>
              <a:buChar char="•"/>
            </a:pPr>
            <a:r>
              <a:rPr lang="en-US" sz="1200" dirty="0">
                <a:solidFill>
                  <a:srgbClr val="2D3748"/>
                </a:solidFill>
                <a:latin typeface="Calibri" pitchFamily="34" charset="0"/>
                <a:ea typeface="Calibri" pitchFamily="34" charset="-122"/>
                <a:cs typeface="Calibri" pitchFamily="34" charset="-120"/>
              </a:rPr>
              <a:t>↓ Consumo + ↓ ahorro privado</a:t>
            </a:r>
            <a:endParaRPr lang="en-US" sz="1200" dirty="0"/>
          </a:p>
          <a:p>
            <a:pPr marL="342900" indent="-342900" algn="l">
              <a:spcAft>
                <a:spcPts val="500"/>
              </a:spcAft>
              <a:buSzPct val="100000"/>
              <a:buChar char="•"/>
            </a:pPr>
            <a:r>
              <a:rPr lang="en-US" sz="1200" dirty="0">
                <a:solidFill>
                  <a:srgbClr val="2D3748"/>
                </a:solidFill>
                <a:latin typeface="Calibri" pitchFamily="34" charset="0"/>
                <a:ea typeface="Calibri" pitchFamily="34" charset="-122"/>
                <a:cs typeface="Calibri" pitchFamily="34" charset="-120"/>
              </a:rPr>
              <a:t>↓ Inversión privada (canal ahorro)</a:t>
            </a:r>
            <a:endParaRPr lang="en-US" sz="1200" dirty="0"/>
          </a:p>
          <a:p>
            <a:pPr marL="342900" indent="-342900" algn="l">
              <a:spcAft>
                <a:spcPts val="500"/>
              </a:spcAft>
              <a:buSzPct val="100000"/>
              <a:buChar char="•"/>
            </a:pPr>
            <a:r>
              <a:rPr lang="en-US" sz="1200" dirty="0">
                <a:solidFill>
                  <a:srgbClr val="2D3748"/>
                </a:solidFill>
                <a:latin typeface="Calibri" pitchFamily="34" charset="0"/>
                <a:ea typeface="Calibri" pitchFamily="34" charset="-122"/>
                <a:cs typeface="Calibri" pitchFamily="34" charset="-120"/>
              </a:rPr>
              <a:t>↓ Producción → ↓ empleo</a:t>
            </a:r>
            <a:endParaRPr lang="en-US" sz="1200" dirty="0"/>
          </a:p>
          <a:p>
            <a:pPr marL="342900" indent="-342900" algn="l">
              <a:spcAft>
                <a:spcPts val="500"/>
              </a:spcAft>
              <a:buSzPct val="100000"/>
              <a:buChar char="•"/>
            </a:pPr>
            <a:r>
              <a:rPr lang="en-US" sz="1200" dirty="0">
                <a:solidFill>
                  <a:srgbClr val="2D3748"/>
                </a:solidFill>
                <a:latin typeface="Calibri" pitchFamily="34" charset="0"/>
                <a:ea typeface="Calibri" pitchFamily="34" charset="-122"/>
                <a:cs typeface="Calibri" pitchFamily="34" charset="-120"/>
              </a:rPr>
              <a:t>↓ Importaciones y exportaciones</a:t>
            </a:r>
            <a:endParaRPr lang="en-US" sz="1200" dirty="0"/>
          </a:p>
          <a:p>
            <a:pPr marL="342900" indent="-342900" algn="l">
              <a:spcAft>
                <a:spcPts val="500"/>
              </a:spcAft>
              <a:buSzPct val="100000"/>
              <a:buChar char="•"/>
            </a:pPr>
            <a:r>
              <a:rPr lang="en-US" sz="1200" dirty="0">
                <a:solidFill>
                  <a:srgbClr val="2D3748"/>
                </a:solidFill>
                <a:latin typeface="Calibri" pitchFamily="34" charset="0"/>
                <a:ea typeface="Calibri" pitchFamily="34" charset="-122"/>
                <a:cs typeface="Calibri" pitchFamily="34" charset="-120"/>
              </a:rPr>
              <a:t>Saldo comercial se deteriora</a:t>
            </a:r>
            <a:endParaRPr lang="en-US" sz="1200" dirty="0"/>
          </a:p>
          <a:p>
            <a:pPr marL="342900" indent="-342900" algn="l">
              <a:spcAft>
                <a:spcPts val="500"/>
              </a:spcAft>
              <a:buSzPct val="100000"/>
              <a:buChar char="•"/>
            </a:pPr>
            <a:r>
              <a:rPr lang="en-US" sz="1200" b="1" dirty="0">
                <a:solidFill>
                  <a:srgbClr val="2F7D58"/>
                </a:solidFill>
                <a:latin typeface="Calibri" pitchFamily="34" charset="0"/>
                <a:ea typeface="Calibri" pitchFamily="34" charset="-122"/>
                <a:cs typeface="Calibri" pitchFamily="34" charset="-120"/>
              </a:rPr>
              <a:t>↑ Recaudación PIT (canal directo dominante)</a:t>
            </a:r>
            <a:endParaRPr lang="en-US" sz="1200" dirty="0"/>
          </a:p>
        </p:txBody>
      </p:sp>
      <p:sp>
        <p:nvSpPr>
          <p:cNvPr id="9" name="Text 7"/>
          <p:cNvSpPr/>
          <p:nvPr/>
        </p:nvSpPr>
        <p:spPr>
          <a:xfrm>
            <a:off x="5943600" y="1280160"/>
            <a:ext cx="5760720" cy="365760"/>
          </a:xfrm>
          <a:prstGeom prst="rect">
            <a:avLst/>
          </a:prstGeom>
          <a:noFill/>
          <a:ln/>
        </p:spPr>
        <p:txBody>
          <a:bodyPr wrap="square" lIns="0" tIns="0" rIns="0" bIns="0" rtlCol="0" anchor="ctr"/>
          <a:lstStyle/>
          <a:p>
            <a:pPr marL="0" indent="0" algn="l">
              <a:buNone/>
            </a:pPr>
            <a:r>
              <a:rPr lang="en-US" sz="1500" b="1" dirty="0">
                <a:solidFill>
                  <a:srgbClr val="1E2761"/>
                </a:solidFill>
                <a:latin typeface="Cambria" pitchFamily="34" charset="0"/>
                <a:ea typeface="Cambria" pitchFamily="34" charset="-122"/>
                <a:cs typeface="Cambria" pitchFamily="34" charset="-120"/>
              </a:rPr>
              <a:t>Resultados agregados</a:t>
            </a:r>
            <a:endParaRPr lang="en-US" sz="1500" dirty="0"/>
          </a:p>
        </p:txBody>
      </p:sp>
      <p:graphicFrame>
        <p:nvGraphicFramePr>
          <p:cNvPr id="18" name="Table 0"/>
          <p:cNvGraphicFramePr>
            <a:graphicFrameLocks noGrp="1"/>
          </p:cNvGraphicFramePr>
          <p:nvPr>
            <p:extLst>
              <p:ext uri="{D42A27DB-BD31-4B8C-83A1-F6EECF244321}">
                <p14:modId xmlns:p14="http://schemas.microsoft.com/office/powerpoint/2010/main" val="3902079440"/>
              </p:ext>
            </p:extLst>
          </p:nvPr>
        </p:nvGraphicFramePr>
        <p:xfrm>
          <a:off x="5943600" y="1737360"/>
          <a:ext cx="5760720" cy="3398520"/>
        </p:xfrm>
        <a:graphic>
          <a:graphicData uri="http://schemas.openxmlformats.org/drawingml/2006/table">
            <a:tbl>
              <a:tblPr/>
              <a:tblGrid>
                <a:gridCol w="1600200">
                  <a:extLst>
                    <a:ext uri="{9D8B030D-6E8A-4147-A177-3AD203B41FA5}">
                      <a16:colId xmlns:a16="http://schemas.microsoft.com/office/drawing/2014/main" val="20000"/>
                    </a:ext>
                  </a:extLst>
                </a:gridCol>
                <a:gridCol w="1600200">
                  <a:extLst>
                    <a:ext uri="{9D8B030D-6E8A-4147-A177-3AD203B41FA5}">
                      <a16:colId xmlns:a16="http://schemas.microsoft.com/office/drawing/2014/main" val="1605630098"/>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3900350181"/>
                    </a:ext>
                  </a:extLst>
                </a:gridCol>
              </a:tblGrid>
              <a:tr h="411480">
                <a:tc gridSpan="2">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Variable</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hMerge="1">
                  <a:txBody>
                    <a:bodyPr/>
                    <a:lstStyle/>
                    <a:p>
                      <a:endParaRPr lang="es-CL"/>
                    </a:p>
                  </a:txBody>
                  <a:tcPr/>
                </a:tc>
                <a:tc gridSpan="2">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Cambio</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hMerge="1">
                  <a:txBody>
                    <a:bodyPr/>
                    <a:lstStyle/>
                    <a:p>
                      <a:endParaRPr lang="es-CL"/>
                    </a:p>
                  </a:txBody>
                  <a:tcPr/>
                </a:tc>
                <a:extLst>
                  <a:ext uri="{0D108BD9-81ED-4DB2-BD59-A6C34878D82A}">
                    <a16:rowId xmlns:a16="http://schemas.microsoft.com/office/drawing/2014/main" val="10000"/>
                  </a:ext>
                </a:extLst>
              </a:tr>
              <a:tr h="411480">
                <a:tc gridSpan="2">
                  <a:txBody>
                    <a:bodyPr/>
                    <a:lstStyle/>
                    <a:p>
                      <a:pPr marL="0" indent="0" algn="l">
                        <a:buNone/>
                      </a:pPr>
                      <a:r>
                        <a:rPr lang="en-US" sz="1100" dirty="0">
                          <a:solidFill>
                            <a:srgbClr val="2D3748"/>
                          </a:solidFill>
                          <a:latin typeface="Calibri" pitchFamily="34" charset="0"/>
                          <a:ea typeface="Calibri" pitchFamily="34" charset="-122"/>
                          <a:cs typeface="Calibri" pitchFamily="34" charset="-120"/>
                        </a:rPr>
                        <a:t>PIB real</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tc gridSpan="2">
                  <a:txBody>
                    <a:bodyPr/>
                    <a:lstStyle/>
                    <a:p>
                      <a:pPr marL="0" indent="0" algn="l">
                        <a:buNone/>
                      </a:pPr>
                      <a:r>
                        <a:rPr lang="en-US" sz="1100" dirty="0">
                          <a:solidFill>
                            <a:srgbClr val="2D3748"/>
                          </a:solidFill>
                          <a:latin typeface="Calibri" pitchFamily="34" charset="0"/>
                          <a:ea typeface="Calibri" pitchFamily="34" charset="-122"/>
                          <a:cs typeface="Calibri" pitchFamily="34" charset="-120"/>
                        </a:rPr>
                        <a:t>−0.3889%</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extLst>
                  <a:ext uri="{0D108BD9-81ED-4DB2-BD59-A6C34878D82A}">
                    <a16:rowId xmlns:a16="http://schemas.microsoft.com/office/drawing/2014/main" val="10001"/>
                  </a:ext>
                </a:extLst>
              </a:tr>
              <a:tr h="411480">
                <a:tc gridSpan="2">
                  <a:txBody>
                    <a:bodyPr/>
                    <a:lstStyle/>
                    <a:p>
                      <a:pPr marL="0" indent="0" algn="l">
                        <a:buNone/>
                      </a:pPr>
                      <a:r>
                        <a:rPr lang="en-US" sz="1100" dirty="0">
                          <a:solidFill>
                            <a:srgbClr val="2D3748"/>
                          </a:solidFill>
                          <a:latin typeface="Calibri" pitchFamily="34" charset="0"/>
                          <a:ea typeface="Calibri" pitchFamily="34" charset="-122"/>
                          <a:cs typeface="Calibri" pitchFamily="34" charset="-120"/>
                        </a:rPr>
                        <a:t>Consumo real</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tc gridSpan="2">
                  <a:txBody>
                    <a:bodyPr/>
                    <a:lstStyle/>
                    <a:p>
                      <a:pPr marL="0" indent="0" algn="l">
                        <a:buNone/>
                      </a:pPr>
                      <a:r>
                        <a:rPr lang="en-US" sz="1100" dirty="0">
                          <a:solidFill>
                            <a:srgbClr val="2D3748"/>
                          </a:solidFill>
                          <a:latin typeface="Calibri" pitchFamily="34" charset="0"/>
                          <a:ea typeface="Calibri" pitchFamily="34" charset="-122"/>
                          <a:cs typeface="Calibri" pitchFamily="34" charset="-120"/>
                        </a:rPr>
                        <a:t>−0.5258%</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extLst>
                  <a:ext uri="{0D108BD9-81ED-4DB2-BD59-A6C34878D82A}">
                    <a16:rowId xmlns:a16="http://schemas.microsoft.com/office/drawing/2014/main" val="10002"/>
                  </a:ext>
                </a:extLst>
              </a:tr>
              <a:tr h="411480">
                <a:tc gridSpan="2">
                  <a:txBody>
                    <a:bodyPr/>
                    <a:lstStyle/>
                    <a:p>
                      <a:pPr marL="0" indent="0" algn="l">
                        <a:buNone/>
                      </a:pPr>
                      <a:r>
                        <a:rPr lang="en-US" sz="1100" dirty="0">
                          <a:solidFill>
                            <a:srgbClr val="2D3748"/>
                          </a:solidFill>
                          <a:latin typeface="Calibri" pitchFamily="34" charset="0"/>
                          <a:ea typeface="Calibri" pitchFamily="34" charset="-122"/>
                          <a:cs typeface="Calibri" pitchFamily="34" charset="-120"/>
                        </a:rPr>
                        <a:t>Inversión real</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tc gridSpan="2">
                  <a:txBody>
                    <a:bodyPr/>
                    <a:lstStyle/>
                    <a:p>
                      <a:pPr marL="0" indent="0" algn="l">
                        <a:buNone/>
                      </a:pPr>
                      <a:r>
                        <a:rPr lang="en-US" sz="1100" dirty="0">
                          <a:solidFill>
                            <a:srgbClr val="2D3748"/>
                          </a:solidFill>
                          <a:latin typeface="Calibri" pitchFamily="34" charset="0"/>
                          <a:ea typeface="Calibri" pitchFamily="34" charset="-122"/>
                          <a:cs typeface="Calibri" pitchFamily="34" charset="-120"/>
                        </a:rPr>
                        <a:t>−0.1676%</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extLst>
                  <a:ext uri="{0D108BD9-81ED-4DB2-BD59-A6C34878D82A}">
                    <a16:rowId xmlns:a16="http://schemas.microsoft.com/office/drawing/2014/main" val="10003"/>
                  </a:ext>
                </a:extLst>
              </a:tr>
              <a:tr h="411480">
                <a:tc gridSpan="2">
                  <a:txBody>
                    <a:bodyPr/>
                    <a:lstStyle/>
                    <a:p>
                      <a:pPr marL="0" indent="0" algn="l">
                        <a:buNone/>
                      </a:pPr>
                      <a:r>
                        <a:rPr lang="en-US" sz="1100" dirty="0">
                          <a:solidFill>
                            <a:srgbClr val="2D3748"/>
                          </a:solidFill>
                          <a:latin typeface="Calibri" pitchFamily="34" charset="0"/>
                          <a:ea typeface="Calibri" pitchFamily="34" charset="-122"/>
                          <a:cs typeface="Calibri" pitchFamily="34" charset="-120"/>
                        </a:rPr>
                        <a:t>Exportaciones reales</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tc gridSpan="2">
                  <a:txBody>
                    <a:bodyPr/>
                    <a:lstStyle/>
                    <a:p>
                      <a:pPr marL="0" indent="0" algn="l">
                        <a:buNone/>
                      </a:pPr>
                      <a:r>
                        <a:rPr lang="en-US" sz="1100" dirty="0">
                          <a:solidFill>
                            <a:srgbClr val="2D3748"/>
                          </a:solidFill>
                          <a:latin typeface="Calibri" pitchFamily="34" charset="0"/>
                          <a:ea typeface="Calibri" pitchFamily="34" charset="-122"/>
                          <a:cs typeface="Calibri" pitchFamily="34" charset="-120"/>
                        </a:rPr>
                        <a:t>−0.2223%</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extLst>
                  <a:ext uri="{0D108BD9-81ED-4DB2-BD59-A6C34878D82A}">
                    <a16:rowId xmlns:a16="http://schemas.microsoft.com/office/drawing/2014/main" val="10004"/>
                  </a:ext>
                </a:extLst>
              </a:tr>
              <a:tr h="411480">
                <a:tc gridSpan="2">
                  <a:txBody>
                    <a:bodyPr/>
                    <a:lstStyle/>
                    <a:p>
                      <a:pPr marL="0" indent="0" algn="l">
                        <a:buNone/>
                      </a:pPr>
                      <a:r>
                        <a:rPr lang="en-US" sz="1100" dirty="0">
                          <a:solidFill>
                            <a:srgbClr val="2D3748"/>
                          </a:solidFill>
                          <a:latin typeface="Calibri" pitchFamily="34" charset="0"/>
                          <a:ea typeface="Calibri" pitchFamily="34" charset="-122"/>
                          <a:cs typeface="Calibri" pitchFamily="34" charset="-120"/>
                        </a:rPr>
                        <a:t>Importaciones reales</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tc gridSpan="2">
                  <a:txBody>
                    <a:bodyPr/>
                    <a:lstStyle/>
                    <a:p>
                      <a:pPr marL="0" indent="0" algn="l">
                        <a:buNone/>
                      </a:pPr>
                      <a:r>
                        <a:rPr lang="en-US" sz="1100" dirty="0">
                          <a:solidFill>
                            <a:srgbClr val="2D3748"/>
                          </a:solidFill>
                          <a:latin typeface="Calibri" pitchFamily="34" charset="0"/>
                          <a:ea typeface="Calibri" pitchFamily="34" charset="-122"/>
                          <a:cs typeface="Calibri" pitchFamily="34" charset="-120"/>
                        </a:rPr>
                        <a:t>−0.1284%</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extLst>
                  <a:ext uri="{0D108BD9-81ED-4DB2-BD59-A6C34878D82A}">
                    <a16:rowId xmlns:a16="http://schemas.microsoft.com/office/drawing/2014/main" val="10005"/>
                  </a:ext>
                </a:extLst>
              </a:tr>
              <a:tr h="205740">
                <a:tc>
                  <a:txBody>
                    <a:bodyPr/>
                    <a:lstStyle/>
                    <a:p>
                      <a:pPr marL="0" indent="0" algn="l">
                        <a:buNone/>
                      </a:pPr>
                      <a:r>
                        <a:rPr lang="en-US" sz="1100" dirty="0">
                          <a:solidFill>
                            <a:srgbClr val="2D3748"/>
                          </a:solidFill>
                          <a:latin typeface="Calibri" pitchFamily="34" charset="0"/>
                          <a:ea typeface="Calibri" pitchFamily="34" charset="-122"/>
                          <a:cs typeface="Calibri" pitchFamily="34" charset="-120"/>
                        </a:rPr>
                        <a:t>Desempleo (media)</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r>
                        <a:rPr lang="en-US" sz="1100" dirty="0">
                          <a:solidFill>
                            <a:srgbClr val="2D3748"/>
                          </a:solidFill>
                          <a:latin typeface="Calibri" pitchFamily="34" charset="0"/>
                          <a:ea typeface="Calibri" pitchFamily="34" charset="-122"/>
                          <a:cs typeface="Calibri" pitchFamily="34" charset="-120"/>
                        </a:rPr>
                        <a:t>+0.82 pp</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6"/>
                  </a:ext>
                </a:extLst>
              </a:tr>
              <a:tr h="205740">
                <a:tc>
                  <a:txBody>
                    <a:bodyPr/>
                    <a:lstStyle/>
                    <a:p>
                      <a:pPr marL="0" indent="0" algn="l">
                        <a:buNone/>
                      </a:pPr>
                      <a:r>
                        <a:rPr lang="en-US" sz="1100" dirty="0">
                          <a:latin typeface="Calibri" charset="0"/>
                          <a:ea typeface="Calibri" charset="0"/>
                          <a:cs typeface="Calibri" charset="0"/>
                        </a:rPr>
                        <a:t>PIT</a:t>
                      </a: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r>
                        <a:rPr lang="en-US" sz="1100" dirty="0">
                          <a:latin typeface="Calibri" charset="0"/>
                          <a:ea typeface="Calibri" charset="0"/>
                          <a:cs typeface="Calibri" charset="0"/>
                        </a:rPr>
                        <a:t>+0.1641 pp PIB</a:t>
                      </a: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2238441698"/>
                  </a:ext>
                </a:extLst>
              </a:tr>
              <a:tr h="411480">
                <a:tc gridSpan="2">
                  <a:txBody>
                    <a:bodyPr/>
                    <a:lstStyle/>
                    <a:p>
                      <a:pPr marL="0" indent="0" algn="l">
                        <a:buNone/>
                      </a:pPr>
                      <a:r>
                        <a:rPr lang="en-US" sz="1100" dirty="0">
                          <a:solidFill>
                            <a:srgbClr val="2D3748"/>
                          </a:solidFill>
                          <a:latin typeface="Calibri" pitchFamily="34" charset="0"/>
                          <a:ea typeface="Calibri" pitchFamily="34" charset="-122"/>
                          <a:cs typeface="Calibri" pitchFamily="34" charset="-120"/>
                        </a:rPr>
                        <a:t>Recaudación total</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tc gridSpan="2">
                  <a:txBody>
                    <a:bodyPr/>
                    <a:lstStyle/>
                    <a:p>
                      <a:pPr marL="0" indent="0" algn="l">
                        <a:buNone/>
                      </a:pPr>
                      <a:r>
                        <a:rPr lang="en-US" sz="1100" dirty="0">
                          <a:solidFill>
                            <a:srgbClr val="2D3748"/>
                          </a:solidFill>
                          <a:latin typeface="Calibri" pitchFamily="34" charset="0"/>
                          <a:ea typeface="Calibri" pitchFamily="34" charset="-122"/>
                          <a:cs typeface="Calibri" pitchFamily="34" charset="-120"/>
                        </a:rPr>
                        <a:t>+0.0147 pp PIB</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extLst>
                  <a:ext uri="{0D108BD9-81ED-4DB2-BD59-A6C34878D82A}">
                    <a16:rowId xmlns:a16="http://schemas.microsoft.com/office/drawing/2014/main" val="10007"/>
                  </a:ext>
                </a:extLst>
              </a:tr>
            </a:tbl>
          </a:graphicData>
        </a:graphic>
      </p:graphicFrame>
      <p:sp>
        <p:nvSpPr>
          <p:cNvPr id="11" name="Shape 8"/>
          <p:cNvSpPr/>
          <p:nvPr/>
        </p:nvSpPr>
        <p:spPr>
          <a:xfrm>
            <a:off x="5943600" y="5303520"/>
            <a:ext cx="5760720" cy="1005840"/>
          </a:xfrm>
          <a:prstGeom prst="rect">
            <a:avLst/>
          </a:prstGeom>
          <a:solidFill>
            <a:srgbClr val="1E2761"/>
          </a:solidFill>
          <a:ln w="12700">
            <a:solidFill>
              <a:srgbClr val="1E2761"/>
            </a:solidFill>
            <a:prstDash val="solid"/>
          </a:ln>
        </p:spPr>
        <p:txBody>
          <a:bodyPr/>
          <a:lstStyle/>
          <a:p>
            <a:endParaRPr lang="es-CL"/>
          </a:p>
        </p:txBody>
      </p:sp>
      <p:sp>
        <p:nvSpPr>
          <p:cNvPr id="12" name="Text 9"/>
          <p:cNvSpPr/>
          <p:nvPr/>
        </p:nvSpPr>
        <p:spPr>
          <a:xfrm>
            <a:off x="6126480" y="5349240"/>
            <a:ext cx="5486400" cy="914400"/>
          </a:xfrm>
          <a:prstGeom prst="rect">
            <a:avLst/>
          </a:prstGeom>
          <a:noFill/>
          <a:ln/>
        </p:spPr>
        <p:txBody>
          <a:bodyPr wrap="square" lIns="0" tIns="0" rIns="0" bIns="0" rtlCol="0" anchor="ctr"/>
          <a:lstStyle/>
          <a:p>
            <a:pPr marL="0" indent="0" algn="l">
              <a:buNone/>
            </a:pPr>
            <a:r>
              <a:rPr lang="en-US" sz="1100" b="1" dirty="0">
                <a:solidFill>
                  <a:srgbClr val="D4A82A"/>
                </a:solidFill>
                <a:latin typeface="Calibri" pitchFamily="34" charset="0"/>
                <a:ea typeface="Calibri" pitchFamily="34" charset="-122"/>
                <a:cs typeface="Calibri" pitchFamily="34" charset="-120"/>
              </a:rPr>
              <a:t>Lectura: </a:t>
            </a:r>
            <a:r>
              <a:rPr lang="en-US" sz="1100" dirty="0">
                <a:solidFill>
                  <a:srgbClr val="FFFFFF"/>
                </a:solidFill>
                <a:latin typeface="Calibri" pitchFamily="34" charset="0"/>
                <a:ea typeface="Calibri" pitchFamily="34" charset="-122"/>
                <a:cs typeface="Calibri" pitchFamily="34" charset="-120"/>
              </a:rPr>
              <a:t>compresión visible de la demanda interna y del empleo. Es el shock con mayor efecto contractivo sobre PIB, consumo y empleo entre los tres evaluados.</a:t>
            </a:r>
            <a:endParaRPr lang="en-US" sz="1100" dirty="0"/>
          </a:p>
        </p:txBody>
      </p:sp>
      <p:sp>
        <p:nvSpPr>
          <p:cNvPr id="13" name="Text 10"/>
          <p:cNvSpPr/>
          <p:nvPr/>
        </p:nvSpPr>
        <p:spPr>
          <a:xfrm>
            <a:off x="457200" y="6492240"/>
            <a:ext cx="11247120" cy="274320"/>
          </a:xfrm>
          <a:prstGeom prst="rect">
            <a:avLst/>
          </a:prstGeom>
          <a:noFill/>
          <a:ln/>
        </p:spPr>
        <p:txBody>
          <a:bodyPr wrap="square"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Fuente: Tablas 7-11 del paper técnico</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a:p>
        </p:txBody>
      </p:sp>
      <p:sp>
        <p:nvSpPr>
          <p:cNvPr id="3" name="Text 1"/>
          <p:cNvSpPr/>
          <p:nvPr/>
        </p:nvSpPr>
        <p:spPr>
          <a:xfrm>
            <a:off x="457200" y="384048"/>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17</a:t>
            </a:r>
            <a:endParaRPr lang="en-US" sz="1400" dirty="0"/>
          </a:p>
        </p:txBody>
      </p:sp>
      <p:sp>
        <p:nvSpPr>
          <p:cNvPr id="4" name="Text 2"/>
          <p:cNvSpPr/>
          <p:nvPr/>
        </p:nvSpPr>
        <p:spPr>
          <a:xfrm>
            <a:off x="1051560" y="365760"/>
            <a:ext cx="10698480" cy="502920"/>
          </a:xfrm>
          <a:prstGeom prst="rect">
            <a:avLst/>
          </a:prstGeom>
          <a:noFill/>
          <a:ln/>
        </p:spPr>
        <p:txBody>
          <a:bodyPr wrap="square" lIns="0" tIns="0" rIns="0" bIns="0" rtlCol="0" anchor="ctr"/>
          <a:lstStyle/>
          <a:p>
            <a:pPr marL="0" indent="0" algn="l">
              <a:buNone/>
            </a:pPr>
            <a:r>
              <a:rPr lang="en-US" sz="2400" b="1" dirty="0">
                <a:solidFill>
                  <a:srgbClr val="1E2761"/>
                </a:solidFill>
                <a:latin typeface="Cambria" pitchFamily="34" charset="0"/>
                <a:ea typeface="Cambria" pitchFamily="34" charset="-122"/>
                <a:cs typeface="Cambria" pitchFamily="34" charset="-120"/>
              </a:rPr>
              <a:t>Shock 3: Disminución del IDPC (−1%)</a:t>
            </a:r>
            <a:endParaRPr lang="en-US" sz="2400" dirty="0"/>
          </a:p>
        </p:txBody>
      </p:sp>
      <p:sp>
        <p:nvSpPr>
          <p:cNvPr id="5" name="Shape 3"/>
          <p:cNvSpPr/>
          <p:nvPr/>
        </p:nvSpPr>
        <p:spPr>
          <a:xfrm>
            <a:off x="640080" y="1280160"/>
            <a:ext cx="5029200" cy="5029200"/>
          </a:xfrm>
          <a:prstGeom prst="rect">
            <a:avLst/>
          </a:prstGeom>
          <a:solidFill>
            <a:srgbClr val="F5F7FA"/>
          </a:solidFill>
          <a:ln w="9525">
            <a:solidFill>
              <a:srgbClr val="E2E8F0"/>
            </a:solidFill>
            <a:prstDash val="solid"/>
          </a:ln>
        </p:spPr>
        <p:txBody>
          <a:bodyPr/>
          <a:lstStyle/>
          <a:p>
            <a:endParaRPr lang="es-CL"/>
          </a:p>
        </p:txBody>
      </p:sp>
      <p:sp>
        <p:nvSpPr>
          <p:cNvPr id="6" name="Shape 4"/>
          <p:cNvSpPr/>
          <p:nvPr/>
        </p:nvSpPr>
        <p:spPr>
          <a:xfrm>
            <a:off x="640080" y="1280160"/>
            <a:ext cx="73152" cy="5029200"/>
          </a:xfrm>
          <a:prstGeom prst="rect">
            <a:avLst/>
          </a:prstGeom>
          <a:solidFill>
            <a:srgbClr val="2F7D58"/>
          </a:solidFill>
          <a:ln w="12700">
            <a:solidFill>
              <a:srgbClr val="2F7D58"/>
            </a:solidFill>
            <a:prstDash val="solid"/>
          </a:ln>
        </p:spPr>
        <p:txBody>
          <a:bodyPr/>
          <a:lstStyle/>
          <a:p>
            <a:endParaRPr lang="es-CL"/>
          </a:p>
        </p:txBody>
      </p:sp>
      <p:sp>
        <p:nvSpPr>
          <p:cNvPr id="7" name="Text 5"/>
          <p:cNvSpPr/>
          <p:nvPr/>
        </p:nvSpPr>
        <p:spPr>
          <a:xfrm>
            <a:off x="868680" y="1417320"/>
            <a:ext cx="4663440" cy="457200"/>
          </a:xfrm>
          <a:prstGeom prst="rect">
            <a:avLst/>
          </a:prstGeom>
          <a:noFill/>
          <a:ln/>
        </p:spPr>
        <p:txBody>
          <a:bodyPr wrap="square" lIns="0" tIns="0" rIns="0" bIns="0" rtlCol="0" anchor="ctr"/>
          <a:lstStyle/>
          <a:p>
            <a:pPr marL="0" indent="0" algn="l">
              <a:buNone/>
            </a:pPr>
            <a:r>
              <a:rPr lang="en-US" sz="1500" b="1" dirty="0">
                <a:solidFill>
                  <a:srgbClr val="1E2761"/>
                </a:solidFill>
                <a:latin typeface="Cambria" pitchFamily="34" charset="0"/>
                <a:ea typeface="Cambria" pitchFamily="34" charset="-122"/>
                <a:cs typeface="Cambria" pitchFamily="34" charset="-120"/>
              </a:rPr>
              <a:t>Mecanismo de transmisión</a:t>
            </a:r>
            <a:endParaRPr lang="en-US" sz="1500" dirty="0"/>
          </a:p>
        </p:txBody>
      </p:sp>
      <p:sp>
        <p:nvSpPr>
          <p:cNvPr id="8" name="Text 6"/>
          <p:cNvSpPr/>
          <p:nvPr/>
        </p:nvSpPr>
        <p:spPr>
          <a:xfrm>
            <a:off x="868680" y="1920240"/>
            <a:ext cx="4663440" cy="4206240"/>
          </a:xfrm>
          <a:prstGeom prst="rect">
            <a:avLst/>
          </a:prstGeom>
          <a:noFill/>
          <a:ln/>
        </p:spPr>
        <p:txBody>
          <a:bodyPr wrap="square" lIns="0" tIns="0" rIns="0" bIns="0" rtlCol="0" anchor="t"/>
          <a:lstStyle/>
          <a:p>
            <a:pPr marL="342900" indent="-342900" algn="l">
              <a:spcAft>
                <a:spcPts val="500"/>
              </a:spcAft>
              <a:buSzPct val="100000"/>
              <a:buChar char="•"/>
            </a:pPr>
            <a:r>
              <a:rPr lang="en-US" sz="1200" dirty="0">
                <a:solidFill>
                  <a:srgbClr val="2D3748"/>
                </a:solidFill>
                <a:latin typeface="Calibri" pitchFamily="34" charset="0"/>
                <a:ea typeface="Calibri" pitchFamily="34" charset="-122"/>
                <a:cs typeface="Calibri" pitchFamily="34" charset="-120"/>
              </a:rPr>
              <a:t>↑ Ingreso neto de firmas</a:t>
            </a:r>
            <a:endParaRPr lang="en-US" sz="1200" dirty="0"/>
          </a:p>
          <a:p>
            <a:pPr marL="342900" indent="-342900" algn="l">
              <a:spcAft>
                <a:spcPts val="500"/>
              </a:spcAft>
              <a:buSzPct val="100000"/>
              <a:buChar char="•"/>
            </a:pPr>
            <a:r>
              <a:rPr lang="en-US" sz="1200" dirty="0">
                <a:solidFill>
                  <a:srgbClr val="2D3748"/>
                </a:solidFill>
                <a:latin typeface="Calibri" pitchFamily="34" charset="0"/>
                <a:ea typeface="Calibri" pitchFamily="34" charset="-122"/>
                <a:cs typeface="Calibri" pitchFamily="34" charset="-120"/>
              </a:rPr>
              <a:t>Canal A: ↑ dividendos → ↑ consumo</a:t>
            </a:r>
            <a:endParaRPr lang="en-US" sz="1200" dirty="0"/>
          </a:p>
          <a:p>
            <a:pPr marL="342900" indent="-342900" algn="l">
              <a:spcAft>
                <a:spcPts val="500"/>
              </a:spcAft>
              <a:buSzPct val="100000"/>
              <a:buChar char="•"/>
            </a:pPr>
            <a:r>
              <a:rPr lang="en-US" sz="1200" dirty="0">
                <a:solidFill>
                  <a:srgbClr val="2D3748"/>
                </a:solidFill>
                <a:latin typeface="Calibri" pitchFamily="34" charset="0"/>
                <a:ea typeface="Calibri" pitchFamily="34" charset="-122"/>
                <a:cs typeface="Calibri" pitchFamily="34" charset="-120"/>
              </a:rPr>
              <a:t>Canal B: ↑ ahorro corporativo → ↑ inversión</a:t>
            </a:r>
            <a:endParaRPr lang="en-US" sz="1200" dirty="0"/>
          </a:p>
          <a:p>
            <a:pPr marL="342900" indent="-342900" algn="l">
              <a:spcAft>
                <a:spcPts val="500"/>
              </a:spcAft>
              <a:buSzPct val="100000"/>
              <a:buChar char="•"/>
            </a:pPr>
            <a:r>
              <a:rPr lang="en-US" sz="1200" dirty="0">
                <a:solidFill>
                  <a:srgbClr val="2D3748"/>
                </a:solidFill>
                <a:latin typeface="Calibri" pitchFamily="34" charset="0"/>
                <a:ea typeface="Calibri" pitchFamily="34" charset="-122"/>
                <a:cs typeface="Calibri" pitchFamily="34" charset="-120"/>
              </a:rPr>
              <a:t>↑ Capital (K) y ↑ producción</a:t>
            </a:r>
            <a:endParaRPr lang="en-US" sz="1200" dirty="0"/>
          </a:p>
          <a:p>
            <a:pPr marL="342900" indent="-342900" algn="l">
              <a:spcAft>
                <a:spcPts val="500"/>
              </a:spcAft>
              <a:buSzPct val="100000"/>
              <a:buChar char="•"/>
            </a:pPr>
            <a:r>
              <a:rPr lang="en-US" sz="1200" dirty="0">
                <a:solidFill>
                  <a:srgbClr val="2D3748"/>
                </a:solidFill>
                <a:latin typeface="Calibri" pitchFamily="34" charset="0"/>
                <a:ea typeface="Calibri" pitchFamily="34" charset="-122"/>
                <a:cs typeface="Calibri" pitchFamily="34" charset="-120"/>
              </a:rPr>
              <a:t>↑ Importaciones (presión externa)</a:t>
            </a:r>
            <a:endParaRPr lang="en-US" sz="1200" dirty="0"/>
          </a:p>
          <a:p>
            <a:pPr marL="342900" indent="-342900" algn="l">
              <a:spcAft>
                <a:spcPts val="500"/>
              </a:spcAft>
              <a:buSzPct val="100000"/>
              <a:buChar char="•"/>
            </a:pPr>
            <a:r>
              <a:rPr lang="en-US" sz="1200" dirty="0">
                <a:solidFill>
                  <a:srgbClr val="2D3748"/>
                </a:solidFill>
                <a:latin typeface="Calibri" pitchFamily="34" charset="0"/>
                <a:ea typeface="Calibri" pitchFamily="34" charset="-122"/>
                <a:cs typeface="Calibri" pitchFamily="34" charset="-120"/>
              </a:rPr>
              <a:t>Saldo comercial se deteriora</a:t>
            </a:r>
            <a:endParaRPr lang="en-US" sz="1200" dirty="0"/>
          </a:p>
          <a:p>
            <a:pPr marL="342900" indent="-342900" algn="l">
              <a:spcAft>
                <a:spcPts val="500"/>
              </a:spcAft>
              <a:buSzPct val="100000"/>
              <a:buChar char="•"/>
            </a:pPr>
            <a:r>
              <a:rPr lang="en-US" sz="1200" b="1" dirty="0">
                <a:solidFill>
                  <a:srgbClr val="C2562E"/>
                </a:solidFill>
                <a:latin typeface="Calibri" pitchFamily="34" charset="0"/>
                <a:ea typeface="Calibri" pitchFamily="34" charset="-122"/>
                <a:cs typeface="Calibri" pitchFamily="34" charset="-120"/>
              </a:rPr>
              <a:t>↓ Recaudación neta total</a:t>
            </a:r>
            <a:endParaRPr lang="en-US" sz="1200" dirty="0"/>
          </a:p>
        </p:txBody>
      </p:sp>
      <p:sp>
        <p:nvSpPr>
          <p:cNvPr id="9" name="Text 7"/>
          <p:cNvSpPr/>
          <p:nvPr/>
        </p:nvSpPr>
        <p:spPr>
          <a:xfrm>
            <a:off x="5943600" y="1280160"/>
            <a:ext cx="5760720" cy="365760"/>
          </a:xfrm>
          <a:prstGeom prst="rect">
            <a:avLst/>
          </a:prstGeom>
          <a:noFill/>
          <a:ln/>
        </p:spPr>
        <p:txBody>
          <a:bodyPr wrap="square" lIns="0" tIns="0" rIns="0" bIns="0" rtlCol="0" anchor="ctr"/>
          <a:lstStyle/>
          <a:p>
            <a:pPr marL="0" indent="0" algn="l">
              <a:buNone/>
            </a:pPr>
            <a:r>
              <a:rPr lang="en-US" sz="1500" b="1" dirty="0">
                <a:solidFill>
                  <a:srgbClr val="1E2761"/>
                </a:solidFill>
                <a:latin typeface="Cambria" pitchFamily="34" charset="0"/>
                <a:ea typeface="Cambria" pitchFamily="34" charset="-122"/>
                <a:cs typeface="Cambria" pitchFamily="34" charset="-120"/>
              </a:rPr>
              <a:t>Resultados agregados</a:t>
            </a:r>
            <a:endParaRPr lang="en-US" sz="1500" dirty="0"/>
          </a:p>
        </p:txBody>
      </p:sp>
      <p:graphicFrame>
        <p:nvGraphicFramePr>
          <p:cNvPr id="19" name="Table 0"/>
          <p:cNvGraphicFramePr>
            <a:graphicFrameLocks noGrp="1"/>
          </p:cNvGraphicFramePr>
          <p:nvPr>
            <p:extLst>
              <p:ext uri="{D42A27DB-BD31-4B8C-83A1-F6EECF244321}">
                <p14:modId xmlns:p14="http://schemas.microsoft.com/office/powerpoint/2010/main" val="4265950810"/>
              </p:ext>
            </p:extLst>
          </p:nvPr>
        </p:nvGraphicFramePr>
        <p:xfrm>
          <a:off x="5943600" y="1737360"/>
          <a:ext cx="5760720" cy="3398520"/>
        </p:xfrm>
        <a:graphic>
          <a:graphicData uri="http://schemas.openxmlformats.org/drawingml/2006/table">
            <a:tbl>
              <a:tblPr/>
              <a:tblGrid>
                <a:gridCol w="1600200">
                  <a:extLst>
                    <a:ext uri="{9D8B030D-6E8A-4147-A177-3AD203B41FA5}">
                      <a16:colId xmlns:a16="http://schemas.microsoft.com/office/drawing/2014/main" val="20000"/>
                    </a:ext>
                  </a:extLst>
                </a:gridCol>
                <a:gridCol w="1600200">
                  <a:extLst>
                    <a:ext uri="{9D8B030D-6E8A-4147-A177-3AD203B41FA5}">
                      <a16:colId xmlns:a16="http://schemas.microsoft.com/office/drawing/2014/main" val="3657076276"/>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1923648597"/>
                    </a:ext>
                  </a:extLst>
                </a:gridCol>
              </a:tblGrid>
              <a:tr h="411480">
                <a:tc gridSpan="2">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Variable</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hMerge="1">
                  <a:txBody>
                    <a:bodyPr/>
                    <a:lstStyle/>
                    <a:p>
                      <a:endParaRPr lang="es-CL"/>
                    </a:p>
                  </a:txBody>
                  <a:tcPr/>
                </a:tc>
                <a:tc gridSpan="2">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Cambio</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hMerge="1">
                  <a:txBody>
                    <a:bodyPr/>
                    <a:lstStyle/>
                    <a:p>
                      <a:endParaRPr lang="es-CL"/>
                    </a:p>
                  </a:txBody>
                  <a:tcPr/>
                </a:tc>
                <a:extLst>
                  <a:ext uri="{0D108BD9-81ED-4DB2-BD59-A6C34878D82A}">
                    <a16:rowId xmlns:a16="http://schemas.microsoft.com/office/drawing/2014/main" val="10000"/>
                  </a:ext>
                </a:extLst>
              </a:tr>
              <a:tr h="411480">
                <a:tc gridSpan="2">
                  <a:txBody>
                    <a:bodyPr/>
                    <a:lstStyle/>
                    <a:p>
                      <a:pPr marL="0" indent="0" algn="l">
                        <a:buNone/>
                      </a:pPr>
                      <a:r>
                        <a:rPr lang="en-US" sz="1100" dirty="0">
                          <a:solidFill>
                            <a:srgbClr val="2D3748"/>
                          </a:solidFill>
                          <a:latin typeface="Calibri" pitchFamily="34" charset="0"/>
                          <a:ea typeface="Calibri" pitchFamily="34" charset="-122"/>
                          <a:cs typeface="Calibri" pitchFamily="34" charset="-120"/>
                        </a:rPr>
                        <a:t>PIB real</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tc gridSpan="2">
                  <a:txBody>
                    <a:bodyPr/>
                    <a:lstStyle/>
                    <a:p>
                      <a:pPr marL="0" indent="0" algn="l">
                        <a:buNone/>
                      </a:pPr>
                      <a:r>
                        <a:rPr lang="en-US" sz="1100" dirty="0">
                          <a:solidFill>
                            <a:srgbClr val="2D3748"/>
                          </a:solidFill>
                          <a:latin typeface="Calibri" pitchFamily="34" charset="0"/>
                          <a:ea typeface="Calibri" pitchFamily="34" charset="-122"/>
                          <a:cs typeface="Calibri" pitchFamily="34" charset="-120"/>
                        </a:rPr>
                        <a:t>+0.1454%</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extLst>
                  <a:ext uri="{0D108BD9-81ED-4DB2-BD59-A6C34878D82A}">
                    <a16:rowId xmlns:a16="http://schemas.microsoft.com/office/drawing/2014/main" val="10001"/>
                  </a:ext>
                </a:extLst>
              </a:tr>
              <a:tr h="411480">
                <a:tc gridSpan="2">
                  <a:txBody>
                    <a:bodyPr/>
                    <a:lstStyle/>
                    <a:p>
                      <a:pPr marL="0" indent="0" algn="l">
                        <a:buNone/>
                      </a:pPr>
                      <a:r>
                        <a:rPr lang="en-US" sz="1100" dirty="0">
                          <a:solidFill>
                            <a:srgbClr val="2D3748"/>
                          </a:solidFill>
                          <a:latin typeface="Calibri" pitchFamily="34" charset="0"/>
                          <a:ea typeface="Calibri" pitchFamily="34" charset="-122"/>
                          <a:cs typeface="Calibri" pitchFamily="34" charset="-120"/>
                        </a:rPr>
                        <a:t>Consumo real</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tc gridSpan="2">
                  <a:txBody>
                    <a:bodyPr/>
                    <a:lstStyle/>
                    <a:p>
                      <a:pPr marL="0" indent="0" algn="l">
                        <a:buNone/>
                      </a:pPr>
                      <a:r>
                        <a:rPr lang="en-US" sz="1100" dirty="0">
                          <a:solidFill>
                            <a:srgbClr val="2D3748"/>
                          </a:solidFill>
                          <a:latin typeface="Calibri" pitchFamily="34" charset="0"/>
                          <a:ea typeface="Calibri" pitchFamily="34" charset="-122"/>
                          <a:cs typeface="Calibri" pitchFamily="34" charset="-120"/>
                        </a:rPr>
                        <a:t>+0.0975%</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extLst>
                  <a:ext uri="{0D108BD9-81ED-4DB2-BD59-A6C34878D82A}">
                    <a16:rowId xmlns:a16="http://schemas.microsoft.com/office/drawing/2014/main" val="10002"/>
                  </a:ext>
                </a:extLst>
              </a:tr>
              <a:tr h="411480">
                <a:tc gridSpan="2">
                  <a:txBody>
                    <a:bodyPr/>
                    <a:lstStyle/>
                    <a:p>
                      <a:pPr marL="0" indent="0" algn="l">
                        <a:buNone/>
                      </a:pPr>
                      <a:r>
                        <a:rPr lang="en-US" sz="1100" dirty="0">
                          <a:solidFill>
                            <a:srgbClr val="2D3748"/>
                          </a:solidFill>
                          <a:latin typeface="Calibri" pitchFamily="34" charset="0"/>
                          <a:ea typeface="Calibri" pitchFamily="34" charset="-122"/>
                          <a:cs typeface="Calibri" pitchFamily="34" charset="-120"/>
                        </a:rPr>
                        <a:t>Inversión real</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tc gridSpan="2">
                  <a:txBody>
                    <a:bodyPr/>
                    <a:lstStyle/>
                    <a:p>
                      <a:pPr marL="0" indent="0" algn="l">
                        <a:buNone/>
                      </a:pPr>
                      <a:r>
                        <a:rPr lang="en-US" sz="1100" dirty="0">
                          <a:solidFill>
                            <a:srgbClr val="2D3748"/>
                          </a:solidFill>
                          <a:latin typeface="Calibri" pitchFamily="34" charset="0"/>
                          <a:ea typeface="Calibri" pitchFamily="34" charset="-122"/>
                          <a:cs typeface="Calibri" pitchFamily="34" charset="-120"/>
                        </a:rPr>
                        <a:t>+0.3792%</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extLst>
                  <a:ext uri="{0D108BD9-81ED-4DB2-BD59-A6C34878D82A}">
                    <a16:rowId xmlns:a16="http://schemas.microsoft.com/office/drawing/2014/main" val="10003"/>
                  </a:ext>
                </a:extLst>
              </a:tr>
              <a:tr h="411480">
                <a:tc gridSpan="2">
                  <a:txBody>
                    <a:bodyPr/>
                    <a:lstStyle/>
                    <a:p>
                      <a:pPr marL="0" indent="0" algn="l">
                        <a:buNone/>
                      </a:pPr>
                      <a:r>
                        <a:rPr lang="en-US" sz="1100" dirty="0">
                          <a:solidFill>
                            <a:srgbClr val="2D3748"/>
                          </a:solidFill>
                          <a:latin typeface="Calibri" pitchFamily="34" charset="0"/>
                          <a:ea typeface="Calibri" pitchFamily="34" charset="-122"/>
                          <a:cs typeface="Calibri" pitchFamily="34" charset="-120"/>
                        </a:rPr>
                        <a:t>Exportaciones reales</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tc gridSpan="2">
                  <a:txBody>
                    <a:bodyPr/>
                    <a:lstStyle/>
                    <a:p>
                      <a:pPr marL="0" indent="0" algn="l">
                        <a:buNone/>
                      </a:pPr>
                      <a:r>
                        <a:rPr lang="en-US" sz="1100" dirty="0">
                          <a:solidFill>
                            <a:srgbClr val="2D3748"/>
                          </a:solidFill>
                          <a:latin typeface="Calibri" pitchFamily="34" charset="0"/>
                          <a:ea typeface="Calibri" pitchFamily="34" charset="-122"/>
                          <a:cs typeface="Calibri" pitchFamily="34" charset="-120"/>
                        </a:rPr>
                        <a:t>+0.0546%</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extLst>
                  <a:ext uri="{0D108BD9-81ED-4DB2-BD59-A6C34878D82A}">
                    <a16:rowId xmlns:a16="http://schemas.microsoft.com/office/drawing/2014/main" val="10004"/>
                  </a:ext>
                </a:extLst>
              </a:tr>
              <a:tr h="411480">
                <a:tc gridSpan="2">
                  <a:txBody>
                    <a:bodyPr/>
                    <a:lstStyle/>
                    <a:p>
                      <a:pPr marL="0" indent="0" algn="l">
                        <a:buNone/>
                      </a:pPr>
                      <a:r>
                        <a:rPr lang="en-US" sz="1100" dirty="0">
                          <a:solidFill>
                            <a:srgbClr val="2D3748"/>
                          </a:solidFill>
                          <a:latin typeface="Calibri" pitchFamily="34" charset="0"/>
                          <a:ea typeface="Calibri" pitchFamily="34" charset="-122"/>
                          <a:cs typeface="Calibri" pitchFamily="34" charset="-120"/>
                        </a:rPr>
                        <a:t>Importaciones reales</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tc gridSpan="2">
                  <a:txBody>
                    <a:bodyPr/>
                    <a:lstStyle/>
                    <a:p>
                      <a:pPr marL="0" indent="0" algn="l">
                        <a:buNone/>
                      </a:pPr>
                      <a:r>
                        <a:rPr lang="en-US" sz="1100" dirty="0">
                          <a:solidFill>
                            <a:srgbClr val="2D3748"/>
                          </a:solidFill>
                          <a:latin typeface="Calibri" pitchFamily="34" charset="0"/>
                          <a:ea typeface="Calibri" pitchFamily="34" charset="-122"/>
                          <a:cs typeface="Calibri" pitchFamily="34" charset="-120"/>
                        </a:rPr>
                        <a:t>+0.0766%</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extLst>
                  <a:ext uri="{0D108BD9-81ED-4DB2-BD59-A6C34878D82A}">
                    <a16:rowId xmlns:a16="http://schemas.microsoft.com/office/drawing/2014/main" val="10005"/>
                  </a:ext>
                </a:extLst>
              </a:tr>
              <a:tr h="205740">
                <a:tc>
                  <a:txBody>
                    <a:bodyPr/>
                    <a:lstStyle/>
                    <a:p>
                      <a:pPr marL="0" indent="0" algn="l">
                        <a:buNone/>
                      </a:pPr>
                      <a:r>
                        <a:rPr lang="en-US" sz="1100" dirty="0">
                          <a:solidFill>
                            <a:srgbClr val="2D3748"/>
                          </a:solidFill>
                          <a:latin typeface="Calibri" pitchFamily="34" charset="0"/>
                          <a:ea typeface="Calibri" pitchFamily="34" charset="-122"/>
                          <a:cs typeface="Calibri" pitchFamily="34" charset="-120"/>
                        </a:rPr>
                        <a:t>Desempleo (media)</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r>
                        <a:rPr lang="en-US" sz="1100" dirty="0">
                          <a:solidFill>
                            <a:srgbClr val="2D3748"/>
                          </a:solidFill>
                          <a:latin typeface="Calibri" pitchFamily="34" charset="0"/>
                          <a:ea typeface="Calibri" pitchFamily="34" charset="-122"/>
                          <a:cs typeface="Calibri" pitchFamily="34" charset="-120"/>
                        </a:rPr>
                        <a:t>−0.32 pp</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6"/>
                  </a:ext>
                </a:extLst>
              </a:tr>
              <a:tr h="205740">
                <a:tc>
                  <a:txBody>
                    <a:bodyPr/>
                    <a:lstStyle/>
                    <a:p>
                      <a:pPr marL="0" indent="0" algn="l">
                        <a:buNone/>
                      </a:pPr>
                      <a:r>
                        <a:rPr lang="en-US" sz="1100" dirty="0">
                          <a:latin typeface="Calibri" charset="0"/>
                          <a:ea typeface="Calibri" charset="0"/>
                          <a:cs typeface="Calibri" charset="0"/>
                        </a:rPr>
                        <a:t>IDPC/FIT</a:t>
                      </a: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r>
                        <a:rPr lang="en-US" sz="1100" dirty="0">
                          <a:latin typeface="Calibri" charset="0"/>
                          <a:ea typeface="Calibri" charset="0"/>
                          <a:cs typeface="Calibri" charset="0"/>
                        </a:rPr>
                        <a:t>-0.1456 pp PIB</a:t>
                      </a: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3923082425"/>
                  </a:ext>
                </a:extLst>
              </a:tr>
              <a:tr h="411480">
                <a:tc gridSpan="2">
                  <a:txBody>
                    <a:bodyPr/>
                    <a:lstStyle/>
                    <a:p>
                      <a:pPr marL="0" indent="0" algn="l">
                        <a:buNone/>
                      </a:pPr>
                      <a:r>
                        <a:rPr lang="en-US" sz="1100" dirty="0">
                          <a:solidFill>
                            <a:srgbClr val="2D3748"/>
                          </a:solidFill>
                          <a:latin typeface="Calibri" pitchFamily="34" charset="0"/>
                          <a:ea typeface="Calibri" pitchFamily="34" charset="-122"/>
                          <a:cs typeface="Calibri" pitchFamily="34" charset="-120"/>
                        </a:rPr>
                        <a:t>Recaudación total</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tc gridSpan="2">
                  <a:txBody>
                    <a:bodyPr/>
                    <a:lstStyle/>
                    <a:p>
                      <a:pPr marL="0" indent="0" algn="l">
                        <a:buNone/>
                      </a:pPr>
                      <a:r>
                        <a:rPr lang="en-US" sz="1100" dirty="0">
                          <a:solidFill>
                            <a:srgbClr val="2D3748"/>
                          </a:solidFill>
                          <a:latin typeface="Calibri" pitchFamily="34" charset="0"/>
                          <a:ea typeface="Calibri" pitchFamily="34" charset="-122"/>
                          <a:cs typeface="Calibri" pitchFamily="34" charset="-120"/>
                        </a:rPr>
                        <a:t>−0.1000 pp PIB</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extLst>
                  <a:ext uri="{0D108BD9-81ED-4DB2-BD59-A6C34878D82A}">
                    <a16:rowId xmlns:a16="http://schemas.microsoft.com/office/drawing/2014/main" val="10007"/>
                  </a:ext>
                </a:extLst>
              </a:tr>
            </a:tbl>
          </a:graphicData>
        </a:graphic>
      </p:graphicFrame>
      <p:sp>
        <p:nvSpPr>
          <p:cNvPr id="11" name="Shape 8"/>
          <p:cNvSpPr/>
          <p:nvPr/>
        </p:nvSpPr>
        <p:spPr>
          <a:xfrm>
            <a:off x="5943600" y="5303520"/>
            <a:ext cx="5760720" cy="1005840"/>
          </a:xfrm>
          <a:prstGeom prst="rect">
            <a:avLst/>
          </a:prstGeom>
          <a:solidFill>
            <a:srgbClr val="1E2761"/>
          </a:solidFill>
          <a:ln w="12700">
            <a:solidFill>
              <a:srgbClr val="1E2761"/>
            </a:solidFill>
            <a:prstDash val="solid"/>
          </a:ln>
        </p:spPr>
        <p:txBody>
          <a:bodyPr/>
          <a:lstStyle/>
          <a:p>
            <a:endParaRPr lang="es-CL"/>
          </a:p>
        </p:txBody>
      </p:sp>
      <p:sp>
        <p:nvSpPr>
          <p:cNvPr id="12" name="Text 9"/>
          <p:cNvSpPr/>
          <p:nvPr/>
        </p:nvSpPr>
        <p:spPr>
          <a:xfrm>
            <a:off x="6126480" y="5349240"/>
            <a:ext cx="5486400" cy="914400"/>
          </a:xfrm>
          <a:prstGeom prst="rect">
            <a:avLst/>
          </a:prstGeom>
          <a:noFill/>
          <a:ln/>
        </p:spPr>
        <p:txBody>
          <a:bodyPr wrap="square" lIns="0" tIns="0" rIns="0" bIns="0" rtlCol="0" anchor="ctr"/>
          <a:lstStyle/>
          <a:p>
            <a:pPr marL="0" indent="0" algn="l">
              <a:buNone/>
            </a:pPr>
            <a:r>
              <a:rPr lang="en-US" sz="1100" b="1" dirty="0">
                <a:solidFill>
                  <a:srgbClr val="D4A82A"/>
                </a:solidFill>
                <a:latin typeface="Calibri" pitchFamily="34" charset="0"/>
                <a:ea typeface="Calibri" pitchFamily="34" charset="-122"/>
                <a:cs typeface="Calibri" pitchFamily="34" charset="-120"/>
              </a:rPr>
              <a:t>Lectura: </a:t>
            </a:r>
            <a:r>
              <a:rPr lang="en-US" sz="1100" dirty="0">
                <a:solidFill>
                  <a:srgbClr val="FFFFFF"/>
                </a:solidFill>
                <a:latin typeface="Calibri" pitchFamily="34" charset="0"/>
                <a:ea typeface="Calibri" pitchFamily="34" charset="-122"/>
                <a:cs typeface="Calibri" pitchFamily="34" charset="-120"/>
              </a:rPr>
              <a:t>expansión moderada de actividad e inversión, pero a costa de menor recaudación neta y deterioro del balance comercial.</a:t>
            </a:r>
            <a:endParaRPr lang="en-US" sz="1100" dirty="0"/>
          </a:p>
        </p:txBody>
      </p:sp>
      <p:sp>
        <p:nvSpPr>
          <p:cNvPr id="13" name="Text 10"/>
          <p:cNvSpPr/>
          <p:nvPr/>
        </p:nvSpPr>
        <p:spPr>
          <a:xfrm>
            <a:off x="457200" y="6492240"/>
            <a:ext cx="11247120" cy="274320"/>
          </a:xfrm>
          <a:prstGeom prst="rect">
            <a:avLst/>
          </a:prstGeom>
          <a:noFill/>
          <a:ln/>
        </p:spPr>
        <p:txBody>
          <a:bodyPr wrap="square"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Fuente: Tablas 12-16 del paper técnico. Implementación: factor (1 − 0.615 · 0.01/0.27)</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a:p>
        </p:txBody>
      </p:sp>
      <p:sp>
        <p:nvSpPr>
          <p:cNvPr id="3" name="Text 1"/>
          <p:cNvSpPr/>
          <p:nvPr/>
        </p:nvSpPr>
        <p:spPr>
          <a:xfrm>
            <a:off x="457200" y="384048"/>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18</a:t>
            </a:r>
            <a:endParaRPr lang="en-US" sz="1400" dirty="0"/>
          </a:p>
        </p:txBody>
      </p:sp>
      <p:sp>
        <p:nvSpPr>
          <p:cNvPr id="4" name="Text 2"/>
          <p:cNvSpPr/>
          <p:nvPr/>
        </p:nvSpPr>
        <p:spPr>
          <a:xfrm>
            <a:off x="1051560" y="365760"/>
            <a:ext cx="10698480" cy="502920"/>
          </a:xfrm>
          <a:prstGeom prst="rect">
            <a:avLst/>
          </a:prstGeom>
          <a:noFill/>
          <a:ln/>
        </p:spPr>
        <p:txBody>
          <a:bodyPr wrap="square" lIns="0" tIns="0" rIns="0" bIns="0" rtlCol="0" anchor="ctr"/>
          <a:lstStyle/>
          <a:p>
            <a:pPr marL="0" indent="0" algn="l">
              <a:buNone/>
            </a:pPr>
            <a:r>
              <a:rPr lang="en-US" sz="2400" b="1" dirty="0">
                <a:solidFill>
                  <a:srgbClr val="1E2761"/>
                </a:solidFill>
                <a:latin typeface="Cambria" pitchFamily="34" charset="0"/>
                <a:ea typeface="Cambria" pitchFamily="34" charset="-122"/>
                <a:cs typeface="Cambria" pitchFamily="34" charset="-120"/>
              </a:rPr>
              <a:t>Comparativa de los tres shocks</a:t>
            </a:r>
            <a:endParaRPr lang="en-US" sz="2400" dirty="0"/>
          </a:p>
        </p:txBody>
      </p:sp>
      <p:sp>
        <p:nvSpPr>
          <p:cNvPr id="5" name="Text 3"/>
          <p:cNvSpPr/>
          <p:nvPr/>
        </p:nvSpPr>
        <p:spPr>
          <a:xfrm>
            <a:off x="640080" y="1005840"/>
            <a:ext cx="10972800" cy="365760"/>
          </a:xfrm>
          <a:prstGeom prst="rect">
            <a:avLst/>
          </a:prstGeom>
          <a:noFill/>
          <a:ln/>
        </p:spPr>
        <p:txBody>
          <a:bodyPr wrap="square" lIns="0" tIns="0" rIns="0" bIns="0" rtlCol="0" anchor="ctr"/>
          <a:lstStyle/>
          <a:p>
            <a:pPr marL="0" indent="0" algn="l">
              <a:buNone/>
            </a:pPr>
            <a:r>
              <a:rPr lang="en-US" sz="1300" i="1" dirty="0">
                <a:solidFill>
                  <a:srgbClr val="64748B"/>
                </a:solidFill>
                <a:latin typeface="Calibri" pitchFamily="34" charset="0"/>
                <a:ea typeface="Calibri" pitchFamily="34" charset="-122"/>
                <a:cs typeface="Calibri" pitchFamily="34" charset="-120"/>
              </a:rPr>
              <a:t>Variación porcentual en variables reales (las direcciones revelan los trade-offs).</a:t>
            </a:r>
            <a:endParaRPr lang="en-US" sz="1300" dirty="0"/>
          </a:p>
        </p:txBody>
      </p:sp>
      <p:graphicFrame>
        <p:nvGraphicFramePr>
          <p:cNvPr id="6" name="Chart 0"/>
          <p:cNvGraphicFramePr/>
          <p:nvPr/>
        </p:nvGraphicFramePr>
        <p:xfrm>
          <a:off x="640080" y="1463040"/>
          <a:ext cx="777240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8595360" y="1463040"/>
            <a:ext cx="3108960" cy="3931920"/>
          </a:xfrm>
          <a:prstGeom prst="rect">
            <a:avLst/>
          </a:prstGeom>
          <a:solidFill>
            <a:srgbClr val="F5F7FA"/>
          </a:solidFill>
          <a:ln w="9525">
            <a:solidFill>
              <a:srgbClr val="E2E8F0"/>
            </a:solidFill>
            <a:prstDash val="solid"/>
          </a:ln>
        </p:spPr>
        <p:txBody>
          <a:bodyPr/>
          <a:lstStyle/>
          <a:p>
            <a:endParaRPr lang="es-CL"/>
          </a:p>
        </p:txBody>
      </p:sp>
      <p:sp>
        <p:nvSpPr>
          <p:cNvPr id="8" name="Shape 5"/>
          <p:cNvSpPr/>
          <p:nvPr/>
        </p:nvSpPr>
        <p:spPr>
          <a:xfrm>
            <a:off x="8595360" y="1463040"/>
            <a:ext cx="73152" cy="3931920"/>
          </a:xfrm>
          <a:prstGeom prst="rect">
            <a:avLst/>
          </a:prstGeom>
          <a:solidFill>
            <a:srgbClr val="D4A82A"/>
          </a:solidFill>
          <a:ln w="12700">
            <a:solidFill>
              <a:srgbClr val="D4A82A"/>
            </a:solidFill>
            <a:prstDash val="solid"/>
          </a:ln>
        </p:spPr>
        <p:txBody>
          <a:bodyPr/>
          <a:lstStyle/>
          <a:p>
            <a:endParaRPr lang="es-CL"/>
          </a:p>
        </p:txBody>
      </p:sp>
      <p:sp>
        <p:nvSpPr>
          <p:cNvPr id="9" name="Text 6"/>
          <p:cNvSpPr/>
          <p:nvPr/>
        </p:nvSpPr>
        <p:spPr>
          <a:xfrm>
            <a:off x="8778240" y="1554480"/>
            <a:ext cx="2743200" cy="365760"/>
          </a:xfrm>
          <a:prstGeom prst="rect">
            <a:avLst/>
          </a:prstGeom>
          <a:noFill/>
          <a:ln/>
        </p:spPr>
        <p:txBody>
          <a:bodyPr wrap="square" lIns="0" tIns="0" rIns="0" bIns="0" rtlCol="0" anchor="ctr"/>
          <a:lstStyle/>
          <a:p>
            <a:pPr marL="0" indent="0" algn="l">
              <a:buNone/>
            </a:pPr>
            <a:r>
              <a:rPr lang="en-US" sz="1300" b="1" dirty="0">
                <a:solidFill>
                  <a:srgbClr val="1E2761"/>
                </a:solidFill>
                <a:latin typeface="Cambria" pitchFamily="34" charset="0"/>
                <a:ea typeface="Cambria" pitchFamily="34" charset="-122"/>
                <a:cs typeface="Cambria" pitchFamily="34" charset="-120"/>
              </a:rPr>
              <a:t>Empleo y fiscal</a:t>
            </a:r>
            <a:endParaRPr lang="en-US" sz="1300" dirty="0"/>
          </a:p>
        </p:txBody>
      </p:sp>
      <p:sp>
        <p:nvSpPr>
          <p:cNvPr id="10" name="Text 7"/>
          <p:cNvSpPr/>
          <p:nvPr/>
        </p:nvSpPr>
        <p:spPr>
          <a:xfrm>
            <a:off x="8778240" y="1965960"/>
            <a:ext cx="2743200" cy="274320"/>
          </a:xfrm>
          <a:prstGeom prst="rect">
            <a:avLst/>
          </a:prstGeom>
          <a:noFill/>
          <a:ln/>
        </p:spPr>
        <p:txBody>
          <a:bodyPr wrap="square" lIns="0" tIns="0" rIns="0" bIns="0" rtlCol="0" anchor="ctr"/>
          <a:lstStyle/>
          <a:p>
            <a:pPr marL="0" indent="0" algn="l">
              <a:buNone/>
            </a:pPr>
            <a:r>
              <a:rPr lang="en-US" sz="1000" b="1" dirty="0">
                <a:solidFill>
                  <a:srgbClr val="64748B"/>
                </a:solidFill>
                <a:latin typeface="Calibri" pitchFamily="34" charset="0"/>
                <a:ea typeface="Calibri" pitchFamily="34" charset="-122"/>
                <a:cs typeface="Calibri" pitchFamily="34" charset="-120"/>
              </a:rPr>
              <a:t>Δ desempleo (pp)</a:t>
            </a:r>
            <a:endParaRPr lang="en-US" sz="1000" dirty="0"/>
          </a:p>
        </p:txBody>
      </p:sp>
      <p:sp>
        <p:nvSpPr>
          <p:cNvPr id="11" name="Text 8"/>
          <p:cNvSpPr/>
          <p:nvPr/>
        </p:nvSpPr>
        <p:spPr>
          <a:xfrm>
            <a:off x="8778240" y="2240280"/>
            <a:ext cx="2743200" cy="960120"/>
          </a:xfrm>
          <a:prstGeom prst="rect">
            <a:avLst/>
          </a:prstGeom>
          <a:noFill/>
          <a:ln/>
        </p:spPr>
        <p:txBody>
          <a:bodyPr wrap="square" lIns="0" tIns="0" rIns="0" bIns="0" rtlCol="0" anchor="t"/>
          <a:lstStyle/>
          <a:p>
            <a:pPr marL="0" indent="0" algn="l">
              <a:spcAft>
                <a:spcPts val="100"/>
              </a:spcAft>
              <a:buNone/>
            </a:pPr>
            <a:r>
              <a:rPr lang="en-US" sz="1100" b="1" dirty="0">
                <a:solidFill>
                  <a:srgbClr val="C2562E"/>
                </a:solidFill>
                <a:latin typeface="Calibri" pitchFamily="34" charset="0"/>
                <a:ea typeface="Calibri" pitchFamily="34" charset="-122"/>
                <a:cs typeface="Calibri" pitchFamily="34" charset="-120"/>
              </a:rPr>
              <a:t>IVA:   +0.45</a:t>
            </a:r>
            <a:endParaRPr lang="en-US" sz="1100" dirty="0"/>
          </a:p>
          <a:p>
            <a:pPr marL="0" indent="0" algn="l">
              <a:spcAft>
                <a:spcPts val="100"/>
              </a:spcAft>
              <a:buNone/>
            </a:pPr>
            <a:r>
              <a:rPr lang="en-US" sz="1100" b="1" dirty="0">
                <a:solidFill>
                  <a:srgbClr val="1E2761"/>
                </a:solidFill>
                <a:latin typeface="Calibri" pitchFamily="34" charset="0"/>
                <a:ea typeface="Calibri" pitchFamily="34" charset="-122"/>
                <a:cs typeface="Calibri" pitchFamily="34" charset="-120"/>
              </a:rPr>
              <a:t>PIT:   +0.82</a:t>
            </a:r>
            <a:endParaRPr lang="en-US" sz="1100" dirty="0"/>
          </a:p>
          <a:p>
            <a:pPr marL="0" indent="0" algn="l">
              <a:spcAft>
                <a:spcPts val="100"/>
              </a:spcAft>
              <a:buNone/>
            </a:pPr>
            <a:r>
              <a:rPr lang="en-US" sz="1100" b="1" dirty="0">
                <a:solidFill>
                  <a:srgbClr val="2F7D58"/>
                </a:solidFill>
                <a:latin typeface="Calibri" pitchFamily="34" charset="0"/>
                <a:ea typeface="Calibri" pitchFamily="34" charset="-122"/>
                <a:cs typeface="Calibri" pitchFamily="34" charset="-120"/>
              </a:rPr>
              <a:t>IDPC: −0.32</a:t>
            </a:r>
            <a:endParaRPr lang="en-US" sz="1100" dirty="0"/>
          </a:p>
        </p:txBody>
      </p:sp>
      <p:sp>
        <p:nvSpPr>
          <p:cNvPr id="12" name="Text 9"/>
          <p:cNvSpPr/>
          <p:nvPr/>
        </p:nvSpPr>
        <p:spPr>
          <a:xfrm>
            <a:off x="8778240" y="3383280"/>
            <a:ext cx="2743200" cy="274320"/>
          </a:xfrm>
          <a:prstGeom prst="rect">
            <a:avLst/>
          </a:prstGeom>
          <a:noFill/>
          <a:ln/>
        </p:spPr>
        <p:txBody>
          <a:bodyPr wrap="square" lIns="0" tIns="0" rIns="0" bIns="0" rtlCol="0" anchor="ctr"/>
          <a:lstStyle/>
          <a:p>
            <a:pPr marL="0" indent="0" algn="l">
              <a:buNone/>
            </a:pPr>
            <a:r>
              <a:rPr lang="en-US" sz="1000" b="1" dirty="0">
                <a:solidFill>
                  <a:srgbClr val="64748B"/>
                </a:solidFill>
                <a:latin typeface="Calibri" pitchFamily="34" charset="0"/>
                <a:ea typeface="Calibri" pitchFamily="34" charset="-122"/>
                <a:cs typeface="Calibri" pitchFamily="34" charset="-120"/>
              </a:rPr>
              <a:t>Δ recaudación (pp PIB)</a:t>
            </a:r>
            <a:endParaRPr lang="en-US" sz="1000" dirty="0"/>
          </a:p>
        </p:txBody>
      </p:sp>
      <p:sp>
        <p:nvSpPr>
          <p:cNvPr id="13" name="Text 10"/>
          <p:cNvSpPr/>
          <p:nvPr/>
        </p:nvSpPr>
        <p:spPr>
          <a:xfrm>
            <a:off x="8778240" y="3657600"/>
            <a:ext cx="2743200" cy="960120"/>
          </a:xfrm>
          <a:prstGeom prst="rect">
            <a:avLst/>
          </a:prstGeom>
          <a:noFill/>
          <a:ln/>
        </p:spPr>
        <p:txBody>
          <a:bodyPr wrap="square" lIns="0" tIns="0" rIns="0" bIns="0" rtlCol="0" anchor="t"/>
          <a:lstStyle/>
          <a:p>
            <a:pPr marL="0" indent="0" algn="l">
              <a:spcAft>
                <a:spcPts val="100"/>
              </a:spcAft>
              <a:buNone/>
            </a:pPr>
            <a:r>
              <a:rPr lang="en-US" sz="1100" b="1" dirty="0">
                <a:solidFill>
                  <a:srgbClr val="C2562E"/>
                </a:solidFill>
                <a:latin typeface="Calibri" pitchFamily="34" charset="0"/>
                <a:ea typeface="Calibri" pitchFamily="34" charset="-122"/>
                <a:cs typeface="Calibri" pitchFamily="34" charset="-120"/>
              </a:rPr>
              <a:t>IVA:   +0.002</a:t>
            </a:r>
            <a:endParaRPr lang="en-US" sz="1100" dirty="0"/>
          </a:p>
          <a:p>
            <a:pPr marL="0" indent="0" algn="l">
              <a:spcAft>
                <a:spcPts val="100"/>
              </a:spcAft>
              <a:buNone/>
            </a:pPr>
            <a:r>
              <a:rPr lang="en-US" sz="1100" b="1" dirty="0">
                <a:solidFill>
                  <a:srgbClr val="1E2761"/>
                </a:solidFill>
                <a:latin typeface="Calibri" pitchFamily="34" charset="0"/>
                <a:ea typeface="Calibri" pitchFamily="34" charset="-122"/>
                <a:cs typeface="Calibri" pitchFamily="34" charset="-120"/>
              </a:rPr>
              <a:t>PIT:   +0.015</a:t>
            </a:r>
            <a:endParaRPr lang="en-US" sz="1100" dirty="0"/>
          </a:p>
          <a:p>
            <a:pPr marL="0" indent="0" algn="l">
              <a:spcAft>
                <a:spcPts val="100"/>
              </a:spcAft>
              <a:buNone/>
            </a:pPr>
            <a:r>
              <a:rPr lang="en-US" sz="1100" b="1" dirty="0">
                <a:solidFill>
                  <a:srgbClr val="2F7D58"/>
                </a:solidFill>
                <a:latin typeface="Calibri" pitchFamily="34" charset="0"/>
                <a:ea typeface="Calibri" pitchFamily="34" charset="-122"/>
                <a:cs typeface="Calibri" pitchFamily="34" charset="-120"/>
              </a:rPr>
              <a:t>IDPC: −0.100</a:t>
            </a:r>
            <a:endParaRPr lang="en-US" sz="1100" dirty="0"/>
          </a:p>
        </p:txBody>
      </p:sp>
      <p:sp>
        <p:nvSpPr>
          <p:cNvPr id="14" name="Shape 11"/>
          <p:cNvSpPr/>
          <p:nvPr/>
        </p:nvSpPr>
        <p:spPr>
          <a:xfrm>
            <a:off x="640080" y="5577840"/>
            <a:ext cx="11155680" cy="777240"/>
          </a:xfrm>
          <a:prstGeom prst="rect">
            <a:avLst/>
          </a:prstGeom>
          <a:solidFill>
            <a:srgbClr val="1E2761"/>
          </a:solidFill>
          <a:ln w="12700">
            <a:solidFill>
              <a:srgbClr val="1E2761"/>
            </a:solidFill>
            <a:prstDash val="solid"/>
          </a:ln>
        </p:spPr>
        <p:txBody>
          <a:bodyPr/>
          <a:lstStyle/>
          <a:p>
            <a:endParaRPr lang="es-CL"/>
          </a:p>
        </p:txBody>
      </p:sp>
      <p:sp>
        <p:nvSpPr>
          <p:cNvPr id="15" name="Text 12"/>
          <p:cNvSpPr/>
          <p:nvPr/>
        </p:nvSpPr>
        <p:spPr>
          <a:xfrm>
            <a:off x="868680" y="5577840"/>
            <a:ext cx="10789920" cy="777240"/>
          </a:xfrm>
          <a:prstGeom prst="rect">
            <a:avLst/>
          </a:prstGeom>
          <a:noFill/>
          <a:ln/>
        </p:spPr>
        <p:txBody>
          <a:bodyPr wrap="square" lIns="0" tIns="0" rIns="0" bIns="0" rtlCol="0" anchor="ctr"/>
          <a:lstStyle/>
          <a:p>
            <a:pPr marL="0" indent="0" algn="l">
              <a:buNone/>
            </a:pPr>
            <a:r>
              <a:rPr lang="en-US" sz="1200" b="1" dirty="0">
                <a:solidFill>
                  <a:srgbClr val="D4A82A"/>
                </a:solidFill>
                <a:latin typeface="Calibri" pitchFamily="34" charset="0"/>
                <a:ea typeface="Calibri" pitchFamily="34" charset="-122"/>
                <a:cs typeface="Calibri" pitchFamily="34" charset="-120"/>
              </a:rPr>
              <a:t>Tres mecanismos distintos: </a:t>
            </a:r>
            <a:r>
              <a:rPr lang="en-US" sz="1200" dirty="0">
                <a:solidFill>
                  <a:srgbClr val="FFFFFF"/>
                </a:solidFill>
                <a:latin typeface="Calibri" pitchFamily="34" charset="0"/>
                <a:ea typeface="Calibri" pitchFamily="34" charset="-122"/>
                <a:cs typeface="Calibri" pitchFamily="34" charset="-120"/>
              </a:rPr>
              <a:t>el IVA opera por precios, el PIT por ingreso disponible, el IDPC por ahorro corporativo + dividendos. Sus efectos relativos en PIB y empleo lo reflejan.</a:t>
            </a:r>
            <a:endParaRPr lang="en-US" sz="1200" dirty="0"/>
          </a:p>
        </p:txBody>
      </p:sp>
      <p:sp>
        <p:nvSpPr>
          <p:cNvPr id="16" name="Text 13"/>
          <p:cNvSpPr/>
          <p:nvPr/>
        </p:nvSpPr>
        <p:spPr>
          <a:xfrm>
            <a:off x="457200" y="6492240"/>
            <a:ext cx="11247120" cy="274320"/>
          </a:xfrm>
          <a:prstGeom prst="rect">
            <a:avLst/>
          </a:prstGeom>
          <a:noFill/>
          <a:ln/>
        </p:spPr>
        <p:txBody>
          <a:bodyPr wrap="square"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MEGC 12 sectores · Chile 2023 · SII</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a:p>
        </p:txBody>
      </p:sp>
      <p:sp>
        <p:nvSpPr>
          <p:cNvPr id="3" name="Text 1"/>
          <p:cNvSpPr/>
          <p:nvPr/>
        </p:nvSpPr>
        <p:spPr>
          <a:xfrm>
            <a:off x="457200" y="384048"/>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20</a:t>
            </a:r>
            <a:endParaRPr lang="en-US" sz="1400" dirty="0"/>
          </a:p>
        </p:txBody>
      </p:sp>
      <p:sp>
        <p:nvSpPr>
          <p:cNvPr id="4" name="Text 2"/>
          <p:cNvSpPr/>
          <p:nvPr/>
        </p:nvSpPr>
        <p:spPr>
          <a:xfrm>
            <a:off x="1051560" y="365760"/>
            <a:ext cx="10698480" cy="502920"/>
          </a:xfrm>
          <a:prstGeom prst="rect">
            <a:avLst/>
          </a:prstGeom>
          <a:noFill/>
          <a:ln/>
        </p:spPr>
        <p:txBody>
          <a:bodyPr wrap="square" lIns="0" tIns="0" rIns="0" bIns="0" rtlCol="0" anchor="ctr"/>
          <a:lstStyle/>
          <a:p>
            <a:pPr marL="0" indent="0" algn="l">
              <a:buNone/>
            </a:pPr>
            <a:r>
              <a:rPr lang="en-US" sz="2400" b="1" dirty="0">
                <a:solidFill>
                  <a:srgbClr val="1E2761"/>
                </a:solidFill>
                <a:latin typeface="Cambria" pitchFamily="34" charset="0"/>
                <a:ea typeface="Cambria" pitchFamily="34" charset="-122"/>
                <a:cs typeface="Cambria" pitchFamily="34" charset="-120"/>
              </a:rPr>
              <a:t>Limitaciones de esta versión</a:t>
            </a:r>
            <a:endParaRPr lang="en-US" sz="2400" dirty="0"/>
          </a:p>
        </p:txBody>
      </p:sp>
      <p:sp>
        <p:nvSpPr>
          <p:cNvPr id="5" name="Text 3"/>
          <p:cNvSpPr/>
          <p:nvPr/>
        </p:nvSpPr>
        <p:spPr>
          <a:xfrm>
            <a:off x="640080" y="1005840"/>
            <a:ext cx="10972800" cy="365760"/>
          </a:xfrm>
          <a:prstGeom prst="rect">
            <a:avLst/>
          </a:prstGeom>
          <a:noFill/>
          <a:ln/>
        </p:spPr>
        <p:txBody>
          <a:bodyPr wrap="square" lIns="0" tIns="0" rIns="0" bIns="0" rtlCol="0" anchor="ctr"/>
          <a:lstStyle/>
          <a:p>
            <a:pPr marL="0" indent="0" algn="l">
              <a:buNone/>
            </a:pPr>
            <a:r>
              <a:rPr lang="en-US" sz="1300" i="1" dirty="0">
                <a:solidFill>
                  <a:srgbClr val="64748B"/>
                </a:solidFill>
                <a:latin typeface="Calibri" pitchFamily="34" charset="0"/>
                <a:ea typeface="Calibri" pitchFamily="34" charset="-122"/>
                <a:cs typeface="Calibri" pitchFamily="34" charset="-120"/>
              </a:rPr>
              <a:t>Lo que el modelo no captura es tan importante como lo que sí captura.</a:t>
            </a:r>
            <a:endParaRPr lang="en-US" sz="1300" dirty="0"/>
          </a:p>
        </p:txBody>
      </p:sp>
      <p:sp>
        <p:nvSpPr>
          <p:cNvPr id="6" name="Shape 4"/>
          <p:cNvSpPr/>
          <p:nvPr/>
        </p:nvSpPr>
        <p:spPr>
          <a:xfrm>
            <a:off x="2606040" y="1463040"/>
            <a:ext cx="3657600" cy="1508760"/>
          </a:xfrm>
          <a:prstGeom prst="rect">
            <a:avLst/>
          </a:prstGeom>
          <a:solidFill>
            <a:srgbClr val="F5F7FA"/>
          </a:solidFill>
          <a:ln w="9525">
            <a:solidFill>
              <a:srgbClr val="E2E8F0"/>
            </a:solidFill>
            <a:prstDash val="solid"/>
          </a:ln>
        </p:spPr>
        <p:txBody>
          <a:bodyPr/>
          <a:lstStyle/>
          <a:p>
            <a:endParaRPr lang="es-CL"/>
          </a:p>
        </p:txBody>
      </p:sp>
      <p:sp>
        <p:nvSpPr>
          <p:cNvPr id="7" name="Shape 5"/>
          <p:cNvSpPr/>
          <p:nvPr/>
        </p:nvSpPr>
        <p:spPr>
          <a:xfrm>
            <a:off x="2606040" y="1463040"/>
            <a:ext cx="73152" cy="1508760"/>
          </a:xfrm>
          <a:prstGeom prst="rect">
            <a:avLst/>
          </a:prstGeom>
          <a:solidFill>
            <a:srgbClr val="C2562E"/>
          </a:solidFill>
          <a:ln w="12700">
            <a:solidFill>
              <a:srgbClr val="C2562E"/>
            </a:solidFill>
            <a:prstDash val="solid"/>
          </a:ln>
        </p:spPr>
        <p:txBody>
          <a:bodyPr/>
          <a:lstStyle/>
          <a:p>
            <a:endParaRPr lang="es-CL"/>
          </a:p>
        </p:txBody>
      </p:sp>
      <p:sp>
        <p:nvSpPr>
          <p:cNvPr id="8" name="Text 6"/>
          <p:cNvSpPr/>
          <p:nvPr/>
        </p:nvSpPr>
        <p:spPr>
          <a:xfrm>
            <a:off x="2788920" y="1600200"/>
            <a:ext cx="3291840" cy="365760"/>
          </a:xfrm>
          <a:prstGeom prst="rect">
            <a:avLst/>
          </a:prstGeom>
          <a:noFill/>
          <a:ln/>
        </p:spPr>
        <p:txBody>
          <a:bodyPr wrap="square" lIns="0" tIns="0" rIns="0" bIns="0" rtlCol="0" anchor="ctr"/>
          <a:lstStyle/>
          <a:p>
            <a:pPr marL="0" indent="0" algn="l">
              <a:buNone/>
            </a:pPr>
            <a:r>
              <a:rPr lang="en-US" sz="1200" b="1" dirty="0">
                <a:solidFill>
                  <a:srgbClr val="C2562E"/>
                </a:solidFill>
                <a:latin typeface="Cambria" pitchFamily="34" charset="0"/>
                <a:ea typeface="Cambria" pitchFamily="34" charset="-122"/>
                <a:cs typeface="Cambria" pitchFamily="34" charset="-120"/>
              </a:rPr>
              <a:t>ESTÁTICO</a:t>
            </a:r>
            <a:endParaRPr lang="en-US" sz="1200" dirty="0"/>
          </a:p>
        </p:txBody>
      </p:sp>
      <p:sp>
        <p:nvSpPr>
          <p:cNvPr id="9" name="Text 7"/>
          <p:cNvSpPr/>
          <p:nvPr/>
        </p:nvSpPr>
        <p:spPr>
          <a:xfrm>
            <a:off x="2788920" y="1965960"/>
            <a:ext cx="3291840" cy="914400"/>
          </a:xfrm>
          <a:prstGeom prst="rect">
            <a:avLst/>
          </a:prstGeom>
          <a:noFill/>
          <a:ln/>
        </p:spPr>
        <p:txBody>
          <a:bodyPr wrap="square" lIns="0" tIns="0" rIns="0" bIns="0" rtlCol="0" anchor="t"/>
          <a:lstStyle/>
          <a:p>
            <a:pPr marL="0" indent="0" algn="l">
              <a:buNone/>
            </a:pPr>
            <a:r>
              <a:rPr lang="en-US" sz="1100" dirty="0">
                <a:solidFill>
                  <a:srgbClr val="2D3748"/>
                </a:solidFill>
                <a:latin typeface="Calibri" pitchFamily="34" charset="0"/>
                <a:ea typeface="Calibri" pitchFamily="34" charset="-122"/>
                <a:cs typeface="Calibri" pitchFamily="34" charset="-120"/>
              </a:rPr>
              <a:t>No hay dinámica de transición ni acumulación de capital. Solo estática comparativa.</a:t>
            </a:r>
            <a:endParaRPr lang="en-US" sz="1100" dirty="0"/>
          </a:p>
        </p:txBody>
      </p:sp>
      <p:sp>
        <p:nvSpPr>
          <p:cNvPr id="10" name="Shape 8"/>
          <p:cNvSpPr/>
          <p:nvPr/>
        </p:nvSpPr>
        <p:spPr>
          <a:xfrm>
            <a:off x="6400800" y="1463040"/>
            <a:ext cx="3657600" cy="1508760"/>
          </a:xfrm>
          <a:prstGeom prst="rect">
            <a:avLst/>
          </a:prstGeom>
          <a:solidFill>
            <a:srgbClr val="F5F7FA"/>
          </a:solidFill>
          <a:ln w="9525">
            <a:solidFill>
              <a:srgbClr val="E2E8F0"/>
            </a:solidFill>
            <a:prstDash val="solid"/>
          </a:ln>
        </p:spPr>
        <p:txBody>
          <a:bodyPr/>
          <a:lstStyle/>
          <a:p>
            <a:endParaRPr lang="es-CL"/>
          </a:p>
        </p:txBody>
      </p:sp>
      <p:sp>
        <p:nvSpPr>
          <p:cNvPr id="11" name="Shape 9"/>
          <p:cNvSpPr/>
          <p:nvPr/>
        </p:nvSpPr>
        <p:spPr>
          <a:xfrm>
            <a:off x="6400800" y="1463040"/>
            <a:ext cx="73152" cy="1508760"/>
          </a:xfrm>
          <a:prstGeom prst="rect">
            <a:avLst/>
          </a:prstGeom>
          <a:solidFill>
            <a:srgbClr val="C2562E"/>
          </a:solidFill>
          <a:ln w="12700">
            <a:solidFill>
              <a:srgbClr val="C2562E"/>
            </a:solidFill>
            <a:prstDash val="solid"/>
          </a:ln>
        </p:spPr>
        <p:txBody>
          <a:bodyPr/>
          <a:lstStyle/>
          <a:p>
            <a:endParaRPr lang="es-CL"/>
          </a:p>
        </p:txBody>
      </p:sp>
      <p:sp>
        <p:nvSpPr>
          <p:cNvPr id="12" name="Text 10"/>
          <p:cNvSpPr/>
          <p:nvPr/>
        </p:nvSpPr>
        <p:spPr>
          <a:xfrm>
            <a:off x="6583680" y="1600200"/>
            <a:ext cx="3291840" cy="365760"/>
          </a:xfrm>
          <a:prstGeom prst="rect">
            <a:avLst/>
          </a:prstGeom>
          <a:noFill/>
          <a:ln/>
        </p:spPr>
        <p:txBody>
          <a:bodyPr wrap="square" lIns="0" tIns="0" rIns="0" bIns="0" rtlCol="0" anchor="ctr"/>
          <a:lstStyle/>
          <a:p>
            <a:pPr marL="0" indent="0" algn="l">
              <a:buNone/>
            </a:pPr>
            <a:r>
              <a:rPr lang="en-US" sz="1200" b="1" dirty="0">
                <a:solidFill>
                  <a:srgbClr val="C2562E"/>
                </a:solidFill>
                <a:latin typeface="Cambria" pitchFamily="34" charset="0"/>
                <a:ea typeface="Cambria" pitchFamily="34" charset="-122"/>
                <a:cs typeface="Cambria" pitchFamily="34" charset="-120"/>
              </a:rPr>
              <a:t>HOGAR ÚNICO</a:t>
            </a:r>
            <a:endParaRPr lang="en-US" sz="1200" dirty="0"/>
          </a:p>
        </p:txBody>
      </p:sp>
      <p:sp>
        <p:nvSpPr>
          <p:cNvPr id="13" name="Text 11"/>
          <p:cNvSpPr/>
          <p:nvPr/>
        </p:nvSpPr>
        <p:spPr>
          <a:xfrm>
            <a:off x="6583680" y="1965960"/>
            <a:ext cx="3291840" cy="914400"/>
          </a:xfrm>
          <a:prstGeom prst="rect">
            <a:avLst/>
          </a:prstGeom>
          <a:noFill/>
          <a:ln/>
        </p:spPr>
        <p:txBody>
          <a:bodyPr wrap="square" lIns="0" tIns="0" rIns="0" bIns="0" rtlCol="0" anchor="t"/>
          <a:lstStyle/>
          <a:p>
            <a:pPr marL="0" indent="0" algn="l">
              <a:buNone/>
            </a:pPr>
            <a:r>
              <a:rPr lang="en-US" sz="1100" dirty="0">
                <a:solidFill>
                  <a:srgbClr val="2D3748"/>
                </a:solidFill>
                <a:latin typeface="Calibri" pitchFamily="34" charset="0"/>
                <a:ea typeface="Calibri" pitchFamily="34" charset="-122"/>
                <a:cs typeface="Calibri" pitchFamily="34" charset="-120"/>
              </a:rPr>
              <a:t>Hogar representativo: no permite análisis distributivo ni heterogeneidad por quintiles.</a:t>
            </a:r>
            <a:endParaRPr lang="en-US" sz="1100" dirty="0"/>
          </a:p>
        </p:txBody>
      </p:sp>
      <p:sp>
        <p:nvSpPr>
          <p:cNvPr id="16" name="Text 14"/>
          <p:cNvSpPr/>
          <p:nvPr/>
        </p:nvSpPr>
        <p:spPr>
          <a:xfrm>
            <a:off x="8412480" y="1691640"/>
            <a:ext cx="3291840" cy="365760"/>
          </a:xfrm>
          <a:prstGeom prst="rect">
            <a:avLst/>
          </a:prstGeom>
          <a:noFill/>
          <a:ln/>
        </p:spPr>
        <p:txBody>
          <a:bodyPr wrap="square" lIns="0" tIns="0" rIns="0" bIns="0" rtlCol="0" anchor="ctr"/>
          <a:lstStyle/>
          <a:p>
            <a:pPr marL="0" indent="0" algn="l">
              <a:buNone/>
            </a:pPr>
            <a:endParaRPr lang="en-US" sz="1200" dirty="0"/>
          </a:p>
        </p:txBody>
      </p:sp>
      <p:sp>
        <p:nvSpPr>
          <p:cNvPr id="18" name="Shape 16"/>
          <p:cNvSpPr/>
          <p:nvPr/>
        </p:nvSpPr>
        <p:spPr>
          <a:xfrm>
            <a:off x="640080" y="3200400"/>
            <a:ext cx="3657600" cy="1508760"/>
          </a:xfrm>
          <a:prstGeom prst="rect">
            <a:avLst/>
          </a:prstGeom>
          <a:solidFill>
            <a:srgbClr val="F5F7FA"/>
          </a:solidFill>
          <a:ln w="9525">
            <a:solidFill>
              <a:srgbClr val="E2E8F0"/>
            </a:solidFill>
            <a:prstDash val="solid"/>
          </a:ln>
        </p:spPr>
        <p:txBody>
          <a:bodyPr/>
          <a:lstStyle/>
          <a:p>
            <a:endParaRPr lang="es-CL"/>
          </a:p>
        </p:txBody>
      </p:sp>
      <p:sp>
        <p:nvSpPr>
          <p:cNvPr id="19" name="Shape 17"/>
          <p:cNvSpPr/>
          <p:nvPr/>
        </p:nvSpPr>
        <p:spPr>
          <a:xfrm>
            <a:off x="640080" y="3200400"/>
            <a:ext cx="73152" cy="1508760"/>
          </a:xfrm>
          <a:prstGeom prst="rect">
            <a:avLst/>
          </a:prstGeom>
          <a:solidFill>
            <a:srgbClr val="C2562E"/>
          </a:solidFill>
          <a:ln w="12700">
            <a:solidFill>
              <a:srgbClr val="C2562E"/>
            </a:solidFill>
            <a:prstDash val="solid"/>
          </a:ln>
        </p:spPr>
        <p:txBody>
          <a:bodyPr/>
          <a:lstStyle/>
          <a:p>
            <a:endParaRPr lang="es-CL"/>
          </a:p>
        </p:txBody>
      </p:sp>
      <p:sp>
        <p:nvSpPr>
          <p:cNvPr id="20" name="Text 18"/>
          <p:cNvSpPr/>
          <p:nvPr/>
        </p:nvSpPr>
        <p:spPr>
          <a:xfrm>
            <a:off x="822960" y="3337560"/>
            <a:ext cx="3291840" cy="365760"/>
          </a:xfrm>
          <a:prstGeom prst="rect">
            <a:avLst/>
          </a:prstGeom>
          <a:noFill/>
          <a:ln/>
        </p:spPr>
        <p:txBody>
          <a:bodyPr wrap="square" lIns="0" tIns="0" rIns="0" bIns="0" rtlCol="0" anchor="ctr"/>
          <a:lstStyle/>
          <a:p>
            <a:pPr marL="0" indent="0" algn="l">
              <a:buNone/>
            </a:pPr>
            <a:r>
              <a:rPr lang="en-US" sz="1200" b="1" dirty="0">
                <a:solidFill>
                  <a:srgbClr val="C2562E"/>
                </a:solidFill>
                <a:latin typeface="Cambria" pitchFamily="34" charset="0"/>
                <a:ea typeface="Cambria" pitchFamily="34" charset="-122"/>
                <a:cs typeface="Cambria" pitchFamily="34" charset="-120"/>
              </a:rPr>
              <a:t>MERCADO LABORAL</a:t>
            </a:r>
            <a:endParaRPr lang="en-US" sz="1200" dirty="0"/>
          </a:p>
        </p:txBody>
      </p:sp>
      <p:sp>
        <p:nvSpPr>
          <p:cNvPr id="21" name="Text 19"/>
          <p:cNvSpPr/>
          <p:nvPr/>
        </p:nvSpPr>
        <p:spPr>
          <a:xfrm>
            <a:off x="822960" y="3703320"/>
            <a:ext cx="3291840" cy="914400"/>
          </a:xfrm>
          <a:prstGeom prst="rect">
            <a:avLst/>
          </a:prstGeom>
          <a:noFill/>
          <a:ln/>
        </p:spPr>
        <p:txBody>
          <a:bodyPr wrap="square" lIns="0" tIns="0" rIns="0" bIns="0" rtlCol="0" anchor="t"/>
          <a:lstStyle/>
          <a:p>
            <a:pPr marL="0" indent="0" algn="l">
              <a:buNone/>
            </a:pPr>
            <a:r>
              <a:rPr lang="en-US" sz="1100" dirty="0">
                <a:solidFill>
                  <a:srgbClr val="2D3748"/>
                </a:solidFill>
                <a:latin typeface="Calibri" pitchFamily="34" charset="0"/>
                <a:ea typeface="Calibri" pitchFamily="34" charset="-122"/>
                <a:cs typeface="Calibri" pitchFamily="34" charset="-120"/>
              </a:rPr>
              <a:t>Tres tipos de trabajo, pero sin informalidad explícita ni rigideces adicionales.</a:t>
            </a:r>
            <a:endParaRPr lang="en-US" sz="1100" dirty="0"/>
          </a:p>
        </p:txBody>
      </p:sp>
      <p:sp>
        <p:nvSpPr>
          <p:cNvPr id="22" name="Shape 20"/>
          <p:cNvSpPr/>
          <p:nvPr/>
        </p:nvSpPr>
        <p:spPr>
          <a:xfrm>
            <a:off x="4434840" y="3200400"/>
            <a:ext cx="3657600" cy="1508760"/>
          </a:xfrm>
          <a:prstGeom prst="rect">
            <a:avLst/>
          </a:prstGeom>
          <a:solidFill>
            <a:srgbClr val="F5F7FA"/>
          </a:solidFill>
          <a:ln w="9525">
            <a:solidFill>
              <a:srgbClr val="E2E8F0"/>
            </a:solidFill>
            <a:prstDash val="solid"/>
          </a:ln>
        </p:spPr>
        <p:txBody>
          <a:bodyPr/>
          <a:lstStyle/>
          <a:p>
            <a:endParaRPr lang="es-CL"/>
          </a:p>
        </p:txBody>
      </p:sp>
      <p:sp>
        <p:nvSpPr>
          <p:cNvPr id="23" name="Shape 21"/>
          <p:cNvSpPr/>
          <p:nvPr/>
        </p:nvSpPr>
        <p:spPr>
          <a:xfrm>
            <a:off x="4434840" y="3200400"/>
            <a:ext cx="73152" cy="1508760"/>
          </a:xfrm>
          <a:prstGeom prst="rect">
            <a:avLst/>
          </a:prstGeom>
          <a:solidFill>
            <a:srgbClr val="C2562E"/>
          </a:solidFill>
          <a:ln w="12700">
            <a:solidFill>
              <a:srgbClr val="C2562E"/>
            </a:solidFill>
            <a:prstDash val="solid"/>
          </a:ln>
        </p:spPr>
        <p:txBody>
          <a:bodyPr/>
          <a:lstStyle/>
          <a:p>
            <a:endParaRPr lang="es-CL"/>
          </a:p>
        </p:txBody>
      </p:sp>
      <p:sp>
        <p:nvSpPr>
          <p:cNvPr id="24" name="Text 22"/>
          <p:cNvSpPr/>
          <p:nvPr/>
        </p:nvSpPr>
        <p:spPr>
          <a:xfrm>
            <a:off x="4617720" y="3337560"/>
            <a:ext cx="3291840" cy="365760"/>
          </a:xfrm>
          <a:prstGeom prst="rect">
            <a:avLst/>
          </a:prstGeom>
          <a:noFill/>
          <a:ln/>
        </p:spPr>
        <p:txBody>
          <a:bodyPr wrap="square" lIns="0" tIns="0" rIns="0" bIns="0" rtlCol="0" anchor="ctr"/>
          <a:lstStyle/>
          <a:p>
            <a:pPr marL="0" indent="0" algn="l">
              <a:buNone/>
            </a:pPr>
            <a:r>
              <a:rPr lang="en-US" sz="1200" b="1" dirty="0">
                <a:solidFill>
                  <a:srgbClr val="C2562E"/>
                </a:solidFill>
                <a:latin typeface="Cambria" pitchFamily="34" charset="0"/>
                <a:ea typeface="Cambria" pitchFamily="34" charset="-122"/>
                <a:cs typeface="Cambria" pitchFamily="34" charset="-120"/>
              </a:rPr>
              <a:t>ELASTICIDADES</a:t>
            </a:r>
            <a:endParaRPr lang="en-US" sz="1200" dirty="0"/>
          </a:p>
        </p:txBody>
      </p:sp>
      <p:sp>
        <p:nvSpPr>
          <p:cNvPr id="25" name="Text 23"/>
          <p:cNvSpPr/>
          <p:nvPr/>
        </p:nvSpPr>
        <p:spPr>
          <a:xfrm>
            <a:off x="4617720" y="3703320"/>
            <a:ext cx="3291840" cy="914400"/>
          </a:xfrm>
          <a:prstGeom prst="rect">
            <a:avLst/>
          </a:prstGeom>
          <a:noFill/>
          <a:ln/>
        </p:spPr>
        <p:txBody>
          <a:bodyPr wrap="square" lIns="0" tIns="0" rIns="0" bIns="0" rtlCol="0" anchor="t"/>
          <a:lstStyle/>
          <a:p>
            <a:pPr marL="0" indent="0" algn="l">
              <a:buNone/>
            </a:pPr>
            <a:r>
              <a:rPr lang="en-US" sz="1100" dirty="0">
                <a:solidFill>
                  <a:srgbClr val="2D3748"/>
                </a:solidFill>
                <a:latin typeface="Calibri" pitchFamily="34" charset="0"/>
                <a:ea typeface="Calibri" pitchFamily="34" charset="-122"/>
                <a:cs typeface="Calibri" pitchFamily="34" charset="-120"/>
              </a:rPr>
              <a:t>Resultados sensibles a ω, σ_q, σ_t, ϕ, η. Conviene reportar rangos, no solo el valor central.</a:t>
            </a:r>
            <a:endParaRPr lang="en-US" sz="1100" dirty="0"/>
          </a:p>
        </p:txBody>
      </p:sp>
      <p:sp>
        <p:nvSpPr>
          <p:cNvPr id="26" name="Shape 24"/>
          <p:cNvSpPr/>
          <p:nvPr/>
        </p:nvSpPr>
        <p:spPr>
          <a:xfrm>
            <a:off x="8229600" y="3200400"/>
            <a:ext cx="3657600" cy="1508760"/>
          </a:xfrm>
          <a:prstGeom prst="rect">
            <a:avLst/>
          </a:prstGeom>
          <a:solidFill>
            <a:srgbClr val="F5F7FA"/>
          </a:solidFill>
          <a:ln w="9525">
            <a:solidFill>
              <a:srgbClr val="E2E8F0"/>
            </a:solidFill>
            <a:prstDash val="solid"/>
          </a:ln>
        </p:spPr>
        <p:txBody>
          <a:bodyPr/>
          <a:lstStyle/>
          <a:p>
            <a:endParaRPr lang="es-CL"/>
          </a:p>
        </p:txBody>
      </p:sp>
      <p:sp>
        <p:nvSpPr>
          <p:cNvPr id="27" name="Shape 25"/>
          <p:cNvSpPr/>
          <p:nvPr/>
        </p:nvSpPr>
        <p:spPr>
          <a:xfrm>
            <a:off x="8229600" y="3200400"/>
            <a:ext cx="73152" cy="1508760"/>
          </a:xfrm>
          <a:prstGeom prst="rect">
            <a:avLst/>
          </a:prstGeom>
          <a:solidFill>
            <a:srgbClr val="C2562E"/>
          </a:solidFill>
          <a:ln w="12700">
            <a:solidFill>
              <a:srgbClr val="C2562E"/>
            </a:solidFill>
            <a:prstDash val="solid"/>
          </a:ln>
        </p:spPr>
        <p:txBody>
          <a:bodyPr/>
          <a:lstStyle/>
          <a:p>
            <a:endParaRPr lang="es-CL"/>
          </a:p>
        </p:txBody>
      </p:sp>
      <p:sp>
        <p:nvSpPr>
          <p:cNvPr id="28" name="Text 26"/>
          <p:cNvSpPr/>
          <p:nvPr/>
        </p:nvSpPr>
        <p:spPr>
          <a:xfrm>
            <a:off x="8412480" y="3337560"/>
            <a:ext cx="3291840" cy="365760"/>
          </a:xfrm>
          <a:prstGeom prst="rect">
            <a:avLst/>
          </a:prstGeom>
          <a:noFill/>
          <a:ln/>
        </p:spPr>
        <p:txBody>
          <a:bodyPr wrap="square" lIns="0" tIns="0" rIns="0" bIns="0" rtlCol="0" anchor="ctr"/>
          <a:lstStyle/>
          <a:p>
            <a:pPr marL="0" indent="0" algn="l">
              <a:buNone/>
            </a:pPr>
            <a:r>
              <a:rPr lang="en-US" sz="1200" b="1" dirty="0">
                <a:solidFill>
                  <a:srgbClr val="C2562E"/>
                </a:solidFill>
                <a:latin typeface="Cambria" pitchFamily="34" charset="0"/>
                <a:ea typeface="Cambria" pitchFamily="34" charset="-122"/>
                <a:cs typeface="Cambria" pitchFamily="34" charset="-120"/>
              </a:rPr>
              <a:t>POLÍTICA MONETARIA</a:t>
            </a:r>
            <a:endParaRPr lang="en-US" sz="1200" dirty="0"/>
          </a:p>
        </p:txBody>
      </p:sp>
      <p:sp>
        <p:nvSpPr>
          <p:cNvPr id="29" name="Text 27"/>
          <p:cNvSpPr/>
          <p:nvPr/>
        </p:nvSpPr>
        <p:spPr>
          <a:xfrm>
            <a:off x="8412480" y="3703320"/>
            <a:ext cx="3291840" cy="914400"/>
          </a:xfrm>
          <a:prstGeom prst="rect">
            <a:avLst/>
          </a:prstGeom>
          <a:noFill/>
          <a:ln/>
        </p:spPr>
        <p:txBody>
          <a:bodyPr wrap="square" lIns="0" tIns="0" rIns="0" bIns="0" rtlCol="0" anchor="t"/>
          <a:lstStyle/>
          <a:p>
            <a:pPr marL="0" indent="0" algn="l">
              <a:buNone/>
            </a:pPr>
            <a:r>
              <a:rPr lang="en-US" sz="1100" dirty="0">
                <a:solidFill>
                  <a:srgbClr val="2D3748"/>
                </a:solidFill>
                <a:latin typeface="Calibri" pitchFamily="34" charset="0"/>
                <a:ea typeface="Calibri" pitchFamily="34" charset="-122"/>
                <a:cs typeface="Calibri" pitchFamily="34" charset="-120"/>
              </a:rPr>
              <a:t>No hay dinero ni precios nominales: el modelo está calibrado en flujos reales.</a:t>
            </a:r>
            <a:endParaRPr lang="en-US" sz="1100" dirty="0"/>
          </a:p>
        </p:txBody>
      </p:sp>
      <p:sp>
        <p:nvSpPr>
          <p:cNvPr id="30" name="Shape 28"/>
          <p:cNvSpPr/>
          <p:nvPr/>
        </p:nvSpPr>
        <p:spPr>
          <a:xfrm>
            <a:off x="640080" y="5303520"/>
            <a:ext cx="11155680" cy="1005840"/>
          </a:xfrm>
          <a:prstGeom prst="rect">
            <a:avLst/>
          </a:prstGeom>
          <a:solidFill>
            <a:srgbClr val="1E2761"/>
          </a:solidFill>
          <a:ln w="12700">
            <a:solidFill>
              <a:srgbClr val="1E2761"/>
            </a:solidFill>
            <a:prstDash val="solid"/>
          </a:ln>
        </p:spPr>
        <p:txBody>
          <a:bodyPr/>
          <a:lstStyle/>
          <a:p>
            <a:endParaRPr lang="es-CL"/>
          </a:p>
        </p:txBody>
      </p:sp>
      <p:sp>
        <p:nvSpPr>
          <p:cNvPr id="31" name="Text 29"/>
          <p:cNvSpPr/>
          <p:nvPr/>
        </p:nvSpPr>
        <p:spPr>
          <a:xfrm>
            <a:off x="868680" y="5349240"/>
            <a:ext cx="10789920" cy="914400"/>
          </a:xfrm>
          <a:prstGeom prst="rect">
            <a:avLst/>
          </a:prstGeom>
          <a:noFill/>
          <a:ln/>
        </p:spPr>
        <p:txBody>
          <a:bodyPr wrap="square" lIns="0" tIns="0" rIns="0" bIns="0" rtlCol="0" anchor="ctr"/>
          <a:lstStyle/>
          <a:p>
            <a:pPr marL="0" indent="0" algn="l">
              <a:buNone/>
            </a:pPr>
            <a:r>
              <a:rPr lang="en-US" sz="1200" b="1" dirty="0" err="1">
                <a:solidFill>
                  <a:srgbClr val="D4A82A"/>
                </a:solidFill>
                <a:latin typeface="Calibri" pitchFamily="34" charset="0"/>
                <a:ea typeface="Calibri" pitchFamily="34" charset="-122"/>
                <a:cs typeface="Calibri" pitchFamily="34" charset="-120"/>
              </a:rPr>
              <a:t>Sobre</a:t>
            </a:r>
            <a:r>
              <a:rPr lang="en-US" sz="1200" b="1" dirty="0">
                <a:solidFill>
                  <a:srgbClr val="D4A82A"/>
                </a:solidFill>
                <a:latin typeface="Calibri" pitchFamily="34" charset="0"/>
                <a:ea typeface="Calibri" pitchFamily="34" charset="-122"/>
                <a:cs typeface="Calibri" pitchFamily="34" charset="-120"/>
              </a:rPr>
              <a:t> </a:t>
            </a:r>
            <a:r>
              <a:rPr lang="en-US" sz="1200" b="1" dirty="0" err="1">
                <a:solidFill>
                  <a:srgbClr val="D4A82A"/>
                </a:solidFill>
                <a:latin typeface="Calibri" pitchFamily="34" charset="0"/>
                <a:ea typeface="Calibri" pitchFamily="34" charset="-122"/>
                <a:cs typeface="Calibri" pitchFamily="34" charset="-120"/>
              </a:rPr>
              <a:t>Elasticidades</a:t>
            </a:r>
            <a:r>
              <a:rPr lang="en-US" sz="1200" b="1" dirty="0">
                <a:solidFill>
                  <a:srgbClr val="D4A82A"/>
                </a:solidFill>
                <a:latin typeface="Calibri" pitchFamily="34" charset="0"/>
                <a:ea typeface="Calibri" pitchFamily="34" charset="-122"/>
                <a:cs typeface="Calibri" pitchFamily="34" charset="-120"/>
              </a:rPr>
              <a:t>: </a:t>
            </a:r>
            <a:r>
              <a:rPr lang="en-US" sz="1200" dirty="0">
                <a:solidFill>
                  <a:srgbClr val="FFFFFF"/>
                </a:solidFill>
                <a:latin typeface="Calibri" pitchFamily="34" charset="0"/>
                <a:ea typeface="Calibri" pitchFamily="34" charset="-122"/>
                <a:cs typeface="Calibri" pitchFamily="34" charset="-120"/>
              </a:rPr>
              <a:t>el análisis de sensibilidad ya está parcialmente implementado en sens_analysis.Rmd con LHS (N=128), OAT y PRCC, siguiendo Marino et al. (2008) y Harrison &amp; Vinod (1992).</a:t>
            </a:r>
            <a:endParaRPr lang="en-US" sz="1200" dirty="0"/>
          </a:p>
        </p:txBody>
      </p:sp>
      <p:sp>
        <p:nvSpPr>
          <p:cNvPr id="32" name="Text 30"/>
          <p:cNvSpPr/>
          <p:nvPr/>
        </p:nvSpPr>
        <p:spPr>
          <a:xfrm>
            <a:off x="457200" y="6492240"/>
            <a:ext cx="11247120" cy="274320"/>
          </a:xfrm>
          <a:prstGeom prst="rect">
            <a:avLst/>
          </a:prstGeom>
          <a:noFill/>
          <a:ln/>
        </p:spPr>
        <p:txBody>
          <a:bodyPr wrap="square"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MEGC 12 sectores · Chile 2023 · SII</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a:p>
        </p:txBody>
      </p:sp>
      <p:sp>
        <p:nvSpPr>
          <p:cNvPr id="3" name="Text 1"/>
          <p:cNvSpPr/>
          <p:nvPr/>
        </p:nvSpPr>
        <p:spPr>
          <a:xfrm>
            <a:off x="457200" y="384048"/>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21</a:t>
            </a:r>
            <a:endParaRPr lang="en-US" sz="1400" dirty="0"/>
          </a:p>
        </p:txBody>
      </p:sp>
      <p:sp>
        <p:nvSpPr>
          <p:cNvPr id="4" name="Text 2"/>
          <p:cNvSpPr/>
          <p:nvPr/>
        </p:nvSpPr>
        <p:spPr>
          <a:xfrm>
            <a:off x="1051560" y="365760"/>
            <a:ext cx="10698480" cy="502920"/>
          </a:xfrm>
          <a:prstGeom prst="rect">
            <a:avLst/>
          </a:prstGeom>
          <a:noFill/>
          <a:ln/>
        </p:spPr>
        <p:txBody>
          <a:bodyPr wrap="square" lIns="0" tIns="0" rIns="0" bIns="0" rtlCol="0" anchor="ctr"/>
          <a:lstStyle/>
          <a:p>
            <a:pPr marL="0" indent="0" algn="l">
              <a:buNone/>
            </a:pPr>
            <a:r>
              <a:rPr lang="en-US" sz="2400" b="1" dirty="0">
                <a:solidFill>
                  <a:srgbClr val="1E2761"/>
                </a:solidFill>
                <a:latin typeface="Cambria" pitchFamily="34" charset="0"/>
                <a:ea typeface="Cambria" pitchFamily="34" charset="-122"/>
                <a:cs typeface="Cambria" pitchFamily="34" charset="-120"/>
              </a:rPr>
              <a:t>Extensiones y próximos pasos</a:t>
            </a:r>
            <a:endParaRPr lang="en-US" sz="2400" dirty="0"/>
          </a:p>
        </p:txBody>
      </p:sp>
      <p:sp>
        <p:nvSpPr>
          <p:cNvPr id="5" name="Text 3"/>
          <p:cNvSpPr/>
          <p:nvPr/>
        </p:nvSpPr>
        <p:spPr>
          <a:xfrm>
            <a:off x="640080" y="1005840"/>
            <a:ext cx="10972800" cy="365760"/>
          </a:xfrm>
          <a:prstGeom prst="rect">
            <a:avLst/>
          </a:prstGeom>
          <a:noFill/>
          <a:ln/>
        </p:spPr>
        <p:txBody>
          <a:bodyPr wrap="square" lIns="0" tIns="0" rIns="0" bIns="0" rtlCol="0" anchor="ctr"/>
          <a:lstStyle/>
          <a:p>
            <a:pPr marL="0" indent="0" algn="l">
              <a:buNone/>
            </a:pPr>
            <a:r>
              <a:rPr lang="en-US" sz="1300" i="1" dirty="0">
                <a:solidFill>
                  <a:srgbClr val="64748B"/>
                </a:solidFill>
                <a:latin typeface="Calibri" pitchFamily="34" charset="0"/>
                <a:ea typeface="Calibri" pitchFamily="34" charset="-122"/>
                <a:cs typeface="Calibri" pitchFamily="34" charset="-120"/>
              </a:rPr>
              <a:t>Hoja de ruta a partir de las recomendaciones del paper (Sección 5).</a:t>
            </a:r>
            <a:endParaRPr lang="en-US" sz="1300" dirty="0"/>
          </a:p>
        </p:txBody>
      </p:sp>
      <p:sp>
        <p:nvSpPr>
          <p:cNvPr id="6" name="Shape 4"/>
          <p:cNvSpPr/>
          <p:nvPr/>
        </p:nvSpPr>
        <p:spPr>
          <a:xfrm>
            <a:off x="640080" y="1554480"/>
            <a:ext cx="5486400" cy="1417320"/>
          </a:xfrm>
          <a:prstGeom prst="rect">
            <a:avLst/>
          </a:prstGeom>
          <a:solidFill>
            <a:srgbClr val="F5F7FA"/>
          </a:solidFill>
          <a:ln w="9525">
            <a:solidFill>
              <a:srgbClr val="E2E8F0"/>
            </a:solidFill>
            <a:prstDash val="solid"/>
          </a:ln>
        </p:spPr>
        <p:txBody>
          <a:bodyPr/>
          <a:lstStyle/>
          <a:p>
            <a:endParaRPr lang="es-CL"/>
          </a:p>
        </p:txBody>
      </p:sp>
      <p:sp>
        <p:nvSpPr>
          <p:cNvPr id="7" name="Shape 5"/>
          <p:cNvSpPr/>
          <p:nvPr/>
        </p:nvSpPr>
        <p:spPr>
          <a:xfrm>
            <a:off x="640080" y="1554480"/>
            <a:ext cx="73152" cy="1417320"/>
          </a:xfrm>
          <a:prstGeom prst="rect">
            <a:avLst/>
          </a:prstGeom>
          <a:solidFill>
            <a:srgbClr val="D4A82A"/>
          </a:solidFill>
          <a:ln w="12700">
            <a:solidFill>
              <a:srgbClr val="D4A82A"/>
            </a:solidFill>
            <a:prstDash val="solid"/>
          </a:ln>
        </p:spPr>
        <p:txBody>
          <a:bodyPr/>
          <a:lstStyle/>
          <a:p>
            <a:endParaRPr lang="es-CL"/>
          </a:p>
        </p:txBody>
      </p:sp>
      <p:sp>
        <p:nvSpPr>
          <p:cNvPr id="8" name="Text 6"/>
          <p:cNvSpPr/>
          <p:nvPr/>
        </p:nvSpPr>
        <p:spPr>
          <a:xfrm>
            <a:off x="868680" y="1645920"/>
            <a:ext cx="3931920" cy="411480"/>
          </a:xfrm>
          <a:prstGeom prst="rect">
            <a:avLst/>
          </a:prstGeom>
          <a:noFill/>
          <a:ln/>
        </p:spPr>
        <p:txBody>
          <a:bodyPr wrap="square" lIns="0" tIns="0" rIns="0" bIns="0" rtlCol="0" anchor="ctr"/>
          <a:lstStyle/>
          <a:p>
            <a:pPr marL="0" indent="0" algn="l">
              <a:buNone/>
            </a:pPr>
            <a:r>
              <a:rPr lang="en-US" sz="1300" b="1" dirty="0">
                <a:solidFill>
                  <a:srgbClr val="1E2761"/>
                </a:solidFill>
                <a:latin typeface="Cambria" pitchFamily="34" charset="0"/>
                <a:ea typeface="Cambria" pitchFamily="34" charset="-122"/>
                <a:cs typeface="Cambria" pitchFamily="34" charset="-120"/>
              </a:rPr>
              <a:t>Sensibilidad paramétrica completa</a:t>
            </a:r>
            <a:endParaRPr lang="en-US" sz="1300" dirty="0"/>
          </a:p>
        </p:txBody>
      </p:sp>
      <p:sp>
        <p:nvSpPr>
          <p:cNvPr id="9" name="Shape 7"/>
          <p:cNvSpPr/>
          <p:nvPr/>
        </p:nvSpPr>
        <p:spPr>
          <a:xfrm>
            <a:off x="4754880" y="1691640"/>
            <a:ext cx="1188720" cy="320040"/>
          </a:xfrm>
          <a:prstGeom prst="rect">
            <a:avLst/>
          </a:prstGeom>
          <a:solidFill>
            <a:srgbClr val="D4A82A"/>
          </a:solidFill>
          <a:ln w="12700">
            <a:solidFill>
              <a:srgbClr val="D4A82A"/>
            </a:solidFill>
            <a:prstDash val="solid"/>
          </a:ln>
        </p:spPr>
        <p:txBody>
          <a:bodyPr/>
          <a:lstStyle/>
          <a:p>
            <a:endParaRPr lang="es-CL"/>
          </a:p>
        </p:txBody>
      </p:sp>
      <p:sp>
        <p:nvSpPr>
          <p:cNvPr id="10" name="Text 8"/>
          <p:cNvSpPr/>
          <p:nvPr/>
        </p:nvSpPr>
        <p:spPr>
          <a:xfrm>
            <a:off x="4754880" y="1691640"/>
            <a:ext cx="1188720" cy="32004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En progreso</a:t>
            </a:r>
            <a:endParaRPr lang="en-US" sz="900" dirty="0"/>
          </a:p>
        </p:txBody>
      </p:sp>
      <p:sp>
        <p:nvSpPr>
          <p:cNvPr id="11" name="Text 9"/>
          <p:cNvSpPr/>
          <p:nvPr/>
        </p:nvSpPr>
        <p:spPr>
          <a:xfrm>
            <a:off x="868680" y="2057400"/>
            <a:ext cx="5074920" cy="822960"/>
          </a:xfrm>
          <a:prstGeom prst="rect">
            <a:avLst/>
          </a:prstGeom>
          <a:noFill/>
          <a:ln/>
        </p:spPr>
        <p:txBody>
          <a:bodyPr wrap="square" lIns="0" tIns="0" rIns="0" bIns="0" rtlCol="0" anchor="t"/>
          <a:lstStyle/>
          <a:p>
            <a:pPr marL="0" indent="0" algn="l">
              <a:buNone/>
            </a:pPr>
            <a:r>
              <a:rPr lang="en-US" sz="1100" dirty="0">
                <a:solidFill>
                  <a:srgbClr val="2D3748"/>
                </a:solidFill>
                <a:latin typeface="Calibri" pitchFamily="34" charset="0"/>
                <a:ea typeface="Calibri" pitchFamily="34" charset="-122"/>
                <a:cs typeface="Calibri" pitchFamily="34" charset="-120"/>
              </a:rPr>
              <a:t>OAT + Tornado + LHS + PRCC ya implementados. Cuantifica robustez de signo y magnitud frente a elasticidades.</a:t>
            </a:r>
            <a:endParaRPr lang="en-US" sz="1100" dirty="0"/>
          </a:p>
        </p:txBody>
      </p:sp>
      <p:sp>
        <p:nvSpPr>
          <p:cNvPr id="12" name="Shape 10"/>
          <p:cNvSpPr/>
          <p:nvPr/>
        </p:nvSpPr>
        <p:spPr>
          <a:xfrm>
            <a:off x="6263640" y="1554480"/>
            <a:ext cx="5486400" cy="1417320"/>
          </a:xfrm>
          <a:prstGeom prst="rect">
            <a:avLst/>
          </a:prstGeom>
          <a:solidFill>
            <a:srgbClr val="F5F7FA"/>
          </a:solidFill>
          <a:ln w="9525">
            <a:solidFill>
              <a:srgbClr val="E2E8F0"/>
            </a:solidFill>
            <a:prstDash val="solid"/>
          </a:ln>
        </p:spPr>
        <p:txBody>
          <a:bodyPr/>
          <a:lstStyle/>
          <a:p>
            <a:endParaRPr lang="es-CL"/>
          </a:p>
        </p:txBody>
      </p:sp>
      <p:sp>
        <p:nvSpPr>
          <p:cNvPr id="13" name="Shape 11"/>
          <p:cNvSpPr/>
          <p:nvPr/>
        </p:nvSpPr>
        <p:spPr>
          <a:xfrm>
            <a:off x="6263640" y="1554480"/>
            <a:ext cx="73152" cy="1417320"/>
          </a:xfrm>
          <a:prstGeom prst="rect">
            <a:avLst/>
          </a:prstGeom>
          <a:solidFill>
            <a:srgbClr val="C2562E"/>
          </a:solidFill>
          <a:ln w="12700">
            <a:solidFill>
              <a:srgbClr val="C2562E"/>
            </a:solidFill>
            <a:prstDash val="solid"/>
          </a:ln>
        </p:spPr>
        <p:txBody>
          <a:bodyPr/>
          <a:lstStyle/>
          <a:p>
            <a:endParaRPr lang="es-CL"/>
          </a:p>
        </p:txBody>
      </p:sp>
      <p:sp>
        <p:nvSpPr>
          <p:cNvPr id="14" name="Text 12"/>
          <p:cNvSpPr/>
          <p:nvPr/>
        </p:nvSpPr>
        <p:spPr>
          <a:xfrm>
            <a:off x="6492240" y="1645920"/>
            <a:ext cx="3931920" cy="411480"/>
          </a:xfrm>
          <a:prstGeom prst="rect">
            <a:avLst/>
          </a:prstGeom>
          <a:noFill/>
          <a:ln/>
        </p:spPr>
        <p:txBody>
          <a:bodyPr wrap="square" lIns="0" tIns="0" rIns="0" bIns="0" rtlCol="0" anchor="ctr"/>
          <a:lstStyle/>
          <a:p>
            <a:pPr marL="0" indent="0" algn="l">
              <a:buNone/>
            </a:pPr>
            <a:r>
              <a:rPr lang="en-US" sz="1300" b="1" dirty="0">
                <a:solidFill>
                  <a:srgbClr val="1E2761"/>
                </a:solidFill>
                <a:latin typeface="Cambria" pitchFamily="34" charset="0"/>
                <a:ea typeface="Cambria" pitchFamily="34" charset="-122"/>
                <a:cs typeface="Cambria" pitchFamily="34" charset="-120"/>
              </a:rPr>
              <a:t>Hogares heterogéneos</a:t>
            </a:r>
            <a:endParaRPr lang="en-US" sz="1300" dirty="0"/>
          </a:p>
        </p:txBody>
      </p:sp>
      <p:sp>
        <p:nvSpPr>
          <p:cNvPr id="15" name="Shape 13"/>
          <p:cNvSpPr/>
          <p:nvPr/>
        </p:nvSpPr>
        <p:spPr>
          <a:xfrm>
            <a:off x="10378440" y="1691640"/>
            <a:ext cx="1188720" cy="320040"/>
          </a:xfrm>
          <a:prstGeom prst="rect">
            <a:avLst/>
          </a:prstGeom>
          <a:solidFill>
            <a:srgbClr val="C2562E"/>
          </a:solidFill>
          <a:ln w="12700">
            <a:solidFill>
              <a:srgbClr val="C2562E"/>
            </a:solidFill>
            <a:prstDash val="solid"/>
          </a:ln>
        </p:spPr>
        <p:txBody>
          <a:bodyPr/>
          <a:lstStyle/>
          <a:p>
            <a:endParaRPr lang="es-CL"/>
          </a:p>
        </p:txBody>
      </p:sp>
      <p:sp>
        <p:nvSpPr>
          <p:cNvPr id="16" name="Text 14"/>
          <p:cNvSpPr/>
          <p:nvPr/>
        </p:nvSpPr>
        <p:spPr>
          <a:xfrm>
            <a:off x="10378440" y="1691640"/>
            <a:ext cx="1188720" cy="32004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Prioritario</a:t>
            </a:r>
            <a:endParaRPr lang="en-US" sz="900" dirty="0"/>
          </a:p>
        </p:txBody>
      </p:sp>
      <p:sp>
        <p:nvSpPr>
          <p:cNvPr id="17" name="Text 15"/>
          <p:cNvSpPr/>
          <p:nvPr/>
        </p:nvSpPr>
        <p:spPr>
          <a:xfrm>
            <a:off x="6492240" y="2057400"/>
            <a:ext cx="5074920" cy="822960"/>
          </a:xfrm>
          <a:prstGeom prst="rect">
            <a:avLst/>
          </a:prstGeom>
          <a:noFill/>
          <a:ln/>
        </p:spPr>
        <p:txBody>
          <a:bodyPr wrap="square" lIns="0" tIns="0" rIns="0" bIns="0" rtlCol="0" anchor="t"/>
          <a:lstStyle/>
          <a:p>
            <a:pPr marL="0" indent="0" algn="l">
              <a:buNone/>
            </a:pPr>
            <a:r>
              <a:rPr lang="en-US" sz="1100" dirty="0">
                <a:solidFill>
                  <a:srgbClr val="2D3748"/>
                </a:solidFill>
                <a:latin typeface="Calibri" pitchFamily="34" charset="0"/>
                <a:ea typeface="Calibri" pitchFamily="34" charset="-122"/>
                <a:cs typeface="Calibri" pitchFamily="34" charset="-120"/>
              </a:rPr>
              <a:t>Desagregación por quintiles o deciles de ingreso para análisis distributivo de las reformas.</a:t>
            </a:r>
            <a:endParaRPr lang="en-US" sz="1100" dirty="0"/>
          </a:p>
        </p:txBody>
      </p:sp>
      <p:sp>
        <p:nvSpPr>
          <p:cNvPr id="18" name="Shape 16"/>
          <p:cNvSpPr/>
          <p:nvPr/>
        </p:nvSpPr>
        <p:spPr>
          <a:xfrm>
            <a:off x="640080" y="3108960"/>
            <a:ext cx="5486400" cy="1417320"/>
          </a:xfrm>
          <a:prstGeom prst="rect">
            <a:avLst/>
          </a:prstGeom>
          <a:solidFill>
            <a:srgbClr val="F5F7FA"/>
          </a:solidFill>
          <a:ln w="9525">
            <a:solidFill>
              <a:srgbClr val="E2E8F0"/>
            </a:solidFill>
            <a:prstDash val="solid"/>
          </a:ln>
        </p:spPr>
        <p:txBody>
          <a:bodyPr/>
          <a:lstStyle/>
          <a:p>
            <a:endParaRPr lang="es-CL"/>
          </a:p>
        </p:txBody>
      </p:sp>
      <p:sp>
        <p:nvSpPr>
          <p:cNvPr id="19" name="Shape 17"/>
          <p:cNvSpPr/>
          <p:nvPr/>
        </p:nvSpPr>
        <p:spPr>
          <a:xfrm>
            <a:off x="640080" y="3108960"/>
            <a:ext cx="73152" cy="1417320"/>
          </a:xfrm>
          <a:prstGeom prst="rect">
            <a:avLst/>
          </a:prstGeom>
          <a:solidFill>
            <a:srgbClr val="4A6FA5"/>
          </a:solidFill>
          <a:ln w="12700">
            <a:solidFill>
              <a:srgbClr val="4A6FA5"/>
            </a:solidFill>
            <a:prstDash val="solid"/>
          </a:ln>
        </p:spPr>
        <p:txBody>
          <a:bodyPr/>
          <a:lstStyle/>
          <a:p>
            <a:endParaRPr lang="es-CL"/>
          </a:p>
        </p:txBody>
      </p:sp>
      <p:sp>
        <p:nvSpPr>
          <p:cNvPr id="20" name="Text 18"/>
          <p:cNvSpPr/>
          <p:nvPr/>
        </p:nvSpPr>
        <p:spPr>
          <a:xfrm>
            <a:off x="868680" y="3200400"/>
            <a:ext cx="3931920" cy="411480"/>
          </a:xfrm>
          <a:prstGeom prst="rect">
            <a:avLst/>
          </a:prstGeom>
          <a:noFill/>
          <a:ln/>
        </p:spPr>
        <p:txBody>
          <a:bodyPr wrap="square" lIns="0" tIns="0" rIns="0" bIns="0" rtlCol="0" anchor="ctr"/>
          <a:lstStyle/>
          <a:p>
            <a:pPr marL="0" indent="0" algn="l">
              <a:buNone/>
            </a:pPr>
            <a:r>
              <a:rPr lang="en-US" sz="1300" b="1" dirty="0">
                <a:solidFill>
                  <a:srgbClr val="1E2761"/>
                </a:solidFill>
                <a:latin typeface="Cambria" pitchFamily="34" charset="0"/>
                <a:ea typeface="Cambria" pitchFamily="34" charset="-122"/>
                <a:cs typeface="Cambria" pitchFamily="34" charset="-120"/>
              </a:rPr>
              <a:t>Mayor desagregación sectorial y de productos</a:t>
            </a:r>
            <a:endParaRPr lang="en-US" sz="1300" dirty="0"/>
          </a:p>
        </p:txBody>
      </p:sp>
      <p:sp>
        <p:nvSpPr>
          <p:cNvPr id="21" name="Shape 19"/>
          <p:cNvSpPr/>
          <p:nvPr/>
        </p:nvSpPr>
        <p:spPr>
          <a:xfrm>
            <a:off x="4754880" y="3246120"/>
            <a:ext cx="1188720" cy="320040"/>
          </a:xfrm>
          <a:prstGeom prst="rect">
            <a:avLst/>
          </a:prstGeom>
          <a:solidFill>
            <a:srgbClr val="4A6FA5"/>
          </a:solidFill>
          <a:ln w="12700">
            <a:solidFill>
              <a:srgbClr val="4A6FA5"/>
            </a:solidFill>
            <a:prstDash val="solid"/>
          </a:ln>
        </p:spPr>
        <p:txBody>
          <a:bodyPr/>
          <a:lstStyle/>
          <a:p>
            <a:endParaRPr lang="es-CL"/>
          </a:p>
        </p:txBody>
      </p:sp>
      <p:sp>
        <p:nvSpPr>
          <p:cNvPr id="22" name="Text 20"/>
          <p:cNvSpPr/>
          <p:nvPr/>
        </p:nvSpPr>
        <p:spPr>
          <a:xfrm>
            <a:off x="4754880" y="3246120"/>
            <a:ext cx="1188720" cy="32004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Medio plazo</a:t>
            </a:r>
            <a:endParaRPr lang="en-US" sz="900" dirty="0"/>
          </a:p>
        </p:txBody>
      </p:sp>
      <p:sp>
        <p:nvSpPr>
          <p:cNvPr id="23" name="Text 21"/>
          <p:cNvSpPr/>
          <p:nvPr/>
        </p:nvSpPr>
        <p:spPr>
          <a:xfrm>
            <a:off x="868680" y="3611880"/>
            <a:ext cx="5074920" cy="822960"/>
          </a:xfrm>
          <a:prstGeom prst="rect">
            <a:avLst/>
          </a:prstGeom>
          <a:noFill/>
          <a:ln/>
        </p:spPr>
        <p:txBody>
          <a:bodyPr wrap="square" lIns="0" tIns="0" rIns="0" bIns="0" rtlCol="0" anchor="t"/>
          <a:lstStyle/>
          <a:p>
            <a:pPr marL="0" indent="0" algn="l">
              <a:buNone/>
            </a:pPr>
            <a:r>
              <a:rPr lang="en-US" sz="1100" dirty="0">
                <a:solidFill>
                  <a:srgbClr val="2D3748"/>
                </a:solidFill>
                <a:latin typeface="Calibri" pitchFamily="34" charset="0"/>
                <a:ea typeface="Calibri" pitchFamily="34" charset="-122"/>
                <a:cs typeface="Calibri" pitchFamily="34" charset="-120"/>
              </a:rPr>
              <a:t>Subdividir manufactura, energía y servicios para capturar mejor la heterogeneidad sectorial.</a:t>
            </a:r>
            <a:endParaRPr lang="en-US" sz="1100" dirty="0"/>
          </a:p>
        </p:txBody>
      </p:sp>
      <p:sp>
        <p:nvSpPr>
          <p:cNvPr id="24" name="Shape 22"/>
          <p:cNvSpPr/>
          <p:nvPr/>
        </p:nvSpPr>
        <p:spPr>
          <a:xfrm>
            <a:off x="6263640" y="3108960"/>
            <a:ext cx="5486400" cy="1417320"/>
          </a:xfrm>
          <a:prstGeom prst="rect">
            <a:avLst/>
          </a:prstGeom>
          <a:solidFill>
            <a:srgbClr val="F5F7FA"/>
          </a:solidFill>
          <a:ln w="9525">
            <a:solidFill>
              <a:srgbClr val="E2E8F0"/>
            </a:solidFill>
            <a:prstDash val="solid"/>
          </a:ln>
        </p:spPr>
        <p:txBody>
          <a:bodyPr/>
          <a:lstStyle/>
          <a:p>
            <a:endParaRPr lang="es-CL"/>
          </a:p>
        </p:txBody>
      </p:sp>
      <p:sp>
        <p:nvSpPr>
          <p:cNvPr id="25" name="Shape 23"/>
          <p:cNvSpPr/>
          <p:nvPr/>
        </p:nvSpPr>
        <p:spPr>
          <a:xfrm>
            <a:off x="6263640" y="3108960"/>
            <a:ext cx="73152" cy="1417320"/>
          </a:xfrm>
          <a:prstGeom prst="rect">
            <a:avLst/>
          </a:prstGeom>
          <a:solidFill>
            <a:srgbClr val="4A6FA5"/>
          </a:solidFill>
          <a:ln w="12700">
            <a:solidFill>
              <a:srgbClr val="4A6FA5"/>
            </a:solidFill>
            <a:prstDash val="solid"/>
          </a:ln>
        </p:spPr>
        <p:txBody>
          <a:bodyPr/>
          <a:lstStyle/>
          <a:p>
            <a:endParaRPr lang="es-CL"/>
          </a:p>
        </p:txBody>
      </p:sp>
      <p:sp>
        <p:nvSpPr>
          <p:cNvPr id="26" name="Text 24"/>
          <p:cNvSpPr/>
          <p:nvPr/>
        </p:nvSpPr>
        <p:spPr>
          <a:xfrm>
            <a:off x="6492240" y="3200400"/>
            <a:ext cx="3931920" cy="411480"/>
          </a:xfrm>
          <a:prstGeom prst="rect">
            <a:avLst/>
          </a:prstGeom>
          <a:noFill/>
          <a:ln/>
        </p:spPr>
        <p:txBody>
          <a:bodyPr wrap="square" lIns="0" tIns="0" rIns="0" bIns="0" rtlCol="0" anchor="ctr"/>
          <a:lstStyle/>
          <a:p>
            <a:pPr marL="0" indent="0" algn="l">
              <a:buNone/>
            </a:pPr>
            <a:r>
              <a:rPr lang="en-US" sz="1300" b="1" dirty="0">
                <a:solidFill>
                  <a:srgbClr val="1E2761"/>
                </a:solidFill>
                <a:latin typeface="Cambria" pitchFamily="34" charset="0"/>
                <a:ea typeface="Cambria" pitchFamily="34" charset="-122"/>
                <a:cs typeface="Cambria" pitchFamily="34" charset="-120"/>
              </a:rPr>
              <a:t>Estructura tributaria más detallada</a:t>
            </a:r>
            <a:endParaRPr lang="en-US" sz="1300" dirty="0"/>
          </a:p>
        </p:txBody>
      </p:sp>
      <p:sp>
        <p:nvSpPr>
          <p:cNvPr id="27" name="Shape 25"/>
          <p:cNvSpPr/>
          <p:nvPr/>
        </p:nvSpPr>
        <p:spPr>
          <a:xfrm>
            <a:off x="10378440" y="3246120"/>
            <a:ext cx="1188720" cy="320040"/>
          </a:xfrm>
          <a:prstGeom prst="rect">
            <a:avLst/>
          </a:prstGeom>
          <a:solidFill>
            <a:srgbClr val="4A6FA5"/>
          </a:solidFill>
          <a:ln w="12700">
            <a:solidFill>
              <a:srgbClr val="4A6FA5"/>
            </a:solidFill>
            <a:prstDash val="solid"/>
          </a:ln>
        </p:spPr>
        <p:txBody>
          <a:bodyPr/>
          <a:lstStyle/>
          <a:p>
            <a:endParaRPr lang="es-CL"/>
          </a:p>
        </p:txBody>
      </p:sp>
      <p:sp>
        <p:nvSpPr>
          <p:cNvPr id="28" name="Text 26"/>
          <p:cNvSpPr/>
          <p:nvPr/>
        </p:nvSpPr>
        <p:spPr>
          <a:xfrm>
            <a:off x="10378440" y="3246120"/>
            <a:ext cx="1188720" cy="32004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Medio plazo</a:t>
            </a:r>
            <a:endParaRPr lang="en-US" sz="900" dirty="0"/>
          </a:p>
        </p:txBody>
      </p:sp>
      <p:sp>
        <p:nvSpPr>
          <p:cNvPr id="29" name="Text 27"/>
          <p:cNvSpPr/>
          <p:nvPr/>
        </p:nvSpPr>
        <p:spPr>
          <a:xfrm>
            <a:off x="6492240" y="3611880"/>
            <a:ext cx="5074920" cy="822960"/>
          </a:xfrm>
          <a:prstGeom prst="rect">
            <a:avLst/>
          </a:prstGeom>
          <a:noFill/>
          <a:ln/>
        </p:spPr>
        <p:txBody>
          <a:bodyPr wrap="square" lIns="0" tIns="0" rIns="0" bIns="0" rtlCol="0" anchor="t"/>
          <a:lstStyle/>
          <a:p>
            <a:pPr marL="0" indent="0" algn="l">
              <a:buNone/>
            </a:pPr>
            <a:r>
              <a:rPr lang="en-US" sz="1100" dirty="0">
                <a:solidFill>
                  <a:srgbClr val="2D3748"/>
                </a:solidFill>
                <a:latin typeface="Calibri" pitchFamily="34" charset="0"/>
                <a:ea typeface="Calibri" pitchFamily="34" charset="-122"/>
                <a:cs typeface="Calibri" pitchFamily="34" charset="-120"/>
              </a:rPr>
              <a:t>Diferenciar tasas efectivas y reglas dentro de cada instrumento (IVA con exenciones, PIT progresivo, etc.).</a:t>
            </a:r>
            <a:endParaRPr lang="en-US" sz="1100" dirty="0"/>
          </a:p>
        </p:txBody>
      </p:sp>
      <p:sp>
        <p:nvSpPr>
          <p:cNvPr id="30" name="Shape 28"/>
          <p:cNvSpPr/>
          <p:nvPr/>
        </p:nvSpPr>
        <p:spPr>
          <a:xfrm>
            <a:off x="640080" y="4663440"/>
            <a:ext cx="5486400" cy="1417320"/>
          </a:xfrm>
          <a:prstGeom prst="rect">
            <a:avLst/>
          </a:prstGeom>
          <a:solidFill>
            <a:srgbClr val="F5F7FA"/>
          </a:solidFill>
          <a:ln w="9525">
            <a:solidFill>
              <a:srgbClr val="E2E8F0"/>
            </a:solidFill>
            <a:prstDash val="solid"/>
          </a:ln>
        </p:spPr>
        <p:txBody>
          <a:bodyPr/>
          <a:lstStyle/>
          <a:p>
            <a:endParaRPr lang="es-CL"/>
          </a:p>
        </p:txBody>
      </p:sp>
      <p:sp>
        <p:nvSpPr>
          <p:cNvPr id="31" name="Shape 29"/>
          <p:cNvSpPr/>
          <p:nvPr/>
        </p:nvSpPr>
        <p:spPr>
          <a:xfrm>
            <a:off x="640080" y="4663440"/>
            <a:ext cx="73152" cy="1417320"/>
          </a:xfrm>
          <a:prstGeom prst="rect">
            <a:avLst/>
          </a:prstGeom>
          <a:solidFill>
            <a:srgbClr val="1E2761"/>
          </a:solidFill>
          <a:ln w="12700">
            <a:solidFill>
              <a:srgbClr val="1E2761"/>
            </a:solidFill>
            <a:prstDash val="solid"/>
          </a:ln>
        </p:spPr>
        <p:txBody>
          <a:bodyPr/>
          <a:lstStyle/>
          <a:p>
            <a:endParaRPr lang="es-CL"/>
          </a:p>
        </p:txBody>
      </p:sp>
      <p:sp>
        <p:nvSpPr>
          <p:cNvPr id="32" name="Text 30"/>
          <p:cNvSpPr/>
          <p:nvPr/>
        </p:nvSpPr>
        <p:spPr>
          <a:xfrm>
            <a:off x="868680" y="4754880"/>
            <a:ext cx="3931920" cy="411480"/>
          </a:xfrm>
          <a:prstGeom prst="rect">
            <a:avLst/>
          </a:prstGeom>
          <a:noFill/>
          <a:ln/>
        </p:spPr>
        <p:txBody>
          <a:bodyPr wrap="square" lIns="0" tIns="0" rIns="0" bIns="0" rtlCol="0" anchor="ctr"/>
          <a:lstStyle/>
          <a:p>
            <a:pPr marL="0" indent="0" algn="l">
              <a:buNone/>
            </a:pPr>
            <a:r>
              <a:rPr lang="en-US" sz="1300" b="1" dirty="0">
                <a:solidFill>
                  <a:srgbClr val="1E2761"/>
                </a:solidFill>
                <a:latin typeface="Cambria" pitchFamily="34" charset="0"/>
                <a:ea typeface="Cambria" pitchFamily="34" charset="-122"/>
                <a:cs typeface="Cambria" pitchFamily="34" charset="-120"/>
              </a:rPr>
              <a:t>Mercado laboral con informalidad</a:t>
            </a:r>
            <a:endParaRPr lang="en-US" sz="1300" dirty="0"/>
          </a:p>
        </p:txBody>
      </p:sp>
      <p:sp>
        <p:nvSpPr>
          <p:cNvPr id="33" name="Shape 31"/>
          <p:cNvSpPr/>
          <p:nvPr/>
        </p:nvSpPr>
        <p:spPr>
          <a:xfrm>
            <a:off x="4754880" y="4800600"/>
            <a:ext cx="1188720" cy="320040"/>
          </a:xfrm>
          <a:prstGeom prst="rect">
            <a:avLst/>
          </a:prstGeom>
          <a:solidFill>
            <a:srgbClr val="1E2761"/>
          </a:solidFill>
          <a:ln w="12700">
            <a:solidFill>
              <a:srgbClr val="1E2761"/>
            </a:solidFill>
            <a:prstDash val="solid"/>
          </a:ln>
        </p:spPr>
        <p:txBody>
          <a:bodyPr/>
          <a:lstStyle/>
          <a:p>
            <a:endParaRPr lang="es-CL"/>
          </a:p>
        </p:txBody>
      </p:sp>
      <p:sp>
        <p:nvSpPr>
          <p:cNvPr id="34" name="Text 32"/>
          <p:cNvSpPr/>
          <p:nvPr/>
        </p:nvSpPr>
        <p:spPr>
          <a:xfrm>
            <a:off x="4754880" y="4800600"/>
            <a:ext cx="1188720" cy="32004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Largo plazo</a:t>
            </a:r>
            <a:endParaRPr lang="en-US" sz="900" dirty="0"/>
          </a:p>
        </p:txBody>
      </p:sp>
      <p:sp>
        <p:nvSpPr>
          <p:cNvPr id="35" name="Text 33"/>
          <p:cNvSpPr/>
          <p:nvPr/>
        </p:nvSpPr>
        <p:spPr>
          <a:xfrm>
            <a:off x="868680" y="5166360"/>
            <a:ext cx="5074920" cy="822960"/>
          </a:xfrm>
          <a:prstGeom prst="rect">
            <a:avLst/>
          </a:prstGeom>
          <a:noFill/>
          <a:ln/>
        </p:spPr>
        <p:txBody>
          <a:bodyPr wrap="square" lIns="0" tIns="0" rIns="0" bIns="0" rtlCol="0" anchor="t"/>
          <a:lstStyle/>
          <a:p>
            <a:pPr marL="0" indent="0" algn="l">
              <a:buNone/>
            </a:pPr>
            <a:r>
              <a:rPr lang="en-US" sz="1100" dirty="0">
                <a:solidFill>
                  <a:srgbClr val="2D3748"/>
                </a:solidFill>
                <a:latin typeface="Calibri" pitchFamily="34" charset="0"/>
                <a:ea typeface="Calibri" pitchFamily="34" charset="-122"/>
                <a:cs typeface="Calibri" pitchFamily="34" charset="-120"/>
              </a:rPr>
              <a:t>Incorporar segmentación formal-informal y rigideces adicionales (salario mínimo, costos de despido).</a:t>
            </a:r>
            <a:endParaRPr lang="en-US" sz="1100" dirty="0"/>
          </a:p>
        </p:txBody>
      </p:sp>
      <p:sp>
        <p:nvSpPr>
          <p:cNvPr id="36" name="Shape 34"/>
          <p:cNvSpPr/>
          <p:nvPr/>
        </p:nvSpPr>
        <p:spPr>
          <a:xfrm>
            <a:off x="6263640" y="4663440"/>
            <a:ext cx="5486400" cy="1417320"/>
          </a:xfrm>
          <a:prstGeom prst="rect">
            <a:avLst/>
          </a:prstGeom>
          <a:solidFill>
            <a:srgbClr val="F5F7FA"/>
          </a:solidFill>
          <a:ln w="9525">
            <a:solidFill>
              <a:srgbClr val="E2E8F0"/>
            </a:solidFill>
            <a:prstDash val="solid"/>
          </a:ln>
        </p:spPr>
        <p:txBody>
          <a:bodyPr/>
          <a:lstStyle/>
          <a:p>
            <a:endParaRPr lang="es-CL"/>
          </a:p>
        </p:txBody>
      </p:sp>
      <p:sp>
        <p:nvSpPr>
          <p:cNvPr id="37" name="Shape 35"/>
          <p:cNvSpPr/>
          <p:nvPr/>
        </p:nvSpPr>
        <p:spPr>
          <a:xfrm>
            <a:off x="6263640" y="4663440"/>
            <a:ext cx="73152" cy="1417320"/>
          </a:xfrm>
          <a:prstGeom prst="rect">
            <a:avLst/>
          </a:prstGeom>
          <a:solidFill>
            <a:srgbClr val="1E2761"/>
          </a:solidFill>
          <a:ln w="12700">
            <a:solidFill>
              <a:srgbClr val="1E2761"/>
            </a:solidFill>
            <a:prstDash val="solid"/>
          </a:ln>
        </p:spPr>
        <p:txBody>
          <a:bodyPr/>
          <a:lstStyle/>
          <a:p>
            <a:endParaRPr lang="es-CL"/>
          </a:p>
        </p:txBody>
      </p:sp>
      <p:sp>
        <p:nvSpPr>
          <p:cNvPr id="38" name="Text 36"/>
          <p:cNvSpPr/>
          <p:nvPr/>
        </p:nvSpPr>
        <p:spPr>
          <a:xfrm>
            <a:off x="6492240" y="4754880"/>
            <a:ext cx="3931920" cy="411480"/>
          </a:xfrm>
          <a:prstGeom prst="rect">
            <a:avLst/>
          </a:prstGeom>
          <a:noFill/>
          <a:ln/>
        </p:spPr>
        <p:txBody>
          <a:bodyPr wrap="square" lIns="0" tIns="0" rIns="0" bIns="0" rtlCol="0" anchor="ctr"/>
          <a:lstStyle/>
          <a:p>
            <a:pPr marL="0" indent="0" algn="l">
              <a:buNone/>
            </a:pPr>
            <a:r>
              <a:rPr lang="en-US" sz="1300" b="1" dirty="0">
                <a:solidFill>
                  <a:srgbClr val="1E2761"/>
                </a:solidFill>
                <a:latin typeface="Cambria" pitchFamily="34" charset="0"/>
                <a:ea typeface="Cambria" pitchFamily="34" charset="-122"/>
                <a:cs typeface="Cambria" pitchFamily="34" charset="-120"/>
              </a:rPr>
              <a:t>Versión dinámica</a:t>
            </a:r>
            <a:endParaRPr lang="en-US" sz="1300" dirty="0"/>
          </a:p>
        </p:txBody>
      </p:sp>
      <p:sp>
        <p:nvSpPr>
          <p:cNvPr id="39" name="Shape 37"/>
          <p:cNvSpPr/>
          <p:nvPr/>
        </p:nvSpPr>
        <p:spPr>
          <a:xfrm>
            <a:off x="10378440" y="4800600"/>
            <a:ext cx="1188720" cy="320040"/>
          </a:xfrm>
          <a:prstGeom prst="rect">
            <a:avLst/>
          </a:prstGeom>
          <a:solidFill>
            <a:srgbClr val="1E2761"/>
          </a:solidFill>
          <a:ln w="12700">
            <a:solidFill>
              <a:srgbClr val="1E2761"/>
            </a:solidFill>
            <a:prstDash val="solid"/>
          </a:ln>
        </p:spPr>
        <p:txBody>
          <a:bodyPr/>
          <a:lstStyle/>
          <a:p>
            <a:endParaRPr lang="es-CL"/>
          </a:p>
        </p:txBody>
      </p:sp>
      <p:sp>
        <p:nvSpPr>
          <p:cNvPr id="40" name="Text 38"/>
          <p:cNvSpPr/>
          <p:nvPr/>
        </p:nvSpPr>
        <p:spPr>
          <a:xfrm>
            <a:off x="10378440" y="4800600"/>
            <a:ext cx="1188720" cy="32004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Largo plazo</a:t>
            </a:r>
            <a:endParaRPr lang="en-US" sz="900" dirty="0"/>
          </a:p>
        </p:txBody>
      </p:sp>
      <p:sp>
        <p:nvSpPr>
          <p:cNvPr id="41" name="Text 39"/>
          <p:cNvSpPr/>
          <p:nvPr/>
        </p:nvSpPr>
        <p:spPr>
          <a:xfrm>
            <a:off x="6492240" y="5166360"/>
            <a:ext cx="5074920" cy="822960"/>
          </a:xfrm>
          <a:prstGeom prst="rect">
            <a:avLst/>
          </a:prstGeom>
          <a:noFill/>
          <a:ln/>
        </p:spPr>
        <p:txBody>
          <a:bodyPr wrap="square" lIns="0" tIns="0" rIns="0" bIns="0" rtlCol="0" anchor="t"/>
          <a:lstStyle/>
          <a:p>
            <a:pPr marL="0" indent="0" algn="l">
              <a:buNone/>
            </a:pPr>
            <a:r>
              <a:rPr lang="en-US" sz="1100" dirty="0">
                <a:solidFill>
                  <a:srgbClr val="2D3748"/>
                </a:solidFill>
                <a:latin typeface="Calibri" pitchFamily="34" charset="0"/>
                <a:ea typeface="Calibri" pitchFamily="34" charset="-122"/>
                <a:cs typeface="Calibri" pitchFamily="34" charset="-120"/>
              </a:rPr>
              <a:t>Pasar de comparativa estática a un MEGC dinámico con acumulación de capital.</a:t>
            </a:r>
            <a:endParaRPr lang="en-US" sz="1100" dirty="0"/>
          </a:p>
        </p:txBody>
      </p:sp>
      <p:sp>
        <p:nvSpPr>
          <p:cNvPr id="42" name="Text 40"/>
          <p:cNvSpPr/>
          <p:nvPr/>
        </p:nvSpPr>
        <p:spPr>
          <a:xfrm>
            <a:off x="457200" y="6492240"/>
            <a:ext cx="11247120" cy="274320"/>
          </a:xfrm>
          <a:prstGeom prst="rect">
            <a:avLst/>
          </a:prstGeom>
          <a:noFill/>
          <a:ln/>
        </p:spPr>
        <p:txBody>
          <a:bodyPr wrap="square" rtlCol="0" anchor="ctr"/>
          <a:lstStyle/>
          <a:p>
            <a:pPr marL="0" indent="0" algn="l">
              <a:buNone/>
            </a:pPr>
            <a:r>
              <a:rPr lang="en-US" sz="900" dirty="0">
                <a:solidFill>
                  <a:srgbClr val="64748B"/>
                </a:solidFill>
                <a:latin typeface="Calibri" pitchFamily="34" charset="0"/>
                <a:ea typeface="Calibri" pitchFamily="34" charset="-122"/>
                <a:cs typeface="Calibri" pitchFamily="34" charset="-120"/>
              </a:rPr>
              <a:t>MEGC 12 sectores · Chile 2023 · SII</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D4A82A"/>
          </a:solidFill>
          <a:ln w="12700">
            <a:solidFill>
              <a:srgbClr val="D4A82A"/>
            </a:solidFill>
            <a:prstDash val="solid"/>
          </a:ln>
        </p:spPr>
        <p:txBody>
          <a:bodyPr/>
          <a:lstStyle/>
          <a:p>
            <a:endParaRPr lang="es-CL"/>
          </a:p>
        </p:txBody>
      </p:sp>
      <p:sp>
        <p:nvSpPr>
          <p:cNvPr id="3" name="Text 1"/>
          <p:cNvSpPr/>
          <p:nvPr/>
        </p:nvSpPr>
        <p:spPr>
          <a:xfrm>
            <a:off x="731520" y="548640"/>
            <a:ext cx="10972800" cy="731520"/>
          </a:xfrm>
          <a:prstGeom prst="rect">
            <a:avLst/>
          </a:prstGeom>
          <a:noFill/>
          <a:ln/>
        </p:spPr>
        <p:txBody>
          <a:bodyPr wrap="square" lIns="0" tIns="0" rIns="0" bIns="0" rtlCol="0" anchor="ctr"/>
          <a:lstStyle/>
          <a:p>
            <a:pPr marL="0" indent="0" algn="l">
              <a:buNone/>
            </a:pPr>
            <a:r>
              <a:rPr lang="en-US" sz="3600" b="1" dirty="0">
                <a:solidFill>
                  <a:srgbClr val="FFFFFF"/>
                </a:solidFill>
                <a:latin typeface="Cambria" pitchFamily="34" charset="0"/>
                <a:ea typeface="Cambria" pitchFamily="34" charset="-122"/>
                <a:cs typeface="Cambria" pitchFamily="34" charset="-120"/>
              </a:rPr>
              <a:t>Referencias</a:t>
            </a:r>
            <a:endParaRPr lang="en-US" sz="3600" dirty="0"/>
          </a:p>
        </p:txBody>
      </p:sp>
      <p:sp>
        <p:nvSpPr>
          <p:cNvPr id="4" name="Shape 2"/>
          <p:cNvSpPr/>
          <p:nvPr/>
        </p:nvSpPr>
        <p:spPr>
          <a:xfrm>
            <a:off x="731520" y="1325880"/>
            <a:ext cx="2286000" cy="0"/>
          </a:xfrm>
          <a:prstGeom prst="line">
            <a:avLst/>
          </a:prstGeom>
          <a:noFill/>
          <a:ln w="25400">
            <a:solidFill>
              <a:srgbClr val="D4A82A"/>
            </a:solidFill>
            <a:prstDash val="solid"/>
          </a:ln>
        </p:spPr>
        <p:txBody>
          <a:bodyPr/>
          <a:lstStyle/>
          <a:p>
            <a:endParaRPr lang="es-CL"/>
          </a:p>
        </p:txBody>
      </p:sp>
      <p:sp>
        <p:nvSpPr>
          <p:cNvPr id="5" name="Text 3"/>
          <p:cNvSpPr/>
          <p:nvPr/>
        </p:nvSpPr>
        <p:spPr>
          <a:xfrm>
            <a:off x="731520" y="1645920"/>
            <a:ext cx="5486400" cy="365760"/>
          </a:xfrm>
          <a:prstGeom prst="rect">
            <a:avLst/>
          </a:prstGeom>
          <a:noFill/>
          <a:ln/>
        </p:spPr>
        <p:txBody>
          <a:bodyPr wrap="square" lIns="0" tIns="0" rIns="0" bIns="0" rtlCol="0" anchor="ctr"/>
          <a:lstStyle/>
          <a:p>
            <a:pPr marL="0" indent="0" algn="l">
              <a:buNone/>
            </a:pPr>
            <a:r>
              <a:rPr lang="en-US" sz="1400" b="1" dirty="0">
                <a:solidFill>
                  <a:srgbClr val="D4A82A"/>
                </a:solidFill>
                <a:latin typeface="Cambria" pitchFamily="34" charset="0"/>
                <a:ea typeface="Cambria" pitchFamily="34" charset="-122"/>
                <a:cs typeface="Cambria" pitchFamily="34" charset="-120"/>
              </a:rPr>
              <a:t>Citadas en el paper</a:t>
            </a:r>
            <a:endParaRPr lang="en-US" sz="1400" dirty="0"/>
          </a:p>
        </p:txBody>
      </p:sp>
      <p:sp>
        <p:nvSpPr>
          <p:cNvPr id="6" name="Text 4"/>
          <p:cNvSpPr/>
          <p:nvPr/>
        </p:nvSpPr>
        <p:spPr>
          <a:xfrm>
            <a:off x="731520" y="2011680"/>
            <a:ext cx="5486400" cy="4389120"/>
          </a:xfrm>
          <a:prstGeom prst="rect">
            <a:avLst/>
          </a:prstGeom>
          <a:noFill/>
          <a:ln/>
        </p:spPr>
        <p:txBody>
          <a:bodyPr wrap="square" lIns="0" tIns="0" rIns="0" bIns="0" rtlCol="0" anchor="t"/>
          <a:lstStyle/>
          <a:p>
            <a:pPr marL="342900" indent="-342900" algn="l">
              <a:spcAft>
                <a:spcPts val="600"/>
              </a:spcAft>
              <a:buSzPct val="100000"/>
              <a:buChar char="•"/>
            </a:pPr>
            <a:r>
              <a:rPr lang="en-US" sz="1000" dirty="0">
                <a:solidFill>
                  <a:srgbClr val="FFFFFF"/>
                </a:solidFill>
                <a:latin typeface="Calibri" pitchFamily="34" charset="0"/>
                <a:ea typeface="Calibri" pitchFamily="34" charset="-122"/>
                <a:cs typeface="Calibri" pitchFamily="34" charset="-120"/>
              </a:rPr>
              <a:t>Arrow, K. J., &amp; Debreu, G. (1954). Existence of an equilibrium for a competitive economy. Econometrica, 22(3), 265–290.</a:t>
            </a:r>
            <a:endParaRPr lang="en-US" sz="1000" dirty="0"/>
          </a:p>
          <a:p>
            <a:pPr marL="342900" indent="-342900" algn="l">
              <a:spcAft>
                <a:spcPts val="600"/>
              </a:spcAft>
              <a:buSzPct val="100000"/>
              <a:buChar char="•"/>
            </a:pPr>
            <a:r>
              <a:rPr lang="en-US" sz="1000" dirty="0">
                <a:solidFill>
                  <a:srgbClr val="FFFFFF"/>
                </a:solidFill>
                <a:latin typeface="Calibri" pitchFamily="34" charset="0"/>
                <a:ea typeface="Calibri" pitchFamily="34" charset="-122"/>
                <a:cs typeface="Calibri" pitchFamily="34" charset="-120"/>
              </a:rPr>
              <a:t>Ballard, C. L., Fullerton, D., Shoven, J. B., &amp; Whalley, J. (1985). A General Equilibrium Model for Tax Policy Evaluation. University of Chicago Press.</a:t>
            </a:r>
            <a:endParaRPr lang="en-US" sz="1000" dirty="0"/>
          </a:p>
          <a:p>
            <a:pPr marL="342900" indent="-342900" algn="l">
              <a:spcAft>
                <a:spcPts val="600"/>
              </a:spcAft>
              <a:buSzPct val="100000"/>
              <a:buChar char="•"/>
            </a:pPr>
            <a:r>
              <a:rPr lang="en-US" sz="1000" dirty="0">
                <a:solidFill>
                  <a:srgbClr val="FFFFFF"/>
                </a:solidFill>
                <a:latin typeface="Calibri" pitchFamily="34" charset="0"/>
                <a:ea typeface="Calibri" pitchFamily="34" charset="-122"/>
                <a:cs typeface="Calibri" pitchFamily="34" charset="-120"/>
              </a:rPr>
              <a:t>Dervis, K., de Melo, J., &amp; Robinson, S. (1982). General Equilibrium Models for Development Policy. Cambridge University Press.</a:t>
            </a:r>
            <a:endParaRPr lang="en-US" sz="1000" dirty="0"/>
          </a:p>
          <a:p>
            <a:pPr marL="342900" indent="-342900" algn="l">
              <a:spcAft>
                <a:spcPts val="600"/>
              </a:spcAft>
              <a:buSzPct val="100000"/>
              <a:buChar char="•"/>
            </a:pPr>
            <a:r>
              <a:rPr lang="en-US" sz="1000" dirty="0">
                <a:solidFill>
                  <a:srgbClr val="FFFFFF"/>
                </a:solidFill>
                <a:latin typeface="Calibri" pitchFamily="34" charset="0"/>
                <a:ea typeface="Calibri" pitchFamily="34" charset="-122"/>
                <a:cs typeface="Calibri" pitchFamily="34" charset="-120"/>
              </a:rPr>
              <a:t>Dixon, P. B., &amp; Jorgenson, D. W. (Eds.). (2013). Handbook of Computable General Equilibrium Modeling. Elsevier.</a:t>
            </a:r>
            <a:endParaRPr lang="en-US" sz="1000" dirty="0"/>
          </a:p>
          <a:p>
            <a:pPr marL="342900" indent="-342900" algn="l">
              <a:spcAft>
                <a:spcPts val="600"/>
              </a:spcAft>
              <a:buSzPct val="100000"/>
              <a:buChar char="•"/>
            </a:pPr>
            <a:r>
              <a:rPr lang="en-US" sz="1000" dirty="0">
                <a:solidFill>
                  <a:srgbClr val="FFFFFF"/>
                </a:solidFill>
                <a:latin typeface="Calibri" pitchFamily="34" charset="0"/>
                <a:ea typeface="Calibri" pitchFamily="34" charset="-122"/>
                <a:cs typeface="Calibri" pitchFamily="34" charset="-120"/>
              </a:rPr>
              <a:t>Pyatt, G., &amp; Round, J. I. (Eds.). (1985). Social Accounting Matrices: A Basis for Planning. World Bank.</a:t>
            </a:r>
            <a:endParaRPr lang="en-US" sz="1000" dirty="0"/>
          </a:p>
          <a:p>
            <a:pPr marL="342900" indent="-342900" algn="l">
              <a:spcAft>
                <a:spcPts val="600"/>
              </a:spcAft>
              <a:buSzPct val="100000"/>
              <a:buChar char="•"/>
            </a:pPr>
            <a:r>
              <a:rPr lang="en-US" sz="1000" dirty="0">
                <a:solidFill>
                  <a:srgbClr val="FFFFFF"/>
                </a:solidFill>
                <a:latin typeface="Calibri" pitchFamily="34" charset="0"/>
                <a:ea typeface="Calibri" pitchFamily="34" charset="-122"/>
                <a:cs typeface="Calibri" pitchFamily="34" charset="-120"/>
              </a:rPr>
              <a:t>Shoven, J. B., &amp; Whalley, J. (1992). Applying General Equilibrium. Cambridge University Press.</a:t>
            </a:r>
            <a:endParaRPr lang="en-US" sz="1000" dirty="0"/>
          </a:p>
          <a:p>
            <a:pPr marL="342900" indent="-342900" algn="l">
              <a:spcAft>
                <a:spcPts val="600"/>
              </a:spcAft>
              <a:buSzPct val="100000"/>
              <a:buChar char="•"/>
            </a:pPr>
            <a:r>
              <a:rPr lang="en-US" sz="1000" dirty="0">
                <a:solidFill>
                  <a:srgbClr val="FFFFFF"/>
                </a:solidFill>
                <a:latin typeface="Calibri" pitchFamily="34" charset="0"/>
                <a:ea typeface="Calibri" pitchFamily="34" charset="-122"/>
                <a:cs typeface="Calibri" pitchFamily="34" charset="-120"/>
              </a:rPr>
              <a:t>Venegas, J. (2013). SAM 2008 para Chile. Banco Central de Chile, Estudios Económicos Estadísticos 95.</a:t>
            </a:r>
            <a:endParaRPr lang="en-US" sz="1000" dirty="0"/>
          </a:p>
        </p:txBody>
      </p:sp>
      <p:sp>
        <p:nvSpPr>
          <p:cNvPr id="7" name="Text 5"/>
          <p:cNvSpPr/>
          <p:nvPr/>
        </p:nvSpPr>
        <p:spPr>
          <a:xfrm>
            <a:off x="6400800" y="1645920"/>
            <a:ext cx="5486400" cy="365760"/>
          </a:xfrm>
          <a:prstGeom prst="rect">
            <a:avLst/>
          </a:prstGeom>
          <a:noFill/>
          <a:ln/>
        </p:spPr>
        <p:txBody>
          <a:bodyPr wrap="square" lIns="0" tIns="0" rIns="0" bIns="0" rtlCol="0" anchor="ctr"/>
          <a:lstStyle/>
          <a:p>
            <a:pPr marL="0" indent="0" algn="l">
              <a:buNone/>
            </a:pPr>
            <a:r>
              <a:rPr lang="en-US" sz="1400" b="1" dirty="0">
                <a:solidFill>
                  <a:srgbClr val="D4A82A"/>
                </a:solidFill>
                <a:latin typeface="Cambria" pitchFamily="34" charset="0"/>
                <a:ea typeface="Cambria" pitchFamily="34" charset="-122"/>
                <a:cs typeface="Cambria" pitchFamily="34" charset="-120"/>
              </a:rPr>
              <a:t>Complementarias</a:t>
            </a:r>
            <a:endParaRPr lang="en-US" sz="1400" dirty="0"/>
          </a:p>
        </p:txBody>
      </p:sp>
      <p:sp>
        <p:nvSpPr>
          <p:cNvPr id="8" name="Text 6"/>
          <p:cNvSpPr/>
          <p:nvPr/>
        </p:nvSpPr>
        <p:spPr>
          <a:xfrm>
            <a:off x="6400800" y="2011680"/>
            <a:ext cx="5486400" cy="4389120"/>
          </a:xfrm>
          <a:prstGeom prst="rect">
            <a:avLst/>
          </a:prstGeom>
          <a:noFill/>
          <a:ln/>
        </p:spPr>
        <p:txBody>
          <a:bodyPr wrap="square" lIns="0" tIns="0" rIns="0" bIns="0" rtlCol="0" anchor="t"/>
          <a:lstStyle/>
          <a:p>
            <a:pPr marL="342900" indent="-342900" algn="l">
              <a:spcAft>
                <a:spcPts val="600"/>
              </a:spcAft>
              <a:buSzPct val="100000"/>
              <a:buChar char="•"/>
            </a:pPr>
            <a:r>
              <a:rPr lang="en-US" sz="1000" dirty="0">
                <a:solidFill>
                  <a:srgbClr val="FFFFFF"/>
                </a:solidFill>
                <a:latin typeface="Calibri" pitchFamily="34" charset="0"/>
                <a:ea typeface="Calibri" pitchFamily="34" charset="-122"/>
                <a:cs typeface="Calibri" pitchFamily="34" charset="-120"/>
              </a:rPr>
              <a:t>Blanchflower, D. G., &amp; Oswald, A. J. (2005). The wage curve reloaded. NBER WP 11338.</a:t>
            </a:r>
            <a:endParaRPr lang="en-US" sz="1000" dirty="0"/>
          </a:p>
          <a:p>
            <a:pPr marL="342900" indent="-342900" algn="l">
              <a:spcAft>
                <a:spcPts val="600"/>
              </a:spcAft>
              <a:buSzPct val="100000"/>
              <a:buChar char="•"/>
            </a:pPr>
            <a:r>
              <a:rPr lang="en-US" sz="1000" dirty="0">
                <a:solidFill>
                  <a:srgbClr val="FFFFFF"/>
                </a:solidFill>
                <a:latin typeface="Calibri" pitchFamily="34" charset="0"/>
                <a:ea typeface="Calibri" pitchFamily="34" charset="-122"/>
                <a:cs typeface="Calibri" pitchFamily="34" charset="-120"/>
              </a:rPr>
              <a:t>Lofgren, H., Harris, R. L., &amp; Robinson, S. (2002). A Standard CGE Model in GAMS. IFPRI.</a:t>
            </a:r>
            <a:endParaRPr lang="en-US" sz="1000" dirty="0"/>
          </a:p>
          <a:p>
            <a:pPr marL="342900" indent="-342900" algn="l">
              <a:spcAft>
                <a:spcPts val="600"/>
              </a:spcAft>
              <a:buSzPct val="100000"/>
              <a:buChar char="•"/>
            </a:pPr>
            <a:r>
              <a:rPr lang="en-US" sz="1000" dirty="0">
                <a:solidFill>
                  <a:srgbClr val="FFFFFF"/>
                </a:solidFill>
                <a:latin typeface="Calibri" pitchFamily="34" charset="0"/>
                <a:ea typeface="Calibri" pitchFamily="34" charset="-122"/>
                <a:cs typeface="Calibri" pitchFamily="34" charset="-120"/>
              </a:rPr>
              <a:t>Hertel, T., Hummels, D., Ivanic, M., &amp; Keeney, R. (2007). How confident can we be of CGE-based assessments of free trade agreements? Economic Modelling, 24(4), 611–635.</a:t>
            </a:r>
            <a:endParaRPr lang="en-US" sz="1000" dirty="0"/>
          </a:p>
          <a:p>
            <a:pPr marL="342900" indent="-342900" algn="l">
              <a:spcAft>
                <a:spcPts val="600"/>
              </a:spcAft>
              <a:buSzPct val="100000"/>
              <a:buChar char="•"/>
            </a:pPr>
            <a:r>
              <a:rPr lang="en-US" sz="1000" dirty="0">
                <a:solidFill>
                  <a:srgbClr val="FFFFFF"/>
                </a:solidFill>
                <a:latin typeface="Calibri" pitchFamily="34" charset="0"/>
                <a:ea typeface="Calibri" pitchFamily="34" charset="-122"/>
                <a:cs typeface="Calibri" pitchFamily="34" charset="-120"/>
              </a:rPr>
              <a:t>Harrison, G. W., &amp; Vinod, H. D. (1992). The sensitivity analysis of applied general equilibrium models. Review of Economics and Statistics, 74(2), 357–362.</a:t>
            </a:r>
            <a:endParaRPr lang="en-US" sz="1000" dirty="0"/>
          </a:p>
          <a:p>
            <a:pPr marL="342900" indent="-342900" algn="l">
              <a:spcAft>
                <a:spcPts val="600"/>
              </a:spcAft>
              <a:buSzPct val="100000"/>
              <a:buChar char="•"/>
            </a:pPr>
            <a:r>
              <a:rPr lang="en-US" sz="1000" dirty="0">
                <a:solidFill>
                  <a:srgbClr val="FFFFFF"/>
                </a:solidFill>
                <a:latin typeface="Calibri" pitchFamily="34" charset="0"/>
                <a:ea typeface="Calibri" pitchFamily="34" charset="-122"/>
                <a:cs typeface="Calibri" pitchFamily="34" charset="-120"/>
              </a:rPr>
              <a:t>Marino, S., Hogue, I. B., Ray, C. J., &amp; Kirschner, D. E. (2008). A methodology for performing global uncertainty and sensitivity analysis in systems biology. Journal of Theoretical Biology, 254(1), 178–196.</a:t>
            </a:r>
            <a:endParaRPr lang="en-US" sz="1000" dirty="0"/>
          </a:p>
          <a:p>
            <a:pPr marL="342900" indent="-342900" algn="l">
              <a:spcAft>
                <a:spcPts val="600"/>
              </a:spcAft>
              <a:buSzPct val="100000"/>
              <a:buChar char="•"/>
            </a:pPr>
            <a:r>
              <a:rPr lang="en-US" sz="1000" dirty="0">
                <a:solidFill>
                  <a:srgbClr val="FFFFFF"/>
                </a:solidFill>
                <a:latin typeface="Calibri" pitchFamily="34" charset="0"/>
                <a:ea typeface="Calibri" pitchFamily="34" charset="-122"/>
                <a:cs typeface="Calibri" pitchFamily="34" charset="-120"/>
              </a:rPr>
              <a:t>McKibbin, W. J., &amp; Wilcoxen, P. J. (1999). The theoretical and empirical structure of the G-Cubed model. Economic Modelling, 16(1), 123–148.</a:t>
            </a:r>
            <a:endParaRPr lang="en-US" sz="1000" dirty="0"/>
          </a:p>
        </p:txBody>
      </p:sp>
      <p:sp>
        <p:nvSpPr>
          <p:cNvPr id="9" name="Text 7"/>
          <p:cNvSpPr/>
          <p:nvPr/>
        </p:nvSpPr>
        <p:spPr>
          <a:xfrm>
            <a:off x="731520" y="6400800"/>
            <a:ext cx="10972800" cy="320040"/>
          </a:xfrm>
          <a:prstGeom prst="rect">
            <a:avLst/>
          </a:prstGeom>
          <a:noFill/>
          <a:ln/>
        </p:spPr>
        <p:txBody>
          <a:bodyPr wrap="square" rtlCol="0" anchor="ctr"/>
          <a:lstStyle/>
          <a:p>
            <a:pPr marL="0" indent="0" algn="l">
              <a:buNone/>
            </a:pPr>
            <a:r>
              <a:rPr lang="en-US" sz="1100" i="1" dirty="0">
                <a:solidFill>
                  <a:srgbClr val="CADCFC"/>
                </a:solidFill>
                <a:latin typeface="Calibri" pitchFamily="34" charset="0"/>
                <a:ea typeface="Calibri" pitchFamily="34" charset="-122"/>
                <a:cs typeface="Calibri" pitchFamily="34" charset="-120"/>
              </a:rPr>
              <a:t>Gracias · Departamento de Estudios Económicos y Tributarios · SII ·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988</TotalTime>
  <Words>3944</Words>
  <Application>Microsoft Office PowerPoint</Application>
  <PresentationFormat>Panorámica</PresentationFormat>
  <Paragraphs>509</Paragraphs>
  <Slides>24</Slides>
  <Notes>24</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24</vt:i4>
      </vt:variant>
    </vt:vector>
  </HeadingPairs>
  <TitlesOfParts>
    <vt:vector size="30" baseType="lpstr">
      <vt:lpstr>Arial</vt:lpstr>
      <vt:lpstr>Calibri</vt:lpstr>
      <vt:lpstr>Cambria</vt:lpstr>
      <vt:lpstr>Cambria Math</vt:lpstr>
      <vt:lpstr>Consolas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MEGC de 12 sectores para Chile</dc:title>
  <dc:subject>PptxGenJS Presentation</dc:subject>
  <dc:creator>Departamento de Estudios Económicos y Tributarios, SII</dc:creator>
  <cp:lastModifiedBy>Francisco Javier Henriquez Palacios</cp:lastModifiedBy>
  <cp:revision>37</cp:revision>
  <cp:lastPrinted>2026-06-15T19:27:08Z</cp:lastPrinted>
  <dcterms:created xsi:type="dcterms:W3CDTF">2026-05-27T16:46:57Z</dcterms:created>
  <dcterms:modified xsi:type="dcterms:W3CDTF">2026-06-17T12:31:36Z</dcterms:modified>
</cp:coreProperties>
</file>