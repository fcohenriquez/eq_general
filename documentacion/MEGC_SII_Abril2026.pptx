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notesSlides/notesSlide8.xml" ContentType="application/vnd.openxmlformats-officedocument.presentationml.notes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8" d="100"/>
          <a:sy n="138" d="100"/>
        </p:scale>
        <p:origin x="114" y="2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334155"/>
                </a:solidFill>
                <a:latin typeface="Arial"/>
              </a:defRPr>
            </a:pPr>
            <a:r>
              <a:rPr lang="es-CL" sz="1100" b="0" i="0" u="none" strike="noStrike">
                <a:solidFill>
                  <a:srgbClr val="334155"/>
                </a:solidFill>
                <a:latin typeface="Arial"/>
              </a:rPr>
              <a:t>Variación % respecto al escenario base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Cambio %</c:v>
                </c:pt>
              </c:strCache>
            </c:strRef>
          </c:tx>
          <c:spPr>
            <a:solidFill>
              <a:srgbClr val="1A2B5C"/>
            </a:solidFill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en-US" dirty="0"/>
                      <a:t>-</a:t>
                    </a:r>
                    <a:fld id="{47855660-3660-4A4A-9FCD-E1571036CE46}" type="VALUE">
                      <a:rPr lang="en-US" smtClean="0"/>
                      <a:pPr/>
                      <a:t>[VALOR]</a:t>
                    </a:fld>
                    <a:r>
                      <a:rPr lang="en-US" dirty="0"/>
                      <a:t>.07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8.6965811965811962E-2"/>
                      <c:h val="5.5941358024691357E-2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4-C753-42CE-8073-8E61343E41EF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dirty="0"/>
                      <a:t>-</a:t>
                    </a:r>
                    <a:fld id="{2970D73C-1D85-4EB4-A5EC-B930E042F89F}" type="VALUE">
                      <a:rPr lang="en-US" smtClean="0"/>
                      <a:pPr/>
                      <a:t>[VALOR]</a:t>
                    </a:fld>
                    <a:r>
                      <a:rPr lang="en-US" dirty="0"/>
                      <a:t>.06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8.4294871794871787E-2"/>
                      <c:h val="5.5941358024691357E-2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C753-42CE-8073-8E61343E41EF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dirty="0"/>
                      <a:t>-</a:t>
                    </a:r>
                    <a:fld id="{FE49B370-C203-4B45-8BED-AA26D1D2FB36}" type="VALUE">
                      <a:rPr lang="en-US" smtClean="0"/>
                      <a:pPr/>
                      <a:t>[VALOR]</a:t>
                    </a:fld>
                    <a:r>
                      <a:rPr lang="en-US" dirty="0"/>
                      <a:t>.06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7.895299145299145E-2"/>
                      <c:h val="5.5941358024691357E-2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2-C753-42CE-8073-8E61343E41EF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dirty="0"/>
                      <a:t>-</a:t>
                    </a:r>
                    <a:fld id="{432BB76F-8BB2-4FEC-BCB1-6E9136EE11B8}" type="VALUE">
                      <a:rPr lang="en-US" smtClean="0"/>
                      <a:pPr/>
                      <a:t>[VALOR]</a:t>
                    </a:fld>
                    <a:r>
                      <a:rPr lang="en-US" dirty="0"/>
                      <a:t>.17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7.895299145299145E-2"/>
                      <c:h val="5.5941358024691357E-2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C753-42CE-8073-8E61343E41EF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dirty="0"/>
                      <a:t>-</a:t>
                    </a:r>
                    <a:fld id="{55F2642A-8A68-497A-B1AA-0BE3F9EBD570}" type="VALUE">
                      <a:rPr lang="en-US" smtClean="0"/>
                      <a:pPr/>
                      <a:t>[VALOR]</a:t>
                    </a:fld>
                    <a:r>
                      <a:rPr lang="en-US" dirty="0"/>
                      <a:t>.12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0032051282051284"/>
                      <c:h val="5.5941358024691357E-2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0-C753-42CE-8073-8E61343E41EF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A2B5C"/>
                    </a:solidFill>
                    <a:latin typeface="Arial"/>
                  </a:defRPr>
                </a:pPr>
                <a:endParaRPr lang="es-C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PIB real</c:v>
                </c:pt>
                <c:pt idx="1">
                  <c:v>Consumo</c:v>
                </c:pt>
                <c:pt idx="2">
                  <c:v>Inversión</c:v>
                </c:pt>
                <c:pt idx="3">
                  <c:v>Exportaciones</c:v>
                </c:pt>
                <c:pt idx="4">
                  <c:v>Importaciones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-6.7000000000000004E-2</c:v>
                </c:pt>
                <c:pt idx="1">
                  <c:v>-6.1499999999999999E-2</c:v>
                </c:pt>
                <c:pt idx="2">
                  <c:v>-6.0100000000000001E-2</c:v>
                </c:pt>
                <c:pt idx="3">
                  <c:v>-0.1663</c:v>
                </c:pt>
                <c:pt idx="4">
                  <c:v>-0.1179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C97-427F-8292-296B1CB02A5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chemeClr val="bg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334155"/>
                </a:solidFill>
                <a:latin typeface="Arial"/>
              </a:defRPr>
            </a:pPr>
            <a:r>
              <a:rPr lang="es-CL" sz="1100" b="0" i="0" u="none" strike="noStrike">
                <a:solidFill>
                  <a:srgbClr val="334155"/>
                </a:solidFill>
                <a:latin typeface="Arial"/>
              </a:rPr>
              <a:t>Variación % respecto al escenario base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Cambio %</c:v>
                </c:pt>
              </c:strCache>
            </c:strRef>
          </c:tx>
          <c:spPr>
            <a:solidFill>
              <a:srgbClr val="0D7A8C"/>
            </a:solidFill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en-US" dirty="0"/>
                      <a:t>-</a:t>
                    </a:r>
                    <a:fld id="{5225BD03-DC4A-49A1-A1A6-080885ADC8B3}" type="VALUE">
                      <a:rPr lang="en-US" smtClean="0"/>
                      <a:pPr/>
                      <a:t>[VALOR]</a:t>
                    </a:fld>
                    <a:r>
                      <a:rPr lang="en-US" dirty="0"/>
                      <a:t>.27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9.4978632478632488E-2"/>
                      <c:h val="5.5941358024691357E-2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4-0A4F-4B89-BABF-24893ADB765A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dirty="0"/>
                      <a:t>-</a:t>
                    </a:r>
                    <a:fld id="{19855EEE-6AC3-487B-9A0A-6DEA7D57A46A}" type="VALUE">
                      <a:rPr lang="en-US" smtClean="0"/>
                      <a:pPr/>
                      <a:t>[VALOR]</a:t>
                    </a:fld>
                    <a:r>
                      <a:rPr lang="en-US" dirty="0"/>
                      <a:t>.34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4038461538461539"/>
                      <c:h val="5.5941358024691357E-2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0A4F-4B89-BABF-24893ADB765A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dirty="0"/>
                      <a:t>-</a:t>
                    </a:r>
                    <a:fld id="{590A8ED8-DA74-4184-AF9F-694EFD54E707}" type="VALUE">
                      <a:rPr lang="en-US" smtClean="0"/>
                      <a:pPr/>
                      <a:t>[VALOR]</a:t>
                    </a:fld>
                    <a:r>
                      <a:rPr lang="en-US" dirty="0"/>
                      <a:t>.12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0833333333333334"/>
                      <c:h val="5.5941358024691357E-2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2-0A4F-4B89-BABF-24893ADB765A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dirty="0"/>
                      <a:t>-</a:t>
                    </a:r>
                    <a:fld id="{4E824DB4-0F94-4D7B-AEF7-65E9CD8BCFC6}" type="VALUE">
                      <a:rPr lang="en-US" smtClean="0"/>
                      <a:pPr/>
                      <a:t>[VALOR]</a:t>
                    </a:fld>
                    <a:r>
                      <a:rPr lang="en-US" dirty="0"/>
                      <a:t>.22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9.764957264957265E-2"/>
                      <c:h val="5.5941358024691357E-2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0A4F-4B89-BABF-24893ADB765A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dirty="0"/>
                      <a:t>-</a:t>
                    </a:r>
                    <a:fld id="{AA6FEEE8-F837-459C-9A77-4180716D11FF}" type="VALUE">
                      <a:rPr lang="en-US" smtClean="0"/>
                      <a:pPr/>
                      <a:t>[VALOR]</a:t>
                    </a:fld>
                    <a:r>
                      <a:rPr lang="en-US" dirty="0"/>
                      <a:t>.15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9.764957264957265E-2"/>
                      <c:h val="5.5941358024691357E-2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0-0A4F-4B89-BABF-24893ADB765A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D7A8C"/>
                    </a:solidFill>
                    <a:latin typeface="Arial"/>
                  </a:defRPr>
                </a:pPr>
                <a:endParaRPr lang="es-C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PIB real</c:v>
                </c:pt>
                <c:pt idx="1">
                  <c:v>Consumo</c:v>
                </c:pt>
                <c:pt idx="2">
                  <c:v>Inversión</c:v>
                </c:pt>
                <c:pt idx="3">
                  <c:v>Exportaciones</c:v>
                </c:pt>
                <c:pt idx="4">
                  <c:v>Importaciones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-0.26900000000000002</c:v>
                </c:pt>
                <c:pt idx="1">
                  <c:v>-0.34300000000000003</c:v>
                </c:pt>
                <c:pt idx="2">
                  <c:v>-0.1244</c:v>
                </c:pt>
                <c:pt idx="3">
                  <c:v>-0.22309999999999999</c:v>
                </c:pt>
                <c:pt idx="4">
                  <c:v>-0.15160000000000001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15C-43E2-BAF9-079954BA16F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chemeClr val="bg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334155"/>
                </a:solidFill>
                <a:latin typeface="Arial"/>
              </a:defRPr>
            </a:pPr>
            <a:r>
              <a:rPr lang="es-CL" sz="1100" b="0" i="0" u="none" strike="noStrike">
                <a:solidFill>
                  <a:srgbClr val="334155"/>
                </a:solidFill>
                <a:latin typeface="Arial"/>
              </a:rPr>
              <a:t>Variación % respecto al escenario base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25074008176862506"/>
          <c:y val="0.1259645061728395"/>
          <c:w val="0.70026814556834238"/>
          <c:h val="0.76927706085350445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Cambio %</c:v>
                </c:pt>
              </c:strCache>
            </c:strRef>
          </c:tx>
          <c:spPr>
            <a:solidFill>
              <a:srgbClr val="D97706"/>
            </a:solidFill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fld id="{FFFE48F1-3DFB-4E43-8FEC-5050BBF9C4A5}" type="VALUE">
                      <a:rPr lang="en-US" smtClean="0"/>
                      <a:pPr/>
                      <a:t>[VALOR]</a:t>
                    </a:fld>
                    <a:r>
                      <a:rPr lang="en-US" dirty="0"/>
                      <a:t>.14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7.3611111111111113E-2"/>
                      <c:h val="5.5941358024691357E-2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5-1FCA-474D-99B6-BD1A3AC41AB8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dirty="0"/>
                      <a:t>0.06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8.1623931623931612E-2"/>
                      <c:h val="5.5941358024691357E-2"/>
                    </c:manualLayout>
                  </c15:layout>
                  <c15:showDataLabelsRange val="0"/>
                </c:ext>
                <c:ext xmlns:c16="http://schemas.microsoft.com/office/drawing/2014/chart" uri="{C3380CC4-5D6E-409C-BE32-E72D297353CC}">
                  <c16:uniqueId val="{00000004-1FCA-474D-99B6-BD1A3AC41AB8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BDF13E69-B2B4-47F8-A5F1-DD6C3C569895}" type="VALUE">
                      <a:rPr lang="en-US" smtClean="0"/>
                      <a:pPr/>
                      <a:t>[VALOR]</a:t>
                    </a:fld>
                    <a:r>
                      <a:rPr lang="en-US" dirty="0"/>
                      <a:t>.39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7.0940170940170938E-2"/>
                      <c:h val="5.5941358024691357E-2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1FCA-474D-99B6-BD1A3AC41AB8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fld id="{15EED5FA-B826-42D6-9AD0-DFF97227E341}" type="VALUE">
                      <a:rPr lang="en-US" smtClean="0"/>
                      <a:pPr/>
                      <a:t>[VALOR]</a:t>
                    </a:fld>
                    <a:r>
                      <a:rPr lang="en-US" dirty="0"/>
                      <a:t>.09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7.6282051282051289E-2"/>
                      <c:h val="5.5941358024691357E-2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2-1FCA-474D-99B6-BD1A3AC41AB8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fld id="{2B8FF89A-72D4-423F-AE6B-23B0AE3DBA06}" type="VALUE">
                      <a:rPr lang="en-US" smtClean="0"/>
                      <a:pPr/>
                      <a:t>[VALOR]</a:t>
                    </a:fld>
                    <a:r>
                      <a:rPr lang="en-US" dirty="0"/>
                      <a:t>.09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9.2307692307692327E-2"/>
                      <c:h val="5.5941358024691357E-2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1FCA-474D-99B6-BD1A3AC41AB8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D97706"/>
                    </a:solidFill>
                    <a:latin typeface="Arial"/>
                  </a:defRPr>
                </a:pPr>
                <a:endParaRPr lang="es-C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PIB real</c:v>
                </c:pt>
                <c:pt idx="1">
                  <c:v>Consumo</c:v>
                </c:pt>
                <c:pt idx="2">
                  <c:v>Inversión</c:v>
                </c:pt>
                <c:pt idx="3">
                  <c:v>Exportaciones</c:v>
                </c:pt>
                <c:pt idx="4">
                  <c:v>Importaciones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0.1356</c:v>
                </c:pt>
                <c:pt idx="1">
                  <c:v>5.8099999999999999E-2</c:v>
                </c:pt>
                <c:pt idx="2">
                  <c:v>0.3967</c:v>
                </c:pt>
                <c:pt idx="3">
                  <c:v>9.0800000000000006E-2</c:v>
                </c:pt>
                <c:pt idx="4">
                  <c:v>8.9399999999999993E-2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FCA-474D-99B6-BD1A3AC41AB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334155"/>
                </a:solidFill>
                <a:latin typeface="Arial"/>
              </a:defRPr>
            </a:pPr>
            <a:r>
              <a:rPr lang="es-CL" sz="1100" b="0" i="0" u="none" strike="noStrike">
                <a:solidFill>
                  <a:srgbClr val="334155"/>
                </a:solidFill>
                <a:latin typeface="Arial"/>
              </a:rPr>
              <a:t>Efectos macro: IVA vs PIT vs FIT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IVA +1%</c:v>
                </c:pt>
              </c:strCache>
            </c:strRef>
          </c:tx>
          <c:spPr>
            <a:solidFill>
              <a:srgbClr val="1A2B5C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PIB real</c:v>
                </c:pt>
                <c:pt idx="1">
                  <c:v>Consumo</c:v>
                </c:pt>
                <c:pt idx="2">
                  <c:v>Inversión</c:v>
                </c:pt>
                <c:pt idx="3">
                  <c:v>Desempleo (pp)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-6.7000000000000004E-2</c:v>
                </c:pt>
                <c:pt idx="1">
                  <c:v>-6.1499999999999999E-2</c:v>
                </c:pt>
                <c:pt idx="2">
                  <c:v>-6.0100000000000001E-2</c:v>
                </c:pt>
                <c:pt idx="3">
                  <c:v>0.34939999999999999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8DC-4741-886B-307EA76F7FC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PIT +10%</c:v>
                </c:pt>
              </c:strCache>
            </c:strRef>
          </c:tx>
          <c:spPr>
            <a:solidFill>
              <a:srgbClr val="0D7A8C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PIB real</c:v>
                </c:pt>
                <c:pt idx="1">
                  <c:v>Consumo</c:v>
                </c:pt>
                <c:pt idx="2">
                  <c:v>Inversión</c:v>
                </c:pt>
                <c:pt idx="3">
                  <c:v>Desempleo (pp)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-0.26900000000000002</c:v>
                </c:pt>
                <c:pt idx="1">
                  <c:v>-0.34300000000000003</c:v>
                </c:pt>
                <c:pt idx="2">
                  <c:v>-0.1244</c:v>
                </c:pt>
                <c:pt idx="3">
                  <c:v>0.56940000000000002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8DC-4741-886B-307EA76F7FC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FIT −1%</c:v>
                </c:pt>
              </c:strCache>
            </c:strRef>
          </c:tx>
          <c:spPr>
            <a:solidFill>
              <a:srgbClr val="D97706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PIB real</c:v>
                </c:pt>
                <c:pt idx="1">
                  <c:v>Consumo</c:v>
                </c:pt>
                <c:pt idx="2">
                  <c:v>Inversión</c:v>
                </c:pt>
                <c:pt idx="3">
                  <c:v>Desempleo (pp)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0.1356</c:v>
                </c:pt>
                <c:pt idx="1">
                  <c:v>5.8099999999999999E-2</c:v>
                </c:pt>
                <c:pt idx="2">
                  <c:v>0.3967</c:v>
                </c:pt>
                <c:pt idx="3">
                  <c:v>-0.28449999999999998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8DC-4741-886B-307EA76F7FC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334155"/>
                </a:solidFill>
                <a:latin typeface="Arial"/>
              </a:defRPr>
            </a:pPr>
            <a:r>
              <a:rPr lang="es-CL" sz="1100" b="0" i="0" u="none" strike="noStrike">
                <a:solidFill>
                  <a:srgbClr val="334155"/>
                </a:solidFill>
                <a:latin typeface="Arial"/>
              </a:rPr>
              <a:t>Recaudación (% PIB)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IVA +1%</c:v>
                </c:pt>
              </c:strCache>
            </c:strRef>
          </c:tx>
          <c:spPr>
            <a:solidFill>
              <a:srgbClr val="1A2B5C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Total</c:v>
                </c:pt>
                <c:pt idx="1">
                  <c:v>VAT</c:v>
                </c:pt>
                <c:pt idx="2">
                  <c:v>FIT</c:v>
                </c:pt>
                <c:pt idx="3">
                  <c:v>PIT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7.9000000000000008E-3</c:v>
                </c:pt>
                <c:pt idx="1">
                  <c:v>5.57E-2</c:v>
                </c:pt>
                <c:pt idx="2">
                  <c:v>-3.4000000000000002E-2</c:v>
                </c:pt>
                <c:pt idx="3">
                  <c:v>-5.4999999999999997E-3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02C-4F09-A7A2-19EB9220CA6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PIT +10%</c:v>
                </c:pt>
              </c:strCache>
            </c:strRef>
          </c:tx>
          <c:spPr>
            <a:solidFill>
              <a:srgbClr val="0D7A8C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Total</c:v>
                </c:pt>
                <c:pt idx="1">
                  <c:v>VAT</c:v>
                </c:pt>
                <c:pt idx="2">
                  <c:v>FIT</c:v>
                </c:pt>
                <c:pt idx="3">
                  <c:v>PIT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2.3900000000000001E-2</c:v>
                </c:pt>
                <c:pt idx="1">
                  <c:v>-6.6699999999999995E-2</c:v>
                </c:pt>
                <c:pt idx="2">
                  <c:v>-5.3100000000000001E-2</c:v>
                </c:pt>
                <c:pt idx="3">
                  <c:v>0.15659999999999999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02C-4F09-A7A2-19EB9220CA6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FIT −1%</c:v>
                </c:pt>
              </c:strCache>
            </c:strRef>
          </c:tx>
          <c:spPr>
            <a:solidFill>
              <a:srgbClr val="D97706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Total</c:v>
                </c:pt>
                <c:pt idx="1">
                  <c:v>VAT</c:v>
                </c:pt>
                <c:pt idx="2">
                  <c:v>FIT</c:v>
                </c:pt>
                <c:pt idx="3">
                  <c:v>PIT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-0.1094</c:v>
                </c:pt>
                <c:pt idx="1">
                  <c:v>3.44E-2</c:v>
                </c:pt>
                <c:pt idx="2">
                  <c:v>-0.1545</c:v>
                </c:pt>
                <c:pt idx="3">
                  <c:v>4.4000000000000003E-3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02C-4F09-A7A2-19EB9220CA6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993521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E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0D7A8C"/>
          </a:solidFill>
          <a:ln w="12700">
            <a:solidFill>
              <a:srgbClr val="0D7A8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64008" cy="2926080"/>
          </a:xfrm>
          <a:prstGeom prst="rect">
            <a:avLst/>
          </a:prstGeom>
          <a:solidFill>
            <a:srgbClr val="14A8BF"/>
          </a:solidFill>
          <a:ln w="12700">
            <a:solidFill>
              <a:srgbClr val="14A8B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Text 2"/>
          <p:cNvSpPr/>
          <p:nvPr/>
        </p:nvSpPr>
        <p:spPr>
          <a:xfrm>
            <a:off x="658368" y="822960"/>
            <a:ext cx="80467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</a:rPr>
              <a:t>MODELO DE EQUILIBRIO</a:t>
            </a:r>
            <a:endParaRPr lang="en-US" sz="3800" dirty="0"/>
          </a:p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</a:rPr>
              <a:t>GENERAL COMPUTABLE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658368" y="246888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i="1" dirty="0">
                <a:solidFill>
                  <a:srgbClr val="14A8BF"/>
                </a:solidFill>
              </a:rPr>
              <a:t>6 Sectores para Evaluación de Políticas Tributarias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58368" y="29718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D0D8E8"/>
                </a:solidFill>
              </a:rPr>
              <a:t>Departamento de Estudios Económicos y Tributarios  ·  SII  ·  Abril 2026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4114800"/>
            <a:ext cx="8229600" cy="1028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</a:rPr>
              <a:t>Calibrado con Matriz de Contabilidad Social de Chile 2022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828800" cy="256032"/>
          </a:xfrm>
          <a:prstGeom prst="rect">
            <a:avLst/>
          </a:prstGeom>
          <a:solidFill>
            <a:srgbClr val="0D7A8C"/>
          </a:solidFill>
          <a:ln w="12700">
            <a:solidFill>
              <a:srgbClr val="0D7A8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</a:rPr>
              <a:t>RESUMEN EJECUTIVO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A2B5C"/>
                </a:solidFill>
              </a:rPr>
              <a:t>Principales Resultados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</a:rPr>
              <a:t>Efectos macroeconómicos de las tres políticas tributarias evaluadas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600200"/>
            <a:ext cx="2743200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7" name="Shape 5"/>
          <p:cNvSpPr/>
          <p:nvPr/>
        </p:nvSpPr>
        <p:spPr>
          <a:xfrm>
            <a:off x="274320" y="1600200"/>
            <a:ext cx="2743200" cy="411480"/>
          </a:xfrm>
          <a:prstGeom prst="rect">
            <a:avLst/>
          </a:prstGeom>
          <a:solidFill>
            <a:srgbClr val="1A2B5C"/>
          </a:solidFill>
          <a:ln w="12700">
            <a:solidFill>
              <a:srgbClr val="1A2B5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/>
          <p:nvPr/>
        </p:nvSpPr>
        <p:spPr>
          <a:xfrm>
            <a:off x="274320" y="16002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↑ IVA +1%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84048" y="208483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</a:rPr>
              <a:t>PIB real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801368" y="2084832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DC2626"/>
                </a:solidFill>
              </a:rPr>
              <a:t>−0.0670%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84048" y="251460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</a:rPr>
              <a:t>Consumo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801368" y="251460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DC2626"/>
                </a:solidFill>
              </a:rPr>
              <a:t>−0.0615%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84048" y="294436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</a:rPr>
              <a:t>Inversión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01368" y="294436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DC2626"/>
                </a:solidFill>
              </a:rPr>
              <a:t>−0.0601%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84048" y="3374136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</a:rPr>
              <a:t>Desempleo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801368" y="3374136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59669"/>
                </a:solidFill>
              </a:rPr>
              <a:t>+0.35 pp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84048" y="3803904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</a:rPr>
              <a:t>Recaudación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801368" y="3803904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59669"/>
                </a:solidFill>
              </a:rPr>
              <a:t>+0.0079% PIB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200400" y="1600200"/>
            <a:ext cx="2743200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0" name="Shape 18"/>
          <p:cNvSpPr/>
          <p:nvPr/>
        </p:nvSpPr>
        <p:spPr>
          <a:xfrm>
            <a:off x="3200400" y="1600200"/>
            <a:ext cx="2743200" cy="411480"/>
          </a:xfrm>
          <a:prstGeom prst="rect">
            <a:avLst/>
          </a:prstGeom>
          <a:solidFill>
            <a:srgbClr val="0D7A8C"/>
          </a:solidFill>
          <a:ln w="12700">
            <a:solidFill>
              <a:srgbClr val="0D7A8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1" name="Text 19"/>
          <p:cNvSpPr/>
          <p:nvPr/>
        </p:nvSpPr>
        <p:spPr>
          <a:xfrm>
            <a:off x="3200400" y="16002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↑ Imp. Renta Pers. +10%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310128" y="208483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</a:rPr>
              <a:t>PIB real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27448" y="2084832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DC2626"/>
                </a:solidFill>
              </a:rPr>
              <a:t>−0.2690%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310128" y="251460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</a:rPr>
              <a:t>Consumo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727448" y="251460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DC2626"/>
                </a:solidFill>
              </a:rPr>
              <a:t>−0.3430%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310128" y="294436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</a:rPr>
              <a:t>Inversión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727448" y="294436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DC2626"/>
                </a:solidFill>
              </a:rPr>
              <a:t>−0.1244%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310128" y="3374136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</a:rPr>
              <a:t>Desempleo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727448" y="3374136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59669"/>
                </a:solidFill>
              </a:rPr>
              <a:t>+0.57 pp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310128" y="3803904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</a:rPr>
              <a:t>Recaudación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727448" y="3803904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59669"/>
                </a:solidFill>
              </a:rPr>
              <a:t>+0.0239% PIB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126480" y="1600200"/>
            <a:ext cx="2743200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33" name="Shape 31"/>
          <p:cNvSpPr/>
          <p:nvPr/>
        </p:nvSpPr>
        <p:spPr>
          <a:xfrm>
            <a:off x="6126480" y="1600200"/>
            <a:ext cx="2743200" cy="4114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4" name="Text 32"/>
          <p:cNvSpPr/>
          <p:nvPr/>
        </p:nvSpPr>
        <p:spPr>
          <a:xfrm>
            <a:off x="6126480" y="16002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↓ Imp. Empresas −1%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236208" y="208483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</a:rPr>
              <a:t>PIB real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653528" y="2084832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59669"/>
                </a:solidFill>
              </a:rPr>
              <a:t>+0.1356%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236208" y="251460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</a:rPr>
              <a:t>Consumo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653528" y="251460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59669"/>
                </a:solidFill>
              </a:rPr>
              <a:t>+0.0581%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236208" y="294436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</a:rPr>
              <a:t>Inversión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653528" y="294436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59669"/>
                </a:solidFill>
              </a:rPr>
              <a:t>+0.3967%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236208" y="3374136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</a:rPr>
              <a:t>Desempleo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7653528" y="3374136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59669"/>
                </a:solidFill>
              </a:rPr>
              <a:t>−0.28 pp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236208" y="3803904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</a:rPr>
              <a:t>Recaudación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7653528" y="3803904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DC2626"/>
                </a:solidFill>
              </a:rPr>
              <a:t>−0.1094% PIB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828800" cy="256032"/>
          </a:xfrm>
          <a:prstGeom prst="rect">
            <a:avLst/>
          </a:prstGeom>
          <a:solidFill>
            <a:srgbClr val="0D7A8C"/>
          </a:solidFill>
          <a:ln w="12700">
            <a:solidFill>
              <a:srgbClr val="0D7A8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</a:rPr>
              <a:t>EL MODELO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A2B5C"/>
                </a:solidFill>
              </a:rPr>
              <a:t>Estructura del MEGC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</a:rPr>
              <a:t>Modelo estático y determinístico calibrado con la SAM de Chile 2022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554480"/>
            <a:ext cx="1508760" cy="1005840"/>
          </a:xfrm>
          <a:prstGeom prst="rect">
            <a:avLst/>
          </a:prstGeom>
          <a:solidFill>
            <a:srgbClr val="1A2B5C"/>
          </a:solidFill>
          <a:ln w="12700">
            <a:solidFill>
              <a:srgbClr val="1A2B5C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7" name="Text 5"/>
          <p:cNvSpPr/>
          <p:nvPr/>
        </p:nvSpPr>
        <p:spPr>
          <a:xfrm>
            <a:off x="274320" y="1554480"/>
            <a:ext cx="1508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Hogar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Representativo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920240" y="1554480"/>
            <a:ext cx="1508760" cy="1005840"/>
          </a:xfrm>
          <a:prstGeom prst="rect">
            <a:avLst/>
          </a:prstGeom>
          <a:solidFill>
            <a:srgbClr val="0D7A8C"/>
          </a:solidFill>
          <a:ln w="12700">
            <a:solidFill>
              <a:srgbClr val="0D7A8C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9" name="Text 7"/>
          <p:cNvSpPr/>
          <p:nvPr/>
        </p:nvSpPr>
        <p:spPr>
          <a:xfrm>
            <a:off x="1920240" y="1554480"/>
            <a:ext cx="1508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6 Sectores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Productivos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566160" y="1554480"/>
            <a:ext cx="1508760" cy="10058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1" name="Text 9"/>
          <p:cNvSpPr/>
          <p:nvPr/>
        </p:nvSpPr>
        <p:spPr>
          <a:xfrm>
            <a:off x="3566160" y="1554480"/>
            <a:ext cx="1508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Gobierno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212080" y="1554480"/>
            <a:ext cx="1508760" cy="10058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3" name="Text 11"/>
          <p:cNvSpPr/>
          <p:nvPr/>
        </p:nvSpPr>
        <p:spPr>
          <a:xfrm>
            <a:off x="5212080" y="1554480"/>
            <a:ext cx="1508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Firmas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858000" y="1554480"/>
            <a:ext cx="1508760" cy="10058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5" name="Text 13"/>
          <p:cNvSpPr/>
          <p:nvPr/>
        </p:nvSpPr>
        <p:spPr>
          <a:xfrm>
            <a:off x="6858000" y="1554480"/>
            <a:ext cx="1508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Sector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Externo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74320" y="2788920"/>
            <a:ext cx="8366760" cy="36576"/>
          </a:xfrm>
          <a:prstGeom prst="rect">
            <a:avLst/>
          </a:prstGeom>
          <a:solidFill>
            <a:srgbClr val="0D7A8C"/>
          </a:solidFill>
          <a:ln w="12700">
            <a:solidFill>
              <a:srgbClr val="0D7A8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7" name="Shape 15"/>
          <p:cNvSpPr/>
          <p:nvPr/>
        </p:nvSpPr>
        <p:spPr>
          <a:xfrm>
            <a:off x="274320" y="2926080"/>
            <a:ext cx="836676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8" name="Shape 16"/>
          <p:cNvSpPr/>
          <p:nvPr/>
        </p:nvSpPr>
        <p:spPr>
          <a:xfrm>
            <a:off x="274320" y="2926080"/>
            <a:ext cx="54864" cy="822960"/>
          </a:xfrm>
          <a:prstGeom prst="rect">
            <a:avLst/>
          </a:prstGeom>
          <a:solidFill>
            <a:srgbClr val="1A2B5C"/>
          </a:solidFill>
          <a:ln w="12700">
            <a:solidFill>
              <a:srgbClr val="1A2B5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9" name="Text 17"/>
          <p:cNvSpPr/>
          <p:nvPr/>
        </p:nvSpPr>
        <p:spPr>
          <a:xfrm>
            <a:off x="457200" y="29260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334155"/>
                </a:solidFill>
              </a:rPr>
              <a:t>Bloque Ahorro–Inversión  ·  Cierre con tipo de cambio flexible y ahorro externo fijo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74320" y="3931920"/>
            <a:ext cx="201168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1" name="Text 19"/>
          <p:cNvSpPr/>
          <p:nvPr/>
        </p:nvSpPr>
        <p:spPr>
          <a:xfrm>
            <a:off x="274320" y="393192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7A8C"/>
                </a:solidFill>
              </a:rPr>
              <a:t>CET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74320" y="4261104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334155"/>
                </a:solidFill>
              </a:rPr>
              <a:t>Asignación exportaciones / ventas domésticas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468880" y="3931920"/>
            <a:ext cx="201168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4" name="Text 22"/>
          <p:cNvSpPr/>
          <p:nvPr/>
        </p:nvSpPr>
        <p:spPr>
          <a:xfrm>
            <a:off x="2468880" y="393192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7A8C"/>
                </a:solidFill>
              </a:rPr>
              <a:t>Armington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468880" y="4261104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334155"/>
                </a:solidFill>
              </a:rPr>
              <a:t>Absorción doméstica: bienes locales + importados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663440" y="3931920"/>
            <a:ext cx="201168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7" name="Text 25"/>
          <p:cNvSpPr/>
          <p:nvPr/>
        </p:nvSpPr>
        <p:spPr>
          <a:xfrm>
            <a:off x="4663440" y="393192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7A8C"/>
                </a:solidFill>
              </a:rPr>
              <a:t>Cobb-Douglas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663440" y="4261104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334155"/>
                </a:solidFill>
              </a:rPr>
              <a:t>Tecnología de producción: capital + trabajo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858000" y="3931920"/>
            <a:ext cx="201168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30" name="Text 28"/>
          <p:cNvSpPr/>
          <p:nvPr/>
        </p:nvSpPr>
        <p:spPr>
          <a:xfrm>
            <a:off x="6858000" y="393192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7A8C"/>
                </a:solidFill>
              </a:rPr>
              <a:t>Curva salarial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858000" y="4261104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334155"/>
                </a:solidFill>
              </a:rPr>
              <a:t>Mecanismo B-O con desempleo endógeno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828800" cy="256032"/>
          </a:xfrm>
          <a:prstGeom prst="rect">
            <a:avLst/>
          </a:prstGeom>
          <a:solidFill>
            <a:srgbClr val="0D7A8C"/>
          </a:solidFill>
          <a:ln w="12700">
            <a:solidFill>
              <a:srgbClr val="0D7A8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</a:rPr>
              <a:t>DATOS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A2B5C"/>
                </a:solidFill>
              </a:rPr>
              <a:t>Matriz de Contabilidad Social (SAM)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</a:rPr>
              <a:t>Chile 2022 · construida a partir de la Matriz Insumo-Producto más reciente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627632"/>
            <a:ext cx="265176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7" name="Shape 5"/>
          <p:cNvSpPr/>
          <p:nvPr/>
        </p:nvSpPr>
        <p:spPr>
          <a:xfrm>
            <a:off x="274320" y="1627632"/>
            <a:ext cx="54864" cy="713232"/>
          </a:xfrm>
          <a:prstGeom prst="rect">
            <a:avLst/>
          </a:prstGeom>
          <a:solidFill>
            <a:srgbClr val="0D7A8C"/>
          </a:solidFill>
          <a:ln w="12700">
            <a:solidFill>
              <a:srgbClr val="0D7A8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/>
          <p:nvPr/>
        </p:nvSpPr>
        <p:spPr>
          <a:xfrm>
            <a:off x="365760" y="1627632"/>
            <a:ext cx="2514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</a:rPr>
              <a:t>1. Agropecuario-Silvícola y Pesca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108960" y="1627632"/>
            <a:ext cx="265176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0" name="Shape 8"/>
          <p:cNvSpPr/>
          <p:nvPr/>
        </p:nvSpPr>
        <p:spPr>
          <a:xfrm>
            <a:off x="3108960" y="1627632"/>
            <a:ext cx="54864" cy="713232"/>
          </a:xfrm>
          <a:prstGeom prst="rect">
            <a:avLst/>
          </a:prstGeom>
          <a:solidFill>
            <a:srgbClr val="0D7A8C"/>
          </a:solidFill>
          <a:ln w="12700">
            <a:solidFill>
              <a:srgbClr val="0D7A8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Text 9"/>
          <p:cNvSpPr/>
          <p:nvPr/>
        </p:nvSpPr>
        <p:spPr>
          <a:xfrm>
            <a:off x="3200400" y="1627632"/>
            <a:ext cx="2514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</a:rPr>
              <a:t>2. Minería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943600" y="1627632"/>
            <a:ext cx="265176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3" name="Shape 11"/>
          <p:cNvSpPr/>
          <p:nvPr/>
        </p:nvSpPr>
        <p:spPr>
          <a:xfrm>
            <a:off x="5943600" y="1627632"/>
            <a:ext cx="54864" cy="713232"/>
          </a:xfrm>
          <a:prstGeom prst="rect">
            <a:avLst/>
          </a:prstGeom>
          <a:solidFill>
            <a:srgbClr val="0D7A8C"/>
          </a:solidFill>
          <a:ln w="12700">
            <a:solidFill>
              <a:srgbClr val="0D7A8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" name="Text 12"/>
          <p:cNvSpPr/>
          <p:nvPr/>
        </p:nvSpPr>
        <p:spPr>
          <a:xfrm>
            <a:off x="6035040" y="1627632"/>
            <a:ext cx="2514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</a:rPr>
              <a:t>3. Manufactura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2542032"/>
            <a:ext cx="265176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6" name="Shape 14"/>
          <p:cNvSpPr/>
          <p:nvPr/>
        </p:nvSpPr>
        <p:spPr>
          <a:xfrm>
            <a:off x="274320" y="2542032"/>
            <a:ext cx="54864" cy="713232"/>
          </a:xfrm>
          <a:prstGeom prst="rect">
            <a:avLst/>
          </a:prstGeom>
          <a:solidFill>
            <a:srgbClr val="0D7A8C"/>
          </a:solidFill>
          <a:ln w="12700">
            <a:solidFill>
              <a:srgbClr val="0D7A8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7" name="Text 15"/>
          <p:cNvSpPr/>
          <p:nvPr/>
        </p:nvSpPr>
        <p:spPr>
          <a:xfrm>
            <a:off x="365760" y="2542032"/>
            <a:ext cx="2514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</a:rPr>
              <a:t>4. Electricidad, Gas y Agua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108960" y="2542032"/>
            <a:ext cx="265176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9" name="Shape 17"/>
          <p:cNvSpPr/>
          <p:nvPr/>
        </p:nvSpPr>
        <p:spPr>
          <a:xfrm>
            <a:off x="3108960" y="2542032"/>
            <a:ext cx="54864" cy="713232"/>
          </a:xfrm>
          <a:prstGeom prst="rect">
            <a:avLst/>
          </a:prstGeom>
          <a:solidFill>
            <a:srgbClr val="0D7A8C"/>
          </a:solidFill>
          <a:ln w="12700">
            <a:solidFill>
              <a:srgbClr val="0D7A8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0" name="Text 18"/>
          <p:cNvSpPr/>
          <p:nvPr/>
        </p:nvSpPr>
        <p:spPr>
          <a:xfrm>
            <a:off x="3200400" y="2542032"/>
            <a:ext cx="2514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</a:rPr>
              <a:t>5. Construcción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943600" y="2542032"/>
            <a:ext cx="265176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2" name="Shape 20"/>
          <p:cNvSpPr/>
          <p:nvPr/>
        </p:nvSpPr>
        <p:spPr>
          <a:xfrm>
            <a:off x="5943600" y="2542032"/>
            <a:ext cx="54864" cy="713232"/>
          </a:xfrm>
          <a:prstGeom prst="rect">
            <a:avLst/>
          </a:prstGeom>
          <a:solidFill>
            <a:srgbClr val="0D7A8C"/>
          </a:solidFill>
          <a:ln w="12700">
            <a:solidFill>
              <a:srgbClr val="0D7A8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3" name="Text 21"/>
          <p:cNvSpPr/>
          <p:nvPr/>
        </p:nvSpPr>
        <p:spPr>
          <a:xfrm>
            <a:off x="6035040" y="2542032"/>
            <a:ext cx="2514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</a:rPr>
              <a:t>6. Servicios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74320" y="340156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4155"/>
                </a:solidFill>
              </a:rPr>
              <a:t>Agregados macroeconómicos clave (miles de millones CLP)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74320" y="370332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</a:rPr>
              <a:t>PIB real: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017520" y="3703320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A2B5C"/>
                </a:solidFill>
              </a:rPr>
              <a:t>263.065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74320" y="4050792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</a:rPr>
              <a:t>Trabajo total: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017520" y="4050792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A2B5C"/>
                </a:solidFill>
              </a:rPr>
              <a:t>102.891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74320" y="4398264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</a:rPr>
              <a:t>Capital total: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017520" y="4398264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A2B5C"/>
                </a:solidFill>
              </a:rPr>
              <a:t>139.699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274320" y="4745736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</a:rPr>
              <a:t>Consumo hogares: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017520" y="4745736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A2B5C"/>
                </a:solidFill>
              </a:rPr>
              <a:t>166.954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846320" y="370332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</a:rPr>
              <a:t>Exportaciones: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589520" y="3703320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A2B5C"/>
                </a:solidFill>
              </a:rPr>
              <a:t>93.669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846320" y="4050792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</a:rPr>
              <a:t>Importaciones: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589520" y="4050792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A2B5C"/>
                </a:solidFill>
              </a:rPr>
              <a:t>104.161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846320" y="4398264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</a:rPr>
              <a:t>Recaudación total: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589520" y="4398264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A2B5C"/>
                </a:solidFill>
              </a:rPr>
              <a:t>77.648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828800" cy="256032"/>
          </a:xfrm>
          <a:prstGeom prst="rect">
            <a:avLst/>
          </a:prstGeom>
          <a:solidFill>
            <a:srgbClr val="0D7A8C"/>
          </a:solidFill>
          <a:ln w="12700">
            <a:solidFill>
              <a:srgbClr val="0D7A8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</a:rPr>
              <a:t>SIMULACIÓN 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A2B5C"/>
                </a:solidFill>
              </a:rPr>
              <a:t>Incremento del IVA en 1%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</a:rPr>
              <a:t>Tasa efectiva promedio: 8.85% → 8.94% · Cierre con tipo de cambio flexible</a:t>
            </a:r>
            <a:endParaRPr lang="en-US" sz="1300" dirty="0"/>
          </a:p>
        </p:txBody>
      </p:sp>
      <p:graphicFrame>
        <p:nvGraphicFramePr>
          <p:cNvPr id="6" name="Chart 0"/>
          <p:cNvGraphicFramePr/>
          <p:nvPr>
            <p:extLst>
              <p:ext uri="{D42A27DB-BD31-4B8C-83A1-F6EECF244321}">
                <p14:modId xmlns:p14="http://schemas.microsoft.com/office/powerpoint/2010/main" val="2170980015"/>
              </p:ext>
            </p:extLst>
          </p:nvPr>
        </p:nvGraphicFramePr>
        <p:xfrm>
          <a:off x="274320" y="1508760"/>
          <a:ext cx="475488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5212080" y="1508760"/>
            <a:ext cx="365760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8" name="Text 5"/>
          <p:cNvSpPr/>
          <p:nvPr/>
        </p:nvSpPr>
        <p:spPr>
          <a:xfrm>
            <a:off x="5212080" y="150876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B5C"/>
                </a:solidFill>
              </a:rPr>
              <a:t>Mercado Laboral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303520" y="19202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C2626"/>
                </a:solidFill>
              </a:rPr>
              <a:t>Desempleo: 7.90% → 8.25%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303520" y="22860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</a:rPr>
              <a:t>+0.35 puntos porcentuales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212080" y="3063240"/>
            <a:ext cx="365760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2" name="Text 9"/>
          <p:cNvSpPr/>
          <p:nvPr/>
        </p:nvSpPr>
        <p:spPr>
          <a:xfrm>
            <a:off x="5212080" y="306324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B5C"/>
                </a:solidFill>
              </a:rPr>
              <a:t>Variación Recaudación (% PIB inicial)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321808" y="347472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</a:rPr>
              <a:t>Total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7333488" y="347472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59669"/>
                </a:solidFill>
              </a:rPr>
              <a:t>+0.0079%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321808" y="379476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</a:rPr>
              <a:t>VAT (IVA)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7333488" y="379476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59669"/>
                </a:solidFill>
              </a:rPr>
              <a:t>+0.0557%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321808" y="41148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</a:rPr>
              <a:t>FIT (Empresas)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7333488" y="411480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DC2626"/>
                </a:solidFill>
              </a:rPr>
              <a:t>−0.0340%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5321808" y="443484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</a:rPr>
              <a:t>PIT (Personas)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7333488" y="443484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DC2626"/>
                </a:solidFill>
              </a:rPr>
              <a:t>−0.0055%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828800" cy="256032"/>
          </a:xfrm>
          <a:prstGeom prst="rect">
            <a:avLst/>
          </a:prstGeom>
          <a:solidFill>
            <a:srgbClr val="0D7A8C"/>
          </a:solidFill>
          <a:ln w="12700">
            <a:solidFill>
              <a:srgbClr val="0D7A8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</a:rPr>
              <a:t>SIMULACIÓN 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A2B5C"/>
                </a:solidFill>
              </a:rPr>
              <a:t>Aumento Impuesto a la Renta de Personas +10%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</a:rPr>
              <a:t>Reduce ingreso disponible de hogares · Mayor contracción de la demanda interna</a:t>
            </a:r>
            <a:endParaRPr lang="en-US" sz="1300" dirty="0"/>
          </a:p>
        </p:txBody>
      </p:sp>
      <p:graphicFrame>
        <p:nvGraphicFramePr>
          <p:cNvPr id="6" name="Chart 0"/>
          <p:cNvGraphicFramePr/>
          <p:nvPr>
            <p:extLst>
              <p:ext uri="{D42A27DB-BD31-4B8C-83A1-F6EECF244321}">
                <p14:modId xmlns:p14="http://schemas.microsoft.com/office/powerpoint/2010/main" val="4009029263"/>
              </p:ext>
            </p:extLst>
          </p:nvPr>
        </p:nvGraphicFramePr>
        <p:xfrm>
          <a:off x="274320" y="1508760"/>
          <a:ext cx="475488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5212080" y="1508760"/>
            <a:ext cx="365760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8" name="Text 5"/>
          <p:cNvSpPr/>
          <p:nvPr/>
        </p:nvSpPr>
        <p:spPr>
          <a:xfrm>
            <a:off x="5212080" y="150876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B5C"/>
                </a:solidFill>
              </a:rPr>
              <a:t>Mercado Laboral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303520" y="19202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C2626"/>
                </a:solidFill>
              </a:rPr>
              <a:t>Desempleo: 7.90% → 8.47%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303520" y="22860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</a:rPr>
              <a:t>+0.57 puntos porcentuales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212080" y="3063240"/>
            <a:ext cx="365760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2" name="Text 9"/>
          <p:cNvSpPr/>
          <p:nvPr/>
        </p:nvSpPr>
        <p:spPr>
          <a:xfrm>
            <a:off x="5212080" y="306324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B5C"/>
                </a:solidFill>
              </a:rPr>
              <a:t>Variación Recaudación (% PIB inicial)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321808" y="347472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</a:rPr>
              <a:t>Total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7333488" y="347472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59669"/>
                </a:solidFill>
              </a:rPr>
              <a:t>+0.0239%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321808" y="379476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</a:rPr>
              <a:t>PIT (Personas)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7333488" y="379476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59669"/>
                </a:solidFill>
              </a:rPr>
              <a:t>+0.1566%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321808" y="41148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</a:rPr>
              <a:t>VAT (IVA)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7333488" y="411480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DC2626"/>
                </a:solidFill>
              </a:rPr>
              <a:t>−0.0667%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5321808" y="443484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</a:rPr>
              <a:t>FIT (Empresas)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7333488" y="443484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DC2626"/>
                </a:solidFill>
              </a:rPr>
              <a:t>−0.0531%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828800" cy="256032"/>
          </a:xfrm>
          <a:prstGeom prst="rect">
            <a:avLst/>
          </a:prstGeom>
          <a:solidFill>
            <a:srgbClr val="0D7A8C"/>
          </a:solidFill>
          <a:ln w="12700">
            <a:solidFill>
              <a:srgbClr val="0D7A8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</a:rPr>
              <a:t>SIMULACIÓN 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A2B5C"/>
                </a:solidFill>
              </a:rPr>
              <a:t>Disminución del Impuesto a las Firmas (IDPC) −1%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</a:rPr>
              <a:t>Expande inversión privada y empleo · A costa de menor recaudación y presión externa</a:t>
            </a:r>
            <a:endParaRPr lang="en-US" sz="1300" dirty="0"/>
          </a:p>
        </p:txBody>
      </p:sp>
      <p:graphicFrame>
        <p:nvGraphicFramePr>
          <p:cNvPr id="6" name="Chart 0"/>
          <p:cNvGraphicFramePr/>
          <p:nvPr>
            <p:extLst>
              <p:ext uri="{D42A27DB-BD31-4B8C-83A1-F6EECF244321}">
                <p14:modId xmlns:p14="http://schemas.microsoft.com/office/powerpoint/2010/main" val="2613106227"/>
              </p:ext>
            </p:extLst>
          </p:nvPr>
        </p:nvGraphicFramePr>
        <p:xfrm>
          <a:off x="274320" y="1508760"/>
          <a:ext cx="475488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5212080" y="1508760"/>
            <a:ext cx="365760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8" name="Text 5"/>
          <p:cNvSpPr/>
          <p:nvPr/>
        </p:nvSpPr>
        <p:spPr>
          <a:xfrm>
            <a:off x="5212080" y="150876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B5C"/>
                </a:solidFill>
              </a:rPr>
              <a:t>Mercado Laboral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303520" y="19202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59669"/>
                </a:solidFill>
              </a:rPr>
              <a:t>Desempleo: 7.90% → 7.62%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303520" y="22860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</a:rPr>
              <a:t>−0.28 puntos porcentuales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212080" y="3063240"/>
            <a:ext cx="365760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2" name="Text 9"/>
          <p:cNvSpPr/>
          <p:nvPr/>
        </p:nvSpPr>
        <p:spPr>
          <a:xfrm>
            <a:off x="5212080" y="306324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B5C"/>
                </a:solidFill>
              </a:rPr>
              <a:t>Variación Recaudación (% PIB inicial)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321808" y="347472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</a:rPr>
              <a:t>Total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7333488" y="347472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DC2626"/>
                </a:solidFill>
              </a:rPr>
              <a:t>−0.1094%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321808" y="379476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</a:rPr>
              <a:t>FIT (Empresas)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7333488" y="379476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DC2626"/>
                </a:solidFill>
              </a:rPr>
              <a:t>−0.1545%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321808" y="41148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</a:rPr>
              <a:t>VAT (IVA)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7333488" y="411480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59669"/>
                </a:solidFill>
              </a:rPr>
              <a:t>+0.0344%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5321808" y="443484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</a:rPr>
              <a:t>PIT (Personas)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7333488" y="443484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59669"/>
                </a:solidFill>
              </a:rPr>
              <a:t>+0.0044%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828800" cy="256032"/>
          </a:xfrm>
          <a:prstGeom prst="rect">
            <a:avLst/>
          </a:prstGeom>
          <a:solidFill>
            <a:srgbClr val="0D7A8C"/>
          </a:solidFill>
          <a:ln w="12700">
            <a:solidFill>
              <a:srgbClr val="0D7A8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</a:rPr>
              <a:t>COMPARACIÓN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A2B5C"/>
                </a:solidFill>
              </a:rPr>
              <a:t>Comparación entre Políticas Tributarias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</a:rPr>
              <a:t>Trade-offs entre actividad, empleo, recaudación y sector externo</a:t>
            </a:r>
            <a:endParaRPr lang="en-US" sz="13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274320" y="1463040"/>
          <a:ext cx="539496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Chart 1"/>
          <p:cNvGraphicFramePr/>
          <p:nvPr/>
        </p:nvGraphicFramePr>
        <p:xfrm>
          <a:off x="5760720" y="1463040"/>
          <a:ext cx="320040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E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7A8C"/>
          </a:solidFill>
          <a:ln w="12700">
            <a:solidFill>
              <a:srgbClr val="0D7A8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</a:rPr>
              <a:t>Conclusiones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2697480" cy="3749040"/>
          </a:xfrm>
          <a:prstGeom prst="rect">
            <a:avLst/>
          </a:prstGeom>
          <a:solidFill>
            <a:srgbClr val="1E2B4F"/>
          </a:solidFill>
          <a:ln w="9525">
            <a:solidFill>
              <a:srgbClr val="2A3B6A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2697480" cy="457200"/>
          </a:xfrm>
          <a:prstGeom prst="rect">
            <a:avLst/>
          </a:prstGeom>
          <a:solidFill>
            <a:srgbClr val="1A2B5C"/>
          </a:solidFill>
          <a:ln w="12700">
            <a:solidFill>
              <a:srgbClr val="1A2B5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Text 4"/>
          <p:cNvSpPr/>
          <p:nvPr/>
        </p:nvSpPr>
        <p:spPr>
          <a:xfrm>
            <a:off x="320040" y="105156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01  IVA +1%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29768" y="1600200"/>
            <a:ext cx="24688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D0D8E8"/>
                </a:solidFill>
              </a:rPr>
              <a:t>Contracción moderada del PIB (−0.067%) y del consumo. Efecto fiscal positivo pero acotado: +0.0079% del PIB. El mecanismo dominante es la compresión de la demanda interna.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27832" y="1051560"/>
            <a:ext cx="2697480" cy="3749040"/>
          </a:xfrm>
          <a:prstGeom prst="rect">
            <a:avLst/>
          </a:prstGeom>
          <a:solidFill>
            <a:srgbClr val="1E2B4F"/>
          </a:solidFill>
          <a:ln w="9525">
            <a:solidFill>
              <a:srgbClr val="2A3B6A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9" name="Shape 7"/>
          <p:cNvSpPr/>
          <p:nvPr/>
        </p:nvSpPr>
        <p:spPr>
          <a:xfrm>
            <a:off x="3227832" y="1051560"/>
            <a:ext cx="2697480" cy="457200"/>
          </a:xfrm>
          <a:prstGeom prst="rect">
            <a:avLst/>
          </a:prstGeom>
          <a:solidFill>
            <a:srgbClr val="0D7A8C"/>
          </a:solidFill>
          <a:ln w="12700">
            <a:solidFill>
              <a:srgbClr val="0D7A8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Text 8"/>
          <p:cNvSpPr/>
          <p:nvPr/>
        </p:nvSpPr>
        <p:spPr>
          <a:xfrm>
            <a:off x="3227832" y="105156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02  Renta Personas +10%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37560" y="1600200"/>
            <a:ext cx="24688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D0D8E8"/>
                </a:solidFill>
              </a:rPr>
              <a:t>Mayor contracción del PIB (−0.269%) vía caída del ingreso disponible. Mejor rendimiento fiscal (+0.024% PIB), pero con deterioro del mercado laboral (+0.57 pp desempleo).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135624" y="1051560"/>
            <a:ext cx="2697480" cy="3749040"/>
          </a:xfrm>
          <a:prstGeom prst="rect">
            <a:avLst/>
          </a:prstGeom>
          <a:solidFill>
            <a:srgbClr val="1E2B4F"/>
          </a:solidFill>
          <a:ln w="9525">
            <a:solidFill>
              <a:srgbClr val="2A3B6A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3" name="Shape 11"/>
          <p:cNvSpPr/>
          <p:nvPr/>
        </p:nvSpPr>
        <p:spPr>
          <a:xfrm>
            <a:off x="6135624" y="1051560"/>
            <a:ext cx="2697480" cy="4572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" name="Text 12"/>
          <p:cNvSpPr/>
          <p:nvPr/>
        </p:nvSpPr>
        <p:spPr>
          <a:xfrm>
            <a:off x="6135624" y="105156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03  Empresas (IDPC) −1%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45352" y="1600200"/>
            <a:ext cx="24688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D0D8E8"/>
                </a:solidFill>
              </a:rPr>
              <a:t>Expansión del PIB (+0.136%) e inversión (+0.397%). Trade-off claro: mejora la actividad y el empleo, pero a costa de menor recaudación (−0.109% PIB) y deterioro comercial.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65760" y="480060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SII · Departamento de Estudios Económicos y Tributarios ·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701</Words>
  <Application>Microsoft Office PowerPoint</Application>
  <PresentationFormat>Presentación en pantalla (16:9)</PresentationFormat>
  <Paragraphs>170</Paragraphs>
  <Slides>9</Slides>
  <Notes>9</Notes>
  <HiddenSlides>0</HiddenSlides>
  <MMClips>0</MMClips>
  <ScaleCrop>false</ScaleCrop>
  <HeadingPairs>
    <vt:vector size="6" baseType="variant">
      <vt:variant>
        <vt:lpstr>Fuentes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1" baseType="lpstr"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Modelo de Equilibrio General Computable - SII</dc:title>
  <dc:subject>PptxGenJS Presentation</dc:subject>
  <dc:creator>PptxGenJS</dc:creator>
  <cp:lastModifiedBy>Francisco Javier Henriquez Palacios</cp:lastModifiedBy>
  <cp:revision>4</cp:revision>
  <dcterms:created xsi:type="dcterms:W3CDTF">2026-04-22T16:18:26Z</dcterms:created>
  <dcterms:modified xsi:type="dcterms:W3CDTF">2026-04-22T17:25:24Z</dcterms:modified>
</cp:coreProperties>
</file>